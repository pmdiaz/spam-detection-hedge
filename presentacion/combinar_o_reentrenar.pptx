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 El problema" id="{daac4f15-06f5-61c1-5402-9b88663ab18e}">
          <p14:sldIdLst>
            <p14:sldId id="256"/>
            <p14:sldId id="257"/>
            <p14:sldId id="258"/>
            <p14:sldId id="259"/>
            <p14:sldId id="260"/>
            <p14:sldId id="261"/>
          </p14:sldIdLst>
        </p14:section>
        <p14:section name="2 · Hallazgos" id="{ddfd3b73-6dd5-2ac8-3712-ac3662eaa872}">
          <p14:sldIdLst>
            <p14:sldId id="262"/>
            <p14:sldId id="263"/>
            <p14:sldId id="264"/>
            <p14:sldId id="265"/>
            <p14:sldId id="266"/>
            <p14:sldId id="267"/>
            <p14:sldId id="268"/>
            <p14:sldId id="269"/>
            <p14:sldId id="270"/>
            <p14:sldId id="271"/>
          </p14:sldIdLst>
        </p14:section>
        <p14:section name="3 · Cierre" id="{d76b0d4a-a4dd-83ab-961d-62ed03f5555f}">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 0:30. Presentarse. Una frase de entrada: cuando el spammer se adapta al filtro, ¿conviene combinar modelos que ya tenemos o reentrenar uno? Las palabras de la derecha son reales: así queda un spam después de nuestro ataque.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 1:15. Leer el SMS original y después señalar las palabras en naranja: reply pasa a reeply, win a wiin, stop a stoop. La azul, lol, es una palabra típica de mensajes legítimos. El filtro estático pasa de atrapar el 85% del spam al 42%. El mensaje crece una sola palabra: no se lo puede detectar por el largo.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 1:00. Las dos defensas. Combinar: cinco modelos congelados, Hedge solo decide a cuál creerle; aprende cinco números. Reentrenar: un modelo que aprende de cada etiqueta; tiene un peso por palabra, por eso puede aprender «wiin». La cita de Lowd y Meek es la tesis que ponemos a prueba.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 0:40. Las dos preguntas ordenan la charla: los hallazgos 1 y 2 las responden. Anticipar que el hallazgo 3 son dos precisiones sobre la teoría, y el 4 lecciones de método. Los puntos de arriba a la derecha marcan en qué hallazgo estamos.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 1:20. Recorrer la barra de izquierda a derecha: está a escala. Warm-up del 20% para entrenar; después 4.460 rondas de predecir, ver la etiqueta y actualizar; el ataque arranca en la mitad. Los tres competidores ven exactamente la misma secuencia. Sobre métricas: con 13% de spam, no marcar nada acierta el 87%.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 1:15. La regla es una línea: cada error multiplica el peso del experto por e a la menos eta. Hedge sortea a qué experto creerle según los pesos. Presentar a los cinco expertos con sus colores: cuatro miran palabras y uno, el estructural en violeta, mira formato. Regret: errores de más contra el mejor experto fijo.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 1:00. Respuesta a la pregunta 1. Con ataque, el estático comete 190 errores, Hedge 133 y SGD 73. Hedge recorre el 46% de esa distancia sin reentrenar nada. Reentrenar gana, pero combinar hace casi la mitad del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 0:45. La misma comparación en mensajes concretos. De los 305 spams que llegan atacados, el estático atrapa 128, Hedge 180 y SGD 252. Hedge atrapa 52 más que el estático; SGD, 72 más que Hedge.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 1:30. Dejar correr la animación y narrar sobre ella; se puede pausar con un clic. Fase 1: sin ataque, los tres atrapan parecido. Fase 2: llega el ataque y los tres caen; el estático se queda en ~43%. Fase 3: abajo, el peso de Hedge pasa al experto estructural (violeta) y Hedge se recupera hasta ~60%. Fase 4: SGD aprendió las palabras nuevas y vuelve casi al nivel previo. Al final, los contadores: 190, 133 y 73 errores en la mitad atacada.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 1:15 (y pasa a B). El porqué. Hedge no había apostado todo al mejor del momento: al llegar el ataque tenía el peso en tercios. Cuando el ataque rompe a Naive Bayes, el peso migra al estructural, que mira formato y no palabras. Pase: «Esto con todas las etiquetas. Ezequiel muestra qué pasa cuando escasean.»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 0:50. Cómo armamos la prueba. Cada fila son 20 mensajes seguidos; en negro, los que el usuario reporta. Probamos cuatro niveles: todos, 1 de cada 2, 1 de cada 5 y 1 de cada 20. Hedge y SGD ven exactamente los mismos reportes. Los errores se cuentan siempre: si un spam se escapa, el usuario lo sufre aunque no lo reporte. Solo cambia de qué aprende cada uno: SGD, de cada reporte tal cual; Hedge multiplica por 1/ρ cada error que ve y achica η para no sobrerreaccionar. El dato clave: con 1 de cada 20 hay unos 15 spams atacados con etiqueta.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 1:10. Respuesta a la pregunta 2. Con todas las etiquetas, reentrenar gana claro: 73 contra 133. A medida que el usuario reporta menos, SGD se degrada mucho más rápido. Las curvas se cruzan entre 1 de cada 5 y 1 de cada 20: ahí Hedge gana en 15 de 20 semillas, y SGD termina peor que no adaptarse. Matiz: con 1 de cada 20, Hedge apenas empata con el estático (189 contra 190); no recupera, pero no empeora.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 1:05. Un revisor nos objetó que SGD perdía por no reponderar como Hedge. Lo probamos: reponderar lo empeora, de 210 a 240 o 323 errores. La razón es de conteo: Hedge aprende 5 pesos; reentrenar necesita un peso por cada palabra nueva. Lo que sí sufre Hedge es la varianza del estimador.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 1:30. Primera precisión sobre la teoría. Las slides 71 y 73 presentan juntos el voto pesado y la cota, pero la cota es del Hedge randomizado. Construimos un adversario que simula al determinístico y le etiqueta lo contrario: su regret crece lineal, T/2. El randomizado queda en 14, bajo su cota de 37. En el stream real el determinístico anda mejor: la diferencia es de peor caso.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 1:15. Segunda precisión. Hay dos cotas y cada una vale para su propia tasa de aprendizaje. Las dos se cumplen en las 20 semillas. La small-loss da la mitad de regret, pero requiere saber cuántos errores comete el mejor experto, algo que bajo ataque no sabemos. Notar cómo esa cota cambia de pendiente con el ataque.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 1:30. Tres cosas que sirven fuera de este trabajo. Accuracy engaña con datos desbalanceados. La validación cruzada sobre datos sin cambio no sirve para elegir hiperparámetros de adaptación: tuvimos que fijar el alfa de SGD. Y combinar solo funciona si algún experto sobrevive: con la primera versión del estructural, Hedge no recuperaba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 1:00. La conclusión práctica. Lowd y Meek tenían razón a medias: reentrenar seguido funciona si hay etiquetas seguido. Cuando escasean, combinar es más robusto porque tiene muchos menos parámetros. Cerrar con la pregunta abierta, aclarando que no la probamos.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 0:35. Mencionar rápido, sin leer todas. Las dos más importantes: el drift es sintético y el experto robusto lo es para este ataque en particular.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 0:15 + preguntas. Agradecer y abrir preguntas. Verificar antes que el repositorio sea público si se muestra el enlace.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7F5F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0424160" cy="566928"/>
          </a:xfrm>
          <a:prstGeom prst="rect">
            <a:avLst/>
          </a:prstGeom>
          <a:noFill/>
          <a:ln/>
        </p:spPr>
        <p:txBody>
          <a:bodyPr wrap="square" rtlCol="0"/>
          <a:lstStyle>
            <a:lvl1pPr indent="0" marL="0">
              <a:buNone/>
              <a:defRPr lang="en-US" sz="3000" dirty="0">
                <a:solidFill>
                  <a:srgbClr val="1F2430"/>
                </a:solidFill>
                <a:latin typeface="Georgia" pitchFamily="34" charset="0"/>
                <a:ea typeface="Georgia" pitchFamily="34" charset="-122"/>
                <a:cs typeface="Georgia" pitchFamily="34" charset="-120"/>
              </a:defRPr>
            </a:lvl1pPr>
          </a:lstStyle>
          <a:p>
            <a:pPr indent="0" marL="0">
              <a:buNone/>
            </a:pPr>
            <a:endParaRPr lang="en-US" sz="3000" dirty="0"/>
          </a:p>
        </p:txBody>
      </p:sp>
      <p:sp>
        <p:nvSpPr>
          <p:cNvPr id="3" name="Shape 0"/>
          <p:cNvSpPr/>
          <p:nvPr/>
        </p:nvSpPr>
        <p:spPr>
          <a:xfrm>
            <a:off x="548640" y="6291072"/>
            <a:ext cx="11091672" cy="0"/>
          </a:xfrm>
          <a:prstGeom prst="line">
            <a:avLst/>
          </a:prstGeom>
          <a:noFill/>
          <a:ln w="9525">
            <a:solidFill>
              <a:srgbClr val="D9D6CE"/>
            </a:solidFill>
            <a:prstDash val="solid"/>
          </a:ln>
        </p:spPr>
      </p:sp>
      <p:sp>
        <p:nvSpPr>
          <p:cNvPr id="25" name="Slide Number Placeholder 0"/>
          <p:cNvSpPr>
            <a:spLocks noGrp="1"/>
          </p:cNvSpPr>
          <p:nvPr>
            <p:ph type="sldNum" sz="quarter" idx="4294967295"/>
          </p:nvPr>
        </p:nvSpPr>
        <p:spPr>
          <a:xfrm>
            <a:off x="11091672" y="63733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1AE"/>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SCURA">
    <p:bg>
      <p:bgPr>
        <a:solidFill>
          <a:srgbClr val="1F243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733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1AE"/>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video" Target="../media/media-9-1.mp4"/><Relationship Id="rId2" Type="http://schemas.microsoft.com/office/2007/relationships/media" Target="../media/media-9-1.mp4"/><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51560"/>
            <a:ext cx="7315200" cy="274320"/>
          </a:xfrm>
          <a:prstGeom prst="rect">
            <a:avLst/>
          </a:prstGeom>
          <a:noFill/>
          <a:ln/>
        </p:spPr>
        <p:txBody>
          <a:bodyPr wrap="square" lIns="0" tIns="0" rIns="0" bIns="0" rtlCol="0" anchor="t"/>
          <a:lstStyle/>
          <a:p>
            <a:pPr indent="0" marL="0">
              <a:lnSpc>
                <a:spcPct val="100000"/>
              </a:lnSpc>
              <a:buNone/>
            </a:pPr>
            <a:r>
              <a:rPr lang="en-US" sz="1100" b="1" spc="200" kern="0" dirty="0">
                <a:solidFill>
                  <a:srgbClr val="9AA1AE"/>
                </a:solidFill>
                <a:latin typeface="Arial" pitchFamily="34" charset="0"/>
                <a:ea typeface="Arial" pitchFamily="34" charset="-122"/>
                <a:cs typeface="Arial" pitchFamily="34" charset="-120"/>
              </a:rPr>
              <a:t>TÓPICOS AVANZADOS EN CIENCIA DE DATOS · MCD210 · UDESA</a:t>
            </a:r>
            <a:endParaRPr lang="en-US" sz="1100" dirty="0"/>
          </a:p>
        </p:txBody>
      </p:sp>
      <p:sp>
        <p:nvSpPr>
          <p:cNvPr id="3" name="Text 1"/>
          <p:cNvSpPr txBox="1"/>
          <p:nvPr/>
        </p:nvSpPr>
        <p:spPr>
          <a:xfrm>
            <a:off x="731520" y="1737360"/>
            <a:ext cx="6766560" cy="2103120"/>
          </a:xfrm>
          <a:prstGeom prst="rect">
            <a:avLst/>
          </a:prstGeom>
          <a:noFill/>
          <a:ln/>
        </p:spPr>
        <p:txBody>
          <a:bodyPr wrap="square" lIns="0" tIns="0" rIns="0" bIns="0" rtlCol="0" anchor="t"/>
          <a:lstStyle/>
          <a:p>
            <a:pPr indent="0" marL="0">
              <a:lnSpc>
                <a:spcPct val="92000"/>
              </a:lnSpc>
              <a:buNone/>
            </a:pPr>
            <a:r>
              <a:rPr lang="en-US" sz="6400" dirty="0">
                <a:solidFill>
                  <a:srgbClr val="FFFFFF"/>
                </a:solidFill>
                <a:latin typeface="Georgia" pitchFamily="34" charset="0"/>
                <a:ea typeface="Georgia" pitchFamily="34" charset="-122"/>
                <a:cs typeface="Georgia" pitchFamily="34" charset="-120"/>
              </a:rPr>
              <a:t>Combinar</a:t>
            </a:r>
            <a:endParaRPr lang="en-US" sz="6400" dirty="0"/>
          </a:p>
          <a:p>
            <a:pPr indent="0" marL="0">
              <a:lnSpc>
                <a:spcPct val="92000"/>
              </a:lnSpc>
              <a:buNone/>
            </a:pPr>
            <a:r>
              <a:rPr lang="en-US" sz="6400" dirty="0">
                <a:solidFill>
                  <a:srgbClr val="FFFFFF"/>
                </a:solidFill>
                <a:latin typeface="Georgia" pitchFamily="34" charset="0"/>
                <a:ea typeface="Georgia" pitchFamily="34" charset="-122"/>
                <a:cs typeface="Georgia" pitchFamily="34" charset="-120"/>
              </a:rPr>
              <a:t>o reentrenar</a:t>
            </a:r>
            <a:endParaRPr lang="en-US" sz="6400" dirty="0"/>
          </a:p>
        </p:txBody>
      </p:sp>
      <p:sp>
        <p:nvSpPr>
          <p:cNvPr id="4" name="Text 2"/>
          <p:cNvSpPr txBox="1"/>
          <p:nvPr/>
        </p:nvSpPr>
        <p:spPr>
          <a:xfrm>
            <a:off x="731520" y="4069080"/>
            <a:ext cx="5852160" cy="777240"/>
          </a:xfrm>
          <a:prstGeom prst="rect">
            <a:avLst/>
          </a:prstGeom>
          <a:noFill/>
          <a:ln/>
        </p:spPr>
        <p:txBody>
          <a:bodyPr wrap="square" lIns="0" tIns="0" rIns="0" bIns="0" rtlCol="0" anchor="t"/>
          <a:lstStyle/>
          <a:p>
            <a:pPr indent="0" marL="0">
              <a:lnSpc>
                <a:spcPct val="100000"/>
              </a:lnSpc>
              <a:buNone/>
            </a:pPr>
            <a:r>
              <a:rPr lang="en-US" sz="2000" dirty="0">
                <a:solidFill>
                  <a:srgbClr val="C8CEDA"/>
                </a:solidFill>
                <a:latin typeface="Arial" pitchFamily="34" charset="0"/>
                <a:ea typeface="Arial" pitchFamily="34" charset="-122"/>
                <a:cs typeface="Arial" pitchFamily="34" charset="-120"/>
              </a:rPr>
              <a:t>Hedge contra reentrenamiento online en un filtro de spam bajo ataque</a:t>
            </a:r>
            <a:endParaRPr lang="en-US" sz="2000" dirty="0"/>
          </a:p>
        </p:txBody>
      </p:sp>
      <p:sp>
        <p:nvSpPr>
          <p:cNvPr id="5" name="Text 3"/>
          <p:cNvSpPr txBox="1"/>
          <p:nvPr/>
        </p:nvSpPr>
        <p:spPr>
          <a:xfrm>
            <a:off x="731520" y="5349240"/>
            <a:ext cx="6400800" cy="365760"/>
          </a:xfrm>
          <a:prstGeom prst="rect">
            <a:avLst/>
          </a:prstGeom>
          <a:noFill/>
          <a:ln/>
        </p:spPr>
        <p:txBody>
          <a:bodyPr wrap="square" lIns="0" tIns="0" rIns="0" bIns="0" rtlCol="0" anchor="t"/>
          <a:lstStyle/>
          <a:p>
            <a:pPr indent="0" marL="0">
              <a:lnSpc>
                <a:spcPct val="100000"/>
              </a:lnSpc>
              <a:buNone/>
            </a:pPr>
            <a:r>
              <a:rPr lang="en-US" sz="1600" b="1" dirty="0">
                <a:solidFill>
                  <a:srgbClr val="FFFFFF"/>
                </a:solidFill>
                <a:latin typeface="Arial" pitchFamily="34" charset="0"/>
                <a:ea typeface="Arial" pitchFamily="34" charset="-122"/>
                <a:cs typeface="Arial" pitchFamily="34" charset="-120"/>
              </a:rPr>
              <a:t>Pablo Díaz · Ezequiel Martinez</a:t>
            </a:r>
            <a:endParaRPr lang="en-US" sz="1600" dirty="0"/>
          </a:p>
        </p:txBody>
      </p:sp>
      <p:sp>
        <p:nvSpPr>
          <p:cNvPr id="6" name="Text 4"/>
          <p:cNvSpPr txBox="1"/>
          <p:nvPr/>
        </p:nvSpPr>
        <p:spPr>
          <a:xfrm>
            <a:off x="7955280" y="868680"/>
            <a:ext cx="3291840" cy="685800"/>
          </a:xfrm>
          <a:prstGeom prst="rect">
            <a:avLst/>
          </a:prstGeom>
          <a:noFill/>
          <a:ln/>
        </p:spPr>
        <p:txBody>
          <a:bodyPr wrap="square" lIns="0" tIns="0" rIns="0" bIns="0" rtlCol="0" anchor="t"/>
          <a:lstStyle/>
          <a:p>
            <a:pPr indent="0" marL="0">
              <a:lnSpc>
                <a:spcPct val="100000"/>
              </a:lnSpc>
              <a:buNone/>
            </a:pPr>
            <a:r>
              <a:rPr lang="en-US" sz="4000" i="1" dirty="0">
                <a:solidFill>
                  <a:srgbClr val="EB6834"/>
                </a:solidFill>
                <a:latin typeface="Georgia" pitchFamily="34" charset="0"/>
                <a:ea typeface="Georgia" pitchFamily="34" charset="-122"/>
                <a:cs typeface="Georgia" pitchFamily="34" charset="-120"/>
              </a:rPr>
              <a:t>reeply</a:t>
            </a:r>
            <a:endParaRPr lang="en-US" sz="4000" dirty="0"/>
          </a:p>
        </p:txBody>
      </p:sp>
      <p:sp>
        <p:nvSpPr>
          <p:cNvPr id="7" name="Text 5"/>
          <p:cNvSpPr txBox="1"/>
          <p:nvPr/>
        </p:nvSpPr>
        <p:spPr>
          <a:xfrm>
            <a:off x="8732520" y="1655064"/>
            <a:ext cx="3291840" cy="685800"/>
          </a:xfrm>
          <a:prstGeom prst="rect">
            <a:avLst/>
          </a:prstGeom>
          <a:noFill/>
          <a:ln/>
        </p:spPr>
        <p:txBody>
          <a:bodyPr wrap="square" lIns="0" tIns="0" rIns="0" bIns="0" rtlCol="0" anchor="t"/>
          <a:lstStyle/>
          <a:p>
            <a:pPr indent="0" marL="0">
              <a:lnSpc>
                <a:spcPct val="100000"/>
              </a:lnSpc>
              <a:buNone/>
            </a:pPr>
            <a:r>
              <a:rPr lang="en-US" sz="4000" i="1" dirty="0">
                <a:solidFill>
                  <a:srgbClr val="CE5E33"/>
                </a:solidFill>
                <a:latin typeface="Georgia" pitchFamily="34" charset="0"/>
                <a:ea typeface="Georgia" pitchFamily="34" charset="-122"/>
                <a:cs typeface="Georgia" pitchFamily="34" charset="-120"/>
              </a:rPr>
              <a:t>wiin</a:t>
            </a:r>
            <a:endParaRPr lang="en-US" sz="4000" dirty="0"/>
          </a:p>
        </p:txBody>
      </p:sp>
      <p:sp>
        <p:nvSpPr>
          <p:cNvPr id="8" name="Text 6"/>
          <p:cNvSpPr txBox="1"/>
          <p:nvPr/>
        </p:nvSpPr>
        <p:spPr>
          <a:xfrm>
            <a:off x="7955280" y="2441448"/>
            <a:ext cx="3291840" cy="685800"/>
          </a:xfrm>
          <a:prstGeom prst="rect">
            <a:avLst/>
          </a:prstGeom>
          <a:noFill/>
          <a:ln/>
        </p:spPr>
        <p:txBody>
          <a:bodyPr wrap="square" lIns="0" tIns="0" rIns="0" bIns="0" rtlCol="0" anchor="t"/>
          <a:lstStyle/>
          <a:p>
            <a:pPr indent="0" marL="0">
              <a:lnSpc>
                <a:spcPct val="100000"/>
              </a:lnSpc>
              <a:buNone/>
            </a:pPr>
            <a:r>
              <a:rPr lang="en-US" sz="4000" i="1" dirty="0">
                <a:solidFill>
                  <a:srgbClr val="B25533"/>
                </a:solidFill>
                <a:latin typeface="Georgia" pitchFamily="34" charset="0"/>
                <a:ea typeface="Georgia" pitchFamily="34" charset="-122"/>
                <a:cs typeface="Georgia" pitchFamily="34" charset="-120"/>
              </a:rPr>
              <a:t>weeekly</a:t>
            </a:r>
            <a:endParaRPr lang="en-US" sz="4000" dirty="0"/>
          </a:p>
        </p:txBody>
      </p:sp>
      <p:sp>
        <p:nvSpPr>
          <p:cNvPr id="9" name="Text 7"/>
          <p:cNvSpPr txBox="1"/>
          <p:nvPr/>
        </p:nvSpPr>
        <p:spPr>
          <a:xfrm>
            <a:off x="8732520" y="3227832"/>
            <a:ext cx="3291840" cy="685800"/>
          </a:xfrm>
          <a:prstGeom prst="rect">
            <a:avLst/>
          </a:prstGeom>
          <a:noFill/>
          <a:ln/>
        </p:spPr>
        <p:txBody>
          <a:bodyPr wrap="square" lIns="0" tIns="0" rIns="0" bIns="0" rtlCol="0" anchor="t"/>
          <a:lstStyle/>
          <a:p>
            <a:pPr indent="0" marL="0">
              <a:lnSpc>
                <a:spcPct val="100000"/>
              </a:lnSpc>
              <a:buNone/>
            </a:pPr>
            <a:r>
              <a:rPr lang="en-US" sz="4000" i="1" dirty="0">
                <a:solidFill>
                  <a:srgbClr val="954B32"/>
                </a:solidFill>
                <a:latin typeface="Georgia" pitchFamily="34" charset="0"/>
                <a:ea typeface="Georgia" pitchFamily="34" charset="-122"/>
                <a:cs typeface="Georgia" pitchFamily="34" charset="-120"/>
              </a:rPr>
              <a:t>cuup</a:t>
            </a:r>
            <a:endParaRPr lang="en-US" sz="4000" dirty="0"/>
          </a:p>
        </p:txBody>
      </p:sp>
      <p:sp>
        <p:nvSpPr>
          <p:cNvPr id="10" name="Text 8"/>
          <p:cNvSpPr txBox="1"/>
          <p:nvPr/>
        </p:nvSpPr>
        <p:spPr>
          <a:xfrm>
            <a:off x="7955280" y="4014216"/>
            <a:ext cx="3291840" cy="685800"/>
          </a:xfrm>
          <a:prstGeom prst="rect">
            <a:avLst/>
          </a:prstGeom>
          <a:noFill/>
          <a:ln/>
        </p:spPr>
        <p:txBody>
          <a:bodyPr wrap="square" lIns="0" tIns="0" rIns="0" bIns="0" rtlCol="0" anchor="t"/>
          <a:lstStyle/>
          <a:p>
            <a:pPr indent="0" marL="0">
              <a:lnSpc>
                <a:spcPct val="100000"/>
              </a:lnSpc>
              <a:buNone/>
            </a:pPr>
            <a:r>
              <a:rPr lang="en-US" sz="4000" i="1" dirty="0">
                <a:solidFill>
                  <a:srgbClr val="794232"/>
                </a:solidFill>
                <a:latin typeface="Georgia" pitchFamily="34" charset="0"/>
                <a:ea typeface="Georgia" pitchFamily="34" charset="-122"/>
                <a:cs typeface="Georgia" pitchFamily="34" charset="-120"/>
              </a:rPr>
              <a:t>stoop</a:t>
            </a:r>
            <a:endParaRPr lang="en-US" sz="4000" dirty="0"/>
          </a:p>
        </p:txBody>
      </p:sp>
      <p:sp>
        <p:nvSpPr>
          <p:cNvPr id="11" name="Text 9"/>
          <p:cNvSpPr txBox="1"/>
          <p:nvPr/>
        </p:nvSpPr>
        <p:spPr>
          <a:xfrm>
            <a:off x="8732520" y="4800600"/>
            <a:ext cx="3291840" cy="685800"/>
          </a:xfrm>
          <a:prstGeom prst="rect">
            <a:avLst/>
          </a:prstGeom>
          <a:noFill/>
          <a:ln/>
        </p:spPr>
        <p:txBody>
          <a:bodyPr wrap="square" lIns="0" tIns="0" rIns="0" bIns="0" rtlCol="0" anchor="t"/>
          <a:lstStyle/>
          <a:p>
            <a:pPr indent="0" marL="0">
              <a:lnSpc>
                <a:spcPct val="100000"/>
              </a:lnSpc>
              <a:buNone/>
            </a:pPr>
            <a:r>
              <a:rPr lang="en-US" sz="4000" i="1" dirty="0">
                <a:solidFill>
                  <a:srgbClr val="5C3831"/>
                </a:solidFill>
                <a:latin typeface="Georgia" pitchFamily="34" charset="0"/>
                <a:ea typeface="Georgia" pitchFamily="34" charset="-122"/>
                <a:cs typeface="Georgia" pitchFamily="34" charset="-120"/>
              </a:rPr>
              <a:t>seervice</a:t>
            </a:r>
            <a:endParaRPr lang="en-US" sz="4000" dirty="0"/>
          </a:p>
        </p:txBody>
      </p:sp>
      <p:sp>
        <p:nvSpPr>
          <p:cNvPr id="12" name="Text 10"/>
          <p:cNvSpPr txBox="1"/>
          <p:nvPr/>
        </p:nvSpPr>
        <p:spPr>
          <a:xfrm>
            <a:off x="8732520" y="5586984"/>
            <a:ext cx="1828800" cy="685800"/>
          </a:xfrm>
          <a:prstGeom prst="rect">
            <a:avLst/>
          </a:prstGeom>
          <a:noFill/>
          <a:ln/>
        </p:spPr>
        <p:txBody>
          <a:bodyPr wrap="square" lIns="0" tIns="0" rIns="0" bIns="0" rtlCol="0" anchor="t"/>
          <a:lstStyle/>
          <a:p>
            <a:pPr indent="0" marL="0">
              <a:lnSpc>
                <a:spcPct val="100000"/>
              </a:lnSpc>
              <a:buNone/>
            </a:pPr>
            <a:r>
              <a:rPr lang="en-US" sz="4000" i="1" dirty="0">
                <a:solidFill>
                  <a:srgbClr val="265694"/>
                </a:solidFill>
                <a:latin typeface="Georgia" pitchFamily="34" charset="0"/>
                <a:ea typeface="Georgia" pitchFamily="34" charset="-122"/>
                <a:cs typeface="Georgia" pitchFamily="34" charset="-120"/>
              </a:rPr>
              <a:t>lol</a:t>
            </a:r>
            <a:endParaRPr lang="en-US" sz="40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11480"/>
            <a:ext cx="7315200" cy="228600"/>
          </a:xfrm>
          <a:prstGeom prst="rect">
            <a:avLst/>
          </a:prstGeom>
          <a:noFill/>
          <a:ln/>
        </p:spPr>
        <p:txBody>
          <a:bodyPr wrap="square" lIns="0" tIns="0" rIns="0" bIns="0" rtlCol="0" anchor="t"/>
          <a:lstStyle/>
          <a:p>
            <a:pPr indent="0" marL="0">
              <a:lnSpc>
                <a:spcPct val="100000"/>
              </a:lnSpc>
              <a:buNone/>
            </a:pPr>
            <a:r>
              <a:rPr lang="en-US" sz="1100" b="1" spc="200" kern="0" dirty="0">
                <a:solidFill>
                  <a:srgbClr val="5A6274"/>
                </a:solidFill>
                <a:latin typeface="Arial" pitchFamily="34" charset="0"/>
                <a:ea typeface="Arial" pitchFamily="34" charset="-122"/>
                <a:cs typeface="Arial" pitchFamily="34" charset="-120"/>
              </a:rPr>
              <a:t>EL PROBLEMA</a:t>
            </a:r>
            <a:endParaRPr lang="en-US" sz="1100" dirty="0"/>
          </a:p>
        </p:txBody>
      </p:sp>
      <p:sp>
        <p:nvSpPr>
          <p:cNvPr id="3" name="Text 0"/>
          <p:cNvSpPr/>
          <p:nvPr>
            <p:ph idx="100" type="title" hasCustomPrompt="1"/>
          </p:nvPr>
        </p:nvSpPr>
        <p:spPr>
          <a:xfrm>
            <a:off x="548640" y="731520"/>
            <a:ext cx="10424160" cy="566928"/>
          </a:xfrm>
          <a:prstGeom prst="rect">
            <a:avLst/>
          </a:prstGeom>
          <a:noFill/>
          <a:ln/>
        </p:spPr>
        <p:txBody>
          <a:bodyPr wrap="square" lIns="0" tIns="0" rIns="0" bIns="0" rtlCol="0" anchor="t"/>
          <a:lstStyle/>
          <a:p>
            <a:pPr indent="0" marL="0">
              <a:buNone/>
            </a:pPr>
            <a:r>
              <a:rPr lang="en-US" sz="3000" dirty="0">
                <a:solidFill>
                  <a:srgbClr val="1F2430"/>
                </a:solidFill>
                <a:latin typeface="Georgia" pitchFamily="34" charset="0"/>
                <a:ea typeface="Georgia" pitchFamily="34" charset="-122"/>
                <a:cs typeface="Georgia" pitchFamily="34" charset="-120"/>
              </a:rPr>
              <a:t>Un spammer que aprende a esquivar el filtro</a:t>
            </a:r>
            <a:endParaRPr lang="en-US" sz="3000" dirty="0"/>
          </a:p>
        </p:txBody>
      </p:sp>
      <p:sp>
        <p:nvSpPr>
          <p:cNvPr id="4" name="Text 2"/>
          <p:cNvSpPr txBox="1"/>
          <p:nvPr/>
        </p:nvSpPr>
        <p:spPr>
          <a:xfrm>
            <a:off x="548640" y="1307592"/>
            <a:ext cx="10424160" cy="320040"/>
          </a:xfrm>
          <a:prstGeom prst="rect">
            <a:avLst/>
          </a:prstGeom>
          <a:noFill/>
          <a:ln/>
        </p:spPr>
        <p:txBody>
          <a:bodyPr wrap="square" lIns="0" tIns="0" rIns="0" bIns="0" rtlCol="0" anchor="t"/>
          <a:lstStyle/>
          <a:p>
            <a:pPr indent="0" marL="0">
              <a:lnSpc>
                <a:spcPct val="100000"/>
              </a:lnSpc>
              <a:buNone/>
            </a:pPr>
            <a:r>
              <a:rPr lang="en-US" sz="1500" dirty="0">
                <a:solidFill>
                  <a:srgbClr val="5A6274"/>
                </a:solidFill>
                <a:latin typeface="Arial" pitchFamily="34" charset="0"/>
                <a:ea typeface="Arial" pitchFamily="34" charset="-122"/>
                <a:cs typeface="Arial" pitchFamily="34" charset="-120"/>
              </a:rPr>
              <a:t>Un SMS real del corpus, atacado por nuestro código: crece una sola palabra.</a:t>
            </a:r>
            <a:endParaRPr lang="en-US" sz="1500" dirty="0"/>
          </a:p>
        </p:txBody>
      </p:sp>
      <p:sp>
        <p:nvSpPr>
          <p:cNvPr id="5" name="Text 3"/>
          <p:cNvSpPr txBox="1"/>
          <p:nvPr/>
        </p:nvSpPr>
        <p:spPr>
          <a:xfrm>
            <a:off x="9235440" y="429768"/>
            <a:ext cx="1554480" cy="201168"/>
          </a:xfrm>
          <a:prstGeom prst="rect">
            <a:avLst/>
          </a:prstGeom>
          <a:noFill/>
          <a:ln/>
        </p:spPr>
        <p:txBody>
          <a:bodyPr wrap="square" lIns="0" tIns="0" rIns="0" bIns="0" rtlCol="0" anchor="t"/>
          <a:lstStyle/>
          <a:p>
            <a:pPr algn="r" indent="0" marL="0">
              <a:lnSpc>
                <a:spcPct val="100000"/>
              </a:lnSpc>
              <a:buNone/>
            </a:pPr>
            <a:r>
              <a:rPr lang="en-US" sz="900" b="1" spc="200" kern="0" dirty="0">
                <a:solidFill>
                  <a:srgbClr val="9AA1AE"/>
                </a:solidFill>
                <a:latin typeface="Arial" pitchFamily="34" charset="0"/>
                <a:ea typeface="Arial" pitchFamily="34" charset="-122"/>
                <a:cs typeface="Arial" pitchFamily="34" charset="-120"/>
              </a:rPr>
              <a:t>HALLAZGOS</a:t>
            </a:r>
            <a:endParaRPr lang="en-US" sz="900" dirty="0"/>
          </a:p>
        </p:txBody>
      </p:sp>
      <p:sp>
        <p:nvSpPr>
          <p:cNvPr id="6" name="hallazgo 1"/>
          <p:cNvSpPr/>
          <p:nvPr/>
        </p:nvSpPr>
        <p:spPr>
          <a:xfrm>
            <a:off x="10899648" y="457200"/>
            <a:ext cx="137160" cy="137160"/>
          </a:xfrm>
          <a:prstGeom prst="ellipse">
            <a:avLst/>
          </a:prstGeom>
          <a:ln w="15875">
            <a:solidFill>
              <a:srgbClr val="9AA1AE"/>
            </a:solidFill>
            <a:prstDash val="solid"/>
          </a:ln>
        </p:spPr>
      </p:sp>
      <p:sp>
        <p:nvSpPr>
          <p:cNvPr id="7" name="hallazgo 2"/>
          <p:cNvSpPr/>
          <p:nvPr/>
        </p:nvSpPr>
        <p:spPr>
          <a:xfrm>
            <a:off x="11100816" y="457200"/>
            <a:ext cx="137160" cy="137160"/>
          </a:xfrm>
          <a:prstGeom prst="ellipse">
            <a:avLst/>
          </a:prstGeom>
          <a:ln w="15875">
            <a:solidFill>
              <a:srgbClr val="9AA1AE"/>
            </a:solidFill>
            <a:prstDash val="solid"/>
          </a:ln>
        </p:spPr>
      </p:sp>
      <p:sp>
        <p:nvSpPr>
          <p:cNvPr id="8" name="hallazgo 3"/>
          <p:cNvSpPr/>
          <p:nvPr/>
        </p:nvSpPr>
        <p:spPr>
          <a:xfrm>
            <a:off x="11301984" y="457200"/>
            <a:ext cx="137160" cy="137160"/>
          </a:xfrm>
          <a:prstGeom prst="ellipse">
            <a:avLst/>
          </a:prstGeom>
          <a:ln w="15875">
            <a:solidFill>
              <a:srgbClr val="9AA1AE"/>
            </a:solidFill>
            <a:prstDash val="solid"/>
          </a:ln>
        </p:spPr>
      </p:sp>
      <p:sp>
        <p:nvSpPr>
          <p:cNvPr id="9" name="hallazgo 4"/>
          <p:cNvSpPr/>
          <p:nvPr/>
        </p:nvSpPr>
        <p:spPr>
          <a:xfrm>
            <a:off x="11503152" y="457200"/>
            <a:ext cx="137160" cy="137160"/>
          </a:xfrm>
          <a:prstGeom prst="ellipse">
            <a:avLst/>
          </a:prstGeom>
          <a:ln w="15875">
            <a:solidFill>
              <a:srgbClr val="9AA1AE"/>
            </a:solidFill>
            <a:prstDash val="solid"/>
          </a:ln>
        </p:spPr>
      </p:sp>
      <p:pic>
        <p:nvPicPr>
          <p:cNvPr id="10" name="Image 0" descr="Dos teléfonos con el mismo SMS de spam, antes y después del ataque. En el atacado, siete palabras tienen una letra duplicada (reeply, wiin, weeekly) y se agrega la palabra lol.">    </p:cNvPr>
          <p:cNvPicPr>
            <a:picLocks noChangeAspect="1"/>
          </p:cNvPicPr>
          <p:nvPr/>
        </p:nvPicPr>
        <p:blipFill>
          <a:blip r:embed="rId1"/>
          <a:stretch>
            <a:fillRect/>
          </a:stretch>
        </p:blipFill>
        <p:spPr>
          <a:xfrm>
            <a:off x="365760" y="2011680"/>
            <a:ext cx="8092440" cy="3382068"/>
          </a:xfrm>
          <a:prstGeom prst="rect">
            <a:avLst/>
          </a:prstGeom>
        </p:spPr>
      </p:pic>
      <p:sp>
        <p:nvSpPr>
          <p:cNvPr id="11" name="Text 8"/>
          <p:cNvSpPr txBox="1"/>
          <p:nvPr/>
        </p:nvSpPr>
        <p:spPr>
          <a:xfrm>
            <a:off x="8641080" y="1965960"/>
            <a:ext cx="3017520" cy="228600"/>
          </a:xfrm>
          <a:prstGeom prst="rect">
            <a:avLst/>
          </a:prstGeom>
          <a:noFill/>
          <a:ln/>
        </p:spPr>
        <p:txBody>
          <a:bodyPr wrap="square" lIns="0" tIns="0" rIns="0" bIns="0" rtlCol="0" anchor="t"/>
          <a:lstStyle/>
          <a:p>
            <a:pPr indent="0" marL="0">
              <a:lnSpc>
                <a:spcPct val="100000"/>
              </a:lnSpc>
              <a:buNone/>
            </a:pPr>
            <a:r>
              <a:rPr lang="en-US" sz="1000" b="1" spc="100" kern="0" dirty="0">
                <a:solidFill>
                  <a:srgbClr val="5A6274"/>
                </a:solidFill>
                <a:latin typeface="Arial" pitchFamily="34" charset="0"/>
                <a:ea typeface="Arial" pitchFamily="34" charset="-122"/>
                <a:cs typeface="Arial" pitchFamily="34" charset="-120"/>
              </a:rPr>
              <a:t>SPAM QUE ATRAPA EL FILTRO ESTÁTICO</a:t>
            </a:r>
            <a:endParaRPr lang="en-US" sz="1000" dirty="0"/>
          </a:p>
        </p:txBody>
      </p:sp>
      <p:sp>
        <p:nvSpPr>
          <p:cNvPr id="12" name="Text 9"/>
          <p:cNvSpPr txBox="1"/>
          <p:nvPr/>
        </p:nvSpPr>
        <p:spPr>
          <a:xfrm>
            <a:off x="8641080" y="2286000"/>
            <a:ext cx="3017520" cy="822960"/>
          </a:xfrm>
          <a:prstGeom prst="rect">
            <a:avLst/>
          </a:prstGeom>
          <a:noFill/>
          <a:ln/>
        </p:spPr>
        <p:txBody>
          <a:bodyPr wrap="square" lIns="0" tIns="0" rIns="0" bIns="0" rtlCol="0" anchor="t"/>
          <a:lstStyle/>
          <a:p>
            <a:pPr indent="0" marL="0">
              <a:lnSpc>
                <a:spcPct val="100000"/>
              </a:lnSpc>
              <a:buNone/>
            </a:pPr>
            <a:r>
              <a:rPr lang="en-US" sz="5400" b="1" dirty="0">
                <a:solidFill>
                  <a:srgbClr val="9AA1AE"/>
                </a:solidFill>
                <a:latin typeface="Arial" pitchFamily="34" charset="0"/>
                <a:ea typeface="Arial" pitchFamily="34" charset="-122"/>
                <a:cs typeface="Arial" pitchFamily="34" charset="-120"/>
              </a:rPr>
              <a:t>85%</a:t>
            </a:r>
            <a:endParaRPr lang="en-US" sz="5400" dirty="0"/>
          </a:p>
        </p:txBody>
      </p:sp>
      <p:sp>
        <p:nvSpPr>
          <p:cNvPr id="13" name="Text 10"/>
          <p:cNvSpPr txBox="1"/>
          <p:nvPr/>
        </p:nvSpPr>
        <p:spPr>
          <a:xfrm>
            <a:off x="8641080" y="3108960"/>
            <a:ext cx="3017520" cy="274320"/>
          </a:xfrm>
          <a:prstGeom prst="rect">
            <a:avLst/>
          </a:prstGeom>
          <a:noFill/>
          <a:ln/>
        </p:spPr>
        <p:txBody>
          <a:bodyPr wrap="square" lIns="0" tIns="0" rIns="0" bIns="0" rtlCol="0" anchor="t"/>
          <a:lstStyle/>
          <a:p>
            <a:pPr indent="0" marL="0">
              <a:lnSpc>
                <a:spcPct val="100000"/>
              </a:lnSpc>
              <a:buNone/>
            </a:pPr>
            <a:r>
              <a:rPr lang="en-US" sz="1400" dirty="0">
                <a:solidFill>
                  <a:srgbClr val="5A6274"/>
                </a:solidFill>
                <a:latin typeface="Arial" pitchFamily="34" charset="0"/>
                <a:ea typeface="Arial" pitchFamily="34" charset="-122"/>
                <a:cs typeface="Arial" pitchFamily="34" charset="-120"/>
              </a:rPr>
              <a:t>sin ataque</a:t>
            </a:r>
            <a:endParaRPr lang="en-US" sz="1400" dirty="0"/>
          </a:p>
        </p:txBody>
      </p:sp>
      <p:sp>
        <p:nvSpPr>
          <p:cNvPr id="14" name="Text 11"/>
          <p:cNvSpPr txBox="1"/>
          <p:nvPr/>
        </p:nvSpPr>
        <p:spPr>
          <a:xfrm>
            <a:off x="8641080" y="3520440"/>
            <a:ext cx="3017520" cy="822960"/>
          </a:xfrm>
          <a:prstGeom prst="rect">
            <a:avLst/>
          </a:prstGeom>
          <a:noFill/>
          <a:ln/>
        </p:spPr>
        <p:txBody>
          <a:bodyPr wrap="square" lIns="0" tIns="0" rIns="0" bIns="0" rtlCol="0" anchor="t"/>
          <a:lstStyle/>
          <a:p>
            <a:pPr indent="0" marL="0">
              <a:lnSpc>
                <a:spcPct val="100000"/>
              </a:lnSpc>
              <a:buNone/>
            </a:pPr>
            <a:r>
              <a:rPr lang="en-US" sz="5400" b="1" dirty="0">
                <a:solidFill>
                  <a:srgbClr val="EB6834"/>
                </a:solidFill>
                <a:latin typeface="Arial" pitchFamily="34" charset="0"/>
                <a:ea typeface="Arial" pitchFamily="34" charset="-122"/>
                <a:cs typeface="Arial" pitchFamily="34" charset="-120"/>
              </a:rPr>
              <a:t>42%</a:t>
            </a:r>
            <a:endParaRPr lang="en-US" sz="5400" dirty="0"/>
          </a:p>
        </p:txBody>
      </p:sp>
      <p:sp>
        <p:nvSpPr>
          <p:cNvPr id="15" name="Text 12"/>
          <p:cNvSpPr txBox="1"/>
          <p:nvPr/>
        </p:nvSpPr>
        <p:spPr>
          <a:xfrm>
            <a:off x="8641080" y="4343400"/>
            <a:ext cx="3017520" cy="274320"/>
          </a:xfrm>
          <a:prstGeom prst="rect">
            <a:avLst/>
          </a:prstGeom>
          <a:noFill/>
          <a:ln/>
        </p:spPr>
        <p:txBody>
          <a:bodyPr wrap="square" lIns="0" tIns="0" rIns="0" bIns="0" rtlCol="0" anchor="t"/>
          <a:lstStyle/>
          <a:p>
            <a:pPr indent="0" marL="0">
              <a:lnSpc>
                <a:spcPct val="100000"/>
              </a:lnSpc>
              <a:buNone/>
            </a:pPr>
            <a:r>
              <a:rPr lang="en-US" sz="1400" dirty="0">
                <a:solidFill>
                  <a:srgbClr val="5A6274"/>
                </a:solidFill>
                <a:latin typeface="Arial" pitchFamily="34" charset="0"/>
                <a:ea typeface="Arial" pitchFamily="34" charset="-122"/>
                <a:cs typeface="Arial" pitchFamily="34" charset="-120"/>
              </a:rPr>
              <a:t>con ataque</a:t>
            </a:r>
            <a:endParaRPr lang="en-US" sz="1400" dirty="0"/>
          </a:p>
        </p:txBody>
      </p:sp>
      <p:sp>
        <p:nvSpPr>
          <p:cNvPr id="16" name="Shape 13"/>
          <p:cNvSpPr/>
          <p:nvPr/>
        </p:nvSpPr>
        <p:spPr>
          <a:xfrm>
            <a:off x="8641080" y="4846320"/>
            <a:ext cx="2999232" cy="0"/>
          </a:xfrm>
          <a:prstGeom prst="line">
            <a:avLst/>
          </a:prstGeom>
          <a:noFill/>
          <a:ln w="9525">
            <a:solidFill>
              <a:srgbClr val="D9D6CE"/>
            </a:solidFill>
            <a:prstDash val="solid"/>
          </a:ln>
        </p:spPr>
      </p:sp>
      <p:sp>
        <p:nvSpPr>
          <p:cNvPr id="17" name="leyenda alterada"/>
          <p:cNvSpPr/>
          <p:nvPr/>
        </p:nvSpPr>
        <p:spPr>
          <a:xfrm>
            <a:off x="8641080" y="5029200"/>
            <a:ext cx="164592" cy="164592"/>
          </a:xfrm>
          <a:prstGeom prst="ellipse">
            <a:avLst/>
          </a:prstGeom>
          <a:solidFill>
            <a:srgbClr val="EB6834"/>
          </a:solidFill>
          <a:ln/>
        </p:spPr>
      </p:sp>
      <p:sp>
        <p:nvSpPr>
          <p:cNvPr id="18" name="Text 15"/>
          <p:cNvSpPr txBox="1"/>
          <p:nvPr/>
        </p:nvSpPr>
        <p:spPr>
          <a:xfrm>
            <a:off x="8915400" y="4974336"/>
            <a:ext cx="2743200" cy="457200"/>
          </a:xfrm>
          <a:prstGeom prst="rect">
            <a:avLst/>
          </a:prstGeom>
          <a:noFill/>
          <a:ln/>
        </p:spPr>
        <p:txBody>
          <a:bodyPr wrap="square" lIns="0" tIns="0" rIns="0" bIns="0" rtlCol="0" anchor="t"/>
          <a:lstStyle/>
          <a:p>
            <a:pPr indent="0" marL="0">
              <a:lnSpc>
                <a:spcPct val="100000"/>
              </a:lnSpc>
              <a:buNone/>
            </a:pPr>
            <a:r>
              <a:rPr lang="en-US" sz="1200" dirty="0">
                <a:solidFill>
                  <a:srgbClr val="5A6274"/>
                </a:solidFill>
                <a:latin typeface="Arial" pitchFamily="34" charset="0"/>
                <a:ea typeface="Arial" pitchFamily="34" charset="-122"/>
                <a:cs typeface="Arial" pitchFamily="34" charset="-120"/>
              </a:rPr>
              <a:t>vocal duplicada en las palabras que más delatan spam</a:t>
            </a:r>
            <a:endParaRPr lang="en-US" sz="1200" dirty="0"/>
          </a:p>
        </p:txBody>
      </p:sp>
      <p:sp>
        <p:nvSpPr>
          <p:cNvPr id="19" name="leyenda agregada"/>
          <p:cNvSpPr/>
          <p:nvPr/>
        </p:nvSpPr>
        <p:spPr>
          <a:xfrm>
            <a:off x="8641080" y="5559552"/>
            <a:ext cx="164592" cy="164592"/>
          </a:xfrm>
          <a:prstGeom prst="ellipse">
            <a:avLst/>
          </a:prstGeom>
          <a:solidFill>
            <a:srgbClr val="2A78D6"/>
          </a:solidFill>
          <a:ln/>
        </p:spPr>
      </p:sp>
      <p:sp>
        <p:nvSpPr>
          <p:cNvPr id="20" name="Text 17"/>
          <p:cNvSpPr txBox="1"/>
          <p:nvPr/>
        </p:nvSpPr>
        <p:spPr>
          <a:xfrm>
            <a:off x="8915400" y="5504688"/>
            <a:ext cx="2743200" cy="457200"/>
          </a:xfrm>
          <a:prstGeom prst="rect">
            <a:avLst/>
          </a:prstGeom>
          <a:noFill/>
          <a:ln/>
        </p:spPr>
        <p:txBody>
          <a:bodyPr wrap="square" lIns="0" tIns="0" rIns="0" bIns="0" rtlCol="0" anchor="t"/>
          <a:lstStyle/>
          <a:p>
            <a:pPr indent="0" marL="0">
              <a:lnSpc>
                <a:spcPct val="100000"/>
              </a:lnSpc>
              <a:buNone/>
            </a:pPr>
            <a:r>
              <a:rPr lang="en-US" sz="1200" dirty="0">
                <a:solidFill>
                  <a:srgbClr val="5A6274"/>
                </a:solidFill>
                <a:latin typeface="Arial" pitchFamily="34" charset="0"/>
                <a:ea typeface="Arial" pitchFamily="34" charset="-122"/>
                <a:cs typeface="Arial" pitchFamily="34" charset="-120"/>
              </a:rPr>
              <a:t>palabra típica de mensajes legítimos</a:t>
            </a:r>
            <a:endParaRPr lang="en-US" sz="1200" dirty="0"/>
          </a:p>
        </p:txBody>
      </p:sp>
      <p:sp>
        <p:nvSpPr>
          <p:cNvPr id="21" name="Text 18"/>
          <p:cNvSpPr txBox="1"/>
          <p:nvPr/>
        </p:nvSpPr>
        <p:spPr>
          <a:xfrm>
            <a:off x="548640" y="6373368"/>
            <a:ext cx="10241280" cy="274320"/>
          </a:xfrm>
          <a:prstGeom prst="rect">
            <a:avLst/>
          </a:prstGeom>
          <a:noFill/>
          <a:ln/>
        </p:spPr>
        <p:txBody>
          <a:bodyPr wrap="square" lIns="0" tIns="0" rIns="0" bIns="0" rtlCol="0" anchor="t"/>
          <a:lstStyle/>
          <a:p>
            <a:pPr indent="0" marL="0">
              <a:lnSpc>
                <a:spcPct val="100000"/>
              </a:lnSpc>
              <a:buNone/>
            </a:pPr>
            <a:r>
              <a:rPr lang="en-US" sz="1000" dirty="0">
                <a:solidFill>
                  <a:srgbClr val="9AA1AE"/>
                </a:solidFill>
                <a:latin typeface="Arial" pitchFamily="34" charset="0"/>
                <a:ea typeface="Arial" pitchFamily="34" charset="-122"/>
                <a:cs typeface="Arial" pitchFamily="34" charset="-120"/>
              </a:rPr>
              <a:t>Ataque «good word» de Lowd &amp; Meek (2005) más ofuscación de las 800 palabras más delatoras. Media de 20 permutaciones (semillas) del SMS Spam Collection.</a:t>
            </a:r>
            <a:endParaRPr lang="en-US" sz="1000" dirty="0"/>
          </a:p>
        </p:txBody>
      </p:sp>
      <p:sp>
        <p:nvSpPr>
          <p:cNvPr id="25" name="Slide Number Placeholder 0"/>
          <p:cNvSpPr>
            <a:spLocks noGrp="1"/>
          </p:cNvSpPr>
          <p:nvPr>
            <p:ph type="sldNum" sz="quarter" idx="4294967295"/>
          </p:nvPr>
        </p:nvSpPr>
        <p:spPr>
          <a:xfrm>
            <a:off x="11091672" y="63733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1AE"/>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11480"/>
            <a:ext cx="7315200" cy="228600"/>
          </a:xfrm>
          <a:prstGeom prst="rect">
            <a:avLst/>
          </a:prstGeom>
          <a:noFill/>
          <a:ln/>
        </p:spPr>
        <p:txBody>
          <a:bodyPr wrap="square" lIns="0" tIns="0" rIns="0" bIns="0" rtlCol="0" anchor="t"/>
          <a:lstStyle/>
          <a:p>
            <a:pPr indent="0" marL="0">
              <a:lnSpc>
                <a:spcPct val="100000"/>
              </a:lnSpc>
              <a:buNone/>
            </a:pPr>
            <a:r>
              <a:rPr lang="en-US" sz="1100" b="1" spc="200" kern="0" dirty="0">
                <a:solidFill>
                  <a:srgbClr val="5A6274"/>
                </a:solidFill>
                <a:latin typeface="Arial" pitchFamily="34" charset="0"/>
                <a:ea typeface="Arial" pitchFamily="34" charset="-122"/>
                <a:cs typeface="Arial" pitchFamily="34" charset="-120"/>
              </a:rPr>
              <a:t>EL PROBLEMA</a:t>
            </a:r>
            <a:endParaRPr lang="en-US" sz="1100" dirty="0"/>
          </a:p>
        </p:txBody>
      </p:sp>
      <p:sp>
        <p:nvSpPr>
          <p:cNvPr id="3" name="Text 0"/>
          <p:cNvSpPr/>
          <p:nvPr>
            <p:ph idx="100" type="title" hasCustomPrompt="1"/>
          </p:nvPr>
        </p:nvSpPr>
        <p:spPr>
          <a:xfrm>
            <a:off x="548640" y="731520"/>
            <a:ext cx="10424160" cy="566928"/>
          </a:xfrm>
          <a:prstGeom prst="rect">
            <a:avLst/>
          </a:prstGeom>
          <a:noFill/>
          <a:ln/>
        </p:spPr>
        <p:txBody>
          <a:bodyPr wrap="square" lIns="0" tIns="0" rIns="0" bIns="0" rtlCol="0" anchor="t"/>
          <a:lstStyle/>
          <a:p>
            <a:pPr indent="0" marL="0">
              <a:buNone/>
            </a:pPr>
            <a:r>
              <a:rPr lang="en-US" sz="3000" dirty="0">
                <a:solidFill>
                  <a:srgbClr val="1F2430"/>
                </a:solidFill>
                <a:latin typeface="Georgia" pitchFamily="34" charset="0"/>
                <a:ea typeface="Georgia" pitchFamily="34" charset="-122"/>
                <a:cs typeface="Georgia" pitchFamily="34" charset="-120"/>
              </a:rPr>
              <a:t>Dos formas de defenderse</a:t>
            </a:r>
            <a:endParaRPr lang="en-US" sz="3000" dirty="0"/>
          </a:p>
        </p:txBody>
      </p:sp>
      <p:sp>
        <p:nvSpPr>
          <p:cNvPr id="4" name="Text 2"/>
          <p:cNvSpPr txBox="1"/>
          <p:nvPr/>
        </p:nvSpPr>
        <p:spPr>
          <a:xfrm>
            <a:off x="9235440" y="429768"/>
            <a:ext cx="1554480" cy="201168"/>
          </a:xfrm>
          <a:prstGeom prst="rect">
            <a:avLst/>
          </a:prstGeom>
          <a:noFill/>
          <a:ln/>
        </p:spPr>
        <p:txBody>
          <a:bodyPr wrap="square" lIns="0" tIns="0" rIns="0" bIns="0" rtlCol="0" anchor="t"/>
          <a:lstStyle/>
          <a:p>
            <a:pPr algn="r" indent="0" marL="0">
              <a:lnSpc>
                <a:spcPct val="100000"/>
              </a:lnSpc>
              <a:buNone/>
            </a:pPr>
            <a:r>
              <a:rPr lang="en-US" sz="900" b="1" spc="200" kern="0" dirty="0">
                <a:solidFill>
                  <a:srgbClr val="9AA1AE"/>
                </a:solidFill>
                <a:latin typeface="Arial" pitchFamily="34" charset="0"/>
                <a:ea typeface="Arial" pitchFamily="34" charset="-122"/>
                <a:cs typeface="Arial" pitchFamily="34" charset="-120"/>
              </a:rPr>
              <a:t>HALLAZGOS</a:t>
            </a:r>
            <a:endParaRPr lang="en-US" sz="900" dirty="0"/>
          </a:p>
        </p:txBody>
      </p:sp>
      <p:sp>
        <p:nvSpPr>
          <p:cNvPr id="5" name="hallazgo 1"/>
          <p:cNvSpPr/>
          <p:nvPr/>
        </p:nvSpPr>
        <p:spPr>
          <a:xfrm>
            <a:off x="10899648" y="457200"/>
            <a:ext cx="137160" cy="137160"/>
          </a:xfrm>
          <a:prstGeom prst="ellipse">
            <a:avLst/>
          </a:prstGeom>
          <a:ln w="15875">
            <a:solidFill>
              <a:srgbClr val="9AA1AE"/>
            </a:solidFill>
            <a:prstDash val="solid"/>
          </a:ln>
        </p:spPr>
      </p:sp>
      <p:sp>
        <p:nvSpPr>
          <p:cNvPr id="6" name="hallazgo 2"/>
          <p:cNvSpPr/>
          <p:nvPr/>
        </p:nvSpPr>
        <p:spPr>
          <a:xfrm>
            <a:off x="11100816" y="457200"/>
            <a:ext cx="137160" cy="137160"/>
          </a:xfrm>
          <a:prstGeom prst="ellipse">
            <a:avLst/>
          </a:prstGeom>
          <a:ln w="15875">
            <a:solidFill>
              <a:srgbClr val="9AA1AE"/>
            </a:solidFill>
            <a:prstDash val="solid"/>
          </a:ln>
        </p:spPr>
      </p:sp>
      <p:sp>
        <p:nvSpPr>
          <p:cNvPr id="7" name="hallazgo 3"/>
          <p:cNvSpPr/>
          <p:nvPr/>
        </p:nvSpPr>
        <p:spPr>
          <a:xfrm>
            <a:off x="11301984" y="457200"/>
            <a:ext cx="137160" cy="137160"/>
          </a:xfrm>
          <a:prstGeom prst="ellipse">
            <a:avLst/>
          </a:prstGeom>
          <a:ln w="15875">
            <a:solidFill>
              <a:srgbClr val="9AA1AE"/>
            </a:solidFill>
            <a:prstDash val="solid"/>
          </a:ln>
        </p:spPr>
      </p:sp>
      <p:sp>
        <p:nvSpPr>
          <p:cNvPr id="8" name="hallazgo 4"/>
          <p:cNvSpPr/>
          <p:nvPr/>
        </p:nvSpPr>
        <p:spPr>
          <a:xfrm>
            <a:off x="11503152" y="457200"/>
            <a:ext cx="137160" cy="137160"/>
          </a:xfrm>
          <a:prstGeom prst="ellipse">
            <a:avLst/>
          </a:prstGeom>
          <a:ln w="15875">
            <a:solidFill>
              <a:srgbClr val="9AA1AE"/>
            </a:solidFill>
            <a:prstDash val="solid"/>
          </a:ln>
        </p:spPr>
      </p:sp>
      <p:sp>
        <p:nvSpPr>
          <p:cNvPr id="9" name="experto 1"/>
          <p:cNvSpPr/>
          <p:nvPr/>
        </p:nvSpPr>
        <p:spPr>
          <a:xfrm>
            <a:off x="548640" y="1783080"/>
            <a:ext cx="329184" cy="329184"/>
          </a:xfrm>
          <a:prstGeom prst="ellipse">
            <a:avLst/>
          </a:prstGeom>
          <a:solidFill>
            <a:srgbClr val="EB6834"/>
          </a:solidFill>
          <a:ln/>
        </p:spPr>
      </p:sp>
      <p:sp>
        <p:nvSpPr>
          <p:cNvPr id="10" name="experto 2"/>
          <p:cNvSpPr/>
          <p:nvPr/>
        </p:nvSpPr>
        <p:spPr>
          <a:xfrm>
            <a:off x="1005840" y="1783080"/>
            <a:ext cx="329184" cy="329184"/>
          </a:xfrm>
          <a:prstGeom prst="ellipse">
            <a:avLst/>
          </a:prstGeom>
          <a:solidFill>
            <a:srgbClr val="008300"/>
          </a:solidFill>
          <a:ln/>
        </p:spPr>
      </p:sp>
      <p:sp>
        <p:nvSpPr>
          <p:cNvPr id="11" name="experto 3"/>
          <p:cNvSpPr/>
          <p:nvPr/>
        </p:nvSpPr>
        <p:spPr>
          <a:xfrm>
            <a:off x="1463040" y="1783080"/>
            <a:ext cx="329184" cy="329184"/>
          </a:xfrm>
          <a:prstGeom prst="ellipse">
            <a:avLst/>
          </a:prstGeom>
          <a:solidFill>
            <a:srgbClr val="008300"/>
          </a:solidFill>
          <a:ln/>
        </p:spPr>
      </p:sp>
      <p:sp>
        <p:nvSpPr>
          <p:cNvPr id="12" name="experto 4"/>
          <p:cNvSpPr/>
          <p:nvPr/>
        </p:nvSpPr>
        <p:spPr>
          <a:xfrm>
            <a:off x="1920240" y="1783080"/>
            <a:ext cx="329184" cy="329184"/>
          </a:xfrm>
          <a:prstGeom prst="ellipse">
            <a:avLst/>
          </a:prstGeom>
          <a:solidFill>
            <a:srgbClr val="008300"/>
          </a:solidFill>
          <a:ln/>
        </p:spPr>
      </p:sp>
      <p:sp>
        <p:nvSpPr>
          <p:cNvPr id="13" name="experto 5"/>
          <p:cNvSpPr/>
          <p:nvPr/>
        </p:nvSpPr>
        <p:spPr>
          <a:xfrm>
            <a:off x="2377440" y="1783080"/>
            <a:ext cx="329184" cy="329184"/>
          </a:xfrm>
          <a:prstGeom prst="ellipse">
            <a:avLst/>
          </a:prstGeom>
          <a:solidFill>
            <a:srgbClr val="4A3AA7"/>
          </a:solidFill>
          <a:ln/>
        </p:spPr>
      </p:sp>
      <p:sp>
        <p:nvSpPr>
          <p:cNvPr id="14" name="Text 12"/>
          <p:cNvSpPr txBox="1"/>
          <p:nvPr/>
        </p:nvSpPr>
        <p:spPr>
          <a:xfrm>
            <a:off x="548640" y="2331720"/>
            <a:ext cx="5120640" cy="548640"/>
          </a:xfrm>
          <a:prstGeom prst="rect">
            <a:avLst/>
          </a:prstGeom>
          <a:noFill/>
          <a:ln/>
        </p:spPr>
        <p:txBody>
          <a:bodyPr wrap="square" lIns="0" tIns="0" rIns="0" bIns="0" rtlCol="0" anchor="t"/>
          <a:lstStyle/>
          <a:p>
            <a:pPr indent="0" marL="0">
              <a:lnSpc>
                <a:spcPct val="100000"/>
              </a:lnSpc>
              <a:buNone/>
            </a:pPr>
            <a:r>
              <a:rPr lang="en-US" sz="3200" dirty="0">
                <a:solidFill>
                  <a:srgbClr val="2A78D6"/>
                </a:solidFill>
                <a:latin typeface="Georgia" pitchFamily="34" charset="0"/>
                <a:ea typeface="Georgia" pitchFamily="34" charset="-122"/>
                <a:cs typeface="Georgia" pitchFamily="34" charset="-120"/>
              </a:rPr>
              <a:t>Combinar</a:t>
            </a:r>
            <a:endParaRPr lang="en-US" sz="3200" dirty="0"/>
          </a:p>
        </p:txBody>
      </p:sp>
      <p:sp>
        <p:nvSpPr>
          <p:cNvPr id="15" name="Text 13"/>
          <p:cNvSpPr txBox="1"/>
          <p:nvPr/>
        </p:nvSpPr>
        <p:spPr>
          <a:xfrm>
            <a:off x="548640" y="2898648"/>
            <a:ext cx="5120640" cy="274320"/>
          </a:xfrm>
          <a:prstGeom prst="rect">
            <a:avLst/>
          </a:prstGeom>
          <a:noFill/>
          <a:ln/>
        </p:spPr>
        <p:txBody>
          <a:bodyPr wrap="square" lIns="0" tIns="0" rIns="0" bIns="0" rtlCol="0" anchor="t"/>
          <a:lstStyle/>
          <a:p>
            <a:pPr indent="0" marL="0">
              <a:lnSpc>
                <a:spcPct val="100000"/>
              </a:lnSpc>
              <a:buNone/>
            </a:pPr>
            <a:r>
              <a:rPr lang="en-US" sz="1400" dirty="0">
                <a:solidFill>
                  <a:srgbClr val="5A6274"/>
                </a:solidFill>
                <a:latin typeface="Arial" pitchFamily="34" charset="0"/>
                <a:ea typeface="Arial" pitchFamily="34" charset="-122"/>
                <a:cs typeface="Arial" pitchFamily="34" charset="-120"/>
              </a:rPr>
              <a:t>Hedge sobre 5 expertos congelados</a:t>
            </a:r>
            <a:endParaRPr lang="en-US" sz="1400" dirty="0"/>
          </a:p>
        </p:txBody>
      </p:sp>
      <p:sp>
        <p:nvSpPr>
          <p:cNvPr id="16" name="Text 14"/>
          <p:cNvSpPr txBox="1"/>
          <p:nvPr/>
        </p:nvSpPr>
        <p:spPr>
          <a:xfrm>
            <a:off x="548640" y="3291840"/>
            <a:ext cx="5120640" cy="868680"/>
          </a:xfrm>
          <a:prstGeom prst="rect">
            <a:avLst/>
          </a:prstGeom>
          <a:noFill/>
          <a:ln/>
        </p:spPr>
        <p:txBody>
          <a:bodyPr wrap="square" lIns="0" tIns="0" rIns="0" bIns="0" rtlCol="0" anchor="t"/>
          <a:lstStyle/>
          <a:p>
            <a:pPr indent="0" marL="0">
              <a:lnSpc>
                <a:spcPct val="100000"/>
              </a:lnSpc>
              <a:buNone/>
            </a:pPr>
            <a:r>
              <a:rPr lang="en-US" sz="1600" dirty="0">
                <a:solidFill>
                  <a:srgbClr val="1F2430"/>
                </a:solidFill>
                <a:latin typeface="Arial" pitchFamily="34" charset="0"/>
                <a:ea typeface="Arial" pitchFamily="34" charset="-122"/>
                <a:cs typeface="Arial" pitchFamily="34" charset="-120"/>
              </a:rPr>
              <a:t>Cinco clasificadores entrenados una vez. Hedge no los toca: reparte la confianza entre ellos y la mueve hacia el que acierta.</a:t>
            </a:r>
            <a:endParaRPr lang="en-US" sz="1600" dirty="0"/>
          </a:p>
        </p:txBody>
      </p:sp>
      <p:sp>
        <p:nvSpPr>
          <p:cNvPr id="17" name="Text 15"/>
          <p:cNvSpPr txBox="1"/>
          <p:nvPr/>
        </p:nvSpPr>
        <p:spPr>
          <a:xfrm>
            <a:off x="548640" y="4206240"/>
            <a:ext cx="5120640" cy="320040"/>
          </a:xfrm>
          <a:prstGeom prst="rect">
            <a:avLst/>
          </a:prstGeom>
          <a:noFill/>
          <a:ln/>
        </p:spPr>
        <p:txBody>
          <a:bodyPr wrap="square" lIns="0" tIns="0" rIns="0" bIns="0" rtlCol="0" anchor="t"/>
          <a:lstStyle/>
          <a:p>
            <a:pPr indent="0" marL="0">
              <a:lnSpc>
                <a:spcPct val="100000"/>
              </a:lnSpc>
              <a:buNone/>
            </a:pPr>
            <a:r>
              <a:rPr lang="en-US" sz="1600" b="1" dirty="0">
                <a:solidFill>
                  <a:srgbClr val="2A78D6"/>
                </a:solidFill>
                <a:latin typeface="Arial" pitchFamily="34" charset="0"/>
                <a:ea typeface="Arial" pitchFamily="34" charset="-122"/>
                <a:cs typeface="Arial" pitchFamily="34" charset="-120"/>
              </a:rPr>
              <a:t>Aprende 5 pesos</a:t>
            </a:r>
            <a:endParaRPr lang="en-US" sz="1600" dirty="0"/>
          </a:p>
        </p:txBody>
      </p:sp>
      <p:sp>
        <p:nvSpPr>
          <p:cNvPr id="18" name="peso 1"/>
          <p:cNvSpPr/>
          <p:nvPr/>
        </p:nvSpPr>
        <p:spPr>
          <a:xfrm>
            <a:off x="6355080" y="1783080"/>
            <a:ext cx="73152" cy="73152"/>
          </a:xfrm>
          <a:prstGeom prst="ellipse">
            <a:avLst/>
          </a:prstGeom>
          <a:solidFill>
            <a:srgbClr val="1BAF7A"/>
          </a:solidFill>
          <a:ln/>
        </p:spPr>
      </p:sp>
      <p:sp>
        <p:nvSpPr>
          <p:cNvPr id="19" name="peso 2"/>
          <p:cNvSpPr/>
          <p:nvPr/>
        </p:nvSpPr>
        <p:spPr>
          <a:xfrm>
            <a:off x="6537960" y="1783080"/>
            <a:ext cx="73152" cy="73152"/>
          </a:xfrm>
          <a:prstGeom prst="ellipse">
            <a:avLst/>
          </a:prstGeom>
          <a:solidFill>
            <a:srgbClr val="1BAF7A"/>
          </a:solidFill>
          <a:ln/>
        </p:spPr>
      </p:sp>
      <p:sp>
        <p:nvSpPr>
          <p:cNvPr id="20" name="peso 3"/>
          <p:cNvSpPr/>
          <p:nvPr/>
        </p:nvSpPr>
        <p:spPr>
          <a:xfrm>
            <a:off x="6720840" y="1783080"/>
            <a:ext cx="73152" cy="73152"/>
          </a:xfrm>
          <a:prstGeom prst="ellipse">
            <a:avLst/>
          </a:prstGeom>
          <a:solidFill>
            <a:srgbClr val="1BAF7A"/>
          </a:solidFill>
          <a:ln/>
        </p:spPr>
      </p:sp>
      <p:sp>
        <p:nvSpPr>
          <p:cNvPr id="21" name="peso 4"/>
          <p:cNvSpPr/>
          <p:nvPr/>
        </p:nvSpPr>
        <p:spPr>
          <a:xfrm>
            <a:off x="6903720" y="1783080"/>
            <a:ext cx="73152" cy="73152"/>
          </a:xfrm>
          <a:prstGeom prst="ellipse">
            <a:avLst/>
          </a:prstGeom>
          <a:solidFill>
            <a:srgbClr val="1BAF7A"/>
          </a:solidFill>
          <a:ln/>
        </p:spPr>
      </p:sp>
      <p:sp>
        <p:nvSpPr>
          <p:cNvPr id="22" name="peso 5"/>
          <p:cNvSpPr/>
          <p:nvPr/>
        </p:nvSpPr>
        <p:spPr>
          <a:xfrm>
            <a:off x="7086600" y="1783080"/>
            <a:ext cx="73152" cy="73152"/>
          </a:xfrm>
          <a:prstGeom prst="ellipse">
            <a:avLst/>
          </a:prstGeom>
          <a:solidFill>
            <a:srgbClr val="1BAF7A"/>
          </a:solidFill>
          <a:ln/>
        </p:spPr>
      </p:sp>
      <p:sp>
        <p:nvSpPr>
          <p:cNvPr id="23" name="peso 6"/>
          <p:cNvSpPr/>
          <p:nvPr/>
        </p:nvSpPr>
        <p:spPr>
          <a:xfrm>
            <a:off x="7269480" y="1783080"/>
            <a:ext cx="73152" cy="73152"/>
          </a:xfrm>
          <a:prstGeom prst="ellipse">
            <a:avLst/>
          </a:prstGeom>
          <a:solidFill>
            <a:srgbClr val="1BAF7A"/>
          </a:solidFill>
          <a:ln/>
        </p:spPr>
      </p:sp>
      <p:sp>
        <p:nvSpPr>
          <p:cNvPr id="24" name="peso 7"/>
          <p:cNvSpPr/>
          <p:nvPr/>
        </p:nvSpPr>
        <p:spPr>
          <a:xfrm>
            <a:off x="7452360" y="1783080"/>
            <a:ext cx="73152" cy="73152"/>
          </a:xfrm>
          <a:prstGeom prst="ellipse">
            <a:avLst/>
          </a:prstGeom>
          <a:solidFill>
            <a:srgbClr val="1BAF7A"/>
          </a:solidFill>
          <a:ln/>
        </p:spPr>
      </p:sp>
      <p:sp>
        <p:nvSpPr>
          <p:cNvPr id="25" name="peso 8"/>
          <p:cNvSpPr/>
          <p:nvPr/>
        </p:nvSpPr>
        <p:spPr>
          <a:xfrm>
            <a:off x="7635240" y="1783080"/>
            <a:ext cx="73152" cy="73152"/>
          </a:xfrm>
          <a:prstGeom prst="ellipse">
            <a:avLst/>
          </a:prstGeom>
          <a:solidFill>
            <a:srgbClr val="1BAF7A"/>
          </a:solidFill>
          <a:ln/>
        </p:spPr>
      </p:sp>
      <p:sp>
        <p:nvSpPr>
          <p:cNvPr id="26" name="peso 9"/>
          <p:cNvSpPr/>
          <p:nvPr/>
        </p:nvSpPr>
        <p:spPr>
          <a:xfrm>
            <a:off x="7818120" y="1783080"/>
            <a:ext cx="73152" cy="73152"/>
          </a:xfrm>
          <a:prstGeom prst="ellipse">
            <a:avLst/>
          </a:prstGeom>
          <a:solidFill>
            <a:srgbClr val="1BAF7A"/>
          </a:solidFill>
          <a:ln/>
        </p:spPr>
      </p:sp>
      <p:sp>
        <p:nvSpPr>
          <p:cNvPr id="27" name="peso 10"/>
          <p:cNvSpPr/>
          <p:nvPr/>
        </p:nvSpPr>
        <p:spPr>
          <a:xfrm>
            <a:off x="8001000" y="1783080"/>
            <a:ext cx="73152" cy="73152"/>
          </a:xfrm>
          <a:prstGeom prst="ellipse">
            <a:avLst/>
          </a:prstGeom>
          <a:solidFill>
            <a:srgbClr val="1BAF7A"/>
          </a:solidFill>
          <a:ln/>
        </p:spPr>
      </p:sp>
      <p:sp>
        <p:nvSpPr>
          <p:cNvPr id="28" name="peso 11"/>
          <p:cNvSpPr/>
          <p:nvPr/>
        </p:nvSpPr>
        <p:spPr>
          <a:xfrm>
            <a:off x="8183880" y="1783080"/>
            <a:ext cx="73152" cy="73152"/>
          </a:xfrm>
          <a:prstGeom prst="ellipse">
            <a:avLst/>
          </a:prstGeom>
          <a:solidFill>
            <a:srgbClr val="1BAF7A"/>
          </a:solidFill>
          <a:ln/>
        </p:spPr>
      </p:sp>
      <p:sp>
        <p:nvSpPr>
          <p:cNvPr id="29" name="peso 12"/>
          <p:cNvSpPr/>
          <p:nvPr/>
        </p:nvSpPr>
        <p:spPr>
          <a:xfrm>
            <a:off x="8366760" y="1783080"/>
            <a:ext cx="73152" cy="73152"/>
          </a:xfrm>
          <a:prstGeom prst="ellipse">
            <a:avLst/>
          </a:prstGeom>
          <a:solidFill>
            <a:srgbClr val="1BAF7A"/>
          </a:solidFill>
          <a:ln/>
        </p:spPr>
      </p:sp>
      <p:sp>
        <p:nvSpPr>
          <p:cNvPr id="30" name="peso 13"/>
          <p:cNvSpPr/>
          <p:nvPr/>
        </p:nvSpPr>
        <p:spPr>
          <a:xfrm>
            <a:off x="8549640" y="1783080"/>
            <a:ext cx="73152" cy="73152"/>
          </a:xfrm>
          <a:prstGeom prst="ellipse">
            <a:avLst/>
          </a:prstGeom>
          <a:solidFill>
            <a:srgbClr val="1BAF7A"/>
          </a:solidFill>
          <a:ln/>
        </p:spPr>
      </p:sp>
      <p:sp>
        <p:nvSpPr>
          <p:cNvPr id="31" name="peso 14"/>
          <p:cNvSpPr/>
          <p:nvPr/>
        </p:nvSpPr>
        <p:spPr>
          <a:xfrm>
            <a:off x="8732520" y="1783080"/>
            <a:ext cx="73152" cy="73152"/>
          </a:xfrm>
          <a:prstGeom prst="ellipse">
            <a:avLst/>
          </a:prstGeom>
          <a:solidFill>
            <a:srgbClr val="1BAF7A"/>
          </a:solidFill>
          <a:ln/>
        </p:spPr>
      </p:sp>
      <p:sp>
        <p:nvSpPr>
          <p:cNvPr id="32" name="peso 15"/>
          <p:cNvSpPr/>
          <p:nvPr/>
        </p:nvSpPr>
        <p:spPr>
          <a:xfrm>
            <a:off x="8915400" y="1783080"/>
            <a:ext cx="73152" cy="73152"/>
          </a:xfrm>
          <a:prstGeom prst="ellipse">
            <a:avLst/>
          </a:prstGeom>
          <a:solidFill>
            <a:srgbClr val="1BAF7A"/>
          </a:solidFill>
          <a:ln/>
        </p:spPr>
      </p:sp>
      <p:sp>
        <p:nvSpPr>
          <p:cNvPr id="33" name="peso 16"/>
          <p:cNvSpPr/>
          <p:nvPr/>
        </p:nvSpPr>
        <p:spPr>
          <a:xfrm>
            <a:off x="9098280" y="1783080"/>
            <a:ext cx="73152" cy="73152"/>
          </a:xfrm>
          <a:prstGeom prst="ellipse">
            <a:avLst/>
          </a:prstGeom>
          <a:solidFill>
            <a:srgbClr val="1BAF7A"/>
          </a:solidFill>
          <a:ln/>
        </p:spPr>
      </p:sp>
      <p:sp>
        <p:nvSpPr>
          <p:cNvPr id="34" name="peso 17"/>
          <p:cNvSpPr/>
          <p:nvPr/>
        </p:nvSpPr>
        <p:spPr>
          <a:xfrm>
            <a:off x="9281160" y="1783080"/>
            <a:ext cx="73152" cy="73152"/>
          </a:xfrm>
          <a:prstGeom prst="ellipse">
            <a:avLst/>
          </a:prstGeom>
          <a:solidFill>
            <a:srgbClr val="1BAF7A"/>
          </a:solidFill>
          <a:ln/>
        </p:spPr>
      </p:sp>
      <p:sp>
        <p:nvSpPr>
          <p:cNvPr id="35" name="peso 18"/>
          <p:cNvSpPr/>
          <p:nvPr/>
        </p:nvSpPr>
        <p:spPr>
          <a:xfrm>
            <a:off x="9464040" y="1783080"/>
            <a:ext cx="73152" cy="73152"/>
          </a:xfrm>
          <a:prstGeom prst="ellipse">
            <a:avLst/>
          </a:prstGeom>
          <a:solidFill>
            <a:srgbClr val="1BAF7A"/>
          </a:solidFill>
          <a:ln/>
        </p:spPr>
      </p:sp>
      <p:sp>
        <p:nvSpPr>
          <p:cNvPr id="36" name="peso 19"/>
          <p:cNvSpPr/>
          <p:nvPr/>
        </p:nvSpPr>
        <p:spPr>
          <a:xfrm>
            <a:off x="9646920" y="1783080"/>
            <a:ext cx="73152" cy="73152"/>
          </a:xfrm>
          <a:prstGeom prst="ellipse">
            <a:avLst/>
          </a:prstGeom>
          <a:solidFill>
            <a:srgbClr val="1BAF7A"/>
          </a:solidFill>
          <a:ln/>
        </p:spPr>
      </p:sp>
      <p:sp>
        <p:nvSpPr>
          <p:cNvPr id="37" name="peso 20"/>
          <p:cNvSpPr/>
          <p:nvPr/>
        </p:nvSpPr>
        <p:spPr>
          <a:xfrm>
            <a:off x="9829800" y="1783080"/>
            <a:ext cx="73152" cy="73152"/>
          </a:xfrm>
          <a:prstGeom prst="ellipse">
            <a:avLst/>
          </a:prstGeom>
          <a:solidFill>
            <a:srgbClr val="1BAF7A"/>
          </a:solidFill>
          <a:ln/>
        </p:spPr>
      </p:sp>
      <p:sp>
        <p:nvSpPr>
          <p:cNvPr id="38" name="peso 21"/>
          <p:cNvSpPr/>
          <p:nvPr/>
        </p:nvSpPr>
        <p:spPr>
          <a:xfrm>
            <a:off x="10012680" y="1783080"/>
            <a:ext cx="73152" cy="73152"/>
          </a:xfrm>
          <a:prstGeom prst="ellipse">
            <a:avLst/>
          </a:prstGeom>
          <a:solidFill>
            <a:srgbClr val="1BAF7A"/>
          </a:solidFill>
          <a:ln/>
        </p:spPr>
      </p:sp>
      <p:sp>
        <p:nvSpPr>
          <p:cNvPr id="39" name="peso 22"/>
          <p:cNvSpPr/>
          <p:nvPr/>
        </p:nvSpPr>
        <p:spPr>
          <a:xfrm>
            <a:off x="10195560" y="1783080"/>
            <a:ext cx="73152" cy="73152"/>
          </a:xfrm>
          <a:prstGeom prst="ellipse">
            <a:avLst/>
          </a:prstGeom>
          <a:solidFill>
            <a:srgbClr val="1BAF7A"/>
          </a:solidFill>
          <a:ln/>
        </p:spPr>
      </p:sp>
      <p:sp>
        <p:nvSpPr>
          <p:cNvPr id="40" name="peso 23"/>
          <p:cNvSpPr/>
          <p:nvPr/>
        </p:nvSpPr>
        <p:spPr>
          <a:xfrm>
            <a:off x="6355080" y="1911096"/>
            <a:ext cx="73152" cy="73152"/>
          </a:xfrm>
          <a:prstGeom prst="ellipse">
            <a:avLst/>
          </a:prstGeom>
          <a:solidFill>
            <a:srgbClr val="1BAF7A"/>
          </a:solidFill>
          <a:ln/>
        </p:spPr>
      </p:sp>
      <p:sp>
        <p:nvSpPr>
          <p:cNvPr id="41" name="peso 24"/>
          <p:cNvSpPr/>
          <p:nvPr/>
        </p:nvSpPr>
        <p:spPr>
          <a:xfrm>
            <a:off x="6537960" y="1911096"/>
            <a:ext cx="73152" cy="73152"/>
          </a:xfrm>
          <a:prstGeom prst="ellipse">
            <a:avLst/>
          </a:prstGeom>
          <a:solidFill>
            <a:srgbClr val="1BAF7A"/>
          </a:solidFill>
          <a:ln/>
        </p:spPr>
      </p:sp>
      <p:sp>
        <p:nvSpPr>
          <p:cNvPr id="42" name="peso 25"/>
          <p:cNvSpPr/>
          <p:nvPr/>
        </p:nvSpPr>
        <p:spPr>
          <a:xfrm>
            <a:off x="6720840" y="1911096"/>
            <a:ext cx="73152" cy="73152"/>
          </a:xfrm>
          <a:prstGeom prst="ellipse">
            <a:avLst/>
          </a:prstGeom>
          <a:solidFill>
            <a:srgbClr val="1BAF7A"/>
          </a:solidFill>
          <a:ln/>
        </p:spPr>
      </p:sp>
      <p:sp>
        <p:nvSpPr>
          <p:cNvPr id="43" name="peso 26"/>
          <p:cNvSpPr/>
          <p:nvPr/>
        </p:nvSpPr>
        <p:spPr>
          <a:xfrm>
            <a:off x="6903720" y="1911096"/>
            <a:ext cx="73152" cy="73152"/>
          </a:xfrm>
          <a:prstGeom prst="ellipse">
            <a:avLst/>
          </a:prstGeom>
          <a:solidFill>
            <a:srgbClr val="1BAF7A"/>
          </a:solidFill>
          <a:ln/>
        </p:spPr>
      </p:sp>
      <p:sp>
        <p:nvSpPr>
          <p:cNvPr id="44" name="peso 27"/>
          <p:cNvSpPr/>
          <p:nvPr/>
        </p:nvSpPr>
        <p:spPr>
          <a:xfrm>
            <a:off x="7086600" y="1911096"/>
            <a:ext cx="73152" cy="73152"/>
          </a:xfrm>
          <a:prstGeom prst="ellipse">
            <a:avLst/>
          </a:prstGeom>
          <a:solidFill>
            <a:srgbClr val="1BAF7A"/>
          </a:solidFill>
          <a:ln/>
        </p:spPr>
      </p:sp>
      <p:sp>
        <p:nvSpPr>
          <p:cNvPr id="45" name="peso 28"/>
          <p:cNvSpPr/>
          <p:nvPr/>
        </p:nvSpPr>
        <p:spPr>
          <a:xfrm>
            <a:off x="7269480" y="1911096"/>
            <a:ext cx="73152" cy="73152"/>
          </a:xfrm>
          <a:prstGeom prst="ellipse">
            <a:avLst/>
          </a:prstGeom>
          <a:solidFill>
            <a:srgbClr val="1BAF7A"/>
          </a:solidFill>
          <a:ln/>
        </p:spPr>
      </p:sp>
      <p:sp>
        <p:nvSpPr>
          <p:cNvPr id="46" name="peso 29"/>
          <p:cNvSpPr/>
          <p:nvPr/>
        </p:nvSpPr>
        <p:spPr>
          <a:xfrm>
            <a:off x="7452360" y="1911096"/>
            <a:ext cx="73152" cy="73152"/>
          </a:xfrm>
          <a:prstGeom prst="ellipse">
            <a:avLst/>
          </a:prstGeom>
          <a:solidFill>
            <a:srgbClr val="1BAF7A"/>
          </a:solidFill>
          <a:ln/>
        </p:spPr>
      </p:sp>
      <p:sp>
        <p:nvSpPr>
          <p:cNvPr id="47" name="peso 30"/>
          <p:cNvSpPr/>
          <p:nvPr/>
        </p:nvSpPr>
        <p:spPr>
          <a:xfrm>
            <a:off x="7635240" y="1911096"/>
            <a:ext cx="73152" cy="73152"/>
          </a:xfrm>
          <a:prstGeom prst="ellipse">
            <a:avLst/>
          </a:prstGeom>
          <a:solidFill>
            <a:srgbClr val="1BAF7A"/>
          </a:solidFill>
          <a:ln/>
        </p:spPr>
      </p:sp>
      <p:sp>
        <p:nvSpPr>
          <p:cNvPr id="48" name="peso 31"/>
          <p:cNvSpPr/>
          <p:nvPr/>
        </p:nvSpPr>
        <p:spPr>
          <a:xfrm>
            <a:off x="7818120" y="1911096"/>
            <a:ext cx="73152" cy="73152"/>
          </a:xfrm>
          <a:prstGeom prst="ellipse">
            <a:avLst/>
          </a:prstGeom>
          <a:solidFill>
            <a:srgbClr val="1BAF7A"/>
          </a:solidFill>
          <a:ln/>
        </p:spPr>
      </p:sp>
      <p:sp>
        <p:nvSpPr>
          <p:cNvPr id="49" name="peso 32"/>
          <p:cNvSpPr/>
          <p:nvPr/>
        </p:nvSpPr>
        <p:spPr>
          <a:xfrm>
            <a:off x="8001000" y="1911096"/>
            <a:ext cx="73152" cy="73152"/>
          </a:xfrm>
          <a:prstGeom prst="ellipse">
            <a:avLst/>
          </a:prstGeom>
          <a:solidFill>
            <a:srgbClr val="1BAF7A"/>
          </a:solidFill>
          <a:ln/>
        </p:spPr>
      </p:sp>
      <p:sp>
        <p:nvSpPr>
          <p:cNvPr id="50" name="peso 33"/>
          <p:cNvSpPr/>
          <p:nvPr/>
        </p:nvSpPr>
        <p:spPr>
          <a:xfrm>
            <a:off x="8183880" y="1911096"/>
            <a:ext cx="73152" cy="73152"/>
          </a:xfrm>
          <a:prstGeom prst="ellipse">
            <a:avLst/>
          </a:prstGeom>
          <a:solidFill>
            <a:srgbClr val="1BAF7A"/>
          </a:solidFill>
          <a:ln/>
        </p:spPr>
      </p:sp>
      <p:sp>
        <p:nvSpPr>
          <p:cNvPr id="51" name="peso 34"/>
          <p:cNvSpPr/>
          <p:nvPr/>
        </p:nvSpPr>
        <p:spPr>
          <a:xfrm>
            <a:off x="8366760" y="1911096"/>
            <a:ext cx="73152" cy="73152"/>
          </a:xfrm>
          <a:prstGeom prst="ellipse">
            <a:avLst/>
          </a:prstGeom>
          <a:solidFill>
            <a:srgbClr val="1BAF7A"/>
          </a:solidFill>
          <a:ln/>
        </p:spPr>
      </p:sp>
      <p:sp>
        <p:nvSpPr>
          <p:cNvPr id="52" name="peso 35"/>
          <p:cNvSpPr/>
          <p:nvPr/>
        </p:nvSpPr>
        <p:spPr>
          <a:xfrm>
            <a:off x="8549640" y="1911096"/>
            <a:ext cx="73152" cy="73152"/>
          </a:xfrm>
          <a:prstGeom prst="ellipse">
            <a:avLst/>
          </a:prstGeom>
          <a:solidFill>
            <a:srgbClr val="1BAF7A"/>
          </a:solidFill>
          <a:ln/>
        </p:spPr>
      </p:sp>
      <p:sp>
        <p:nvSpPr>
          <p:cNvPr id="53" name="peso 36"/>
          <p:cNvSpPr/>
          <p:nvPr/>
        </p:nvSpPr>
        <p:spPr>
          <a:xfrm>
            <a:off x="8732520" y="1911096"/>
            <a:ext cx="73152" cy="73152"/>
          </a:xfrm>
          <a:prstGeom prst="ellipse">
            <a:avLst/>
          </a:prstGeom>
          <a:solidFill>
            <a:srgbClr val="1BAF7A"/>
          </a:solidFill>
          <a:ln/>
        </p:spPr>
      </p:sp>
      <p:sp>
        <p:nvSpPr>
          <p:cNvPr id="54" name="peso 37"/>
          <p:cNvSpPr/>
          <p:nvPr/>
        </p:nvSpPr>
        <p:spPr>
          <a:xfrm>
            <a:off x="8915400" y="1911096"/>
            <a:ext cx="73152" cy="73152"/>
          </a:xfrm>
          <a:prstGeom prst="ellipse">
            <a:avLst/>
          </a:prstGeom>
          <a:solidFill>
            <a:srgbClr val="1BAF7A"/>
          </a:solidFill>
          <a:ln/>
        </p:spPr>
      </p:sp>
      <p:sp>
        <p:nvSpPr>
          <p:cNvPr id="55" name="peso 38"/>
          <p:cNvSpPr/>
          <p:nvPr/>
        </p:nvSpPr>
        <p:spPr>
          <a:xfrm>
            <a:off x="9098280" y="1911096"/>
            <a:ext cx="73152" cy="73152"/>
          </a:xfrm>
          <a:prstGeom prst="ellipse">
            <a:avLst/>
          </a:prstGeom>
          <a:solidFill>
            <a:srgbClr val="1BAF7A"/>
          </a:solidFill>
          <a:ln/>
        </p:spPr>
      </p:sp>
      <p:sp>
        <p:nvSpPr>
          <p:cNvPr id="56" name="peso 39"/>
          <p:cNvSpPr/>
          <p:nvPr/>
        </p:nvSpPr>
        <p:spPr>
          <a:xfrm>
            <a:off x="9281160" y="1911096"/>
            <a:ext cx="73152" cy="73152"/>
          </a:xfrm>
          <a:prstGeom prst="ellipse">
            <a:avLst/>
          </a:prstGeom>
          <a:solidFill>
            <a:srgbClr val="1BAF7A"/>
          </a:solidFill>
          <a:ln/>
        </p:spPr>
      </p:sp>
      <p:sp>
        <p:nvSpPr>
          <p:cNvPr id="57" name="peso 40"/>
          <p:cNvSpPr/>
          <p:nvPr/>
        </p:nvSpPr>
        <p:spPr>
          <a:xfrm>
            <a:off x="9464040" y="1911096"/>
            <a:ext cx="73152" cy="73152"/>
          </a:xfrm>
          <a:prstGeom prst="ellipse">
            <a:avLst/>
          </a:prstGeom>
          <a:solidFill>
            <a:srgbClr val="1BAF7A"/>
          </a:solidFill>
          <a:ln/>
        </p:spPr>
      </p:sp>
      <p:sp>
        <p:nvSpPr>
          <p:cNvPr id="58" name="peso 41"/>
          <p:cNvSpPr/>
          <p:nvPr/>
        </p:nvSpPr>
        <p:spPr>
          <a:xfrm>
            <a:off x="9646920" y="1911096"/>
            <a:ext cx="73152" cy="73152"/>
          </a:xfrm>
          <a:prstGeom prst="ellipse">
            <a:avLst/>
          </a:prstGeom>
          <a:solidFill>
            <a:srgbClr val="1BAF7A"/>
          </a:solidFill>
          <a:ln/>
        </p:spPr>
      </p:sp>
      <p:sp>
        <p:nvSpPr>
          <p:cNvPr id="59" name="peso 42"/>
          <p:cNvSpPr/>
          <p:nvPr/>
        </p:nvSpPr>
        <p:spPr>
          <a:xfrm>
            <a:off x="9829800" y="1911096"/>
            <a:ext cx="73152" cy="73152"/>
          </a:xfrm>
          <a:prstGeom prst="ellipse">
            <a:avLst/>
          </a:prstGeom>
          <a:solidFill>
            <a:srgbClr val="1BAF7A"/>
          </a:solidFill>
          <a:ln/>
        </p:spPr>
      </p:sp>
      <p:sp>
        <p:nvSpPr>
          <p:cNvPr id="60" name="peso 43"/>
          <p:cNvSpPr/>
          <p:nvPr/>
        </p:nvSpPr>
        <p:spPr>
          <a:xfrm>
            <a:off x="10012680" y="1911096"/>
            <a:ext cx="73152" cy="73152"/>
          </a:xfrm>
          <a:prstGeom prst="ellipse">
            <a:avLst/>
          </a:prstGeom>
          <a:solidFill>
            <a:srgbClr val="1BAF7A"/>
          </a:solidFill>
          <a:ln/>
        </p:spPr>
      </p:sp>
      <p:sp>
        <p:nvSpPr>
          <p:cNvPr id="61" name="peso 44"/>
          <p:cNvSpPr/>
          <p:nvPr/>
        </p:nvSpPr>
        <p:spPr>
          <a:xfrm>
            <a:off x="10195560" y="1911096"/>
            <a:ext cx="73152" cy="73152"/>
          </a:xfrm>
          <a:prstGeom prst="ellipse">
            <a:avLst/>
          </a:prstGeom>
          <a:solidFill>
            <a:srgbClr val="1BAF7A"/>
          </a:solidFill>
          <a:ln/>
        </p:spPr>
      </p:sp>
      <p:sp>
        <p:nvSpPr>
          <p:cNvPr id="62" name="peso 45"/>
          <p:cNvSpPr/>
          <p:nvPr/>
        </p:nvSpPr>
        <p:spPr>
          <a:xfrm>
            <a:off x="6355080" y="2039112"/>
            <a:ext cx="73152" cy="73152"/>
          </a:xfrm>
          <a:prstGeom prst="ellipse">
            <a:avLst/>
          </a:prstGeom>
          <a:solidFill>
            <a:srgbClr val="1BAF7A"/>
          </a:solidFill>
          <a:ln/>
        </p:spPr>
      </p:sp>
      <p:sp>
        <p:nvSpPr>
          <p:cNvPr id="63" name="peso 46"/>
          <p:cNvSpPr/>
          <p:nvPr/>
        </p:nvSpPr>
        <p:spPr>
          <a:xfrm>
            <a:off x="6537960" y="2039112"/>
            <a:ext cx="73152" cy="73152"/>
          </a:xfrm>
          <a:prstGeom prst="ellipse">
            <a:avLst/>
          </a:prstGeom>
          <a:solidFill>
            <a:srgbClr val="1BAF7A"/>
          </a:solidFill>
          <a:ln/>
        </p:spPr>
      </p:sp>
      <p:sp>
        <p:nvSpPr>
          <p:cNvPr id="64" name="peso 47"/>
          <p:cNvSpPr/>
          <p:nvPr/>
        </p:nvSpPr>
        <p:spPr>
          <a:xfrm>
            <a:off x="6720840" y="2039112"/>
            <a:ext cx="73152" cy="73152"/>
          </a:xfrm>
          <a:prstGeom prst="ellipse">
            <a:avLst/>
          </a:prstGeom>
          <a:solidFill>
            <a:srgbClr val="1BAF7A"/>
          </a:solidFill>
          <a:ln/>
        </p:spPr>
      </p:sp>
      <p:sp>
        <p:nvSpPr>
          <p:cNvPr id="65" name="peso 48"/>
          <p:cNvSpPr/>
          <p:nvPr/>
        </p:nvSpPr>
        <p:spPr>
          <a:xfrm>
            <a:off x="6903720" y="2039112"/>
            <a:ext cx="73152" cy="73152"/>
          </a:xfrm>
          <a:prstGeom prst="ellipse">
            <a:avLst/>
          </a:prstGeom>
          <a:solidFill>
            <a:srgbClr val="1BAF7A"/>
          </a:solidFill>
          <a:ln/>
        </p:spPr>
      </p:sp>
      <p:sp>
        <p:nvSpPr>
          <p:cNvPr id="66" name="peso 49"/>
          <p:cNvSpPr/>
          <p:nvPr/>
        </p:nvSpPr>
        <p:spPr>
          <a:xfrm>
            <a:off x="7086600" y="2039112"/>
            <a:ext cx="73152" cy="73152"/>
          </a:xfrm>
          <a:prstGeom prst="ellipse">
            <a:avLst/>
          </a:prstGeom>
          <a:solidFill>
            <a:srgbClr val="1BAF7A"/>
          </a:solidFill>
          <a:ln/>
        </p:spPr>
      </p:sp>
      <p:sp>
        <p:nvSpPr>
          <p:cNvPr id="67" name="peso 50"/>
          <p:cNvSpPr/>
          <p:nvPr/>
        </p:nvSpPr>
        <p:spPr>
          <a:xfrm>
            <a:off x="7269480" y="2039112"/>
            <a:ext cx="73152" cy="73152"/>
          </a:xfrm>
          <a:prstGeom prst="ellipse">
            <a:avLst/>
          </a:prstGeom>
          <a:solidFill>
            <a:srgbClr val="1BAF7A"/>
          </a:solidFill>
          <a:ln/>
        </p:spPr>
      </p:sp>
      <p:sp>
        <p:nvSpPr>
          <p:cNvPr id="68" name="peso 51"/>
          <p:cNvSpPr/>
          <p:nvPr/>
        </p:nvSpPr>
        <p:spPr>
          <a:xfrm>
            <a:off x="7452360" y="2039112"/>
            <a:ext cx="73152" cy="73152"/>
          </a:xfrm>
          <a:prstGeom prst="ellipse">
            <a:avLst/>
          </a:prstGeom>
          <a:solidFill>
            <a:srgbClr val="1BAF7A"/>
          </a:solidFill>
          <a:ln/>
        </p:spPr>
      </p:sp>
      <p:sp>
        <p:nvSpPr>
          <p:cNvPr id="69" name="peso 52"/>
          <p:cNvSpPr/>
          <p:nvPr/>
        </p:nvSpPr>
        <p:spPr>
          <a:xfrm>
            <a:off x="7635240" y="2039112"/>
            <a:ext cx="73152" cy="73152"/>
          </a:xfrm>
          <a:prstGeom prst="ellipse">
            <a:avLst/>
          </a:prstGeom>
          <a:solidFill>
            <a:srgbClr val="1BAF7A"/>
          </a:solidFill>
          <a:ln/>
        </p:spPr>
      </p:sp>
      <p:sp>
        <p:nvSpPr>
          <p:cNvPr id="70" name="peso 53"/>
          <p:cNvSpPr/>
          <p:nvPr/>
        </p:nvSpPr>
        <p:spPr>
          <a:xfrm>
            <a:off x="7818120" y="2039112"/>
            <a:ext cx="73152" cy="73152"/>
          </a:xfrm>
          <a:prstGeom prst="ellipse">
            <a:avLst/>
          </a:prstGeom>
          <a:solidFill>
            <a:srgbClr val="1BAF7A"/>
          </a:solidFill>
          <a:ln/>
        </p:spPr>
      </p:sp>
      <p:sp>
        <p:nvSpPr>
          <p:cNvPr id="71" name="peso 54"/>
          <p:cNvSpPr/>
          <p:nvPr/>
        </p:nvSpPr>
        <p:spPr>
          <a:xfrm>
            <a:off x="8001000" y="2039112"/>
            <a:ext cx="73152" cy="73152"/>
          </a:xfrm>
          <a:prstGeom prst="ellipse">
            <a:avLst/>
          </a:prstGeom>
          <a:solidFill>
            <a:srgbClr val="1BAF7A"/>
          </a:solidFill>
          <a:ln/>
        </p:spPr>
      </p:sp>
      <p:sp>
        <p:nvSpPr>
          <p:cNvPr id="72" name="peso 55"/>
          <p:cNvSpPr/>
          <p:nvPr/>
        </p:nvSpPr>
        <p:spPr>
          <a:xfrm>
            <a:off x="8183880" y="2039112"/>
            <a:ext cx="73152" cy="73152"/>
          </a:xfrm>
          <a:prstGeom prst="ellipse">
            <a:avLst/>
          </a:prstGeom>
          <a:solidFill>
            <a:srgbClr val="1BAF7A"/>
          </a:solidFill>
          <a:ln/>
        </p:spPr>
      </p:sp>
      <p:sp>
        <p:nvSpPr>
          <p:cNvPr id="73" name="peso 56"/>
          <p:cNvSpPr/>
          <p:nvPr/>
        </p:nvSpPr>
        <p:spPr>
          <a:xfrm>
            <a:off x="8366760" y="2039112"/>
            <a:ext cx="73152" cy="73152"/>
          </a:xfrm>
          <a:prstGeom prst="ellipse">
            <a:avLst/>
          </a:prstGeom>
          <a:solidFill>
            <a:srgbClr val="1BAF7A"/>
          </a:solidFill>
          <a:ln/>
        </p:spPr>
      </p:sp>
      <p:sp>
        <p:nvSpPr>
          <p:cNvPr id="74" name="peso 57"/>
          <p:cNvSpPr/>
          <p:nvPr/>
        </p:nvSpPr>
        <p:spPr>
          <a:xfrm>
            <a:off x="8549640" y="2039112"/>
            <a:ext cx="73152" cy="73152"/>
          </a:xfrm>
          <a:prstGeom prst="ellipse">
            <a:avLst/>
          </a:prstGeom>
          <a:solidFill>
            <a:srgbClr val="1BAF7A"/>
          </a:solidFill>
          <a:ln/>
        </p:spPr>
      </p:sp>
      <p:sp>
        <p:nvSpPr>
          <p:cNvPr id="75" name="peso 58"/>
          <p:cNvSpPr/>
          <p:nvPr/>
        </p:nvSpPr>
        <p:spPr>
          <a:xfrm>
            <a:off x="8732520" y="2039112"/>
            <a:ext cx="73152" cy="73152"/>
          </a:xfrm>
          <a:prstGeom prst="ellipse">
            <a:avLst/>
          </a:prstGeom>
          <a:solidFill>
            <a:srgbClr val="1BAF7A"/>
          </a:solidFill>
          <a:ln/>
        </p:spPr>
      </p:sp>
      <p:sp>
        <p:nvSpPr>
          <p:cNvPr id="76" name="peso 59"/>
          <p:cNvSpPr/>
          <p:nvPr/>
        </p:nvSpPr>
        <p:spPr>
          <a:xfrm>
            <a:off x="8915400" y="2039112"/>
            <a:ext cx="73152" cy="73152"/>
          </a:xfrm>
          <a:prstGeom prst="ellipse">
            <a:avLst/>
          </a:prstGeom>
          <a:solidFill>
            <a:srgbClr val="1BAF7A"/>
          </a:solidFill>
          <a:ln/>
        </p:spPr>
      </p:sp>
      <p:sp>
        <p:nvSpPr>
          <p:cNvPr id="77" name="peso 60"/>
          <p:cNvSpPr/>
          <p:nvPr/>
        </p:nvSpPr>
        <p:spPr>
          <a:xfrm>
            <a:off x="9098280" y="2039112"/>
            <a:ext cx="73152" cy="73152"/>
          </a:xfrm>
          <a:prstGeom prst="ellipse">
            <a:avLst/>
          </a:prstGeom>
          <a:solidFill>
            <a:srgbClr val="1BAF7A"/>
          </a:solidFill>
          <a:ln/>
        </p:spPr>
      </p:sp>
      <p:sp>
        <p:nvSpPr>
          <p:cNvPr id="78" name="peso 61"/>
          <p:cNvSpPr/>
          <p:nvPr/>
        </p:nvSpPr>
        <p:spPr>
          <a:xfrm>
            <a:off x="9281160" y="2039112"/>
            <a:ext cx="73152" cy="73152"/>
          </a:xfrm>
          <a:prstGeom prst="ellipse">
            <a:avLst/>
          </a:prstGeom>
          <a:solidFill>
            <a:srgbClr val="1BAF7A"/>
          </a:solidFill>
          <a:ln/>
        </p:spPr>
      </p:sp>
      <p:sp>
        <p:nvSpPr>
          <p:cNvPr id="79" name="peso 62"/>
          <p:cNvSpPr/>
          <p:nvPr/>
        </p:nvSpPr>
        <p:spPr>
          <a:xfrm>
            <a:off x="9464040" y="2039112"/>
            <a:ext cx="73152" cy="73152"/>
          </a:xfrm>
          <a:prstGeom prst="ellipse">
            <a:avLst/>
          </a:prstGeom>
          <a:solidFill>
            <a:srgbClr val="1BAF7A"/>
          </a:solidFill>
          <a:ln/>
        </p:spPr>
      </p:sp>
      <p:sp>
        <p:nvSpPr>
          <p:cNvPr id="80" name="peso 63"/>
          <p:cNvSpPr/>
          <p:nvPr/>
        </p:nvSpPr>
        <p:spPr>
          <a:xfrm>
            <a:off x="9646920" y="2039112"/>
            <a:ext cx="73152" cy="73152"/>
          </a:xfrm>
          <a:prstGeom prst="ellipse">
            <a:avLst/>
          </a:prstGeom>
          <a:solidFill>
            <a:srgbClr val="1BAF7A"/>
          </a:solidFill>
          <a:ln/>
        </p:spPr>
      </p:sp>
      <p:sp>
        <p:nvSpPr>
          <p:cNvPr id="81" name="peso 64"/>
          <p:cNvSpPr/>
          <p:nvPr/>
        </p:nvSpPr>
        <p:spPr>
          <a:xfrm>
            <a:off x="9829800" y="2039112"/>
            <a:ext cx="73152" cy="73152"/>
          </a:xfrm>
          <a:prstGeom prst="ellipse">
            <a:avLst/>
          </a:prstGeom>
          <a:solidFill>
            <a:srgbClr val="1BAF7A"/>
          </a:solidFill>
          <a:ln/>
        </p:spPr>
      </p:sp>
      <p:sp>
        <p:nvSpPr>
          <p:cNvPr id="82" name="peso 65"/>
          <p:cNvSpPr/>
          <p:nvPr/>
        </p:nvSpPr>
        <p:spPr>
          <a:xfrm>
            <a:off x="10012680" y="2039112"/>
            <a:ext cx="73152" cy="73152"/>
          </a:xfrm>
          <a:prstGeom prst="ellipse">
            <a:avLst/>
          </a:prstGeom>
          <a:solidFill>
            <a:srgbClr val="1BAF7A"/>
          </a:solidFill>
          <a:ln/>
        </p:spPr>
      </p:sp>
      <p:sp>
        <p:nvSpPr>
          <p:cNvPr id="83" name="peso 66"/>
          <p:cNvSpPr/>
          <p:nvPr/>
        </p:nvSpPr>
        <p:spPr>
          <a:xfrm>
            <a:off x="10195560" y="2039112"/>
            <a:ext cx="73152" cy="73152"/>
          </a:xfrm>
          <a:prstGeom prst="ellipse">
            <a:avLst/>
          </a:prstGeom>
          <a:solidFill>
            <a:srgbClr val="1BAF7A"/>
          </a:solidFill>
          <a:ln/>
        </p:spPr>
      </p:sp>
      <p:sp>
        <p:nvSpPr>
          <p:cNvPr id="84" name="Text 82"/>
          <p:cNvSpPr txBox="1"/>
          <p:nvPr/>
        </p:nvSpPr>
        <p:spPr>
          <a:xfrm>
            <a:off x="6355080" y="2331720"/>
            <a:ext cx="5120640" cy="548640"/>
          </a:xfrm>
          <a:prstGeom prst="rect">
            <a:avLst/>
          </a:prstGeom>
          <a:noFill/>
          <a:ln/>
        </p:spPr>
        <p:txBody>
          <a:bodyPr wrap="square" lIns="0" tIns="0" rIns="0" bIns="0" rtlCol="0" anchor="t"/>
          <a:lstStyle/>
          <a:p>
            <a:pPr indent="0" marL="0">
              <a:lnSpc>
                <a:spcPct val="100000"/>
              </a:lnSpc>
              <a:buNone/>
            </a:pPr>
            <a:r>
              <a:rPr lang="en-US" sz="3200" dirty="0">
                <a:solidFill>
                  <a:srgbClr val="1BAF7A"/>
                </a:solidFill>
                <a:latin typeface="Georgia" pitchFamily="34" charset="0"/>
                <a:ea typeface="Georgia" pitchFamily="34" charset="-122"/>
                <a:cs typeface="Georgia" pitchFamily="34" charset="-120"/>
              </a:rPr>
              <a:t>Reentrenar</a:t>
            </a:r>
            <a:endParaRPr lang="en-US" sz="3200" dirty="0"/>
          </a:p>
        </p:txBody>
      </p:sp>
      <p:sp>
        <p:nvSpPr>
          <p:cNvPr id="85" name="Text 83"/>
          <p:cNvSpPr txBox="1"/>
          <p:nvPr/>
        </p:nvSpPr>
        <p:spPr>
          <a:xfrm>
            <a:off x="6355080" y="2898648"/>
            <a:ext cx="5120640" cy="274320"/>
          </a:xfrm>
          <a:prstGeom prst="rect">
            <a:avLst/>
          </a:prstGeom>
          <a:noFill/>
          <a:ln/>
        </p:spPr>
        <p:txBody>
          <a:bodyPr wrap="square" lIns="0" tIns="0" rIns="0" bIns="0" rtlCol="0" anchor="t"/>
          <a:lstStyle/>
          <a:p>
            <a:pPr indent="0" marL="0">
              <a:lnSpc>
                <a:spcPct val="100000"/>
              </a:lnSpc>
              <a:buNone/>
            </a:pPr>
            <a:r>
              <a:rPr lang="en-US" sz="1400" dirty="0">
                <a:solidFill>
                  <a:srgbClr val="5A6274"/>
                </a:solidFill>
                <a:latin typeface="Arial" pitchFamily="34" charset="0"/>
                <a:ea typeface="Arial" pitchFamily="34" charset="-122"/>
                <a:cs typeface="Arial" pitchFamily="34" charset="-120"/>
              </a:rPr>
              <a:t>SGD online, un solo modelo</a:t>
            </a:r>
            <a:endParaRPr lang="en-US" sz="1400" dirty="0"/>
          </a:p>
        </p:txBody>
      </p:sp>
      <p:sp>
        <p:nvSpPr>
          <p:cNvPr id="86" name="Text 84"/>
          <p:cNvSpPr txBox="1"/>
          <p:nvPr/>
        </p:nvSpPr>
        <p:spPr>
          <a:xfrm>
            <a:off x="6355080" y="3291840"/>
            <a:ext cx="5120640" cy="868680"/>
          </a:xfrm>
          <a:prstGeom prst="rect">
            <a:avLst/>
          </a:prstGeom>
          <a:noFill/>
          <a:ln/>
        </p:spPr>
        <p:txBody>
          <a:bodyPr wrap="square" lIns="0" tIns="0" rIns="0" bIns="0" rtlCol="0" anchor="t"/>
          <a:lstStyle/>
          <a:p>
            <a:pPr indent="0" marL="0">
              <a:lnSpc>
                <a:spcPct val="100000"/>
              </a:lnSpc>
              <a:buNone/>
            </a:pPr>
            <a:r>
              <a:rPr lang="en-US" sz="1600" dirty="0">
                <a:solidFill>
                  <a:srgbClr val="1F2430"/>
                </a:solidFill>
                <a:latin typeface="Arial" pitchFamily="34" charset="0"/>
                <a:ea typeface="Arial" pitchFamily="34" charset="-122"/>
                <a:cs typeface="Arial" pitchFamily="34" charset="-120"/>
              </a:rPr>
              <a:t>Un modelo que se actualiza con cada mensaje etiquetado. Puede aprender palabras que nunca vio, como «wiin».</a:t>
            </a:r>
            <a:endParaRPr lang="en-US" sz="1600" dirty="0"/>
          </a:p>
        </p:txBody>
      </p:sp>
      <p:sp>
        <p:nvSpPr>
          <p:cNvPr id="87" name="Text 85"/>
          <p:cNvSpPr txBox="1"/>
          <p:nvPr/>
        </p:nvSpPr>
        <p:spPr>
          <a:xfrm>
            <a:off x="6355080" y="4206240"/>
            <a:ext cx="5120640" cy="320040"/>
          </a:xfrm>
          <a:prstGeom prst="rect">
            <a:avLst/>
          </a:prstGeom>
          <a:noFill/>
          <a:ln/>
        </p:spPr>
        <p:txBody>
          <a:bodyPr wrap="square" lIns="0" tIns="0" rIns="0" bIns="0" rtlCol="0" anchor="t"/>
          <a:lstStyle/>
          <a:p>
            <a:pPr indent="0" marL="0">
              <a:lnSpc>
                <a:spcPct val="100000"/>
              </a:lnSpc>
              <a:buNone/>
            </a:pPr>
            <a:r>
              <a:rPr lang="en-US" sz="1600" b="1" dirty="0">
                <a:solidFill>
                  <a:srgbClr val="1BAF7A"/>
                </a:solidFill>
                <a:latin typeface="Arial" pitchFamily="34" charset="0"/>
                <a:ea typeface="Arial" pitchFamily="34" charset="-122"/>
                <a:cs typeface="Arial" pitchFamily="34" charset="-120"/>
              </a:rPr>
              <a:t>Aprende un peso por palabra</a:t>
            </a:r>
            <a:endParaRPr lang="en-US" sz="1600" dirty="0"/>
          </a:p>
        </p:txBody>
      </p:sp>
      <p:sp>
        <p:nvSpPr>
          <p:cNvPr id="88" name="Shape 86"/>
          <p:cNvSpPr/>
          <p:nvPr/>
        </p:nvSpPr>
        <p:spPr>
          <a:xfrm>
            <a:off x="6080760" y="1828800"/>
            <a:ext cx="0" cy="2697480"/>
          </a:xfrm>
          <a:prstGeom prst="line">
            <a:avLst/>
          </a:prstGeom>
          <a:noFill/>
          <a:ln w="9525">
            <a:solidFill>
              <a:srgbClr val="D9D6CE"/>
            </a:solidFill>
            <a:prstDash val="solid"/>
          </a:ln>
        </p:spPr>
      </p:sp>
      <p:sp>
        <p:nvSpPr>
          <p:cNvPr id="89" name="Shape 87"/>
          <p:cNvSpPr/>
          <p:nvPr/>
        </p:nvSpPr>
        <p:spPr>
          <a:xfrm>
            <a:off x="548640" y="4846320"/>
            <a:ext cx="11091672" cy="0"/>
          </a:xfrm>
          <a:prstGeom prst="line">
            <a:avLst/>
          </a:prstGeom>
          <a:noFill/>
          <a:ln w="9525">
            <a:solidFill>
              <a:srgbClr val="D9D6CE"/>
            </a:solidFill>
            <a:prstDash val="solid"/>
          </a:ln>
        </p:spPr>
      </p:sp>
      <p:sp>
        <p:nvSpPr>
          <p:cNvPr id="90" name="Text 88"/>
          <p:cNvSpPr txBox="1"/>
          <p:nvPr/>
        </p:nvSpPr>
        <p:spPr>
          <a:xfrm>
            <a:off x="548640" y="5029200"/>
            <a:ext cx="11064240" cy="502920"/>
          </a:xfrm>
          <a:prstGeom prst="rect">
            <a:avLst/>
          </a:prstGeom>
          <a:noFill/>
          <a:ln/>
        </p:spPr>
        <p:txBody>
          <a:bodyPr wrap="square" lIns="0" tIns="0" rIns="0" bIns="0" rtlCol="0" anchor="t"/>
          <a:lstStyle/>
          <a:p>
            <a:pPr indent="0" marL="0">
              <a:lnSpc>
                <a:spcPct val="100000"/>
              </a:lnSpc>
              <a:buNone/>
            </a:pPr>
            <a:r>
              <a:rPr lang="en-US" sz="2600" i="1" dirty="0">
                <a:solidFill>
                  <a:srgbClr val="1F2430"/>
                </a:solidFill>
                <a:latin typeface="Georgia" pitchFamily="34" charset="0"/>
                <a:ea typeface="Georgia" pitchFamily="34" charset="-122"/>
                <a:cs typeface="Georgia" pitchFamily="34" charset="-120"/>
              </a:rPr>
              <a:t>“The only remedy we know of is frequent retraining.”</a:t>
            </a:r>
            <a:endParaRPr lang="en-US" sz="2600" dirty="0"/>
          </a:p>
        </p:txBody>
      </p:sp>
      <p:sp>
        <p:nvSpPr>
          <p:cNvPr id="91" name="Text 89"/>
          <p:cNvSpPr txBox="1"/>
          <p:nvPr/>
        </p:nvSpPr>
        <p:spPr>
          <a:xfrm>
            <a:off x="548640" y="5623560"/>
            <a:ext cx="11064240" cy="274320"/>
          </a:xfrm>
          <a:prstGeom prst="rect">
            <a:avLst/>
          </a:prstGeom>
          <a:noFill/>
          <a:ln/>
        </p:spPr>
        <p:txBody>
          <a:bodyPr wrap="square" lIns="0" tIns="0" rIns="0" bIns="0" rtlCol="0" anchor="t"/>
          <a:lstStyle/>
          <a:p>
            <a:pPr indent="0" marL="0">
              <a:lnSpc>
                <a:spcPct val="100000"/>
              </a:lnSpc>
              <a:buNone/>
            </a:pPr>
            <a:r>
              <a:rPr lang="en-US" sz="1300" dirty="0">
                <a:solidFill>
                  <a:srgbClr val="5A6274"/>
                </a:solidFill>
                <a:latin typeface="Arial" pitchFamily="34" charset="0"/>
                <a:ea typeface="Arial" pitchFamily="34" charset="-122"/>
                <a:cs typeface="Arial" pitchFamily="34" charset="-120"/>
              </a:rPr>
              <a:t>Lowd &amp; Meek (2005), sobre ataques a filtros de spam. Es la tesis que ponemos a prueba.</a:t>
            </a:r>
            <a:endParaRPr lang="en-US" sz="1300" dirty="0"/>
          </a:p>
        </p:txBody>
      </p:sp>
      <p:sp>
        <p:nvSpPr>
          <p:cNvPr id="92" name="Text 90"/>
          <p:cNvSpPr txBox="1"/>
          <p:nvPr/>
        </p:nvSpPr>
        <p:spPr>
          <a:xfrm>
            <a:off x="548640" y="6373368"/>
            <a:ext cx="10241280" cy="274320"/>
          </a:xfrm>
          <a:prstGeom prst="rect">
            <a:avLst/>
          </a:prstGeom>
          <a:noFill/>
          <a:ln/>
        </p:spPr>
        <p:txBody>
          <a:bodyPr wrap="square" lIns="0" tIns="0" rIns="0" bIns="0" rtlCol="0" anchor="t"/>
          <a:lstStyle/>
          <a:p>
            <a:pPr indent="0" marL="0">
              <a:lnSpc>
                <a:spcPct val="100000"/>
              </a:lnSpc>
              <a:buNone/>
            </a:pPr>
            <a:r>
              <a:rPr lang="en-US" sz="1000" dirty="0">
                <a:solidFill>
                  <a:srgbClr val="9AA1AE"/>
                </a:solidFill>
                <a:latin typeface="Arial" pitchFamily="34" charset="0"/>
                <a:ea typeface="Arial" pitchFamily="34" charset="-122"/>
                <a:cs typeface="Arial" pitchFamily="34" charset="-120"/>
              </a:rPr>
              <a:t>Expertos: Naive Bayes, regresión logística, árbol, reglas y uno estructural que mira el formato.</a:t>
            </a:r>
            <a:endParaRPr lang="en-US" sz="1000" dirty="0"/>
          </a:p>
        </p:txBody>
      </p:sp>
      <p:sp>
        <p:nvSpPr>
          <p:cNvPr id="25" name="Slide Number Placeholder 0"/>
          <p:cNvSpPr>
            <a:spLocks noGrp="1"/>
          </p:cNvSpPr>
          <p:nvPr>
            <p:ph type="sldNum" sz="quarter" idx="4294967295"/>
          </p:nvPr>
        </p:nvSpPr>
        <p:spPr>
          <a:xfrm>
            <a:off x="11091672" y="63733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1AE"/>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11480"/>
            <a:ext cx="7315200" cy="228600"/>
          </a:xfrm>
          <a:prstGeom prst="rect">
            <a:avLst/>
          </a:prstGeom>
          <a:noFill/>
          <a:ln/>
        </p:spPr>
        <p:txBody>
          <a:bodyPr wrap="square" lIns="0" tIns="0" rIns="0" bIns="0" rtlCol="0" anchor="t"/>
          <a:lstStyle/>
          <a:p>
            <a:pPr indent="0" marL="0">
              <a:lnSpc>
                <a:spcPct val="100000"/>
              </a:lnSpc>
              <a:buNone/>
            </a:pPr>
            <a:r>
              <a:rPr lang="en-US" sz="1100" b="1" spc="200" kern="0" dirty="0">
                <a:solidFill>
                  <a:srgbClr val="5A6274"/>
                </a:solidFill>
                <a:latin typeface="Arial" pitchFamily="34" charset="0"/>
                <a:ea typeface="Arial" pitchFamily="34" charset="-122"/>
                <a:cs typeface="Arial" pitchFamily="34" charset="-120"/>
              </a:rPr>
              <a:t>EL PROBLEMA</a:t>
            </a:r>
            <a:endParaRPr lang="en-US" sz="1100" dirty="0"/>
          </a:p>
        </p:txBody>
      </p:sp>
      <p:sp>
        <p:nvSpPr>
          <p:cNvPr id="3" name="Text 0"/>
          <p:cNvSpPr/>
          <p:nvPr>
            <p:ph idx="100" type="title" hasCustomPrompt="1"/>
          </p:nvPr>
        </p:nvSpPr>
        <p:spPr>
          <a:xfrm>
            <a:off x="548640" y="731520"/>
            <a:ext cx="10424160" cy="566928"/>
          </a:xfrm>
          <a:prstGeom prst="rect">
            <a:avLst/>
          </a:prstGeom>
          <a:noFill/>
          <a:ln/>
        </p:spPr>
        <p:txBody>
          <a:bodyPr wrap="square" lIns="0" tIns="0" rIns="0" bIns="0" rtlCol="0" anchor="t"/>
          <a:lstStyle/>
          <a:p>
            <a:pPr indent="0" marL="0">
              <a:buNone/>
            </a:pPr>
            <a:r>
              <a:rPr lang="en-US" sz="3000" dirty="0">
                <a:solidFill>
                  <a:srgbClr val="1F2430"/>
                </a:solidFill>
                <a:latin typeface="Georgia" pitchFamily="34" charset="0"/>
                <a:ea typeface="Georgia" pitchFamily="34" charset="-122"/>
                <a:cs typeface="Georgia" pitchFamily="34" charset="-120"/>
              </a:rPr>
              <a:t>Dos preguntas</a:t>
            </a:r>
            <a:endParaRPr lang="en-US" sz="3000" dirty="0"/>
          </a:p>
        </p:txBody>
      </p:sp>
      <p:sp>
        <p:nvSpPr>
          <p:cNvPr id="4" name="Text 2"/>
          <p:cNvSpPr txBox="1"/>
          <p:nvPr/>
        </p:nvSpPr>
        <p:spPr>
          <a:xfrm>
            <a:off x="9235440" y="429768"/>
            <a:ext cx="1554480" cy="201168"/>
          </a:xfrm>
          <a:prstGeom prst="rect">
            <a:avLst/>
          </a:prstGeom>
          <a:noFill/>
          <a:ln/>
        </p:spPr>
        <p:txBody>
          <a:bodyPr wrap="square" lIns="0" tIns="0" rIns="0" bIns="0" rtlCol="0" anchor="t"/>
          <a:lstStyle/>
          <a:p>
            <a:pPr algn="r" indent="0" marL="0">
              <a:lnSpc>
                <a:spcPct val="100000"/>
              </a:lnSpc>
              <a:buNone/>
            </a:pPr>
            <a:r>
              <a:rPr lang="en-US" sz="900" b="1" spc="200" kern="0" dirty="0">
                <a:solidFill>
                  <a:srgbClr val="9AA1AE"/>
                </a:solidFill>
                <a:latin typeface="Arial" pitchFamily="34" charset="0"/>
                <a:ea typeface="Arial" pitchFamily="34" charset="-122"/>
                <a:cs typeface="Arial" pitchFamily="34" charset="-120"/>
              </a:rPr>
              <a:t>HALLAZGOS</a:t>
            </a:r>
            <a:endParaRPr lang="en-US" sz="900" dirty="0"/>
          </a:p>
        </p:txBody>
      </p:sp>
      <p:sp>
        <p:nvSpPr>
          <p:cNvPr id="5" name="hallazgo 1"/>
          <p:cNvSpPr/>
          <p:nvPr/>
        </p:nvSpPr>
        <p:spPr>
          <a:xfrm>
            <a:off x="10899648" y="457200"/>
            <a:ext cx="137160" cy="137160"/>
          </a:xfrm>
          <a:prstGeom prst="ellipse">
            <a:avLst/>
          </a:prstGeom>
          <a:ln w="15875">
            <a:solidFill>
              <a:srgbClr val="9AA1AE"/>
            </a:solidFill>
            <a:prstDash val="solid"/>
          </a:ln>
        </p:spPr>
      </p:sp>
      <p:sp>
        <p:nvSpPr>
          <p:cNvPr id="6" name="hallazgo 2"/>
          <p:cNvSpPr/>
          <p:nvPr/>
        </p:nvSpPr>
        <p:spPr>
          <a:xfrm>
            <a:off x="11100816" y="457200"/>
            <a:ext cx="137160" cy="137160"/>
          </a:xfrm>
          <a:prstGeom prst="ellipse">
            <a:avLst/>
          </a:prstGeom>
          <a:ln w="15875">
            <a:solidFill>
              <a:srgbClr val="9AA1AE"/>
            </a:solidFill>
            <a:prstDash val="solid"/>
          </a:ln>
        </p:spPr>
      </p:sp>
      <p:sp>
        <p:nvSpPr>
          <p:cNvPr id="7" name="hallazgo 3"/>
          <p:cNvSpPr/>
          <p:nvPr/>
        </p:nvSpPr>
        <p:spPr>
          <a:xfrm>
            <a:off x="11301984" y="457200"/>
            <a:ext cx="137160" cy="137160"/>
          </a:xfrm>
          <a:prstGeom prst="ellipse">
            <a:avLst/>
          </a:prstGeom>
          <a:ln w="15875">
            <a:solidFill>
              <a:srgbClr val="9AA1AE"/>
            </a:solidFill>
            <a:prstDash val="solid"/>
          </a:ln>
        </p:spPr>
      </p:sp>
      <p:sp>
        <p:nvSpPr>
          <p:cNvPr id="8" name="hallazgo 4"/>
          <p:cNvSpPr/>
          <p:nvPr/>
        </p:nvSpPr>
        <p:spPr>
          <a:xfrm>
            <a:off x="11503152" y="457200"/>
            <a:ext cx="137160" cy="137160"/>
          </a:xfrm>
          <a:prstGeom prst="ellipse">
            <a:avLst/>
          </a:prstGeom>
          <a:ln w="15875">
            <a:solidFill>
              <a:srgbClr val="9AA1AE"/>
            </a:solidFill>
            <a:prstDash val="solid"/>
          </a:ln>
        </p:spPr>
      </p:sp>
      <p:sp>
        <p:nvSpPr>
          <p:cNvPr id="9" name="Text 7"/>
          <p:cNvSpPr txBox="1"/>
          <p:nvPr/>
        </p:nvSpPr>
        <p:spPr>
          <a:xfrm>
            <a:off x="548640" y="1463040"/>
            <a:ext cx="1371600" cy="1691640"/>
          </a:xfrm>
          <a:prstGeom prst="rect">
            <a:avLst/>
          </a:prstGeom>
          <a:noFill/>
          <a:ln/>
        </p:spPr>
        <p:txBody>
          <a:bodyPr wrap="square" lIns="0" tIns="0" rIns="0" bIns="0" rtlCol="0" anchor="t"/>
          <a:lstStyle/>
          <a:p>
            <a:pPr indent="0" marL="0">
              <a:lnSpc>
                <a:spcPct val="100000"/>
              </a:lnSpc>
              <a:buNone/>
            </a:pPr>
            <a:r>
              <a:rPr lang="en-US" sz="11000" dirty="0">
                <a:solidFill>
                  <a:srgbClr val="2A78D6"/>
                </a:solidFill>
                <a:latin typeface="Georgia" pitchFamily="34" charset="0"/>
                <a:ea typeface="Georgia" pitchFamily="34" charset="-122"/>
                <a:cs typeface="Georgia" pitchFamily="34" charset="-120"/>
              </a:rPr>
              <a:t>1</a:t>
            </a:r>
            <a:endParaRPr lang="en-US" sz="11000" dirty="0"/>
          </a:p>
        </p:txBody>
      </p:sp>
      <p:sp>
        <p:nvSpPr>
          <p:cNvPr id="10" name="Text 8"/>
          <p:cNvSpPr txBox="1"/>
          <p:nvPr/>
        </p:nvSpPr>
        <p:spPr>
          <a:xfrm>
            <a:off x="548640" y="3200400"/>
            <a:ext cx="5212080" cy="1143000"/>
          </a:xfrm>
          <a:prstGeom prst="rect">
            <a:avLst/>
          </a:prstGeom>
          <a:noFill/>
          <a:ln/>
        </p:spPr>
        <p:txBody>
          <a:bodyPr wrap="square" lIns="0" tIns="0" rIns="0" bIns="0" rtlCol="0" anchor="t"/>
          <a:lstStyle/>
          <a:p>
            <a:pPr indent="0" marL="0">
              <a:lnSpc>
                <a:spcPct val="100000"/>
              </a:lnSpc>
              <a:buNone/>
            </a:pPr>
            <a:r>
              <a:rPr lang="en-US" sz="2400" dirty="0">
                <a:solidFill>
                  <a:srgbClr val="1F2430"/>
                </a:solidFill>
                <a:latin typeface="Georgia" pitchFamily="34" charset="0"/>
                <a:ea typeface="Georgia" pitchFamily="34" charset="-122"/>
                <a:cs typeface="Georgia" pitchFamily="34" charset="-120"/>
              </a:rPr>
              <a:t>¿Cuánto se recupera combinando expertos congelados, sin reentrenar nada?</a:t>
            </a:r>
            <a:endParaRPr lang="en-US" sz="2400" dirty="0"/>
          </a:p>
        </p:txBody>
      </p:sp>
      <p:sp>
        <p:nvSpPr>
          <p:cNvPr id="11" name="Text 9"/>
          <p:cNvSpPr txBox="1"/>
          <p:nvPr/>
        </p:nvSpPr>
        <p:spPr>
          <a:xfrm>
            <a:off x="548640" y="4434840"/>
            <a:ext cx="5212080" cy="274320"/>
          </a:xfrm>
          <a:prstGeom prst="rect">
            <a:avLst/>
          </a:prstGeom>
          <a:noFill/>
          <a:ln/>
        </p:spPr>
        <p:txBody>
          <a:bodyPr wrap="square" lIns="0" tIns="0" rIns="0" bIns="0" rtlCol="0" anchor="t"/>
          <a:lstStyle/>
          <a:p>
            <a:pPr indent="0" marL="0">
              <a:lnSpc>
                <a:spcPct val="100000"/>
              </a:lnSpc>
              <a:buNone/>
            </a:pPr>
            <a:r>
              <a:rPr lang="en-US" sz="1300" b="1" dirty="0">
                <a:solidFill>
                  <a:srgbClr val="5A6274"/>
                </a:solidFill>
                <a:latin typeface="Arial" pitchFamily="34" charset="0"/>
                <a:ea typeface="Arial" pitchFamily="34" charset="-122"/>
                <a:cs typeface="Arial" pitchFamily="34" charset="-120"/>
              </a:rPr>
              <a:t>Lo responde el hallazgo 1</a:t>
            </a:r>
            <a:endParaRPr lang="en-US" sz="1300" dirty="0"/>
          </a:p>
        </p:txBody>
      </p:sp>
      <p:sp>
        <p:nvSpPr>
          <p:cNvPr id="12" name="Text 10"/>
          <p:cNvSpPr txBox="1"/>
          <p:nvPr/>
        </p:nvSpPr>
        <p:spPr>
          <a:xfrm>
            <a:off x="6355080" y="1463040"/>
            <a:ext cx="1371600" cy="1691640"/>
          </a:xfrm>
          <a:prstGeom prst="rect">
            <a:avLst/>
          </a:prstGeom>
          <a:noFill/>
          <a:ln/>
        </p:spPr>
        <p:txBody>
          <a:bodyPr wrap="square" lIns="0" tIns="0" rIns="0" bIns="0" rtlCol="0" anchor="t"/>
          <a:lstStyle/>
          <a:p>
            <a:pPr indent="0" marL="0">
              <a:lnSpc>
                <a:spcPct val="100000"/>
              </a:lnSpc>
              <a:buNone/>
            </a:pPr>
            <a:r>
              <a:rPr lang="en-US" sz="11000" dirty="0">
                <a:solidFill>
                  <a:srgbClr val="2A78D6"/>
                </a:solidFill>
                <a:latin typeface="Georgia" pitchFamily="34" charset="0"/>
                <a:ea typeface="Georgia" pitchFamily="34" charset="-122"/>
                <a:cs typeface="Georgia" pitchFamily="34" charset="-120"/>
              </a:rPr>
              <a:t>2</a:t>
            </a:r>
            <a:endParaRPr lang="en-US" sz="11000" dirty="0"/>
          </a:p>
        </p:txBody>
      </p:sp>
      <p:sp>
        <p:nvSpPr>
          <p:cNvPr id="13" name="Text 11"/>
          <p:cNvSpPr txBox="1"/>
          <p:nvPr/>
        </p:nvSpPr>
        <p:spPr>
          <a:xfrm>
            <a:off x="6355080" y="3200400"/>
            <a:ext cx="5212080" cy="1143000"/>
          </a:xfrm>
          <a:prstGeom prst="rect">
            <a:avLst/>
          </a:prstGeom>
          <a:noFill/>
          <a:ln/>
        </p:spPr>
        <p:txBody>
          <a:bodyPr wrap="square" lIns="0" tIns="0" rIns="0" bIns="0" rtlCol="0" anchor="t"/>
          <a:lstStyle/>
          <a:p>
            <a:pPr indent="0" marL="0">
              <a:lnSpc>
                <a:spcPct val="100000"/>
              </a:lnSpc>
              <a:buNone/>
            </a:pPr>
            <a:r>
              <a:rPr lang="en-US" sz="2400" dirty="0">
                <a:solidFill>
                  <a:srgbClr val="1F2430"/>
                </a:solidFill>
                <a:latin typeface="Georgia" pitchFamily="34" charset="0"/>
                <a:ea typeface="Georgia" pitchFamily="34" charset="-122"/>
                <a:cs typeface="Georgia" pitchFamily="34" charset="-120"/>
              </a:rPr>
              <a:t>¿Cuánta etiqueta hace falta? En la práctica, el usuario reporta pocos mensajes.</a:t>
            </a:r>
            <a:endParaRPr lang="en-US" sz="2400" dirty="0"/>
          </a:p>
        </p:txBody>
      </p:sp>
      <p:sp>
        <p:nvSpPr>
          <p:cNvPr id="14" name="Text 12"/>
          <p:cNvSpPr txBox="1"/>
          <p:nvPr/>
        </p:nvSpPr>
        <p:spPr>
          <a:xfrm>
            <a:off x="6355080" y="4434840"/>
            <a:ext cx="5212080" cy="274320"/>
          </a:xfrm>
          <a:prstGeom prst="rect">
            <a:avLst/>
          </a:prstGeom>
          <a:noFill/>
          <a:ln/>
        </p:spPr>
        <p:txBody>
          <a:bodyPr wrap="square" lIns="0" tIns="0" rIns="0" bIns="0" rtlCol="0" anchor="t"/>
          <a:lstStyle/>
          <a:p>
            <a:pPr indent="0" marL="0">
              <a:lnSpc>
                <a:spcPct val="100000"/>
              </a:lnSpc>
              <a:buNone/>
            </a:pPr>
            <a:r>
              <a:rPr lang="en-US" sz="1300" b="1" dirty="0">
                <a:solidFill>
                  <a:srgbClr val="5A6274"/>
                </a:solidFill>
                <a:latin typeface="Arial" pitchFamily="34" charset="0"/>
                <a:ea typeface="Arial" pitchFamily="34" charset="-122"/>
                <a:cs typeface="Arial" pitchFamily="34" charset="-120"/>
              </a:rPr>
              <a:t>Lo responde el hallazgo 2</a:t>
            </a:r>
            <a:endParaRPr lang="en-US" sz="1300" dirty="0"/>
          </a:p>
        </p:txBody>
      </p:sp>
      <p:sp>
        <p:nvSpPr>
          <p:cNvPr id="15" name="Shape 13"/>
          <p:cNvSpPr/>
          <p:nvPr/>
        </p:nvSpPr>
        <p:spPr>
          <a:xfrm>
            <a:off x="548640" y="4983480"/>
            <a:ext cx="11091672" cy="0"/>
          </a:xfrm>
          <a:prstGeom prst="line">
            <a:avLst/>
          </a:prstGeom>
          <a:noFill/>
          <a:ln w="9525">
            <a:solidFill>
              <a:srgbClr val="D9D6CE"/>
            </a:solidFill>
            <a:prstDash val="solid"/>
          </a:ln>
        </p:spPr>
      </p:sp>
      <p:sp>
        <p:nvSpPr>
          <p:cNvPr id="16" name="Text 14"/>
          <p:cNvSpPr txBox="1"/>
          <p:nvPr/>
        </p:nvSpPr>
        <p:spPr>
          <a:xfrm>
            <a:off x="548640" y="5166360"/>
            <a:ext cx="11064240" cy="685800"/>
          </a:xfrm>
          <a:prstGeom prst="rect">
            <a:avLst/>
          </a:prstGeom>
          <a:noFill/>
          <a:ln/>
        </p:spPr>
        <p:txBody>
          <a:bodyPr wrap="square" lIns="0" tIns="0" rIns="0" bIns="0" rtlCol="0" anchor="t"/>
          <a:lstStyle/>
          <a:p>
            <a:pPr indent="0" marL="0">
              <a:lnSpc>
                <a:spcPct val="100000"/>
              </a:lnSpc>
              <a:buNone/>
            </a:pPr>
            <a:r>
              <a:rPr lang="en-US" sz="1600" dirty="0">
                <a:solidFill>
                  <a:srgbClr val="5A6274"/>
                </a:solidFill>
                <a:latin typeface="Arial" pitchFamily="34" charset="0"/>
                <a:ea typeface="Arial" pitchFamily="34" charset="-122"/>
                <a:cs typeface="Arial" pitchFamily="34" charset="-120"/>
              </a:rPr>
              <a:t>Y dos precisiones sobre la teoría vista en clase: qué algoritmo garantiza la cota, y para qué tasa de aprendizaje vale (hallazgo 3). Al final, lecciones de método (hallazgo 4).</a:t>
            </a:r>
            <a:endParaRPr lang="en-US" sz="1600" dirty="0"/>
          </a:p>
        </p:txBody>
      </p:sp>
      <p:sp>
        <p:nvSpPr>
          <p:cNvPr id="25" name="Slide Number Placeholder 0"/>
          <p:cNvSpPr>
            <a:spLocks noGrp="1"/>
          </p:cNvSpPr>
          <p:nvPr>
            <p:ph type="sldNum" sz="quarter" idx="4294967295"/>
          </p:nvPr>
        </p:nvSpPr>
        <p:spPr>
          <a:xfrm>
            <a:off x="11091672" y="63733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1AE"/>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411480"/>
            <a:ext cx="7315200" cy="228600"/>
          </a:xfrm>
          <a:prstGeom prst="rect">
            <a:avLst/>
          </a:prstGeom>
          <a:noFill/>
          <a:ln/>
        </p:spPr>
        <p:txBody>
          <a:bodyPr wrap="square" lIns="0" tIns="0" rIns="0" bIns="0" rtlCol="0" anchor="t"/>
          <a:lstStyle/>
          <a:p>
            <a:pPr indent="0" marL="0">
              <a:lnSpc>
                <a:spcPct val="100000"/>
              </a:lnSpc>
              <a:buNone/>
            </a:pPr>
            <a:r>
              <a:rPr lang="en-US" sz="1100" b="1" spc="200" kern="0" dirty="0">
                <a:solidFill>
                  <a:srgbClr val="5A6274"/>
                </a:solidFill>
                <a:latin typeface="Arial" pitchFamily="34" charset="0"/>
                <a:ea typeface="Arial" pitchFamily="34" charset="-122"/>
                <a:cs typeface="Arial" pitchFamily="34" charset="-120"/>
              </a:rPr>
              <a:t>DISEÑO</a:t>
            </a:r>
            <a:endParaRPr lang="en-US" sz="1100" dirty="0"/>
          </a:p>
        </p:txBody>
      </p:sp>
      <p:sp>
        <p:nvSpPr>
          <p:cNvPr id="3" name="Text 0"/>
          <p:cNvSpPr/>
          <p:nvPr>
            <p:ph idx="100" type="title" hasCustomPrompt="1"/>
          </p:nvPr>
        </p:nvSpPr>
        <p:spPr>
          <a:xfrm>
            <a:off x="548640" y="731520"/>
            <a:ext cx="10424160" cy="566928"/>
          </a:xfrm>
          <a:prstGeom prst="rect">
            <a:avLst/>
          </a:prstGeom>
          <a:noFill/>
          <a:ln/>
        </p:spPr>
        <p:txBody>
          <a:bodyPr wrap="square" lIns="0" tIns="0" rIns="0" bIns="0" rtlCol="0" anchor="t"/>
          <a:lstStyle/>
          <a:p>
            <a:pPr indent="0" marL="0">
              <a:buNone/>
            </a:pPr>
            <a:r>
              <a:rPr lang="en-US" sz="3000" dirty="0">
                <a:solidFill>
                  <a:srgbClr val="1F2430"/>
                </a:solidFill>
                <a:latin typeface="Georgia" pitchFamily="34" charset="0"/>
                <a:ea typeface="Georgia" pitchFamily="34" charset="-122"/>
                <a:cs typeface="Georgia" pitchFamily="34" charset="-120"/>
              </a:rPr>
              <a:t>Cómo lo medimos</a:t>
            </a:r>
            <a:endParaRPr lang="en-US" sz="3000" dirty="0"/>
          </a:p>
        </p:txBody>
      </p:sp>
      <p:sp>
        <p:nvSpPr>
          <p:cNvPr id="4" name="Text 2"/>
          <p:cNvSpPr txBox="1"/>
          <p:nvPr/>
        </p:nvSpPr>
        <p:spPr>
          <a:xfrm>
            <a:off x="548640" y="1307592"/>
            <a:ext cx="10424160" cy="320040"/>
          </a:xfrm>
          <a:prstGeom prst="rect">
            <a:avLst/>
          </a:prstGeom>
          <a:noFill/>
          <a:ln/>
        </p:spPr>
        <p:txBody>
          <a:bodyPr wrap="square" lIns="0" tIns="0" rIns="0" bIns="0" rtlCol="0" anchor="t"/>
          <a:lstStyle/>
          <a:p>
            <a:pPr indent="0" marL="0">
              <a:lnSpc>
                <a:spcPct val="100000"/>
              </a:lnSpc>
              <a:buNone/>
            </a:pPr>
            <a:r>
              <a:rPr lang="en-US" sz="1500" dirty="0">
                <a:solidFill>
                  <a:srgbClr val="5A6274"/>
                </a:solidFill>
                <a:latin typeface="Arial" pitchFamily="34" charset="0"/>
                <a:ea typeface="Arial" pitchFamily="34" charset="-122"/>
                <a:cs typeface="Arial" pitchFamily="34" charset="-120"/>
              </a:rPr>
              <a:t>Cada mensaje del stream es una ronda: predecir, ver la etiqueta, actualizar.</a:t>
            </a:r>
            <a:endParaRPr lang="en-US" sz="1500" dirty="0"/>
          </a:p>
        </p:txBody>
      </p:sp>
      <p:sp>
        <p:nvSpPr>
          <p:cNvPr id="5" name="Text 3"/>
          <p:cNvSpPr txBox="1"/>
          <p:nvPr/>
        </p:nvSpPr>
        <p:spPr>
          <a:xfrm>
            <a:off x="9235440" y="429768"/>
            <a:ext cx="1554480" cy="201168"/>
          </a:xfrm>
          <a:prstGeom prst="rect">
            <a:avLst/>
          </a:prstGeom>
          <a:noFill/>
          <a:ln/>
        </p:spPr>
        <p:txBody>
          <a:bodyPr wrap="square" lIns="0" tIns="0" rIns="0" bIns="0" rtlCol="0" anchor="t"/>
          <a:lstStyle/>
          <a:p>
            <a:pPr algn="r" indent="0" marL="0">
              <a:lnSpc>
                <a:spcPct val="100000"/>
              </a:lnSpc>
              <a:buNone/>
            </a:pPr>
            <a:r>
              <a:rPr lang="en-US" sz="900" b="1" spc="200" kern="0" dirty="0">
                <a:solidFill>
                  <a:srgbClr val="9AA1AE"/>
                </a:solidFill>
                <a:latin typeface="Arial" pitchFamily="34" charset="0"/>
                <a:ea typeface="Arial" pitchFamily="34" charset="-122"/>
                <a:cs typeface="Arial" pitchFamily="34" charset="-120"/>
              </a:rPr>
              <a:t>HALLAZGOS</a:t>
            </a:r>
            <a:endParaRPr lang="en-US" sz="900" dirty="0"/>
          </a:p>
        </p:txBody>
      </p:sp>
      <p:sp>
        <p:nvSpPr>
          <p:cNvPr id="6" name="hallazgo 1"/>
          <p:cNvSpPr/>
          <p:nvPr/>
        </p:nvSpPr>
        <p:spPr>
          <a:xfrm>
            <a:off x="10899648" y="457200"/>
            <a:ext cx="137160" cy="137160"/>
          </a:xfrm>
          <a:prstGeom prst="ellipse">
            <a:avLst/>
          </a:prstGeom>
          <a:ln w="15875">
            <a:solidFill>
              <a:srgbClr val="9AA1AE"/>
            </a:solidFill>
            <a:prstDash val="solid"/>
          </a:ln>
        </p:spPr>
      </p:sp>
      <p:sp>
        <p:nvSpPr>
          <p:cNvPr id="7" name="hallazgo 2"/>
          <p:cNvSpPr/>
          <p:nvPr/>
        </p:nvSpPr>
        <p:spPr>
          <a:xfrm>
            <a:off x="11100816" y="457200"/>
            <a:ext cx="137160" cy="137160"/>
          </a:xfrm>
          <a:prstGeom prst="ellipse">
            <a:avLst/>
          </a:prstGeom>
          <a:ln w="15875">
            <a:solidFill>
              <a:srgbClr val="9AA1AE"/>
            </a:solidFill>
            <a:prstDash val="solid"/>
          </a:ln>
        </p:spPr>
      </p:sp>
      <p:sp>
        <p:nvSpPr>
          <p:cNvPr id="8" name="hallazgo 3"/>
          <p:cNvSpPr/>
          <p:nvPr/>
        </p:nvSpPr>
        <p:spPr>
          <a:xfrm>
            <a:off x="11301984" y="457200"/>
            <a:ext cx="137160" cy="137160"/>
          </a:xfrm>
          <a:prstGeom prst="ellipse">
            <a:avLst/>
          </a:prstGeom>
          <a:ln w="15875">
            <a:solidFill>
              <a:srgbClr val="9AA1AE"/>
            </a:solidFill>
            <a:prstDash val="solid"/>
          </a:ln>
        </p:spPr>
      </p:sp>
      <p:sp>
        <p:nvSpPr>
          <p:cNvPr id="9" name="hallazgo 4"/>
          <p:cNvSpPr/>
          <p:nvPr/>
        </p:nvSpPr>
        <p:spPr>
          <a:xfrm>
            <a:off x="11503152" y="457200"/>
            <a:ext cx="137160" cy="137160"/>
          </a:xfrm>
          <a:prstGeom prst="ellipse">
            <a:avLst/>
          </a:prstGeom>
          <a:ln w="15875">
            <a:solidFill>
              <a:srgbClr val="9AA1AE"/>
            </a:solidFill>
            <a:prstDash val="solid"/>
          </a:ln>
        </p:spPr>
      </p:sp>
      <p:sp>
        <p:nvSpPr>
          <p:cNvPr id="10" name="tramo 1"/>
          <p:cNvSpPr/>
          <p:nvPr/>
        </p:nvSpPr>
        <p:spPr>
          <a:xfrm>
            <a:off x="548640" y="2606040"/>
            <a:ext cx="2216742" cy="502920"/>
          </a:xfrm>
          <a:prstGeom prst="rect">
            <a:avLst/>
          </a:prstGeom>
          <a:solidFill>
            <a:srgbClr val="D9D6CE"/>
          </a:solidFill>
          <a:ln/>
        </p:spPr>
      </p:sp>
      <p:sp>
        <p:nvSpPr>
          <p:cNvPr id="11" name="Text 9"/>
          <p:cNvSpPr txBox="1"/>
          <p:nvPr/>
        </p:nvSpPr>
        <p:spPr>
          <a:xfrm>
            <a:off x="685800" y="2606040"/>
            <a:ext cx="1942422" cy="502920"/>
          </a:xfrm>
          <a:prstGeom prst="rect">
            <a:avLst/>
          </a:prstGeom>
          <a:noFill/>
          <a:ln/>
        </p:spPr>
        <p:txBody>
          <a:bodyPr wrap="square" lIns="0" tIns="0" rIns="0" bIns="0" rtlCol="0" anchor="ctr"/>
          <a:lstStyle/>
          <a:p>
            <a:pPr indent="0" marL="0">
              <a:lnSpc>
                <a:spcPct val="100000"/>
              </a:lnSpc>
              <a:buNone/>
            </a:pPr>
            <a:r>
              <a:rPr lang="en-US" sz="1100" b="1" spc="100" kern="0" dirty="0">
                <a:solidFill>
                  <a:srgbClr val="1F2430"/>
                </a:solidFill>
                <a:latin typeface="Arial" pitchFamily="34" charset="0"/>
                <a:ea typeface="Arial" pitchFamily="34" charset="-122"/>
                <a:cs typeface="Arial" pitchFamily="34" charset="-120"/>
              </a:rPr>
              <a:t>WARM-UP</a:t>
            </a:r>
            <a:endParaRPr lang="en-US" sz="1100" dirty="0"/>
          </a:p>
        </p:txBody>
      </p:sp>
      <p:sp>
        <p:nvSpPr>
          <p:cNvPr id="12" name="Text 10"/>
          <p:cNvSpPr txBox="1"/>
          <p:nvPr/>
        </p:nvSpPr>
        <p:spPr>
          <a:xfrm>
            <a:off x="548640" y="2103120"/>
            <a:ext cx="2216742" cy="365760"/>
          </a:xfrm>
          <a:prstGeom prst="rect">
            <a:avLst/>
          </a:prstGeom>
          <a:noFill/>
          <a:ln/>
        </p:spPr>
        <p:txBody>
          <a:bodyPr wrap="square" lIns="0" tIns="0" rIns="0" bIns="0" rtlCol="0" anchor="t"/>
          <a:lstStyle/>
          <a:p>
            <a:pPr indent="0" marL="0">
              <a:lnSpc>
                <a:spcPct val="100000"/>
              </a:lnSpc>
              <a:buNone/>
            </a:pPr>
            <a:r>
              <a:rPr lang="en-US" sz="2000" b="1" dirty="0">
                <a:solidFill>
                  <a:srgbClr val="1F2430"/>
                </a:solidFill>
                <a:latin typeface="Arial" pitchFamily="34" charset="0"/>
                <a:ea typeface="Arial" pitchFamily="34" charset="-122"/>
                <a:cs typeface="Arial" pitchFamily="34" charset="-120"/>
              </a:rPr>
              <a:t>1.114 SMS</a:t>
            </a:r>
            <a:endParaRPr lang="en-US" sz="2000" dirty="0"/>
          </a:p>
        </p:txBody>
      </p:sp>
      <p:sp>
        <p:nvSpPr>
          <p:cNvPr id="13" name="Text 11"/>
          <p:cNvSpPr txBox="1"/>
          <p:nvPr/>
        </p:nvSpPr>
        <p:spPr>
          <a:xfrm>
            <a:off x="548640" y="3246120"/>
            <a:ext cx="1988142" cy="685800"/>
          </a:xfrm>
          <a:prstGeom prst="rect">
            <a:avLst/>
          </a:prstGeom>
          <a:noFill/>
          <a:ln/>
        </p:spPr>
        <p:txBody>
          <a:bodyPr wrap="square" lIns="0" tIns="0" rIns="0" bIns="0" rtlCol="0" anchor="t"/>
          <a:lstStyle/>
          <a:p>
            <a:pPr indent="0" marL="0">
              <a:lnSpc>
                <a:spcPct val="100000"/>
              </a:lnSpc>
              <a:buNone/>
            </a:pPr>
            <a:r>
              <a:rPr lang="en-US" sz="1300" dirty="0">
                <a:solidFill>
                  <a:srgbClr val="5A6274"/>
                </a:solidFill>
                <a:latin typeface="Arial" pitchFamily="34" charset="0"/>
                <a:ea typeface="Arial" pitchFamily="34" charset="-122"/>
                <a:cs typeface="Arial" pitchFamily="34" charset="-120"/>
              </a:rPr>
              <a:t>Se entrenan los modelos; los 5 expertos quedan congelados.</a:t>
            </a:r>
            <a:endParaRPr lang="en-US" sz="1300" dirty="0"/>
          </a:p>
        </p:txBody>
      </p:sp>
      <p:sp>
        <p:nvSpPr>
          <p:cNvPr id="14" name="tramo 2"/>
          <p:cNvSpPr/>
          <p:nvPr/>
        </p:nvSpPr>
        <p:spPr>
          <a:xfrm>
            <a:off x="2765382" y="2606040"/>
            <a:ext cx="4437465" cy="502920"/>
          </a:xfrm>
          <a:prstGeom prst="rect">
            <a:avLst/>
          </a:prstGeom>
          <a:solidFill>
            <a:srgbClr val="ECE9E2"/>
          </a:solidFill>
          <a:ln/>
        </p:spPr>
      </p:sp>
      <p:sp>
        <p:nvSpPr>
          <p:cNvPr id="15" name="Text 13"/>
          <p:cNvSpPr txBox="1"/>
          <p:nvPr/>
        </p:nvSpPr>
        <p:spPr>
          <a:xfrm>
            <a:off x="2902542" y="2606040"/>
            <a:ext cx="4163145" cy="502920"/>
          </a:xfrm>
          <a:prstGeom prst="rect">
            <a:avLst/>
          </a:prstGeom>
          <a:noFill/>
          <a:ln/>
        </p:spPr>
        <p:txBody>
          <a:bodyPr wrap="square" lIns="0" tIns="0" rIns="0" bIns="0" rtlCol="0" anchor="ctr"/>
          <a:lstStyle/>
          <a:p>
            <a:pPr indent="0" marL="0">
              <a:lnSpc>
                <a:spcPct val="100000"/>
              </a:lnSpc>
              <a:buNone/>
            </a:pPr>
            <a:r>
              <a:rPr lang="en-US" sz="1100" b="1" spc="100" kern="0" dirty="0">
                <a:solidFill>
                  <a:srgbClr val="1F2430"/>
                </a:solidFill>
                <a:latin typeface="Arial" pitchFamily="34" charset="0"/>
                <a:ea typeface="Arial" pitchFamily="34" charset="-122"/>
                <a:cs typeface="Arial" pitchFamily="34" charset="-120"/>
              </a:rPr>
              <a:t>STREAM SIN ATAQUE</a:t>
            </a:r>
            <a:endParaRPr lang="en-US" sz="1100" dirty="0"/>
          </a:p>
        </p:txBody>
      </p:sp>
      <p:sp>
        <p:nvSpPr>
          <p:cNvPr id="16" name="Text 14"/>
          <p:cNvSpPr txBox="1"/>
          <p:nvPr/>
        </p:nvSpPr>
        <p:spPr>
          <a:xfrm>
            <a:off x="2765382" y="2103120"/>
            <a:ext cx="4437465" cy="365760"/>
          </a:xfrm>
          <a:prstGeom prst="rect">
            <a:avLst/>
          </a:prstGeom>
          <a:noFill/>
          <a:ln/>
        </p:spPr>
        <p:txBody>
          <a:bodyPr wrap="square" lIns="0" tIns="0" rIns="0" bIns="0" rtlCol="0" anchor="t"/>
          <a:lstStyle/>
          <a:p>
            <a:pPr indent="0" marL="0">
              <a:lnSpc>
                <a:spcPct val="100000"/>
              </a:lnSpc>
              <a:buNone/>
            </a:pPr>
            <a:r>
              <a:rPr lang="en-US" sz="2000" b="1" dirty="0">
                <a:solidFill>
                  <a:srgbClr val="1F2430"/>
                </a:solidFill>
                <a:latin typeface="Arial" pitchFamily="34" charset="0"/>
                <a:ea typeface="Arial" pitchFamily="34" charset="-122"/>
                <a:cs typeface="Arial" pitchFamily="34" charset="-120"/>
              </a:rPr>
              <a:t>2.230 SMS</a:t>
            </a:r>
            <a:endParaRPr lang="en-US" sz="2000" dirty="0"/>
          </a:p>
        </p:txBody>
      </p:sp>
      <p:sp>
        <p:nvSpPr>
          <p:cNvPr id="17" name="Text 15"/>
          <p:cNvSpPr txBox="1"/>
          <p:nvPr/>
        </p:nvSpPr>
        <p:spPr>
          <a:xfrm>
            <a:off x="2765382" y="3246120"/>
            <a:ext cx="4208865" cy="685800"/>
          </a:xfrm>
          <a:prstGeom prst="rect">
            <a:avLst/>
          </a:prstGeom>
          <a:noFill/>
          <a:ln/>
        </p:spPr>
        <p:txBody>
          <a:bodyPr wrap="square" lIns="0" tIns="0" rIns="0" bIns="0" rtlCol="0" anchor="t"/>
          <a:lstStyle/>
          <a:p>
            <a:pPr indent="0" marL="0">
              <a:lnSpc>
                <a:spcPct val="100000"/>
              </a:lnSpc>
              <a:buNone/>
            </a:pPr>
            <a:r>
              <a:rPr lang="en-US" sz="1300" dirty="0">
                <a:solidFill>
                  <a:srgbClr val="5A6274"/>
                </a:solidFill>
                <a:latin typeface="Arial" pitchFamily="34" charset="0"/>
                <a:ea typeface="Arial" pitchFamily="34" charset="-122"/>
                <a:cs typeface="Arial" pitchFamily="34" charset="-120"/>
              </a:rPr>
              <a:t>Los tres competidores ven la misma secuencia de mensajes.</a:t>
            </a:r>
            <a:endParaRPr lang="en-US" sz="1300" dirty="0"/>
          </a:p>
        </p:txBody>
      </p:sp>
      <p:sp>
        <p:nvSpPr>
          <p:cNvPr id="18" name="tramo 3"/>
          <p:cNvSpPr/>
          <p:nvPr/>
        </p:nvSpPr>
        <p:spPr>
          <a:xfrm>
            <a:off x="7202847" y="2606040"/>
            <a:ext cx="4437465" cy="502920"/>
          </a:xfrm>
          <a:prstGeom prst="rect">
            <a:avLst/>
          </a:prstGeom>
          <a:solidFill>
            <a:srgbClr val="1F2430"/>
          </a:solidFill>
          <a:ln/>
        </p:spPr>
      </p:sp>
      <p:sp>
        <p:nvSpPr>
          <p:cNvPr id="19" name="Text 17"/>
          <p:cNvSpPr txBox="1"/>
          <p:nvPr/>
        </p:nvSpPr>
        <p:spPr>
          <a:xfrm>
            <a:off x="7340007" y="2606040"/>
            <a:ext cx="4163145" cy="502920"/>
          </a:xfrm>
          <a:prstGeom prst="rect">
            <a:avLst/>
          </a:prstGeom>
          <a:noFill/>
          <a:ln/>
        </p:spPr>
        <p:txBody>
          <a:bodyPr wrap="square" lIns="0" tIns="0" rIns="0" bIns="0" rtlCol="0" anchor="ctr"/>
          <a:lstStyle/>
          <a:p>
            <a:pPr indent="0" marL="0">
              <a:lnSpc>
                <a:spcPct val="100000"/>
              </a:lnSpc>
              <a:buNone/>
            </a:pPr>
            <a:r>
              <a:rPr lang="en-US" sz="1100" b="1" spc="100" kern="0" dirty="0">
                <a:solidFill>
                  <a:srgbClr val="FFFFFF"/>
                </a:solidFill>
                <a:latin typeface="Arial" pitchFamily="34" charset="0"/>
                <a:ea typeface="Arial" pitchFamily="34" charset="-122"/>
                <a:cs typeface="Arial" pitchFamily="34" charset="-120"/>
              </a:rPr>
              <a:t>STREAM CON ATAQUE</a:t>
            </a:r>
            <a:endParaRPr lang="en-US" sz="1100" dirty="0"/>
          </a:p>
        </p:txBody>
      </p:sp>
      <p:sp>
        <p:nvSpPr>
          <p:cNvPr id="20" name="Text 18"/>
          <p:cNvSpPr txBox="1"/>
          <p:nvPr/>
        </p:nvSpPr>
        <p:spPr>
          <a:xfrm>
            <a:off x="7202847" y="2103120"/>
            <a:ext cx="4437465" cy="365760"/>
          </a:xfrm>
          <a:prstGeom prst="rect">
            <a:avLst/>
          </a:prstGeom>
          <a:noFill/>
          <a:ln/>
        </p:spPr>
        <p:txBody>
          <a:bodyPr wrap="square" lIns="0" tIns="0" rIns="0" bIns="0" rtlCol="0" anchor="t"/>
          <a:lstStyle/>
          <a:p>
            <a:pPr indent="0" marL="0">
              <a:lnSpc>
                <a:spcPct val="100000"/>
              </a:lnSpc>
              <a:buNone/>
            </a:pPr>
            <a:r>
              <a:rPr lang="en-US" sz="2000" b="1" dirty="0">
                <a:solidFill>
                  <a:srgbClr val="1F2430"/>
                </a:solidFill>
                <a:latin typeface="Arial" pitchFamily="34" charset="0"/>
                <a:ea typeface="Arial" pitchFamily="34" charset="-122"/>
                <a:cs typeface="Arial" pitchFamily="34" charset="-120"/>
              </a:rPr>
              <a:t>2.230 SMS</a:t>
            </a:r>
            <a:endParaRPr lang="en-US" sz="2000" dirty="0"/>
          </a:p>
        </p:txBody>
      </p:sp>
      <p:sp>
        <p:nvSpPr>
          <p:cNvPr id="21" name="Text 19"/>
          <p:cNvSpPr txBox="1"/>
          <p:nvPr/>
        </p:nvSpPr>
        <p:spPr>
          <a:xfrm>
            <a:off x="7202847" y="3246120"/>
            <a:ext cx="4208865" cy="685800"/>
          </a:xfrm>
          <a:prstGeom prst="rect">
            <a:avLst/>
          </a:prstGeom>
          <a:noFill/>
          <a:ln/>
        </p:spPr>
        <p:txBody>
          <a:bodyPr wrap="square" lIns="0" tIns="0" rIns="0" bIns="0" rtlCol="0" anchor="t"/>
          <a:lstStyle/>
          <a:p>
            <a:pPr indent="0" marL="0">
              <a:lnSpc>
                <a:spcPct val="100000"/>
              </a:lnSpc>
              <a:buNone/>
            </a:pPr>
            <a:r>
              <a:rPr lang="en-US" sz="1300" dirty="0">
                <a:solidFill>
                  <a:srgbClr val="5A6274"/>
                </a:solidFill>
                <a:latin typeface="Arial" pitchFamily="34" charset="0"/>
                <a:ea typeface="Arial" pitchFamily="34" charset="-122"/>
                <a:cs typeface="Arial" pitchFamily="34" charset="-120"/>
              </a:rPr>
              <a:t>Todo spam llega ofuscado. Acá se mide quién se recupera.</a:t>
            </a:r>
            <a:endParaRPr lang="en-US" sz="1300" dirty="0"/>
          </a:p>
        </p:txBody>
      </p:sp>
      <p:sp>
        <p:nvSpPr>
          <p:cNvPr id="22" name="Shape 20"/>
          <p:cNvSpPr/>
          <p:nvPr/>
        </p:nvSpPr>
        <p:spPr>
          <a:xfrm>
            <a:off x="548640" y="4160520"/>
            <a:ext cx="11091672" cy="0"/>
          </a:xfrm>
          <a:prstGeom prst="line">
            <a:avLst/>
          </a:prstGeom>
          <a:noFill/>
          <a:ln w="9525">
            <a:solidFill>
              <a:srgbClr val="D9D6CE"/>
            </a:solidFill>
            <a:prstDash val="solid"/>
          </a:ln>
        </p:spPr>
      </p:sp>
      <p:sp>
        <p:nvSpPr>
          <p:cNvPr id="23" name="Text 21"/>
          <p:cNvSpPr txBox="1"/>
          <p:nvPr/>
        </p:nvSpPr>
        <p:spPr>
          <a:xfrm>
            <a:off x="548640" y="4343400"/>
            <a:ext cx="5486400" cy="228600"/>
          </a:xfrm>
          <a:prstGeom prst="rect">
            <a:avLst/>
          </a:prstGeom>
          <a:noFill/>
          <a:ln/>
        </p:spPr>
        <p:txBody>
          <a:bodyPr wrap="square" lIns="0" tIns="0" rIns="0" bIns="0" rtlCol="0" anchor="t"/>
          <a:lstStyle/>
          <a:p>
            <a:pPr indent="0" marL="0">
              <a:lnSpc>
                <a:spcPct val="100000"/>
              </a:lnSpc>
              <a:buNone/>
            </a:pPr>
            <a:r>
              <a:rPr lang="en-US" sz="1000" b="1" spc="100" kern="0" dirty="0">
                <a:solidFill>
                  <a:srgbClr val="5A6274"/>
                </a:solidFill>
                <a:latin typeface="Arial" pitchFamily="34" charset="0"/>
                <a:ea typeface="Arial" pitchFamily="34" charset="-122"/>
                <a:cs typeface="Arial" pitchFamily="34" charset="-120"/>
              </a:rPr>
              <a:t>QUÉ MEDIMOS</a:t>
            </a:r>
            <a:endParaRPr lang="en-US" sz="1000" dirty="0"/>
          </a:p>
        </p:txBody>
      </p:sp>
      <p:sp>
        <p:nvSpPr>
          <p:cNvPr id="24" name="Text 22"/>
          <p:cNvSpPr txBox="1"/>
          <p:nvPr/>
        </p:nvSpPr>
        <p:spPr>
          <a:xfrm>
            <a:off x="548640" y="4663440"/>
            <a:ext cx="6766560" cy="1463040"/>
          </a:xfrm>
          <a:prstGeom prst="rect">
            <a:avLst/>
          </a:prstGeom>
          <a:noFill/>
          <a:ln/>
        </p:spPr>
        <p:txBody>
          <a:bodyPr wrap="square" lIns="0" tIns="0" rIns="0" bIns="0" rtlCol="0" anchor="t"/>
          <a:lstStyle/>
          <a:p>
            <a:pPr indent="0" marL="0">
              <a:lnSpc>
                <a:spcPct val="115000"/>
              </a:lnSpc>
              <a:buNone/>
            </a:pPr>
            <a:r>
              <a:rPr lang="en-US" sz="1500" b="1" dirty="0">
                <a:solidFill>
                  <a:srgbClr val="1F2430"/>
                </a:solidFill>
                <a:latin typeface="Arial" pitchFamily="34" charset="0"/>
                <a:ea typeface="Arial" pitchFamily="34" charset="-122"/>
                <a:cs typeface="Arial" pitchFamily="34" charset="-120"/>
              </a:rPr>
              <a:t>Spam atrapado (SC): </a:t>
            </a:r>
            <a:pPr indent="0" marL="0">
              <a:lnSpc>
                <a:spcPct val="115000"/>
              </a:lnSpc>
              <a:buNone/>
            </a:pPr>
            <a:r>
              <a:rPr lang="en-US" sz="1500" dirty="0">
                <a:solidFill>
                  <a:srgbClr val="1F2430"/>
                </a:solidFill>
                <a:latin typeface="Arial" pitchFamily="34" charset="0"/>
                <a:ea typeface="Arial" pitchFamily="34" charset="-122"/>
                <a:cs typeface="Arial" pitchFamily="34" charset="-120"/>
              </a:rPr>
              <a:t>qué parte del spam se detecta</a:t>
            </a:r>
            <a:endParaRPr lang="en-US" sz="1500" dirty="0"/>
          </a:p>
          <a:p>
            <a:pPr indent="0" marL="0">
              <a:lnSpc>
                <a:spcPct val="115000"/>
              </a:lnSpc>
              <a:buNone/>
            </a:pPr>
            <a:r>
              <a:rPr lang="en-US" sz="1500" b="1" dirty="0">
                <a:solidFill>
                  <a:srgbClr val="1F2430"/>
                </a:solidFill>
                <a:latin typeface="Arial" pitchFamily="34" charset="0"/>
                <a:ea typeface="Arial" pitchFamily="34" charset="-122"/>
                <a:cs typeface="Arial" pitchFamily="34" charset="-120"/>
              </a:rPr>
              <a:t>Legítimo bloqueado (BH): </a:t>
            </a:r>
            <a:pPr indent="0" marL="0">
              <a:lnSpc>
                <a:spcPct val="115000"/>
              </a:lnSpc>
              <a:buNone/>
            </a:pPr>
            <a:r>
              <a:rPr lang="en-US" sz="1500" dirty="0">
                <a:solidFill>
                  <a:srgbClr val="1F2430"/>
                </a:solidFill>
                <a:latin typeface="Arial" pitchFamily="34" charset="0"/>
                <a:ea typeface="Arial" pitchFamily="34" charset="-122"/>
                <a:cs typeface="Arial" pitchFamily="34" charset="-120"/>
              </a:rPr>
              <a:t>qué parte del correo bueno se pierde</a:t>
            </a:r>
            <a:endParaRPr lang="en-US" sz="1500" dirty="0"/>
          </a:p>
          <a:p>
            <a:pPr indent="0" marL="0">
              <a:lnSpc>
                <a:spcPct val="115000"/>
              </a:lnSpc>
              <a:buNone/>
            </a:pPr>
            <a:r>
              <a:rPr lang="en-US" sz="1500" b="1" dirty="0">
                <a:solidFill>
                  <a:srgbClr val="1F2430"/>
                </a:solidFill>
                <a:latin typeface="Arial" pitchFamily="34" charset="0"/>
                <a:ea typeface="Arial" pitchFamily="34" charset="-122"/>
                <a:cs typeface="Arial" pitchFamily="34" charset="-120"/>
              </a:rPr>
              <a:t>MCC: </a:t>
            </a:r>
            <a:pPr indent="0" marL="0">
              <a:lnSpc>
                <a:spcPct val="115000"/>
              </a:lnSpc>
              <a:buNone/>
            </a:pPr>
            <a:r>
              <a:rPr lang="en-US" sz="1500" dirty="0">
                <a:solidFill>
                  <a:srgbClr val="1F2430"/>
                </a:solidFill>
                <a:latin typeface="Arial" pitchFamily="34" charset="0"/>
                <a:ea typeface="Arial" pitchFamily="34" charset="-122"/>
                <a:cs typeface="Arial" pitchFamily="34" charset="-120"/>
              </a:rPr>
              <a:t>un resumen robusto al desbalance</a:t>
            </a:r>
            <a:endParaRPr lang="en-US" sz="1500" dirty="0"/>
          </a:p>
          <a:p>
            <a:pPr indent="0" marL="0">
              <a:lnSpc>
                <a:spcPct val="115000"/>
              </a:lnSpc>
              <a:buNone/>
            </a:pPr>
            <a:r>
              <a:rPr lang="en-US" sz="1500" b="1" dirty="0">
                <a:solidFill>
                  <a:srgbClr val="1F2430"/>
                </a:solidFill>
                <a:latin typeface="Arial" pitchFamily="34" charset="0"/>
                <a:ea typeface="Arial" pitchFamily="34" charset="-122"/>
                <a:cs typeface="Arial" pitchFamily="34" charset="-120"/>
              </a:rPr>
              <a:t>Errores en la mitad atacada: </a:t>
            </a:r>
            <a:pPr indent="0" marL="0">
              <a:lnSpc>
                <a:spcPct val="115000"/>
              </a:lnSpc>
              <a:buNone/>
            </a:pPr>
            <a:r>
              <a:rPr lang="en-US" sz="1500" dirty="0">
                <a:solidFill>
                  <a:srgbClr val="1F2430"/>
                </a:solidFill>
                <a:latin typeface="Arial" pitchFamily="34" charset="0"/>
                <a:ea typeface="Arial" pitchFamily="34" charset="-122"/>
                <a:cs typeface="Arial" pitchFamily="34" charset="-120"/>
              </a:rPr>
              <a:t>la cifra que comparamos</a:t>
            </a:r>
            <a:endParaRPr lang="en-US" sz="1500" dirty="0"/>
          </a:p>
        </p:txBody>
      </p:sp>
      <p:sp>
        <p:nvSpPr>
          <p:cNvPr id="25" name="Text 23"/>
          <p:cNvSpPr txBox="1"/>
          <p:nvPr/>
        </p:nvSpPr>
        <p:spPr>
          <a:xfrm>
            <a:off x="8138160" y="4343400"/>
            <a:ext cx="3474720" cy="822960"/>
          </a:xfrm>
          <a:prstGeom prst="rect">
            <a:avLst/>
          </a:prstGeom>
          <a:noFill/>
          <a:ln/>
        </p:spPr>
        <p:txBody>
          <a:bodyPr wrap="square" lIns="0" tIns="0" rIns="0" bIns="0" rtlCol="0" anchor="t"/>
          <a:lstStyle/>
          <a:p>
            <a:pPr indent="0" marL="0">
              <a:lnSpc>
                <a:spcPct val="100000"/>
              </a:lnSpc>
              <a:buNone/>
            </a:pPr>
            <a:r>
              <a:rPr lang="en-US" sz="5400" b="1" dirty="0">
                <a:solidFill>
                  <a:srgbClr val="1F2430"/>
                </a:solidFill>
                <a:latin typeface="Arial" pitchFamily="34" charset="0"/>
                <a:ea typeface="Arial" pitchFamily="34" charset="-122"/>
                <a:cs typeface="Arial" pitchFamily="34" charset="-120"/>
              </a:rPr>
              <a:t>87%</a:t>
            </a:r>
            <a:endParaRPr lang="en-US" sz="5400" dirty="0"/>
          </a:p>
        </p:txBody>
      </p:sp>
      <p:sp>
        <p:nvSpPr>
          <p:cNvPr id="26" name="Text 24"/>
          <p:cNvSpPr txBox="1"/>
          <p:nvPr/>
        </p:nvSpPr>
        <p:spPr>
          <a:xfrm>
            <a:off x="8138160" y="5239512"/>
            <a:ext cx="3474720" cy="685800"/>
          </a:xfrm>
          <a:prstGeom prst="rect">
            <a:avLst/>
          </a:prstGeom>
          <a:noFill/>
          <a:ln/>
        </p:spPr>
        <p:txBody>
          <a:bodyPr wrap="square" lIns="0" tIns="0" rIns="0" bIns="0" rtlCol="0" anchor="t"/>
          <a:lstStyle/>
          <a:p>
            <a:pPr indent="0" marL="0">
              <a:lnSpc>
                <a:spcPct val="100000"/>
              </a:lnSpc>
              <a:buNone/>
            </a:pPr>
            <a:r>
              <a:rPr lang="en-US" sz="1500" dirty="0">
                <a:solidFill>
                  <a:srgbClr val="1F2430"/>
                </a:solidFill>
                <a:latin typeface="Arial" pitchFamily="34" charset="0"/>
                <a:ea typeface="Arial" pitchFamily="34" charset="-122"/>
                <a:cs typeface="Arial" pitchFamily="34" charset="-120"/>
              </a:rPr>
              <a:t>de acierto sin marcar nada como spam: por eso no usamos accuracy.</a:t>
            </a:r>
            <a:endParaRPr lang="en-US" sz="1500" dirty="0"/>
          </a:p>
        </p:txBody>
      </p:sp>
      <p:sp>
        <p:nvSpPr>
          <p:cNvPr id="27" name="Text 25"/>
          <p:cNvSpPr txBox="1"/>
          <p:nvPr/>
        </p:nvSpPr>
        <p:spPr>
          <a:xfrm>
            <a:off x="548640" y="6373368"/>
            <a:ext cx="10241280" cy="274320"/>
          </a:xfrm>
          <a:prstGeom prst="rect">
            <a:avLst/>
          </a:prstGeom>
          <a:noFill/>
          <a:ln/>
        </p:spPr>
        <p:txBody>
          <a:bodyPr wrap="square" lIns="0" tIns="0" rIns="0" bIns="0" rtlCol="0" anchor="t"/>
          <a:lstStyle/>
          <a:p>
            <a:pPr indent="0" marL="0">
              <a:lnSpc>
                <a:spcPct val="100000"/>
              </a:lnSpc>
              <a:buNone/>
            </a:pPr>
            <a:r>
              <a:rPr lang="en-US" sz="1000" dirty="0">
                <a:solidFill>
                  <a:srgbClr val="9AA1AE"/>
                </a:solidFill>
                <a:latin typeface="Arial" pitchFamily="34" charset="0"/>
                <a:ea typeface="Arial" pitchFamily="34" charset="-122"/>
                <a:cs typeface="Arial" pitchFamily="34" charset="-120"/>
              </a:rPr>
              <a:t>SMS Spam Collection (Almeida et al., 2011): 5.574 SMS, 13,4% spam. 20 permutaciones del orden: media ± desvío.</a:t>
            </a:r>
            <a:endParaRPr lang="en-US" sz="1000" dirty="0"/>
          </a:p>
        </p:txBody>
      </p:sp>
      <p:sp>
        <p:nvSpPr>
          <p:cNvPr id="25" name="Slide Number Placeholder 0"/>
          <p:cNvSpPr>
            <a:spLocks noGrp="1"/>
          </p:cNvSpPr>
          <p:nvPr>
            <p:ph type="sldNum" sz="quarter" idx="4294967295"/>
          </p:nvPr>
        </p:nvSpPr>
        <p:spPr>
          <a:xfrm>
            <a:off x="11091672" y="63733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1AE"/>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411480"/>
            <a:ext cx="7315200" cy="228600"/>
          </a:xfrm>
          <a:prstGeom prst="rect">
            <a:avLst/>
          </a:prstGeom>
          <a:noFill/>
          <a:ln/>
        </p:spPr>
        <p:txBody>
          <a:bodyPr wrap="square" lIns="0" tIns="0" rIns="0" bIns="0" rtlCol="0" anchor="t"/>
          <a:lstStyle/>
          <a:p>
            <a:pPr indent="0" marL="0">
              <a:lnSpc>
                <a:spcPct val="100000"/>
              </a:lnSpc>
              <a:buNone/>
            </a:pPr>
            <a:r>
              <a:rPr lang="en-US" sz="1100" b="1" spc="200" kern="0" dirty="0">
                <a:solidFill>
                  <a:srgbClr val="5A6274"/>
                </a:solidFill>
                <a:latin typeface="Arial" pitchFamily="34" charset="0"/>
                <a:ea typeface="Arial" pitchFamily="34" charset="-122"/>
                <a:cs typeface="Arial" pitchFamily="34" charset="-120"/>
              </a:rPr>
              <a:t>MÉTODO</a:t>
            </a:r>
            <a:endParaRPr lang="en-US" sz="1100" dirty="0"/>
          </a:p>
        </p:txBody>
      </p:sp>
      <p:sp>
        <p:nvSpPr>
          <p:cNvPr id="3" name="Text 0"/>
          <p:cNvSpPr/>
          <p:nvPr>
            <p:ph idx="100" type="title" hasCustomPrompt="1"/>
          </p:nvPr>
        </p:nvSpPr>
        <p:spPr>
          <a:xfrm>
            <a:off x="548640" y="731520"/>
            <a:ext cx="10424160" cy="566928"/>
          </a:xfrm>
          <a:prstGeom prst="rect">
            <a:avLst/>
          </a:prstGeom>
          <a:noFill/>
          <a:ln/>
        </p:spPr>
        <p:txBody>
          <a:bodyPr wrap="square" lIns="0" tIns="0" rIns="0" bIns="0" rtlCol="0" anchor="t"/>
          <a:lstStyle/>
          <a:p>
            <a:pPr indent="0" marL="0">
              <a:buNone/>
            </a:pPr>
            <a:r>
              <a:rPr lang="en-US" sz="3000" dirty="0">
                <a:solidFill>
                  <a:srgbClr val="1F2430"/>
                </a:solidFill>
                <a:latin typeface="Georgia" pitchFamily="34" charset="0"/>
                <a:ea typeface="Georgia" pitchFamily="34" charset="-122"/>
                <a:cs typeface="Georgia" pitchFamily="34" charset="-120"/>
              </a:rPr>
              <a:t>Hedge en un minuto</a:t>
            </a:r>
            <a:endParaRPr lang="en-US" sz="3000" dirty="0"/>
          </a:p>
        </p:txBody>
      </p:sp>
      <p:sp>
        <p:nvSpPr>
          <p:cNvPr id="4" name="Text 2"/>
          <p:cNvSpPr txBox="1"/>
          <p:nvPr/>
        </p:nvSpPr>
        <p:spPr>
          <a:xfrm>
            <a:off x="9235440" y="429768"/>
            <a:ext cx="1554480" cy="201168"/>
          </a:xfrm>
          <a:prstGeom prst="rect">
            <a:avLst/>
          </a:prstGeom>
          <a:noFill/>
          <a:ln/>
        </p:spPr>
        <p:txBody>
          <a:bodyPr wrap="square" lIns="0" tIns="0" rIns="0" bIns="0" rtlCol="0" anchor="t"/>
          <a:lstStyle/>
          <a:p>
            <a:pPr algn="r" indent="0" marL="0">
              <a:lnSpc>
                <a:spcPct val="100000"/>
              </a:lnSpc>
              <a:buNone/>
            </a:pPr>
            <a:r>
              <a:rPr lang="en-US" sz="900" b="1" spc="200" kern="0" dirty="0">
                <a:solidFill>
                  <a:srgbClr val="9AA1AE"/>
                </a:solidFill>
                <a:latin typeface="Arial" pitchFamily="34" charset="0"/>
                <a:ea typeface="Arial" pitchFamily="34" charset="-122"/>
                <a:cs typeface="Arial" pitchFamily="34" charset="-120"/>
              </a:rPr>
              <a:t>HALLAZGOS</a:t>
            </a:r>
            <a:endParaRPr lang="en-US" sz="900" dirty="0"/>
          </a:p>
        </p:txBody>
      </p:sp>
      <p:sp>
        <p:nvSpPr>
          <p:cNvPr id="5" name="hallazgo 1"/>
          <p:cNvSpPr/>
          <p:nvPr/>
        </p:nvSpPr>
        <p:spPr>
          <a:xfrm>
            <a:off x="10899648" y="457200"/>
            <a:ext cx="137160" cy="137160"/>
          </a:xfrm>
          <a:prstGeom prst="ellipse">
            <a:avLst/>
          </a:prstGeom>
          <a:ln w="15875">
            <a:solidFill>
              <a:srgbClr val="9AA1AE"/>
            </a:solidFill>
            <a:prstDash val="solid"/>
          </a:ln>
        </p:spPr>
      </p:sp>
      <p:sp>
        <p:nvSpPr>
          <p:cNvPr id="6" name="hallazgo 2"/>
          <p:cNvSpPr/>
          <p:nvPr/>
        </p:nvSpPr>
        <p:spPr>
          <a:xfrm>
            <a:off x="11100816" y="457200"/>
            <a:ext cx="137160" cy="137160"/>
          </a:xfrm>
          <a:prstGeom prst="ellipse">
            <a:avLst/>
          </a:prstGeom>
          <a:ln w="15875">
            <a:solidFill>
              <a:srgbClr val="9AA1AE"/>
            </a:solidFill>
            <a:prstDash val="solid"/>
          </a:ln>
        </p:spPr>
      </p:sp>
      <p:sp>
        <p:nvSpPr>
          <p:cNvPr id="7" name="hallazgo 3"/>
          <p:cNvSpPr/>
          <p:nvPr/>
        </p:nvSpPr>
        <p:spPr>
          <a:xfrm>
            <a:off x="11301984" y="457200"/>
            <a:ext cx="137160" cy="137160"/>
          </a:xfrm>
          <a:prstGeom prst="ellipse">
            <a:avLst/>
          </a:prstGeom>
          <a:ln w="15875">
            <a:solidFill>
              <a:srgbClr val="9AA1AE"/>
            </a:solidFill>
            <a:prstDash val="solid"/>
          </a:ln>
        </p:spPr>
      </p:sp>
      <p:sp>
        <p:nvSpPr>
          <p:cNvPr id="8" name="hallazgo 4"/>
          <p:cNvSpPr/>
          <p:nvPr/>
        </p:nvSpPr>
        <p:spPr>
          <a:xfrm>
            <a:off x="11503152" y="457200"/>
            <a:ext cx="137160" cy="137160"/>
          </a:xfrm>
          <a:prstGeom prst="ellipse">
            <a:avLst/>
          </a:prstGeom>
          <a:ln w="15875">
            <a:solidFill>
              <a:srgbClr val="9AA1AE"/>
            </a:solidFill>
            <a:prstDash val="solid"/>
          </a:ln>
        </p:spPr>
      </p:sp>
      <p:sp>
        <p:nvSpPr>
          <p:cNvPr id="9" name="Shape 7"/>
          <p:cNvSpPr/>
          <p:nvPr/>
        </p:nvSpPr>
        <p:spPr>
          <a:xfrm>
            <a:off x="548640" y="1600200"/>
            <a:ext cx="5943600" cy="0"/>
          </a:xfrm>
          <a:prstGeom prst="line">
            <a:avLst/>
          </a:prstGeom>
          <a:noFill/>
          <a:ln w="9525">
            <a:solidFill>
              <a:srgbClr val="D9D6CE"/>
            </a:solidFill>
            <a:prstDash val="solid"/>
          </a:ln>
        </p:spPr>
      </p:sp>
      <p:sp>
        <p:nvSpPr>
          <p:cNvPr id="10" name="Text 8"/>
          <p:cNvSpPr txBox="1"/>
          <p:nvPr/>
        </p:nvSpPr>
        <p:spPr>
          <a:xfrm>
            <a:off x="548640" y="1783080"/>
            <a:ext cx="5943600" cy="685800"/>
          </a:xfrm>
          <a:prstGeom prst="rect">
            <a:avLst/>
          </a:prstGeom>
          <a:noFill/>
          <a:ln/>
        </p:spPr>
        <p:txBody>
          <a:bodyPr wrap="square" lIns="0" tIns="0" rIns="0" bIns="0" rtlCol="0" anchor="t"/>
          <a:lstStyle/>
          <a:p>
            <a:pPr indent="0" marL="0">
              <a:lnSpc>
                <a:spcPct val="100000"/>
              </a:lnSpc>
              <a:buNone/>
            </a:pPr>
            <a:r>
              <a:rPr lang="en-US" sz="3200" dirty="0">
                <a:solidFill>
                  <a:srgbClr val="1F2430"/>
                </a:solidFill>
                <a:latin typeface="Georgia" pitchFamily="34" charset="0"/>
                <a:ea typeface="Georgia" pitchFamily="34" charset="-122"/>
                <a:cs typeface="Georgia" pitchFamily="34" charset="-120"/>
              </a:rPr>
              <a:t>peso</a:t>
            </a:r>
            <a:pPr indent="0" marL="0">
              <a:lnSpc>
                <a:spcPct val="100000"/>
              </a:lnSpc>
              <a:buNone/>
            </a:pPr>
            <a:r>
              <a:rPr lang="en-US" sz="3200" baseline="-40000" dirty="0">
                <a:solidFill>
                  <a:srgbClr val="1F2430"/>
                </a:solidFill>
                <a:latin typeface="Georgia" pitchFamily="34" charset="0"/>
                <a:ea typeface="Georgia" pitchFamily="34" charset="-122"/>
                <a:cs typeface="Georgia" pitchFamily="34" charset="-120"/>
              </a:rPr>
              <a:t>i</a:t>
            </a:r>
            <a:pPr indent="0" marL="0">
              <a:lnSpc>
                <a:spcPct val="100000"/>
              </a:lnSpc>
              <a:buNone/>
            </a:pPr>
            <a:r>
              <a:rPr lang="en-US" sz="3200" dirty="0">
                <a:solidFill>
                  <a:srgbClr val="1F2430"/>
                </a:solidFill>
                <a:latin typeface="Georgia" pitchFamily="34" charset="0"/>
                <a:ea typeface="Georgia" pitchFamily="34" charset="-122"/>
                <a:cs typeface="Georgia" pitchFamily="34" charset="-120"/>
              </a:rPr>
              <a:t>  ←  peso</a:t>
            </a:r>
            <a:pPr indent="0" marL="0">
              <a:lnSpc>
                <a:spcPct val="100000"/>
              </a:lnSpc>
              <a:buNone/>
            </a:pPr>
            <a:r>
              <a:rPr lang="en-US" sz="3200" baseline="-40000" dirty="0">
                <a:solidFill>
                  <a:srgbClr val="1F2430"/>
                </a:solidFill>
                <a:latin typeface="Georgia" pitchFamily="34" charset="0"/>
                <a:ea typeface="Georgia" pitchFamily="34" charset="-122"/>
                <a:cs typeface="Georgia" pitchFamily="34" charset="-120"/>
              </a:rPr>
              <a:t>i</a:t>
            </a:r>
            <a:pPr indent="0" marL="0">
              <a:lnSpc>
                <a:spcPct val="100000"/>
              </a:lnSpc>
              <a:buNone/>
            </a:pPr>
            <a:r>
              <a:rPr lang="en-US" sz="3200" dirty="0">
                <a:solidFill>
                  <a:srgbClr val="1F2430"/>
                </a:solidFill>
                <a:latin typeface="Georgia" pitchFamily="34" charset="0"/>
                <a:ea typeface="Georgia" pitchFamily="34" charset="-122"/>
                <a:cs typeface="Georgia" pitchFamily="34" charset="-120"/>
              </a:rPr>
              <a:t> · e</a:t>
            </a:r>
            <a:pPr indent="0" marL="0">
              <a:lnSpc>
                <a:spcPct val="100000"/>
              </a:lnSpc>
              <a:buNone/>
            </a:pPr>
            <a:r>
              <a:rPr lang="en-US" sz="3200" baseline="30000" dirty="0">
                <a:solidFill>
                  <a:srgbClr val="1F2430"/>
                </a:solidFill>
                <a:latin typeface="Georgia" pitchFamily="34" charset="0"/>
                <a:ea typeface="Georgia" pitchFamily="34" charset="-122"/>
                <a:cs typeface="Georgia" pitchFamily="34" charset="-120"/>
              </a:rPr>
              <a:t>−η · error</a:t>
            </a:r>
            <a:endParaRPr lang="en-US" sz="3200" dirty="0"/>
          </a:p>
        </p:txBody>
      </p:sp>
      <p:sp>
        <p:nvSpPr>
          <p:cNvPr id="11" name="Shape 9"/>
          <p:cNvSpPr/>
          <p:nvPr/>
        </p:nvSpPr>
        <p:spPr>
          <a:xfrm>
            <a:off x="548640" y="2651760"/>
            <a:ext cx="5943600" cy="0"/>
          </a:xfrm>
          <a:prstGeom prst="line">
            <a:avLst/>
          </a:prstGeom>
          <a:noFill/>
          <a:ln w="9525">
            <a:solidFill>
              <a:srgbClr val="D9D6CE"/>
            </a:solidFill>
            <a:prstDash val="solid"/>
          </a:ln>
        </p:spPr>
      </p:sp>
      <p:sp>
        <p:nvSpPr>
          <p:cNvPr id="12" name="Text 10"/>
          <p:cNvSpPr txBox="1"/>
          <p:nvPr/>
        </p:nvSpPr>
        <p:spPr>
          <a:xfrm>
            <a:off x="548640" y="2880360"/>
            <a:ext cx="365760" cy="411480"/>
          </a:xfrm>
          <a:prstGeom prst="rect">
            <a:avLst/>
          </a:prstGeom>
          <a:noFill/>
          <a:ln/>
        </p:spPr>
        <p:txBody>
          <a:bodyPr wrap="square" lIns="0" tIns="0" rIns="0" bIns="0" rtlCol="0" anchor="t"/>
          <a:lstStyle/>
          <a:p>
            <a:pPr indent="0" marL="0">
              <a:lnSpc>
                <a:spcPct val="100000"/>
              </a:lnSpc>
              <a:buNone/>
            </a:pPr>
            <a:r>
              <a:rPr lang="en-US" sz="2200" dirty="0">
                <a:solidFill>
                  <a:srgbClr val="2A78D6"/>
                </a:solidFill>
                <a:latin typeface="Georgia" pitchFamily="34" charset="0"/>
                <a:ea typeface="Georgia" pitchFamily="34" charset="-122"/>
                <a:cs typeface="Georgia" pitchFamily="34" charset="-120"/>
              </a:rPr>
              <a:t>1</a:t>
            </a:r>
            <a:endParaRPr lang="en-US" sz="2200" dirty="0"/>
          </a:p>
        </p:txBody>
      </p:sp>
      <p:sp>
        <p:nvSpPr>
          <p:cNvPr id="13" name="Text 11"/>
          <p:cNvSpPr txBox="1"/>
          <p:nvPr/>
        </p:nvSpPr>
        <p:spPr>
          <a:xfrm>
            <a:off x="1005840" y="2926080"/>
            <a:ext cx="5486400" cy="411480"/>
          </a:xfrm>
          <a:prstGeom prst="rect">
            <a:avLst/>
          </a:prstGeom>
          <a:noFill/>
          <a:ln/>
        </p:spPr>
        <p:txBody>
          <a:bodyPr wrap="square" lIns="0" tIns="0" rIns="0" bIns="0" rtlCol="0" anchor="t"/>
          <a:lstStyle/>
          <a:p>
            <a:pPr indent="0" marL="0">
              <a:lnSpc>
                <a:spcPct val="100000"/>
              </a:lnSpc>
              <a:buNone/>
            </a:pPr>
            <a:r>
              <a:rPr lang="en-US" sz="1600" dirty="0">
                <a:solidFill>
                  <a:srgbClr val="1F2430"/>
                </a:solidFill>
                <a:latin typeface="Arial" pitchFamily="34" charset="0"/>
                <a:ea typeface="Arial" pitchFamily="34" charset="-122"/>
                <a:cs typeface="Arial" pitchFamily="34" charset="-120"/>
              </a:rPr>
              <a:t>Los cinco expertos arrancan con el mismo peso: 1/5.</a:t>
            </a:r>
            <a:endParaRPr lang="en-US" sz="1600" dirty="0"/>
          </a:p>
        </p:txBody>
      </p:sp>
      <p:sp>
        <p:nvSpPr>
          <p:cNvPr id="14" name="Text 12"/>
          <p:cNvSpPr txBox="1"/>
          <p:nvPr/>
        </p:nvSpPr>
        <p:spPr>
          <a:xfrm>
            <a:off x="548640" y="3429000"/>
            <a:ext cx="365760" cy="411480"/>
          </a:xfrm>
          <a:prstGeom prst="rect">
            <a:avLst/>
          </a:prstGeom>
          <a:noFill/>
          <a:ln/>
        </p:spPr>
        <p:txBody>
          <a:bodyPr wrap="square" lIns="0" tIns="0" rIns="0" bIns="0" rtlCol="0" anchor="t"/>
          <a:lstStyle/>
          <a:p>
            <a:pPr indent="0" marL="0">
              <a:lnSpc>
                <a:spcPct val="100000"/>
              </a:lnSpc>
              <a:buNone/>
            </a:pPr>
            <a:r>
              <a:rPr lang="en-US" sz="2200" dirty="0">
                <a:solidFill>
                  <a:srgbClr val="2A78D6"/>
                </a:solidFill>
                <a:latin typeface="Georgia" pitchFamily="34" charset="0"/>
                <a:ea typeface="Georgia" pitchFamily="34" charset="-122"/>
                <a:cs typeface="Georgia" pitchFamily="34" charset="-120"/>
              </a:rPr>
              <a:t>2</a:t>
            </a:r>
            <a:endParaRPr lang="en-US" sz="2200" dirty="0"/>
          </a:p>
        </p:txBody>
      </p:sp>
      <p:sp>
        <p:nvSpPr>
          <p:cNvPr id="15" name="Text 13"/>
          <p:cNvSpPr txBox="1"/>
          <p:nvPr/>
        </p:nvSpPr>
        <p:spPr>
          <a:xfrm>
            <a:off x="1005840" y="3474720"/>
            <a:ext cx="5486400" cy="411480"/>
          </a:xfrm>
          <a:prstGeom prst="rect">
            <a:avLst/>
          </a:prstGeom>
          <a:noFill/>
          <a:ln/>
        </p:spPr>
        <p:txBody>
          <a:bodyPr wrap="square" lIns="0" tIns="0" rIns="0" bIns="0" rtlCol="0" anchor="t"/>
          <a:lstStyle/>
          <a:p>
            <a:pPr indent="0" marL="0">
              <a:lnSpc>
                <a:spcPct val="100000"/>
              </a:lnSpc>
              <a:buNone/>
            </a:pPr>
            <a:r>
              <a:rPr lang="en-US" sz="1600" dirty="0">
                <a:solidFill>
                  <a:srgbClr val="1F2430"/>
                </a:solidFill>
                <a:latin typeface="Arial" pitchFamily="34" charset="0"/>
                <a:ea typeface="Arial" pitchFamily="34" charset="-122"/>
                <a:cs typeface="Arial" pitchFamily="34" charset="-120"/>
              </a:rPr>
              <a:t>Cada error achica el peso del experto que se equivocó.</a:t>
            </a:r>
            <a:endParaRPr lang="en-US" sz="1600" dirty="0"/>
          </a:p>
        </p:txBody>
      </p:sp>
      <p:sp>
        <p:nvSpPr>
          <p:cNvPr id="16" name="Text 14"/>
          <p:cNvSpPr txBox="1"/>
          <p:nvPr/>
        </p:nvSpPr>
        <p:spPr>
          <a:xfrm>
            <a:off x="548640" y="3977640"/>
            <a:ext cx="365760" cy="411480"/>
          </a:xfrm>
          <a:prstGeom prst="rect">
            <a:avLst/>
          </a:prstGeom>
          <a:noFill/>
          <a:ln/>
        </p:spPr>
        <p:txBody>
          <a:bodyPr wrap="square" lIns="0" tIns="0" rIns="0" bIns="0" rtlCol="0" anchor="t"/>
          <a:lstStyle/>
          <a:p>
            <a:pPr indent="0" marL="0">
              <a:lnSpc>
                <a:spcPct val="100000"/>
              </a:lnSpc>
              <a:buNone/>
            </a:pPr>
            <a:r>
              <a:rPr lang="en-US" sz="2200" dirty="0">
                <a:solidFill>
                  <a:srgbClr val="2A78D6"/>
                </a:solidFill>
                <a:latin typeface="Georgia" pitchFamily="34" charset="0"/>
                <a:ea typeface="Georgia" pitchFamily="34" charset="-122"/>
                <a:cs typeface="Georgia" pitchFamily="34" charset="-120"/>
              </a:rPr>
              <a:t>3</a:t>
            </a:r>
            <a:endParaRPr lang="en-US" sz="2200" dirty="0"/>
          </a:p>
        </p:txBody>
      </p:sp>
      <p:sp>
        <p:nvSpPr>
          <p:cNvPr id="17" name="Text 15"/>
          <p:cNvSpPr txBox="1"/>
          <p:nvPr/>
        </p:nvSpPr>
        <p:spPr>
          <a:xfrm>
            <a:off x="1005840" y="4023360"/>
            <a:ext cx="5486400" cy="411480"/>
          </a:xfrm>
          <a:prstGeom prst="rect">
            <a:avLst/>
          </a:prstGeom>
          <a:noFill/>
          <a:ln/>
        </p:spPr>
        <p:txBody>
          <a:bodyPr wrap="square" lIns="0" tIns="0" rIns="0" bIns="0" rtlCol="0" anchor="t"/>
          <a:lstStyle/>
          <a:p>
            <a:pPr indent="0" marL="0">
              <a:lnSpc>
                <a:spcPct val="100000"/>
              </a:lnSpc>
              <a:buNone/>
            </a:pPr>
            <a:r>
              <a:rPr lang="en-US" sz="1600" dirty="0">
                <a:solidFill>
                  <a:srgbClr val="1F2430"/>
                </a:solidFill>
                <a:latin typeface="Arial" pitchFamily="34" charset="0"/>
                <a:ea typeface="Arial" pitchFamily="34" charset="-122"/>
                <a:cs typeface="Arial" pitchFamily="34" charset="-120"/>
              </a:rPr>
              <a:t>En cada mensaje se sortea un experto según los pesos.</a:t>
            </a:r>
            <a:endParaRPr lang="en-US" sz="1600" dirty="0"/>
          </a:p>
        </p:txBody>
      </p:sp>
      <p:sp>
        <p:nvSpPr>
          <p:cNvPr id="18" name="Text 16"/>
          <p:cNvSpPr txBox="1"/>
          <p:nvPr/>
        </p:nvSpPr>
        <p:spPr>
          <a:xfrm>
            <a:off x="548640" y="4800600"/>
            <a:ext cx="5943600" cy="822960"/>
          </a:xfrm>
          <a:prstGeom prst="rect">
            <a:avLst/>
          </a:prstGeom>
          <a:noFill/>
          <a:ln/>
        </p:spPr>
        <p:txBody>
          <a:bodyPr wrap="square" lIns="0" tIns="0" rIns="0" bIns="0" rtlCol="0" anchor="t"/>
          <a:lstStyle/>
          <a:p>
            <a:pPr indent="0" marL="0">
              <a:lnSpc>
                <a:spcPct val="100000"/>
              </a:lnSpc>
              <a:buNone/>
            </a:pPr>
            <a:r>
              <a:rPr lang="en-US" sz="1500" b="1" dirty="0">
                <a:solidFill>
                  <a:srgbClr val="5A6274"/>
                </a:solidFill>
                <a:latin typeface="Arial" pitchFamily="34" charset="0"/>
                <a:ea typeface="Arial" pitchFamily="34" charset="-122"/>
                <a:cs typeface="Arial" pitchFamily="34" charset="-120"/>
              </a:rPr>
              <a:t>Regret: </a:t>
            </a:r>
            <a:pPr indent="0" marL="0">
              <a:lnSpc>
                <a:spcPct val="100000"/>
              </a:lnSpc>
              <a:buNone/>
            </a:pPr>
            <a:r>
              <a:rPr lang="en-US" sz="1500" dirty="0">
                <a:solidFill>
                  <a:srgbClr val="5A6274"/>
                </a:solidFill>
                <a:latin typeface="Arial" pitchFamily="34" charset="0"/>
                <a:ea typeface="Arial" pitchFamily="34" charset="-122"/>
                <a:cs typeface="Arial" pitchFamily="34" charset="-120"/>
              </a:rPr>
              <a:t>cuántos errores de más comete Hedge frente al mejor experto fijo. La teoría garantiza que crece como √T, no como T.</a:t>
            </a:r>
            <a:endParaRPr lang="en-US" sz="1500" dirty="0"/>
          </a:p>
        </p:txBody>
      </p:sp>
      <p:sp>
        <p:nvSpPr>
          <p:cNvPr id="19" name="Text 17"/>
          <p:cNvSpPr txBox="1"/>
          <p:nvPr/>
        </p:nvSpPr>
        <p:spPr>
          <a:xfrm>
            <a:off x="7269480" y="1691640"/>
            <a:ext cx="4389120" cy="228600"/>
          </a:xfrm>
          <a:prstGeom prst="rect">
            <a:avLst/>
          </a:prstGeom>
          <a:noFill/>
          <a:ln/>
        </p:spPr>
        <p:txBody>
          <a:bodyPr wrap="square" lIns="0" tIns="0" rIns="0" bIns="0" rtlCol="0" anchor="t"/>
          <a:lstStyle/>
          <a:p>
            <a:pPr indent="0" marL="0">
              <a:lnSpc>
                <a:spcPct val="100000"/>
              </a:lnSpc>
              <a:buNone/>
            </a:pPr>
            <a:r>
              <a:rPr lang="en-US" sz="1000" b="1" spc="100" kern="0" dirty="0">
                <a:solidFill>
                  <a:srgbClr val="5A6274"/>
                </a:solidFill>
                <a:latin typeface="Arial" pitchFamily="34" charset="0"/>
                <a:ea typeface="Arial" pitchFamily="34" charset="-122"/>
                <a:cs typeface="Arial" pitchFamily="34" charset="-120"/>
              </a:rPr>
              <a:t>LOS CINCO EXPERTOS</a:t>
            </a:r>
            <a:endParaRPr lang="en-US" sz="1000" dirty="0"/>
          </a:p>
        </p:txBody>
      </p:sp>
      <p:sp>
        <p:nvSpPr>
          <p:cNvPr id="20" name="punto Naive Bayes"/>
          <p:cNvSpPr/>
          <p:nvPr/>
        </p:nvSpPr>
        <p:spPr>
          <a:xfrm>
            <a:off x="7269480" y="2157984"/>
            <a:ext cx="219456" cy="219456"/>
          </a:xfrm>
          <a:prstGeom prst="ellipse">
            <a:avLst/>
          </a:prstGeom>
          <a:solidFill>
            <a:srgbClr val="EB6834"/>
          </a:solidFill>
          <a:ln/>
        </p:spPr>
      </p:sp>
      <p:sp>
        <p:nvSpPr>
          <p:cNvPr id="21" name="Text 19"/>
          <p:cNvSpPr txBox="1"/>
          <p:nvPr/>
        </p:nvSpPr>
        <p:spPr>
          <a:xfrm>
            <a:off x="7653528" y="2103120"/>
            <a:ext cx="4005072" cy="292608"/>
          </a:xfrm>
          <a:prstGeom prst="rect">
            <a:avLst/>
          </a:prstGeom>
          <a:noFill/>
          <a:ln/>
        </p:spPr>
        <p:txBody>
          <a:bodyPr wrap="square" lIns="0" tIns="0" rIns="0" bIns="0" rtlCol="0" anchor="t"/>
          <a:lstStyle/>
          <a:p>
            <a:pPr indent="0" marL="0">
              <a:lnSpc>
                <a:spcPct val="100000"/>
              </a:lnSpc>
              <a:buNone/>
            </a:pPr>
            <a:r>
              <a:rPr lang="en-US" sz="1600" b="1" dirty="0">
                <a:solidFill>
                  <a:srgbClr val="1F2430"/>
                </a:solidFill>
                <a:latin typeface="Arial" pitchFamily="34" charset="0"/>
                <a:ea typeface="Arial" pitchFamily="34" charset="-122"/>
                <a:cs typeface="Arial" pitchFamily="34" charset="-120"/>
              </a:rPr>
              <a:t>Naive Bayes</a:t>
            </a:r>
            <a:endParaRPr lang="en-US" sz="1600" dirty="0"/>
          </a:p>
        </p:txBody>
      </p:sp>
      <p:sp>
        <p:nvSpPr>
          <p:cNvPr id="22" name="Text 20"/>
          <p:cNvSpPr txBox="1"/>
          <p:nvPr/>
        </p:nvSpPr>
        <p:spPr>
          <a:xfrm>
            <a:off x="7653528" y="2432304"/>
            <a:ext cx="4005072" cy="457200"/>
          </a:xfrm>
          <a:prstGeom prst="rect">
            <a:avLst/>
          </a:prstGeom>
          <a:noFill/>
          <a:ln/>
        </p:spPr>
        <p:txBody>
          <a:bodyPr wrap="square" lIns="0" tIns="0" rIns="0" bIns="0" rtlCol="0" anchor="t"/>
          <a:lstStyle/>
          <a:p>
            <a:pPr indent="0" marL="0">
              <a:lnSpc>
                <a:spcPct val="100000"/>
              </a:lnSpc>
              <a:buNone/>
            </a:pPr>
            <a:r>
              <a:rPr lang="en-US" sz="1300" dirty="0">
                <a:solidFill>
                  <a:srgbClr val="5A6274"/>
                </a:solidFill>
                <a:latin typeface="Arial" pitchFamily="34" charset="0"/>
                <a:ea typeface="Arial" pitchFamily="34" charset="-122"/>
                <a:cs typeface="Arial" pitchFamily="34" charset="-120"/>
              </a:rPr>
              <a:t>léxico; también es el modelo estático</a:t>
            </a:r>
            <a:endParaRPr lang="en-US" sz="1300" dirty="0"/>
          </a:p>
        </p:txBody>
      </p:sp>
      <p:sp>
        <p:nvSpPr>
          <p:cNvPr id="23" name="punto Regresión logística"/>
          <p:cNvSpPr/>
          <p:nvPr/>
        </p:nvSpPr>
        <p:spPr>
          <a:xfrm>
            <a:off x="7269480" y="2935224"/>
            <a:ext cx="219456" cy="219456"/>
          </a:xfrm>
          <a:prstGeom prst="ellipse">
            <a:avLst/>
          </a:prstGeom>
          <a:solidFill>
            <a:srgbClr val="008300"/>
          </a:solidFill>
          <a:ln/>
        </p:spPr>
      </p:sp>
      <p:sp>
        <p:nvSpPr>
          <p:cNvPr id="24" name="Text 22"/>
          <p:cNvSpPr txBox="1"/>
          <p:nvPr/>
        </p:nvSpPr>
        <p:spPr>
          <a:xfrm>
            <a:off x="7653528" y="2880360"/>
            <a:ext cx="4005072" cy="292608"/>
          </a:xfrm>
          <a:prstGeom prst="rect">
            <a:avLst/>
          </a:prstGeom>
          <a:noFill/>
          <a:ln/>
        </p:spPr>
        <p:txBody>
          <a:bodyPr wrap="square" lIns="0" tIns="0" rIns="0" bIns="0" rtlCol="0" anchor="t"/>
          <a:lstStyle/>
          <a:p>
            <a:pPr indent="0" marL="0">
              <a:lnSpc>
                <a:spcPct val="100000"/>
              </a:lnSpc>
              <a:buNone/>
            </a:pPr>
            <a:r>
              <a:rPr lang="en-US" sz="1600" b="1" dirty="0">
                <a:solidFill>
                  <a:srgbClr val="1F2430"/>
                </a:solidFill>
                <a:latin typeface="Arial" pitchFamily="34" charset="0"/>
                <a:ea typeface="Arial" pitchFamily="34" charset="-122"/>
                <a:cs typeface="Arial" pitchFamily="34" charset="-120"/>
              </a:rPr>
              <a:t>Regresión logística</a:t>
            </a:r>
            <a:endParaRPr lang="en-US" sz="1600" dirty="0"/>
          </a:p>
        </p:txBody>
      </p:sp>
      <p:sp>
        <p:nvSpPr>
          <p:cNvPr id="25" name="Text 23"/>
          <p:cNvSpPr txBox="1"/>
          <p:nvPr/>
        </p:nvSpPr>
        <p:spPr>
          <a:xfrm>
            <a:off x="7653528" y="3209544"/>
            <a:ext cx="4005072" cy="457200"/>
          </a:xfrm>
          <a:prstGeom prst="rect">
            <a:avLst/>
          </a:prstGeom>
          <a:noFill/>
          <a:ln/>
        </p:spPr>
        <p:txBody>
          <a:bodyPr wrap="square" lIns="0" tIns="0" rIns="0" bIns="0" rtlCol="0" anchor="t"/>
          <a:lstStyle/>
          <a:p>
            <a:pPr indent="0" marL="0">
              <a:lnSpc>
                <a:spcPct val="100000"/>
              </a:lnSpc>
              <a:buNone/>
            </a:pPr>
            <a:r>
              <a:rPr lang="en-US" sz="1300" dirty="0">
                <a:solidFill>
                  <a:srgbClr val="5A6274"/>
                </a:solidFill>
                <a:latin typeface="Arial" pitchFamily="34" charset="0"/>
                <a:ea typeface="Arial" pitchFamily="34" charset="-122"/>
                <a:cs typeface="Arial" pitchFamily="34" charset="-120"/>
              </a:rPr>
              <a:t>léxica</a:t>
            </a:r>
            <a:endParaRPr lang="en-US" sz="1300" dirty="0"/>
          </a:p>
        </p:txBody>
      </p:sp>
      <p:sp>
        <p:nvSpPr>
          <p:cNvPr id="26" name="punto Árbol de decisión"/>
          <p:cNvSpPr/>
          <p:nvPr/>
        </p:nvSpPr>
        <p:spPr>
          <a:xfrm>
            <a:off x="7269480" y="3712464"/>
            <a:ext cx="219456" cy="219456"/>
          </a:xfrm>
          <a:prstGeom prst="ellipse">
            <a:avLst/>
          </a:prstGeom>
          <a:solidFill>
            <a:srgbClr val="008300"/>
          </a:solidFill>
          <a:ln/>
        </p:spPr>
      </p:sp>
      <p:sp>
        <p:nvSpPr>
          <p:cNvPr id="27" name="Text 25"/>
          <p:cNvSpPr txBox="1"/>
          <p:nvPr/>
        </p:nvSpPr>
        <p:spPr>
          <a:xfrm>
            <a:off x="7653528" y="3657600"/>
            <a:ext cx="4005072" cy="292608"/>
          </a:xfrm>
          <a:prstGeom prst="rect">
            <a:avLst/>
          </a:prstGeom>
          <a:noFill/>
          <a:ln/>
        </p:spPr>
        <p:txBody>
          <a:bodyPr wrap="square" lIns="0" tIns="0" rIns="0" bIns="0" rtlCol="0" anchor="t"/>
          <a:lstStyle/>
          <a:p>
            <a:pPr indent="0" marL="0">
              <a:lnSpc>
                <a:spcPct val="100000"/>
              </a:lnSpc>
              <a:buNone/>
            </a:pPr>
            <a:r>
              <a:rPr lang="en-US" sz="1600" b="1" dirty="0">
                <a:solidFill>
                  <a:srgbClr val="1F2430"/>
                </a:solidFill>
                <a:latin typeface="Arial" pitchFamily="34" charset="0"/>
                <a:ea typeface="Arial" pitchFamily="34" charset="-122"/>
                <a:cs typeface="Arial" pitchFamily="34" charset="-120"/>
              </a:rPr>
              <a:t>Árbol de decisión</a:t>
            </a:r>
            <a:endParaRPr lang="en-US" sz="1600" dirty="0"/>
          </a:p>
        </p:txBody>
      </p:sp>
      <p:sp>
        <p:nvSpPr>
          <p:cNvPr id="28" name="Text 26"/>
          <p:cNvSpPr txBox="1"/>
          <p:nvPr/>
        </p:nvSpPr>
        <p:spPr>
          <a:xfrm>
            <a:off x="7653528" y="3986784"/>
            <a:ext cx="4005072" cy="457200"/>
          </a:xfrm>
          <a:prstGeom prst="rect">
            <a:avLst/>
          </a:prstGeom>
          <a:noFill/>
          <a:ln/>
        </p:spPr>
        <p:txBody>
          <a:bodyPr wrap="square" lIns="0" tIns="0" rIns="0" bIns="0" rtlCol="0" anchor="t"/>
          <a:lstStyle/>
          <a:p>
            <a:pPr indent="0" marL="0">
              <a:lnSpc>
                <a:spcPct val="100000"/>
              </a:lnSpc>
              <a:buNone/>
            </a:pPr>
            <a:r>
              <a:rPr lang="en-US" sz="1300" dirty="0">
                <a:solidFill>
                  <a:srgbClr val="5A6274"/>
                </a:solidFill>
                <a:latin typeface="Arial" pitchFamily="34" charset="0"/>
                <a:ea typeface="Arial" pitchFamily="34" charset="-122"/>
                <a:cs typeface="Arial" pitchFamily="34" charset="-120"/>
              </a:rPr>
              <a:t>léxico</a:t>
            </a:r>
            <a:endParaRPr lang="en-US" sz="1300" dirty="0"/>
          </a:p>
        </p:txBody>
      </p:sp>
      <p:sp>
        <p:nvSpPr>
          <p:cNvPr id="29" name="punto Reglas"/>
          <p:cNvSpPr/>
          <p:nvPr/>
        </p:nvSpPr>
        <p:spPr>
          <a:xfrm>
            <a:off x="7269480" y="4489704"/>
            <a:ext cx="219456" cy="219456"/>
          </a:xfrm>
          <a:prstGeom prst="ellipse">
            <a:avLst/>
          </a:prstGeom>
          <a:solidFill>
            <a:srgbClr val="008300"/>
          </a:solidFill>
          <a:ln/>
        </p:spPr>
      </p:sp>
      <p:sp>
        <p:nvSpPr>
          <p:cNvPr id="30" name="Text 28"/>
          <p:cNvSpPr txBox="1"/>
          <p:nvPr/>
        </p:nvSpPr>
        <p:spPr>
          <a:xfrm>
            <a:off x="7653528" y="4434840"/>
            <a:ext cx="4005072" cy="292608"/>
          </a:xfrm>
          <a:prstGeom prst="rect">
            <a:avLst/>
          </a:prstGeom>
          <a:noFill/>
          <a:ln/>
        </p:spPr>
        <p:txBody>
          <a:bodyPr wrap="square" lIns="0" tIns="0" rIns="0" bIns="0" rtlCol="0" anchor="t"/>
          <a:lstStyle/>
          <a:p>
            <a:pPr indent="0" marL="0">
              <a:lnSpc>
                <a:spcPct val="100000"/>
              </a:lnSpc>
              <a:buNone/>
            </a:pPr>
            <a:r>
              <a:rPr lang="en-US" sz="1600" b="1" dirty="0">
                <a:solidFill>
                  <a:srgbClr val="1F2430"/>
                </a:solidFill>
                <a:latin typeface="Arial" pitchFamily="34" charset="0"/>
                <a:ea typeface="Arial" pitchFamily="34" charset="-122"/>
                <a:cs typeface="Arial" pitchFamily="34" charset="-120"/>
              </a:rPr>
              <a:t>Reglas</a:t>
            </a:r>
            <a:endParaRPr lang="en-US" sz="1600" dirty="0"/>
          </a:p>
        </p:txBody>
      </p:sp>
      <p:sp>
        <p:nvSpPr>
          <p:cNvPr id="31" name="Text 29"/>
          <p:cNvSpPr txBox="1"/>
          <p:nvPr/>
        </p:nvSpPr>
        <p:spPr>
          <a:xfrm>
            <a:off x="7653528" y="4764024"/>
            <a:ext cx="4005072" cy="457200"/>
          </a:xfrm>
          <a:prstGeom prst="rect">
            <a:avLst/>
          </a:prstGeom>
          <a:noFill/>
          <a:ln/>
        </p:spPr>
        <p:txBody>
          <a:bodyPr wrap="square" lIns="0" tIns="0" rIns="0" bIns="0" rtlCol="0" anchor="t"/>
          <a:lstStyle/>
          <a:p>
            <a:pPr indent="0" marL="0">
              <a:lnSpc>
                <a:spcPct val="100000"/>
              </a:lnSpc>
              <a:buNone/>
            </a:pPr>
            <a:r>
              <a:rPr lang="en-US" sz="1300" dirty="0">
                <a:solidFill>
                  <a:srgbClr val="5A6274"/>
                </a:solidFill>
                <a:latin typeface="Arial" pitchFamily="34" charset="0"/>
                <a:ea typeface="Arial" pitchFamily="34" charset="-122"/>
                <a:cs typeface="Arial" pitchFamily="34" charset="-120"/>
              </a:rPr>
              <a:t>léxico</a:t>
            </a:r>
            <a:endParaRPr lang="en-US" sz="1300" dirty="0"/>
          </a:p>
        </p:txBody>
      </p:sp>
      <p:sp>
        <p:nvSpPr>
          <p:cNvPr id="32" name="punto Estructural"/>
          <p:cNvSpPr/>
          <p:nvPr/>
        </p:nvSpPr>
        <p:spPr>
          <a:xfrm>
            <a:off x="7269480" y="5266944"/>
            <a:ext cx="219456" cy="219456"/>
          </a:xfrm>
          <a:prstGeom prst="ellipse">
            <a:avLst/>
          </a:prstGeom>
          <a:solidFill>
            <a:srgbClr val="4A3AA7"/>
          </a:solidFill>
          <a:ln/>
        </p:spPr>
      </p:sp>
      <p:sp>
        <p:nvSpPr>
          <p:cNvPr id="33" name="Text 31"/>
          <p:cNvSpPr txBox="1"/>
          <p:nvPr/>
        </p:nvSpPr>
        <p:spPr>
          <a:xfrm>
            <a:off x="7653528" y="5212080"/>
            <a:ext cx="4005072" cy="292608"/>
          </a:xfrm>
          <a:prstGeom prst="rect">
            <a:avLst/>
          </a:prstGeom>
          <a:noFill/>
          <a:ln/>
        </p:spPr>
        <p:txBody>
          <a:bodyPr wrap="square" lIns="0" tIns="0" rIns="0" bIns="0" rtlCol="0" anchor="t"/>
          <a:lstStyle/>
          <a:p>
            <a:pPr indent="0" marL="0">
              <a:lnSpc>
                <a:spcPct val="100000"/>
              </a:lnSpc>
              <a:buNone/>
            </a:pPr>
            <a:r>
              <a:rPr lang="en-US" sz="1600" b="1" dirty="0">
                <a:solidFill>
                  <a:srgbClr val="1F2430"/>
                </a:solidFill>
                <a:latin typeface="Arial" pitchFamily="34" charset="0"/>
                <a:ea typeface="Arial" pitchFamily="34" charset="-122"/>
                <a:cs typeface="Arial" pitchFamily="34" charset="-120"/>
              </a:rPr>
              <a:t>Estructural</a:t>
            </a:r>
            <a:endParaRPr lang="en-US" sz="1600" dirty="0"/>
          </a:p>
        </p:txBody>
      </p:sp>
      <p:sp>
        <p:nvSpPr>
          <p:cNvPr id="34" name="Text 32"/>
          <p:cNvSpPr txBox="1"/>
          <p:nvPr/>
        </p:nvSpPr>
        <p:spPr>
          <a:xfrm>
            <a:off x="7653528" y="5541264"/>
            <a:ext cx="4005072" cy="457200"/>
          </a:xfrm>
          <a:prstGeom prst="rect">
            <a:avLst/>
          </a:prstGeom>
          <a:noFill/>
          <a:ln/>
        </p:spPr>
        <p:txBody>
          <a:bodyPr wrap="square" lIns="0" tIns="0" rIns="0" bIns="0" rtlCol="0" anchor="t"/>
          <a:lstStyle/>
          <a:p>
            <a:pPr indent="0" marL="0">
              <a:lnSpc>
                <a:spcPct val="100000"/>
              </a:lnSpc>
              <a:buNone/>
            </a:pPr>
            <a:r>
              <a:rPr lang="en-US" sz="1300" dirty="0">
                <a:solidFill>
                  <a:srgbClr val="5A6274"/>
                </a:solidFill>
                <a:latin typeface="Arial" pitchFamily="34" charset="0"/>
                <a:ea typeface="Arial" pitchFamily="34" charset="-122"/>
                <a:cs typeface="Arial" pitchFamily="34" charset="-120"/>
              </a:rPr>
              <a:t>9 rasgos de formato: largo, dígitos, teléfonos, £, mayúsculas…</a:t>
            </a:r>
            <a:endParaRPr lang="en-US" sz="1300" dirty="0"/>
          </a:p>
        </p:txBody>
      </p:sp>
      <p:sp>
        <p:nvSpPr>
          <p:cNvPr id="35" name="Text 33"/>
          <p:cNvSpPr txBox="1"/>
          <p:nvPr/>
        </p:nvSpPr>
        <p:spPr>
          <a:xfrm>
            <a:off x="548640" y="6373368"/>
            <a:ext cx="10241280" cy="274320"/>
          </a:xfrm>
          <a:prstGeom prst="rect">
            <a:avLst/>
          </a:prstGeom>
          <a:noFill/>
          <a:ln/>
        </p:spPr>
        <p:txBody>
          <a:bodyPr wrap="square" lIns="0" tIns="0" rIns="0" bIns="0" rtlCol="0" anchor="t"/>
          <a:lstStyle/>
          <a:p>
            <a:pPr indent="0" marL="0">
              <a:lnSpc>
                <a:spcPct val="100000"/>
              </a:lnSpc>
              <a:buNone/>
            </a:pPr>
            <a:r>
              <a:rPr lang="en-US" sz="1000" dirty="0">
                <a:solidFill>
                  <a:srgbClr val="9AA1AE"/>
                </a:solidFill>
                <a:latin typeface="Arial" pitchFamily="34" charset="0"/>
                <a:ea typeface="Arial" pitchFamily="34" charset="-122"/>
                <a:cs typeface="Arial" pitchFamily="34" charset="-120"/>
              </a:rPr>
              <a:t>Freund &amp; Schapire (1997). Los colores de los expertos se mantienen en todos los gráficos.</a:t>
            </a:r>
            <a:endParaRPr lang="en-US" sz="1000" dirty="0"/>
          </a:p>
        </p:txBody>
      </p:sp>
      <p:sp>
        <p:nvSpPr>
          <p:cNvPr id="25" name="Slide Number Placeholder 0"/>
          <p:cNvSpPr>
            <a:spLocks noGrp="1"/>
          </p:cNvSpPr>
          <p:nvPr>
            <p:ph type="sldNum" sz="quarter" idx="4294967295"/>
          </p:nvPr>
        </p:nvSpPr>
        <p:spPr>
          <a:xfrm>
            <a:off x="11091672" y="63733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1AE"/>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11480"/>
            <a:ext cx="7315200" cy="228600"/>
          </a:xfrm>
          <a:prstGeom prst="rect">
            <a:avLst/>
          </a:prstGeom>
          <a:noFill/>
          <a:ln/>
        </p:spPr>
        <p:txBody>
          <a:bodyPr wrap="square" lIns="0" tIns="0" rIns="0" bIns="0" rtlCol="0" anchor="t"/>
          <a:lstStyle/>
          <a:p>
            <a:pPr indent="0" marL="0">
              <a:lnSpc>
                <a:spcPct val="100000"/>
              </a:lnSpc>
              <a:buNone/>
            </a:pPr>
            <a:r>
              <a:rPr lang="en-US" sz="1100" b="1" spc="200" kern="0" dirty="0">
                <a:solidFill>
                  <a:srgbClr val="5A6274"/>
                </a:solidFill>
                <a:latin typeface="Arial" pitchFamily="34" charset="0"/>
                <a:ea typeface="Arial" pitchFamily="34" charset="-122"/>
                <a:cs typeface="Arial" pitchFamily="34" charset="-120"/>
              </a:rPr>
              <a:t>HALLAZGO 1 · ¿CUÁNTO SE RECUPERA SIN REENTRENAR?</a:t>
            </a:r>
            <a:endParaRPr lang="en-US" sz="1100" dirty="0"/>
          </a:p>
        </p:txBody>
      </p:sp>
      <p:sp>
        <p:nvSpPr>
          <p:cNvPr id="3" name="Text 0"/>
          <p:cNvSpPr/>
          <p:nvPr>
            <p:ph idx="100" type="title" hasCustomPrompt="1"/>
          </p:nvPr>
        </p:nvSpPr>
        <p:spPr>
          <a:xfrm>
            <a:off x="548640" y="731520"/>
            <a:ext cx="10424160" cy="566928"/>
          </a:xfrm>
          <a:prstGeom prst="rect">
            <a:avLst/>
          </a:prstGeom>
          <a:noFill/>
          <a:ln/>
        </p:spPr>
        <p:txBody>
          <a:bodyPr wrap="square" lIns="0" tIns="0" rIns="0" bIns="0" rtlCol="0" anchor="t"/>
          <a:lstStyle/>
          <a:p>
            <a:pPr indent="0" marL="0">
              <a:buNone/>
            </a:pPr>
            <a:r>
              <a:rPr lang="en-US" sz="3000" dirty="0">
                <a:solidFill>
                  <a:srgbClr val="1F2430"/>
                </a:solidFill>
                <a:latin typeface="Georgia" pitchFamily="34" charset="0"/>
                <a:ea typeface="Georgia" pitchFamily="34" charset="-122"/>
                <a:cs typeface="Georgia" pitchFamily="34" charset="-120"/>
              </a:rPr>
              <a:t>Combinar recupera casi la mitad, sin reentrenar</a:t>
            </a:r>
            <a:endParaRPr lang="en-US" sz="3000" dirty="0"/>
          </a:p>
        </p:txBody>
      </p:sp>
      <p:sp>
        <p:nvSpPr>
          <p:cNvPr id="4" name="Text 2"/>
          <p:cNvSpPr txBox="1"/>
          <p:nvPr/>
        </p:nvSpPr>
        <p:spPr>
          <a:xfrm>
            <a:off x="548640" y="1307592"/>
            <a:ext cx="10424160" cy="320040"/>
          </a:xfrm>
          <a:prstGeom prst="rect">
            <a:avLst/>
          </a:prstGeom>
          <a:noFill/>
          <a:ln/>
        </p:spPr>
        <p:txBody>
          <a:bodyPr wrap="square" lIns="0" tIns="0" rIns="0" bIns="0" rtlCol="0" anchor="t"/>
          <a:lstStyle/>
          <a:p>
            <a:pPr indent="0" marL="0">
              <a:lnSpc>
                <a:spcPct val="100000"/>
              </a:lnSpc>
              <a:buNone/>
            </a:pPr>
            <a:r>
              <a:rPr lang="en-US" sz="1500" dirty="0">
                <a:solidFill>
                  <a:srgbClr val="5A6274"/>
                </a:solidFill>
                <a:latin typeface="Arial" pitchFamily="34" charset="0"/>
                <a:ea typeface="Arial" pitchFamily="34" charset="-122"/>
                <a:cs typeface="Arial" pitchFamily="34" charset="-120"/>
              </a:rPr>
              <a:t>Errores en la mitad atacada: Hedge recorre el 46% del camino entre no adaptarse y reentrenar.</a:t>
            </a:r>
            <a:endParaRPr lang="en-US" sz="1500" dirty="0"/>
          </a:p>
        </p:txBody>
      </p:sp>
      <p:sp>
        <p:nvSpPr>
          <p:cNvPr id="5" name="Text 3"/>
          <p:cNvSpPr txBox="1"/>
          <p:nvPr/>
        </p:nvSpPr>
        <p:spPr>
          <a:xfrm>
            <a:off x="9235440" y="429768"/>
            <a:ext cx="1554480" cy="201168"/>
          </a:xfrm>
          <a:prstGeom prst="rect">
            <a:avLst/>
          </a:prstGeom>
          <a:noFill/>
          <a:ln/>
        </p:spPr>
        <p:txBody>
          <a:bodyPr wrap="square" lIns="0" tIns="0" rIns="0" bIns="0" rtlCol="0" anchor="t"/>
          <a:lstStyle/>
          <a:p>
            <a:pPr algn="r" indent="0" marL="0">
              <a:lnSpc>
                <a:spcPct val="100000"/>
              </a:lnSpc>
              <a:buNone/>
            </a:pPr>
            <a:r>
              <a:rPr lang="en-US" sz="900" b="1" spc="200" kern="0" dirty="0">
                <a:solidFill>
                  <a:srgbClr val="9AA1AE"/>
                </a:solidFill>
                <a:latin typeface="Arial" pitchFamily="34" charset="0"/>
                <a:ea typeface="Arial" pitchFamily="34" charset="-122"/>
                <a:cs typeface="Arial" pitchFamily="34" charset="-120"/>
              </a:rPr>
              <a:t>HALLAZGOS</a:t>
            </a:r>
            <a:endParaRPr lang="en-US" sz="900" dirty="0"/>
          </a:p>
        </p:txBody>
      </p:sp>
      <p:sp>
        <p:nvSpPr>
          <p:cNvPr id="6" name="hallazgo 1 (actual)"/>
          <p:cNvSpPr/>
          <p:nvPr/>
        </p:nvSpPr>
        <p:spPr>
          <a:xfrm>
            <a:off x="10899648" y="457200"/>
            <a:ext cx="137160" cy="137160"/>
          </a:xfrm>
          <a:prstGeom prst="ellipse">
            <a:avLst/>
          </a:prstGeom>
          <a:solidFill>
            <a:srgbClr val="1F2430"/>
          </a:solidFill>
          <a:ln/>
        </p:spPr>
      </p:sp>
      <p:sp>
        <p:nvSpPr>
          <p:cNvPr id="7" name="hallazgo 2"/>
          <p:cNvSpPr/>
          <p:nvPr/>
        </p:nvSpPr>
        <p:spPr>
          <a:xfrm>
            <a:off x="11100816" y="457200"/>
            <a:ext cx="137160" cy="137160"/>
          </a:xfrm>
          <a:prstGeom prst="ellipse">
            <a:avLst/>
          </a:prstGeom>
          <a:ln w="15875">
            <a:solidFill>
              <a:srgbClr val="9AA1AE"/>
            </a:solidFill>
            <a:prstDash val="solid"/>
          </a:ln>
        </p:spPr>
      </p:sp>
      <p:sp>
        <p:nvSpPr>
          <p:cNvPr id="8" name="hallazgo 3"/>
          <p:cNvSpPr/>
          <p:nvPr/>
        </p:nvSpPr>
        <p:spPr>
          <a:xfrm>
            <a:off x="11301984" y="457200"/>
            <a:ext cx="137160" cy="137160"/>
          </a:xfrm>
          <a:prstGeom prst="ellipse">
            <a:avLst/>
          </a:prstGeom>
          <a:ln w="15875">
            <a:solidFill>
              <a:srgbClr val="9AA1AE"/>
            </a:solidFill>
            <a:prstDash val="solid"/>
          </a:ln>
        </p:spPr>
      </p:sp>
      <p:sp>
        <p:nvSpPr>
          <p:cNvPr id="9" name="hallazgo 4"/>
          <p:cNvSpPr/>
          <p:nvPr/>
        </p:nvSpPr>
        <p:spPr>
          <a:xfrm>
            <a:off x="11503152" y="457200"/>
            <a:ext cx="137160" cy="137160"/>
          </a:xfrm>
          <a:prstGeom prst="ellipse">
            <a:avLst/>
          </a:prstGeom>
          <a:ln w="15875">
            <a:solidFill>
              <a:srgbClr val="9AA1AE"/>
            </a:solidFill>
            <a:prstDash val="solid"/>
          </a:ln>
        </p:spPr>
      </p:sp>
      <p:pic>
        <p:nvPicPr>
          <p:cNvPr id="10" name="Image 0" descr="Recta de errores en la mitad atacada: el estático comete 190, Hedge 133 y SGD online 73. Hedge cubre el 46% de la brecha.">    </p:cNvPr>
          <p:cNvPicPr>
            <a:picLocks noChangeAspect="1"/>
          </p:cNvPicPr>
          <p:nvPr/>
        </p:nvPicPr>
        <p:blipFill>
          <a:blip r:embed="rId1"/>
          <a:stretch>
            <a:fillRect/>
          </a:stretch>
        </p:blipFill>
        <p:spPr>
          <a:xfrm>
            <a:off x="685800" y="2011680"/>
            <a:ext cx="10789920" cy="3506100"/>
          </a:xfrm>
          <a:prstGeom prst="rect">
            <a:avLst/>
          </a:prstGeom>
        </p:spPr>
      </p:pic>
      <p:sp>
        <p:nvSpPr>
          <p:cNvPr id="11" name="Shape 8"/>
          <p:cNvSpPr/>
          <p:nvPr/>
        </p:nvSpPr>
        <p:spPr>
          <a:xfrm>
            <a:off x="548640" y="5577840"/>
            <a:ext cx="11091672" cy="0"/>
          </a:xfrm>
          <a:prstGeom prst="line">
            <a:avLst/>
          </a:prstGeom>
          <a:noFill/>
          <a:ln w="9525">
            <a:solidFill>
              <a:srgbClr val="D9D6CE"/>
            </a:solidFill>
            <a:prstDash val="solid"/>
          </a:ln>
        </p:spPr>
      </p:sp>
      <p:sp>
        <p:nvSpPr>
          <p:cNvPr id="12" name="Text 9"/>
          <p:cNvSpPr txBox="1"/>
          <p:nvPr/>
        </p:nvSpPr>
        <p:spPr>
          <a:xfrm>
            <a:off x="548640" y="5669280"/>
            <a:ext cx="11064240" cy="548640"/>
          </a:xfrm>
          <a:prstGeom prst="rect">
            <a:avLst/>
          </a:prstGeom>
          <a:noFill/>
          <a:ln/>
        </p:spPr>
        <p:txBody>
          <a:bodyPr wrap="square" lIns="0" tIns="0" rIns="0" bIns="0" rtlCol="0" anchor="t"/>
          <a:lstStyle/>
          <a:p>
            <a:pPr indent="0" marL="0">
              <a:lnSpc>
                <a:spcPct val="100000"/>
              </a:lnSpc>
              <a:buNone/>
            </a:pPr>
            <a:r>
              <a:rPr lang="en-US" sz="1400" dirty="0">
                <a:solidFill>
                  <a:srgbClr val="5A6274"/>
                </a:solidFill>
                <a:latin typeface="Arial" pitchFamily="34" charset="0"/>
                <a:ea typeface="Arial" pitchFamily="34" charset="-122"/>
                <a:cs typeface="Arial" pitchFamily="34" charset="-120"/>
              </a:rPr>
              <a:t>46% ± 13 entre semillas. Reentrenar sigue siendo lo mejor con todas las etiquetas, como dicen Lowd &amp; Meek; combinar hace casi la mitad del trabajo sin tocar ningún modelo.</a:t>
            </a:r>
            <a:endParaRPr lang="en-US" sz="1400" dirty="0"/>
          </a:p>
        </p:txBody>
      </p:sp>
      <p:sp>
        <p:nvSpPr>
          <p:cNvPr id="13" name="Text 10"/>
          <p:cNvSpPr txBox="1"/>
          <p:nvPr/>
        </p:nvSpPr>
        <p:spPr>
          <a:xfrm>
            <a:off x="548640" y="6373368"/>
            <a:ext cx="10241280" cy="274320"/>
          </a:xfrm>
          <a:prstGeom prst="rect">
            <a:avLst/>
          </a:prstGeom>
          <a:noFill/>
          <a:ln/>
        </p:spPr>
        <p:txBody>
          <a:bodyPr wrap="square" lIns="0" tIns="0" rIns="0" bIns="0" rtlCol="0" anchor="t"/>
          <a:lstStyle/>
          <a:p>
            <a:pPr indent="0" marL="0">
              <a:lnSpc>
                <a:spcPct val="100000"/>
              </a:lnSpc>
              <a:buNone/>
            </a:pPr>
            <a:r>
              <a:rPr lang="en-US" sz="1000" dirty="0">
                <a:solidFill>
                  <a:srgbClr val="9AA1AE"/>
                </a:solidFill>
                <a:latin typeface="Arial" pitchFamily="34" charset="0"/>
                <a:ea typeface="Arial" pitchFamily="34" charset="-122"/>
                <a:cs typeface="Arial" pitchFamily="34" charset="-120"/>
              </a:rPr>
              <a:t>Media de 20 permutaciones (semillas) del SMS Spam Collection. Ataque desde la mitad del stream.</a:t>
            </a:r>
            <a:endParaRPr lang="en-US" sz="1000" dirty="0"/>
          </a:p>
        </p:txBody>
      </p:sp>
      <p:sp>
        <p:nvSpPr>
          <p:cNvPr id="25" name="Slide Number Placeholder 0"/>
          <p:cNvSpPr>
            <a:spLocks noGrp="1"/>
          </p:cNvSpPr>
          <p:nvPr>
            <p:ph type="sldNum" sz="quarter" idx="4294967295"/>
          </p:nvPr>
        </p:nvSpPr>
        <p:spPr>
          <a:xfrm>
            <a:off x="11091672" y="63733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1AE"/>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411480"/>
            <a:ext cx="7315200" cy="228600"/>
          </a:xfrm>
          <a:prstGeom prst="rect">
            <a:avLst/>
          </a:prstGeom>
          <a:noFill/>
          <a:ln/>
        </p:spPr>
        <p:txBody>
          <a:bodyPr wrap="square" lIns="0" tIns="0" rIns="0" bIns="0" rtlCol="0" anchor="t"/>
          <a:lstStyle/>
          <a:p>
            <a:pPr indent="0" marL="0">
              <a:lnSpc>
                <a:spcPct val="100000"/>
              </a:lnSpc>
              <a:buNone/>
            </a:pPr>
            <a:r>
              <a:rPr lang="en-US" sz="1100" b="1" spc="200" kern="0" dirty="0">
                <a:solidFill>
                  <a:srgbClr val="5A6274"/>
                </a:solidFill>
                <a:latin typeface="Arial" pitchFamily="34" charset="0"/>
                <a:ea typeface="Arial" pitchFamily="34" charset="-122"/>
                <a:cs typeface="Arial" pitchFamily="34" charset="-120"/>
              </a:rPr>
              <a:t>HALLAZGO 1</a:t>
            </a:r>
            <a:endParaRPr lang="en-US" sz="1100" dirty="0"/>
          </a:p>
        </p:txBody>
      </p:sp>
      <p:sp>
        <p:nvSpPr>
          <p:cNvPr id="3" name="Text 0"/>
          <p:cNvSpPr/>
          <p:nvPr>
            <p:ph idx="100" type="title" hasCustomPrompt="1"/>
          </p:nvPr>
        </p:nvSpPr>
        <p:spPr>
          <a:xfrm>
            <a:off x="548640" y="731520"/>
            <a:ext cx="10424160" cy="566928"/>
          </a:xfrm>
          <a:prstGeom prst="rect">
            <a:avLst/>
          </a:prstGeom>
          <a:noFill/>
          <a:ln/>
        </p:spPr>
        <p:txBody>
          <a:bodyPr wrap="square" lIns="0" tIns="0" rIns="0" bIns="0" rtlCol="0" anchor="t"/>
          <a:lstStyle/>
          <a:p>
            <a:pPr indent="0" marL="0">
              <a:buNone/>
            </a:pPr>
            <a:r>
              <a:rPr lang="en-US" sz="3000" dirty="0">
                <a:solidFill>
                  <a:srgbClr val="1F2430"/>
                </a:solidFill>
                <a:latin typeface="Georgia" pitchFamily="34" charset="0"/>
                <a:ea typeface="Georgia" pitchFamily="34" charset="-122"/>
                <a:cs typeface="Georgia" pitchFamily="34" charset="-120"/>
              </a:rPr>
              <a:t>De 305 spams atacados, Hedge atrapa 52 más</a:t>
            </a:r>
            <a:endParaRPr lang="en-US" sz="3000" dirty="0"/>
          </a:p>
        </p:txBody>
      </p:sp>
      <p:sp>
        <p:nvSpPr>
          <p:cNvPr id="4" name="Text 2"/>
          <p:cNvSpPr txBox="1"/>
          <p:nvPr/>
        </p:nvSpPr>
        <p:spPr>
          <a:xfrm>
            <a:off x="548640" y="1307592"/>
            <a:ext cx="10424160" cy="320040"/>
          </a:xfrm>
          <a:prstGeom prst="rect">
            <a:avLst/>
          </a:prstGeom>
          <a:noFill/>
          <a:ln/>
        </p:spPr>
        <p:txBody>
          <a:bodyPr wrap="square" lIns="0" tIns="0" rIns="0" bIns="0" rtlCol="0" anchor="t"/>
          <a:lstStyle/>
          <a:p>
            <a:pPr indent="0" marL="0">
              <a:lnSpc>
                <a:spcPct val="100000"/>
              </a:lnSpc>
              <a:buNone/>
            </a:pPr>
            <a:r>
              <a:rPr lang="en-US" sz="1500" dirty="0">
                <a:solidFill>
                  <a:srgbClr val="5A6274"/>
                </a:solidFill>
                <a:latin typeface="Arial" pitchFamily="34" charset="0"/>
                <a:ea typeface="Arial" pitchFamily="34" charset="-122"/>
                <a:cs typeface="Arial" pitchFamily="34" charset="-120"/>
              </a:rPr>
              <a:t>Cada punto es un spam de la mitad atacada; en color, los que el filtro detecta.</a:t>
            </a:r>
            <a:endParaRPr lang="en-US" sz="1500" dirty="0"/>
          </a:p>
        </p:txBody>
      </p:sp>
      <p:sp>
        <p:nvSpPr>
          <p:cNvPr id="5" name="Text 3"/>
          <p:cNvSpPr txBox="1"/>
          <p:nvPr/>
        </p:nvSpPr>
        <p:spPr>
          <a:xfrm>
            <a:off x="9235440" y="429768"/>
            <a:ext cx="1554480" cy="201168"/>
          </a:xfrm>
          <a:prstGeom prst="rect">
            <a:avLst/>
          </a:prstGeom>
          <a:noFill/>
          <a:ln/>
        </p:spPr>
        <p:txBody>
          <a:bodyPr wrap="square" lIns="0" tIns="0" rIns="0" bIns="0" rtlCol="0" anchor="t"/>
          <a:lstStyle/>
          <a:p>
            <a:pPr algn="r" indent="0" marL="0">
              <a:lnSpc>
                <a:spcPct val="100000"/>
              </a:lnSpc>
              <a:buNone/>
            </a:pPr>
            <a:r>
              <a:rPr lang="en-US" sz="900" b="1" spc="200" kern="0" dirty="0">
                <a:solidFill>
                  <a:srgbClr val="9AA1AE"/>
                </a:solidFill>
                <a:latin typeface="Arial" pitchFamily="34" charset="0"/>
                <a:ea typeface="Arial" pitchFamily="34" charset="-122"/>
                <a:cs typeface="Arial" pitchFamily="34" charset="-120"/>
              </a:rPr>
              <a:t>HALLAZGOS</a:t>
            </a:r>
            <a:endParaRPr lang="en-US" sz="900" dirty="0"/>
          </a:p>
        </p:txBody>
      </p:sp>
      <p:sp>
        <p:nvSpPr>
          <p:cNvPr id="6" name="hallazgo 1 (actual)"/>
          <p:cNvSpPr/>
          <p:nvPr/>
        </p:nvSpPr>
        <p:spPr>
          <a:xfrm>
            <a:off x="10899648" y="457200"/>
            <a:ext cx="137160" cy="137160"/>
          </a:xfrm>
          <a:prstGeom prst="ellipse">
            <a:avLst/>
          </a:prstGeom>
          <a:solidFill>
            <a:srgbClr val="1F2430"/>
          </a:solidFill>
          <a:ln/>
        </p:spPr>
      </p:sp>
      <p:sp>
        <p:nvSpPr>
          <p:cNvPr id="7" name="hallazgo 2"/>
          <p:cNvSpPr/>
          <p:nvPr/>
        </p:nvSpPr>
        <p:spPr>
          <a:xfrm>
            <a:off x="11100816" y="457200"/>
            <a:ext cx="137160" cy="137160"/>
          </a:xfrm>
          <a:prstGeom prst="ellipse">
            <a:avLst/>
          </a:prstGeom>
          <a:ln w="15875">
            <a:solidFill>
              <a:srgbClr val="9AA1AE"/>
            </a:solidFill>
            <a:prstDash val="solid"/>
          </a:ln>
        </p:spPr>
      </p:sp>
      <p:sp>
        <p:nvSpPr>
          <p:cNvPr id="8" name="hallazgo 3"/>
          <p:cNvSpPr/>
          <p:nvPr/>
        </p:nvSpPr>
        <p:spPr>
          <a:xfrm>
            <a:off x="11301984" y="457200"/>
            <a:ext cx="137160" cy="137160"/>
          </a:xfrm>
          <a:prstGeom prst="ellipse">
            <a:avLst/>
          </a:prstGeom>
          <a:ln w="15875">
            <a:solidFill>
              <a:srgbClr val="9AA1AE"/>
            </a:solidFill>
            <a:prstDash val="solid"/>
          </a:ln>
        </p:spPr>
      </p:sp>
      <p:sp>
        <p:nvSpPr>
          <p:cNvPr id="9" name="hallazgo 4"/>
          <p:cNvSpPr/>
          <p:nvPr/>
        </p:nvSpPr>
        <p:spPr>
          <a:xfrm>
            <a:off x="11503152" y="457200"/>
            <a:ext cx="137160" cy="137160"/>
          </a:xfrm>
          <a:prstGeom prst="ellipse">
            <a:avLst/>
          </a:prstGeom>
          <a:ln w="15875">
            <a:solidFill>
              <a:srgbClr val="9AA1AE"/>
            </a:solidFill>
            <a:prstDash val="solid"/>
          </a:ln>
        </p:spPr>
      </p:sp>
      <p:pic>
        <p:nvPicPr>
          <p:cNvPr id="10" name="Image 0" descr="Tres grillas de 305 puntos. El estático atrapa 128 (42%), Hedge 180 (59%) y SGD online 252 (83%).">    </p:cNvPr>
          <p:cNvPicPr>
            <a:picLocks noChangeAspect="1"/>
          </p:cNvPicPr>
          <p:nvPr/>
        </p:nvPicPr>
        <p:blipFill>
          <a:blip r:embed="rId1"/>
          <a:stretch>
            <a:fillRect/>
          </a:stretch>
        </p:blipFill>
        <p:spPr>
          <a:xfrm>
            <a:off x="548640" y="1828800"/>
            <a:ext cx="10424160" cy="4343400"/>
          </a:xfrm>
          <a:prstGeom prst="rect">
            <a:avLst/>
          </a:prstGeom>
        </p:spPr>
      </p:pic>
      <p:sp>
        <p:nvSpPr>
          <p:cNvPr id="11" name="Text 8"/>
          <p:cNvSpPr txBox="1"/>
          <p:nvPr/>
        </p:nvSpPr>
        <p:spPr>
          <a:xfrm>
            <a:off x="548640" y="6373368"/>
            <a:ext cx="10241280" cy="274320"/>
          </a:xfrm>
          <a:prstGeom prst="rect">
            <a:avLst/>
          </a:prstGeom>
          <a:noFill/>
          <a:ln/>
        </p:spPr>
        <p:txBody>
          <a:bodyPr wrap="square" lIns="0" tIns="0" rIns="0" bIns="0" rtlCol="0" anchor="t"/>
          <a:lstStyle/>
          <a:p>
            <a:pPr indent="0" marL="0">
              <a:lnSpc>
                <a:spcPct val="100000"/>
              </a:lnSpc>
              <a:buNone/>
            </a:pPr>
            <a:r>
              <a:rPr lang="en-US" sz="1000" dirty="0">
                <a:solidFill>
                  <a:srgbClr val="9AA1AE"/>
                </a:solidFill>
                <a:latin typeface="Arial" pitchFamily="34" charset="0"/>
                <a:ea typeface="Arial" pitchFamily="34" charset="-122"/>
                <a:cs typeface="Arial" pitchFamily="34" charset="-120"/>
              </a:rPr>
              <a:t>Media de 20 permutaciones (semillas) del SMS Spam Collection. Ataque desde la mitad del stream.</a:t>
            </a:r>
            <a:endParaRPr lang="en-US" sz="1000" dirty="0"/>
          </a:p>
        </p:txBody>
      </p:sp>
      <p:sp>
        <p:nvSpPr>
          <p:cNvPr id="25" name="Slide Number Placeholder 0"/>
          <p:cNvSpPr>
            <a:spLocks noGrp="1"/>
          </p:cNvSpPr>
          <p:nvPr>
            <p:ph type="sldNum" sz="quarter" idx="4294967295"/>
          </p:nvPr>
        </p:nvSpPr>
        <p:spPr>
          <a:xfrm>
            <a:off x="11091672" y="63733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1AE"/>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animación del ataque">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4" name="Text 0"/>
          <p:cNvSpPr/>
          <p:nvPr>
            <p:ph idx="100" type="title" hasCustomPrompt="1"/>
          </p:nvPr>
        </p:nvSpPr>
        <p:spPr>
          <a:xfrm>
            <a:off x="548640" y="731520"/>
            <a:ext cx="10424160" cy="566928"/>
          </a:xfrm>
          <a:prstGeom prst="rect">
            <a:avLst/>
          </a:prstGeom>
          <a:noFill/>
          <a:ln/>
        </p:spPr>
        <p:txBody>
          <a:bodyPr wrap="square" lIns="0" tIns="0" rIns="0" bIns="0" rtlCol="0" anchor="t"/>
          <a:lstStyle/>
          <a:p>
            <a:pPr indent="0" marL="0">
              <a:buNone/>
            </a:pPr>
            <a:endParaRPr lang="en-US" sz="3000" dirty="0"/>
          </a:p>
        </p:txBody>
      </p:sp>
      <p:sp>
        <p:nvSpPr>
          <p:cNvPr id="25" name="Slide Number Placeholder 0"/>
          <p:cNvSpPr>
            <a:spLocks noGrp="1"/>
          </p:cNvSpPr>
          <p:nvPr>
            <p:ph type="sldNum" sz="quarter" idx="4294967295"/>
          </p:nvPr>
        </p:nvSpPr>
        <p:spPr>
          <a:xfrm>
            <a:off x="11091672" y="63733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1AE"/>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411480"/>
            <a:ext cx="7315200" cy="228600"/>
          </a:xfrm>
          <a:prstGeom prst="rect">
            <a:avLst/>
          </a:prstGeom>
          <a:noFill/>
          <a:ln/>
        </p:spPr>
        <p:txBody>
          <a:bodyPr wrap="square" lIns="0" tIns="0" rIns="0" bIns="0" rtlCol="0" anchor="t"/>
          <a:lstStyle/>
          <a:p>
            <a:pPr indent="0" marL="0">
              <a:lnSpc>
                <a:spcPct val="100000"/>
              </a:lnSpc>
              <a:buNone/>
            </a:pPr>
            <a:r>
              <a:rPr lang="en-US" sz="1100" b="1" spc="200" kern="0" dirty="0">
                <a:solidFill>
                  <a:srgbClr val="5A6274"/>
                </a:solidFill>
                <a:latin typeface="Arial" pitchFamily="34" charset="0"/>
                <a:ea typeface="Arial" pitchFamily="34" charset="-122"/>
                <a:cs typeface="Arial" pitchFamily="34" charset="-120"/>
              </a:rPr>
              <a:t>HALLAZGO 1</a:t>
            </a:r>
            <a:endParaRPr lang="en-US" sz="1100" dirty="0"/>
          </a:p>
        </p:txBody>
      </p:sp>
      <p:sp>
        <p:nvSpPr>
          <p:cNvPr id="3" name="Text 0"/>
          <p:cNvSpPr/>
          <p:nvPr>
            <p:ph idx="100" type="title" hasCustomPrompt="1"/>
          </p:nvPr>
        </p:nvSpPr>
        <p:spPr>
          <a:xfrm>
            <a:off x="548640" y="731520"/>
            <a:ext cx="10424160" cy="566928"/>
          </a:xfrm>
          <a:prstGeom prst="rect">
            <a:avLst/>
          </a:prstGeom>
          <a:noFill/>
          <a:ln/>
        </p:spPr>
        <p:txBody>
          <a:bodyPr wrap="square" lIns="0" tIns="0" rIns="0" bIns="0" rtlCol="0" anchor="t"/>
          <a:lstStyle/>
          <a:p>
            <a:pPr indent="0" marL="0">
              <a:buNone/>
            </a:pPr>
            <a:r>
              <a:rPr lang="en-US" sz="3000" dirty="0">
                <a:solidFill>
                  <a:srgbClr val="1F2430"/>
                </a:solidFill>
                <a:latin typeface="Georgia" pitchFamily="34" charset="0"/>
                <a:ea typeface="Georgia" pitchFamily="34" charset="-122"/>
                <a:cs typeface="Georgia" pitchFamily="34" charset="-120"/>
              </a:rPr>
              <a:t>Por qué funciona: la apuesta ya estaba cubierta</a:t>
            </a:r>
            <a:endParaRPr lang="en-US" sz="3000" dirty="0"/>
          </a:p>
        </p:txBody>
      </p:sp>
      <p:sp>
        <p:nvSpPr>
          <p:cNvPr id="4" name="Text 2"/>
          <p:cNvSpPr txBox="1"/>
          <p:nvPr/>
        </p:nvSpPr>
        <p:spPr>
          <a:xfrm>
            <a:off x="548640" y="1307592"/>
            <a:ext cx="10424160" cy="320040"/>
          </a:xfrm>
          <a:prstGeom prst="rect">
            <a:avLst/>
          </a:prstGeom>
          <a:noFill/>
          <a:ln/>
        </p:spPr>
        <p:txBody>
          <a:bodyPr wrap="square" lIns="0" tIns="0" rIns="0" bIns="0" rtlCol="0" anchor="t"/>
          <a:lstStyle/>
          <a:p>
            <a:pPr indent="0" marL="0">
              <a:lnSpc>
                <a:spcPct val="100000"/>
              </a:lnSpc>
              <a:buNone/>
            </a:pPr>
            <a:r>
              <a:rPr lang="en-US" sz="1500" dirty="0">
                <a:solidFill>
                  <a:srgbClr val="5A6274"/>
                </a:solidFill>
                <a:latin typeface="Arial" pitchFamily="34" charset="0"/>
                <a:ea typeface="Arial" pitchFamily="34" charset="-122"/>
                <a:cs typeface="Arial" pitchFamily="34" charset="-120"/>
              </a:rPr>
              <a:t>Peso de cada experto en Hedge a lo largo del stream.</a:t>
            </a:r>
            <a:endParaRPr lang="en-US" sz="1500" dirty="0"/>
          </a:p>
        </p:txBody>
      </p:sp>
      <p:sp>
        <p:nvSpPr>
          <p:cNvPr id="5" name="Text 3"/>
          <p:cNvSpPr txBox="1"/>
          <p:nvPr/>
        </p:nvSpPr>
        <p:spPr>
          <a:xfrm>
            <a:off x="9235440" y="429768"/>
            <a:ext cx="1554480" cy="201168"/>
          </a:xfrm>
          <a:prstGeom prst="rect">
            <a:avLst/>
          </a:prstGeom>
          <a:noFill/>
          <a:ln/>
        </p:spPr>
        <p:txBody>
          <a:bodyPr wrap="square" lIns="0" tIns="0" rIns="0" bIns="0" rtlCol="0" anchor="t"/>
          <a:lstStyle/>
          <a:p>
            <a:pPr algn="r" indent="0" marL="0">
              <a:lnSpc>
                <a:spcPct val="100000"/>
              </a:lnSpc>
              <a:buNone/>
            </a:pPr>
            <a:r>
              <a:rPr lang="en-US" sz="900" b="1" spc="200" kern="0" dirty="0">
                <a:solidFill>
                  <a:srgbClr val="9AA1AE"/>
                </a:solidFill>
                <a:latin typeface="Arial" pitchFamily="34" charset="0"/>
                <a:ea typeface="Arial" pitchFamily="34" charset="-122"/>
                <a:cs typeface="Arial" pitchFamily="34" charset="-120"/>
              </a:rPr>
              <a:t>HALLAZGOS</a:t>
            </a:r>
            <a:endParaRPr lang="en-US" sz="900" dirty="0"/>
          </a:p>
        </p:txBody>
      </p:sp>
      <p:sp>
        <p:nvSpPr>
          <p:cNvPr id="6" name="hallazgo 1 (actual)"/>
          <p:cNvSpPr/>
          <p:nvPr/>
        </p:nvSpPr>
        <p:spPr>
          <a:xfrm>
            <a:off x="10899648" y="457200"/>
            <a:ext cx="137160" cy="137160"/>
          </a:xfrm>
          <a:prstGeom prst="ellipse">
            <a:avLst/>
          </a:prstGeom>
          <a:solidFill>
            <a:srgbClr val="1F2430"/>
          </a:solidFill>
          <a:ln/>
        </p:spPr>
      </p:sp>
      <p:sp>
        <p:nvSpPr>
          <p:cNvPr id="7" name="hallazgo 2"/>
          <p:cNvSpPr/>
          <p:nvPr/>
        </p:nvSpPr>
        <p:spPr>
          <a:xfrm>
            <a:off x="11100816" y="457200"/>
            <a:ext cx="137160" cy="137160"/>
          </a:xfrm>
          <a:prstGeom prst="ellipse">
            <a:avLst/>
          </a:prstGeom>
          <a:ln w="15875">
            <a:solidFill>
              <a:srgbClr val="9AA1AE"/>
            </a:solidFill>
            <a:prstDash val="solid"/>
          </a:ln>
        </p:spPr>
      </p:sp>
      <p:sp>
        <p:nvSpPr>
          <p:cNvPr id="8" name="hallazgo 3"/>
          <p:cNvSpPr/>
          <p:nvPr/>
        </p:nvSpPr>
        <p:spPr>
          <a:xfrm>
            <a:off x="11301984" y="457200"/>
            <a:ext cx="137160" cy="137160"/>
          </a:xfrm>
          <a:prstGeom prst="ellipse">
            <a:avLst/>
          </a:prstGeom>
          <a:ln w="15875">
            <a:solidFill>
              <a:srgbClr val="9AA1AE"/>
            </a:solidFill>
            <a:prstDash val="solid"/>
          </a:ln>
        </p:spPr>
      </p:sp>
      <p:sp>
        <p:nvSpPr>
          <p:cNvPr id="9" name="hallazgo 4"/>
          <p:cNvSpPr/>
          <p:nvPr/>
        </p:nvSpPr>
        <p:spPr>
          <a:xfrm>
            <a:off x="11503152" y="457200"/>
            <a:ext cx="137160" cy="137160"/>
          </a:xfrm>
          <a:prstGeom prst="ellipse">
            <a:avLst/>
          </a:prstGeom>
          <a:ln w="15875">
            <a:solidFill>
              <a:srgbClr val="9AA1AE"/>
            </a:solidFill>
            <a:prstDash val="solid"/>
          </a:ln>
        </p:spPr>
      </p:sp>
      <p:pic>
        <p:nvPicPr>
          <p:cNvPr id="10" name="Image 0" descr="Área apilada con el peso de cada experto. Al llegar el ataque el peso está repartido en tercios; después migra al estructural, que termina con 0,96.">    </p:cNvPr>
          <p:cNvPicPr>
            <a:picLocks noChangeAspect="1"/>
          </p:cNvPicPr>
          <p:nvPr/>
        </p:nvPicPr>
        <p:blipFill>
          <a:blip r:embed="rId1"/>
          <a:stretch>
            <a:fillRect/>
          </a:stretch>
        </p:blipFill>
        <p:spPr>
          <a:xfrm>
            <a:off x="411480" y="1828800"/>
            <a:ext cx="8001000" cy="3599987"/>
          </a:xfrm>
          <a:prstGeom prst="rect">
            <a:avLst/>
          </a:prstGeom>
        </p:spPr>
      </p:pic>
      <p:sp>
        <p:nvSpPr>
          <p:cNvPr id="11" name="llamada 1"/>
          <p:cNvSpPr/>
          <p:nvPr/>
        </p:nvSpPr>
        <p:spPr>
          <a:xfrm>
            <a:off x="8641080" y="2011680"/>
            <a:ext cx="384048" cy="384048"/>
          </a:xfrm>
          <a:prstGeom prst="ellipse">
            <a:avLst/>
          </a:prstGeom>
          <a:solidFill>
            <a:srgbClr val="1F2430"/>
          </a:solidFill>
          <a:ln/>
        </p:spPr>
      </p:sp>
      <p:sp>
        <p:nvSpPr>
          <p:cNvPr id="12" name="Text 9"/>
          <p:cNvSpPr txBox="1"/>
          <p:nvPr/>
        </p:nvSpPr>
        <p:spPr>
          <a:xfrm>
            <a:off x="8641080" y="2011680"/>
            <a:ext cx="384048" cy="384048"/>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3" name="Text 10"/>
          <p:cNvSpPr txBox="1"/>
          <p:nvPr/>
        </p:nvSpPr>
        <p:spPr>
          <a:xfrm>
            <a:off x="9208008" y="1993392"/>
            <a:ext cx="2450592" cy="1188720"/>
          </a:xfrm>
          <a:prstGeom prst="rect">
            <a:avLst/>
          </a:prstGeom>
          <a:noFill/>
          <a:ln/>
        </p:spPr>
        <p:txBody>
          <a:bodyPr wrap="square" lIns="0" tIns="0" rIns="0" bIns="0" rtlCol="0" anchor="t"/>
          <a:lstStyle/>
          <a:p>
            <a:pPr indent="0" marL="0">
              <a:lnSpc>
                <a:spcPct val="100000"/>
              </a:lnSpc>
              <a:buNone/>
            </a:pPr>
            <a:r>
              <a:rPr lang="en-US" sz="1500" dirty="0">
                <a:solidFill>
                  <a:srgbClr val="1F2430"/>
                </a:solidFill>
                <a:latin typeface="Arial" pitchFamily="34" charset="0"/>
                <a:ea typeface="Arial" pitchFamily="34" charset="-122"/>
                <a:cs typeface="Arial" pitchFamily="34" charset="-120"/>
              </a:rPr>
              <a:t>Al llegar el ataque, el peso estaba repartido en tercios: Naive Bayes 0,36, estructural 0,33, el resto 0,31.</a:t>
            </a:r>
            <a:endParaRPr lang="en-US" sz="1500" dirty="0"/>
          </a:p>
        </p:txBody>
      </p:sp>
      <p:sp>
        <p:nvSpPr>
          <p:cNvPr id="14" name="llamada 2"/>
          <p:cNvSpPr/>
          <p:nvPr/>
        </p:nvSpPr>
        <p:spPr>
          <a:xfrm>
            <a:off x="8641080" y="3429000"/>
            <a:ext cx="384048" cy="384048"/>
          </a:xfrm>
          <a:prstGeom prst="ellipse">
            <a:avLst/>
          </a:prstGeom>
          <a:solidFill>
            <a:srgbClr val="1F2430"/>
          </a:solidFill>
          <a:ln/>
        </p:spPr>
      </p:sp>
      <p:sp>
        <p:nvSpPr>
          <p:cNvPr id="15" name="Text 12"/>
          <p:cNvSpPr txBox="1"/>
          <p:nvPr/>
        </p:nvSpPr>
        <p:spPr>
          <a:xfrm>
            <a:off x="8641080" y="3429000"/>
            <a:ext cx="384048" cy="384048"/>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6" name="Text 13"/>
          <p:cNvSpPr txBox="1"/>
          <p:nvPr/>
        </p:nvSpPr>
        <p:spPr>
          <a:xfrm>
            <a:off x="9208008" y="3410712"/>
            <a:ext cx="2450592" cy="1188720"/>
          </a:xfrm>
          <a:prstGeom prst="rect">
            <a:avLst/>
          </a:prstGeom>
          <a:noFill/>
          <a:ln/>
        </p:spPr>
        <p:txBody>
          <a:bodyPr wrap="square" lIns="0" tIns="0" rIns="0" bIns="0" rtlCol="0" anchor="t"/>
          <a:lstStyle/>
          <a:p>
            <a:pPr indent="0" marL="0">
              <a:lnSpc>
                <a:spcPct val="100000"/>
              </a:lnSpc>
              <a:buNone/>
            </a:pPr>
            <a:r>
              <a:rPr lang="en-US" sz="1500" dirty="0">
                <a:solidFill>
                  <a:srgbClr val="1F2430"/>
                </a:solidFill>
                <a:latin typeface="Arial" pitchFamily="34" charset="0"/>
                <a:ea typeface="Arial" pitchFamily="34" charset="-122"/>
                <a:cs typeface="Arial" pitchFamily="34" charset="-120"/>
              </a:rPr>
              <a:t>El ataque rompe a los léxicos y el peso migra al estructural en unos 1.000 mensajes: termina con 0,96.</a:t>
            </a:r>
            <a:endParaRPr lang="en-US" sz="1500" dirty="0"/>
          </a:p>
        </p:txBody>
      </p:sp>
      <p:sp>
        <p:nvSpPr>
          <p:cNvPr id="17" name="Shape 14"/>
          <p:cNvSpPr/>
          <p:nvPr/>
        </p:nvSpPr>
        <p:spPr>
          <a:xfrm>
            <a:off x="8641080" y="4846320"/>
            <a:ext cx="2999232" cy="0"/>
          </a:xfrm>
          <a:prstGeom prst="line">
            <a:avLst/>
          </a:prstGeom>
          <a:noFill/>
          <a:ln w="9525">
            <a:solidFill>
              <a:srgbClr val="D9D6CE"/>
            </a:solidFill>
            <a:prstDash val="solid"/>
          </a:ln>
        </p:spPr>
      </p:sp>
      <p:sp>
        <p:nvSpPr>
          <p:cNvPr id="18" name="Text 15"/>
          <p:cNvSpPr txBox="1"/>
          <p:nvPr/>
        </p:nvSpPr>
        <p:spPr>
          <a:xfrm>
            <a:off x="8641080" y="4983480"/>
            <a:ext cx="3017520" cy="731520"/>
          </a:xfrm>
          <a:prstGeom prst="rect">
            <a:avLst/>
          </a:prstGeom>
          <a:noFill/>
          <a:ln/>
        </p:spPr>
        <p:txBody>
          <a:bodyPr wrap="square" lIns="0" tIns="0" rIns="0" bIns="0" rtlCol="0" anchor="t"/>
          <a:lstStyle/>
          <a:p>
            <a:pPr indent="0" marL="0">
              <a:lnSpc>
                <a:spcPct val="100000"/>
              </a:lnSpc>
              <a:buNone/>
            </a:pPr>
            <a:r>
              <a:rPr lang="en-US" sz="1500" b="1" dirty="0">
                <a:solidFill>
                  <a:srgbClr val="4A3AA7"/>
                </a:solidFill>
                <a:latin typeface="Arial" pitchFamily="34" charset="0"/>
                <a:ea typeface="Arial" pitchFamily="34" charset="-122"/>
                <a:cs typeface="Arial" pitchFamily="34" charset="-120"/>
              </a:rPr>
              <a:t>El estructural mira formato, no palabras: este ataque no lo toca.</a:t>
            </a:r>
            <a:endParaRPr lang="en-US" sz="1500" dirty="0"/>
          </a:p>
        </p:txBody>
      </p:sp>
      <p:sp>
        <p:nvSpPr>
          <p:cNvPr id="19" name="Text 16"/>
          <p:cNvSpPr txBox="1"/>
          <p:nvPr/>
        </p:nvSpPr>
        <p:spPr>
          <a:xfrm>
            <a:off x="548640" y="6373368"/>
            <a:ext cx="10241280" cy="274320"/>
          </a:xfrm>
          <a:prstGeom prst="rect">
            <a:avLst/>
          </a:prstGeom>
          <a:noFill/>
          <a:ln/>
        </p:spPr>
        <p:txBody>
          <a:bodyPr wrap="square" lIns="0" tIns="0" rIns="0" bIns="0" rtlCol="0" anchor="t"/>
          <a:lstStyle/>
          <a:p>
            <a:pPr indent="0" marL="0">
              <a:lnSpc>
                <a:spcPct val="100000"/>
              </a:lnSpc>
              <a:buNone/>
            </a:pPr>
            <a:r>
              <a:rPr lang="en-US" sz="1000" dirty="0">
                <a:solidFill>
                  <a:srgbClr val="9AA1AE"/>
                </a:solidFill>
                <a:latin typeface="Arial" pitchFamily="34" charset="0"/>
                <a:ea typeface="Arial" pitchFamily="34" charset="-122"/>
                <a:cs typeface="Arial" pitchFamily="34" charset="-120"/>
              </a:rPr>
              <a:t>Media de 20 permutaciones (semillas) del SMS Spam Collection. Ataque desde la mitad del stream.</a:t>
            </a:r>
            <a:endParaRPr lang="en-US" sz="1000" dirty="0"/>
          </a:p>
        </p:txBody>
      </p:sp>
      <p:sp>
        <p:nvSpPr>
          <p:cNvPr id="25" name="Slide Number Placeholder 0"/>
          <p:cNvSpPr>
            <a:spLocks noGrp="1"/>
          </p:cNvSpPr>
          <p:nvPr>
            <p:ph type="sldNum" sz="quarter" idx="4294967295"/>
          </p:nvPr>
        </p:nvSpPr>
        <p:spPr>
          <a:xfrm>
            <a:off x="11091672" y="63733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1AE"/>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411480"/>
            <a:ext cx="7315200" cy="228600"/>
          </a:xfrm>
          <a:prstGeom prst="rect">
            <a:avLst/>
          </a:prstGeom>
          <a:noFill/>
          <a:ln/>
        </p:spPr>
        <p:txBody>
          <a:bodyPr wrap="square" lIns="0" tIns="0" rIns="0" bIns="0" rtlCol="0" anchor="t"/>
          <a:lstStyle/>
          <a:p>
            <a:pPr indent="0" marL="0">
              <a:lnSpc>
                <a:spcPct val="100000"/>
              </a:lnSpc>
              <a:buNone/>
            </a:pPr>
            <a:r>
              <a:rPr lang="en-US" sz="1100" b="1" spc="200" kern="0" dirty="0">
                <a:solidFill>
                  <a:srgbClr val="5A6274"/>
                </a:solidFill>
                <a:latin typeface="Arial" pitchFamily="34" charset="0"/>
                <a:ea typeface="Arial" pitchFamily="34" charset="-122"/>
                <a:cs typeface="Arial" pitchFamily="34" charset="-120"/>
              </a:rPr>
              <a:t>HALLAZGO 2 · ¿CUÁNTA ETIQUETA HACE FALTA?</a:t>
            </a:r>
            <a:endParaRPr lang="en-US" sz="1100" dirty="0"/>
          </a:p>
        </p:txBody>
      </p:sp>
      <p:sp>
        <p:nvSpPr>
          <p:cNvPr id="3" name="Text 0"/>
          <p:cNvSpPr/>
          <p:nvPr>
            <p:ph idx="100" type="title" hasCustomPrompt="1"/>
          </p:nvPr>
        </p:nvSpPr>
        <p:spPr>
          <a:xfrm>
            <a:off x="548640" y="731520"/>
            <a:ext cx="10424160" cy="566928"/>
          </a:xfrm>
          <a:prstGeom prst="rect">
            <a:avLst/>
          </a:prstGeom>
          <a:noFill/>
          <a:ln/>
        </p:spPr>
        <p:txBody>
          <a:bodyPr wrap="square" lIns="0" tIns="0" rIns="0" bIns="0" rtlCol="0" anchor="t"/>
          <a:lstStyle/>
          <a:p>
            <a:pPr indent="0" marL="0">
              <a:buNone/>
            </a:pPr>
            <a:r>
              <a:rPr lang="en-US" sz="3000" dirty="0">
                <a:solidFill>
                  <a:srgbClr val="1F2430"/>
                </a:solidFill>
                <a:latin typeface="Georgia" pitchFamily="34" charset="0"/>
                <a:ea typeface="Georgia" pitchFamily="34" charset="-122"/>
                <a:cs typeface="Georgia" pitchFamily="34" charset="-120"/>
              </a:rPr>
              <a:t>Cómo medimos la escasez de etiquetas</a:t>
            </a:r>
            <a:endParaRPr lang="en-US" sz="3000" dirty="0"/>
          </a:p>
        </p:txBody>
      </p:sp>
      <p:sp>
        <p:nvSpPr>
          <p:cNvPr id="4" name="Text 2"/>
          <p:cNvSpPr txBox="1"/>
          <p:nvPr/>
        </p:nvSpPr>
        <p:spPr>
          <a:xfrm>
            <a:off x="548640" y="1307592"/>
            <a:ext cx="10424160" cy="320040"/>
          </a:xfrm>
          <a:prstGeom prst="rect">
            <a:avLst/>
          </a:prstGeom>
          <a:noFill/>
          <a:ln/>
        </p:spPr>
        <p:txBody>
          <a:bodyPr wrap="square" lIns="0" tIns="0" rIns="0" bIns="0" rtlCol="0" anchor="t"/>
          <a:lstStyle/>
          <a:p>
            <a:pPr indent="0" marL="0">
              <a:lnSpc>
                <a:spcPct val="100000"/>
              </a:lnSpc>
              <a:buNone/>
            </a:pPr>
            <a:r>
              <a:rPr lang="en-US" sz="1500" dirty="0">
                <a:solidFill>
                  <a:srgbClr val="5A6274"/>
                </a:solidFill>
                <a:latin typeface="Arial" pitchFamily="34" charset="0"/>
                <a:ea typeface="Arial" pitchFamily="34" charset="-122"/>
                <a:cs typeface="Arial" pitchFamily="34" charset="-120"/>
              </a:rPr>
              <a:t>El usuario reporta solo algunos mensajes. Probamos cuatro niveles, de todos a 1 de cada 20.</a:t>
            </a:r>
            <a:endParaRPr lang="en-US" sz="1500" dirty="0"/>
          </a:p>
        </p:txBody>
      </p:sp>
      <p:sp>
        <p:nvSpPr>
          <p:cNvPr id="5" name="Text 3"/>
          <p:cNvSpPr txBox="1"/>
          <p:nvPr/>
        </p:nvSpPr>
        <p:spPr>
          <a:xfrm>
            <a:off x="9235440" y="429768"/>
            <a:ext cx="1554480" cy="201168"/>
          </a:xfrm>
          <a:prstGeom prst="rect">
            <a:avLst/>
          </a:prstGeom>
          <a:noFill/>
          <a:ln/>
        </p:spPr>
        <p:txBody>
          <a:bodyPr wrap="square" lIns="0" tIns="0" rIns="0" bIns="0" rtlCol="0" anchor="t"/>
          <a:lstStyle/>
          <a:p>
            <a:pPr algn="r" indent="0" marL="0">
              <a:lnSpc>
                <a:spcPct val="100000"/>
              </a:lnSpc>
              <a:buNone/>
            </a:pPr>
            <a:r>
              <a:rPr lang="en-US" sz="900" b="1" spc="200" kern="0" dirty="0">
                <a:solidFill>
                  <a:srgbClr val="9AA1AE"/>
                </a:solidFill>
                <a:latin typeface="Arial" pitchFamily="34" charset="0"/>
                <a:ea typeface="Arial" pitchFamily="34" charset="-122"/>
                <a:cs typeface="Arial" pitchFamily="34" charset="-120"/>
              </a:rPr>
              <a:t>HALLAZGOS</a:t>
            </a:r>
            <a:endParaRPr lang="en-US" sz="900" dirty="0"/>
          </a:p>
        </p:txBody>
      </p:sp>
      <p:sp>
        <p:nvSpPr>
          <p:cNvPr id="6" name="hallazgo 1"/>
          <p:cNvSpPr/>
          <p:nvPr/>
        </p:nvSpPr>
        <p:spPr>
          <a:xfrm>
            <a:off x="10899648" y="457200"/>
            <a:ext cx="137160" cy="137160"/>
          </a:xfrm>
          <a:prstGeom prst="ellipse">
            <a:avLst/>
          </a:prstGeom>
          <a:ln w="15875">
            <a:solidFill>
              <a:srgbClr val="9AA1AE"/>
            </a:solidFill>
            <a:prstDash val="solid"/>
          </a:ln>
        </p:spPr>
      </p:sp>
      <p:sp>
        <p:nvSpPr>
          <p:cNvPr id="7" name="hallazgo 2 (actual)"/>
          <p:cNvSpPr/>
          <p:nvPr/>
        </p:nvSpPr>
        <p:spPr>
          <a:xfrm>
            <a:off x="11100816" y="457200"/>
            <a:ext cx="137160" cy="137160"/>
          </a:xfrm>
          <a:prstGeom prst="ellipse">
            <a:avLst/>
          </a:prstGeom>
          <a:solidFill>
            <a:srgbClr val="1F2430"/>
          </a:solidFill>
          <a:ln/>
        </p:spPr>
      </p:sp>
      <p:sp>
        <p:nvSpPr>
          <p:cNvPr id="8" name="hallazgo 3"/>
          <p:cNvSpPr/>
          <p:nvPr/>
        </p:nvSpPr>
        <p:spPr>
          <a:xfrm>
            <a:off x="11301984" y="457200"/>
            <a:ext cx="137160" cy="137160"/>
          </a:xfrm>
          <a:prstGeom prst="ellipse">
            <a:avLst/>
          </a:prstGeom>
          <a:ln w="15875">
            <a:solidFill>
              <a:srgbClr val="9AA1AE"/>
            </a:solidFill>
            <a:prstDash val="solid"/>
          </a:ln>
        </p:spPr>
      </p:sp>
      <p:sp>
        <p:nvSpPr>
          <p:cNvPr id="9" name="hallazgo 4"/>
          <p:cNvSpPr/>
          <p:nvPr/>
        </p:nvSpPr>
        <p:spPr>
          <a:xfrm>
            <a:off x="11503152" y="457200"/>
            <a:ext cx="137160" cy="137160"/>
          </a:xfrm>
          <a:prstGeom prst="ellipse">
            <a:avLst/>
          </a:prstGeom>
          <a:ln w="15875">
            <a:solidFill>
              <a:srgbClr val="9AA1AE"/>
            </a:solidFill>
            <a:prstDash val="solid"/>
          </a:ln>
        </p:spPr>
      </p:sp>
      <p:sp>
        <p:nvSpPr>
          <p:cNvPr id="10" name="Text 8"/>
          <p:cNvSpPr txBox="1"/>
          <p:nvPr/>
        </p:nvSpPr>
        <p:spPr>
          <a:xfrm>
            <a:off x="2057400" y="1920240"/>
            <a:ext cx="4389120" cy="228600"/>
          </a:xfrm>
          <a:prstGeom prst="rect">
            <a:avLst/>
          </a:prstGeom>
          <a:noFill/>
          <a:ln/>
        </p:spPr>
        <p:txBody>
          <a:bodyPr wrap="square" lIns="0" tIns="0" rIns="0" bIns="0" rtlCol="0" anchor="t"/>
          <a:lstStyle/>
          <a:p>
            <a:pPr indent="0" marL="0">
              <a:lnSpc>
                <a:spcPct val="100000"/>
              </a:lnSpc>
              <a:buNone/>
            </a:pPr>
            <a:r>
              <a:rPr lang="en-US" sz="1000" b="1" spc="100" kern="0" dirty="0">
                <a:solidFill>
                  <a:srgbClr val="5A6274"/>
                </a:solidFill>
                <a:latin typeface="Arial" pitchFamily="34" charset="0"/>
                <a:ea typeface="Arial" pitchFamily="34" charset="-122"/>
                <a:cs typeface="Arial" pitchFamily="34" charset="-120"/>
              </a:rPr>
              <a:t>20 MENSAJES SEGUIDOS DEL STREAM</a:t>
            </a:r>
            <a:endParaRPr lang="en-US" sz="1000" dirty="0"/>
          </a:p>
        </p:txBody>
      </p:sp>
      <p:sp>
        <p:nvSpPr>
          <p:cNvPr id="11" name="Text 9"/>
          <p:cNvSpPr txBox="1"/>
          <p:nvPr/>
        </p:nvSpPr>
        <p:spPr>
          <a:xfrm>
            <a:off x="6583680" y="1810512"/>
            <a:ext cx="1463040" cy="365760"/>
          </a:xfrm>
          <a:prstGeom prst="rect">
            <a:avLst/>
          </a:prstGeom>
          <a:noFill/>
          <a:ln/>
        </p:spPr>
        <p:txBody>
          <a:bodyPr wrap="square" lIns="0" tIns="0" rIns="0" bIns="0" rtlCol="0" anchor="t"/>
          <a:lstStyle/>
          <a:p>
            <a:pPr indent="0" marL="0">
              <a:lnSpc>
                <a:spcPct val="100000"/>
              </a:lnSpc>
              <a:buNone/>
            </a:pPr>
            <a:r>
              <a:rPr lang="en-US" sz="900" b="1" spc="100" kern="0" dirty="0">
                <a:solidFill>
                  <a:srgbClr val="5A6274"/>
                </a:solidFill>
                <a:latin typeface="Arial" pitchFamily="34" charset="0"/>
                <a:ea typeface="Arial" pitchFamily="34" charset="-122"/>
                <a:cs typeface="Arial" pitchFamily="34" charset="-120"/>
              </a:rPr>
              <a:t>SPAMS ATACADOS CON ETIQUETA</a:t>
            </a:r>
            <a:endParaRPr lang="en-US" sz="900" dirty="0"/>
          </a:p>
        </p:txBody>
      </p:sp>
      <p:sp>
        <p:nvSpPr>
          <p:cNvPr id="12" name="Text 10"/>
          <p:cNvSpPr txBox="1"/>
          <p:nvPr/>
        </p:nvSpPr>
        <p:spPr>
          <a:xfrm>
            <a:off x="548640" y="2322576"/>
            <a:ext cx="1417320" cy="274320"/>
          </a:xfrm>
          <a:prstGeom prst="rect">
            <a:avLst/>
          </a:prstGeom>
          <a:noFill/>
          <a:ln/>
        </p:spPr>
        <p:txBody>
          <a:bodyPr wrap="square" lIns="0" tIns="0" rIns="0" bIns="0" rtlCol="0" anchor="t"/>
          <a:lstStyle/>
          <a:p>
            <a:pPr indent="0" marL="0">
              <a:lnSpc>
                <a:spcPct val="100000"/>
              </a:lnSpc>
              <a:buNone/>
            </a:pPr>
            <a:r>
              <a:rPr lang="en-US" sz="1500" b="1" dirty="0">
                <a:solidFill>
                  <a:srgbClr val="1F2430"/>
                </a:solidFill>
                <a:latin typeface="Arial" pitchFamily="34" charset="0"/>
                <a:ea typeface="Arial" pitchFamily="34" charset="-122"/>
                <a:cs typeface="Arial" pitchFamily="34" charset="-120"/>
              </a:rPr>
              <a:t>todos</a:t>
            </a:r>
            <a:endParaRPr lang="en-US" sz="1500" dirty="0"/>
          </a:p>
        </p:txBody>
      </p:sp>
      <p:sp>
        <p:nvSpPr>
          <p:cNvPr id="13" name="reportado todos 1"/>
          <p:cNvSpPr/>
          <p:nvPr/>
        </p:nvSpPr>
        <p:spPr>
          <a:xfrm>
            <a:off x="2057400" y="2377440"/>
            <a:ext cx="146304" cy="146304"/>
          </a:xfrm>
          <a:prstGeom prst="ellipse">
            <a:avLst/>
          </a:prstGeom>
          <a:solidFill>
            <a:srgbClr val="1F2430"/>
          </a:solidFill>
          <a:ln/>
        </p:spPr>
      </p:sp>
      <p:sp>
        <p:nvSpPr>
          <p:cNvPr id="14" name="reportado todos 2"/>
          <p:cNvSpPr/>
          <p:nvPr/>
        </p:nvSpPr>
        <p:spPr>
          <a:xfrm>
            <a:off x="2276856" y="2377440"/>
            <a:ext cx="146304" cy="146304"/>
          </a:xfrm>
          <a:prstGeom prst="ellipse">
            <a:avLst/>
          </a:prstGeom>
          <a:solidFill>
            <a:srgbClr val="1F2430"/>
          </a:solidFill>
          <a:ln/>
        </p:spPr>
      </p:sp>
      <p:sp>
        <p:nvSpPr>
          <p:cNvPr id="15" name="reportado todos 3"/>
          <p:cNvSpPr/>
          <p:nvPr/>
        </p:nvSpPr>
        <p:spPr>
          <a:xfrm>
            <a:off x="2496312" y="2377440"/>
            <a:ext cx="146304" cy="146304"/>
          </a:xfrm>
          <a:prstGeom prst="ellipse">
            <a:avLst/>
          </a:prstGeom>
          <a:solidFill>
            <a:srgbClr val="1F2430"/>
          </a:solidFill>
          <a:ln/>
        </p:spPr>
      </p:sp>
      <p:sp>
        <p:nvSpPr>
          <p:cNvPr id="16" name="reportado todos 4"/>
          <p:cNvSpPr/>
          <p:nvPr/>
        </p:nvSpPr>
        <p:spPr>
          <a:xfrm>
            <a:off x="2715768" y="2377440"/>
            <a:ext cx="146304" cy="146304"/>
          </a:xfrm>
          <a:prstGeom prst="ellipse">
            <a:avLst/>
          </a:prstGeom>
          <a:solidFill>
            <a:srgbClr val="1F2430"/>
          </a:solidFill>
          <a:ln/>
        </p:spPr>
      </p:sp>
      <p:sp>
        <p:nvSpPr>
          <p:cNvPr id="17" name="reportado todos 5"/>
          <p:cNvSpPr/>
          <p:nvPr/>
        </p:nvSpPr>
        <p:spPr>
          <a:xfrm>
            <a:off x="2935224" y="2377440"/>
            <a:ext cx="146304" cy="146304"/>
          </a:xfrm>
          <a:prstGeom prst="ellipse">
            <a:avLst/>
          </a:prstGeom>
          <a:solidFill>
            <a:srgbClr val="1F2430"/>
          </a:solidFill>
          <a:ln/>
        </p:spPr>
      </p:sp>
      <p:sp>
        <p:nvSpPr>
          <p:cNvPr id="18" name="reportado todos 6"/>
          <p:cNvSpPr/>
          <p:nvPr/>
        </p:nvSpPr>
        <p:spPr>
          <a:xfrm>
            <a:off x="3154680" y="2377440"/>
            <a:ext cx="146304" cy="146304"/>
          </a:xfrm>
          <a:prstGeom prst="ellipse">
            <a:avLst/>
          </a:prstGeom>
          <a:solidFill>
            <a:srgbClr val="1F2430"/>
          </a:solidFill>
          <a:ln/>
        </p:spPr>
      </p:sp>
      <p:sp>
        <p:nvSpPr>
          <p:cNvPr id="19" name="reportado todos 7"/>
          <p:cNvSpPr/>
          <p:nvPr/>
        </p:nvSpPr>
        <p:spPr>
          <a:xfrm>
            <a:off x="3374136" y="2377440"/>
            <a:ext cx="146304" cy="146304"/>
          </a:xfrm>
          <a:prstGeom prst="ellipse">
            <a:avLst/>
          </a:prstGeom>
          <a:solidFill>
            <a:srgbClr val="1F2430"/>
          </a:solidFill>
          <a:ln/>
        </p:spPr>
      </p:sp>
      <p:sp>
        <p:nvSpPr>
          <p:cNvPr id="20" name="reportado todos 8"/>
          <p:cNvSpPr/>
          <p:nvPr/>
        </p:nvSpPr>
        <p:spPr>
          <a:xfrm>
            <a:off x="3593592" y="2377440"/>
            <a:ext cx="146304" cy="146304"/>
          </a:xfrm>
          <a:prstGeom prst="ellipse">
            <a:avLst/>
          </a:prstGeom>
          <a:solidFill>
            <a:srgbClr val="1F2430"/>
          </a:solidFill>
          <a:ln/>
        </p:spPr>
      </p:sp>
      <p:sp>
        <p:nvSpPr>
          <p:cNvPr id="21" name="reportado todos 9"/>
          <p:cNvSpPr/>
          <p:nvPr/>
        </p:nvSpPr>
        <p:spPr>
          <a:xfrm>
            <a:off x="3813048" y="2377440"/>
            <a:ext cx="146304" cy="146304"/>
          </a:xfrm>
          <a:prstGeom prst="ellipse">
            <a:avLst/>
          </a:prstGeom>
          <a:solidFill>
            <a:srgbClr val="1F2430"/>
          </a:solidFill>
          <a:ln/>
        </p:spPr>
      </p:sp>
      <p:sp>
        <p:nvSpPr>
          <p:cNvPr id="22" name="reportado todos 10"/>
          <p:cNvSpPr/>
          <p:nvPr/>
        </p:nvSpPr>
        <p:spPr>
          <a:xfrm>
            <a:off x="4032504" y="2377440"/>
            <a:ext cx="146304" cy="146304"/>
          </a:xfrm>
          <a:prstGeom prst="ellipse">
            <a:avLst/>
          </a:prstGeom>
          <a:solidFill>
            <a:srgbClr val="1F2430"/>
          </a:solidFill>
          <a:ln/>
        </p:spPr>
      </p:sp>
      <p:sp>
        <p:nvSpPr>
          <p:cNvPr id="23" name="reportado todos 11"/>
          <p:cNvSpPr/>
          <p:nvPr/>
        </p:nvSpPr>
        <p:spPr>
          <a:xfrm>
            <a:off x="4251960" y="2377440"/>
            <a:ext cx="146304" cy="146304"/>
          </a:xfrm>
          <a:prstGeom prst="ellipse">
            <a:avLst/>
          </a:prstGeom>
          <a:solidFill>
            <a:srgbClr val="1F2430"/>
          </a:solidFill>
          <a:ln/>
        </p:spPr>
      </p:sp>
      <p:sp>
        <p:nvSpPr>
          <p:cNvPr id="24" name="reportado todos 12"/>
          <p:cNvSpPr/>
          <p:nvPr/>
        </p:nvSpPr>
        <p:spPr>
          <a:xfrm>
            <a:off x="4471416" y="2377440"/>
            <a:ext cx="146304" cy="146304"/>
          </a:xfrm>
          <a:prstGeom prst="ellipse">
            <a:avLst/>
          </a:prstGeom>
          <a:solidFill>
            <a:srgbClr val="1F2430"/>
          </a:solidFill>
          <a:ln/>
        </p:spPr>
      </p:sp>
      <p:sp>
        <p:nvSpPr>
          <p:cNvPr id="25" name="reportado todos 13"/>
          <p:cNvSpPr/>
          <p:nvPr/>
        </p:nvSpPr>
        <p:spPr>
          <a:xfrm>
            <a:off x="4690872" y="2377440"/>
            <a:ext cx="146304" cy="146304"/>
          </a:xfrm>
          <a:prstGeom prst="ellipse">
            <a:avLst/>
          </a:prstGeom>
          <a:solidFill>
            <a:srgbClr val="1F2430"/>
          </a:solidFill>
          <a:ln/>
        </p:spPr>
      </p:sp>
      <p:sp>
        <p:nvSpPr>
          <p:cNvPr id="26" name="reportado todos 14"/>
          <p:cNvSpPr/>
          <p:nvPr/>
        </p:nvSpPr>
        <p:spPr>
          <a:xfrm>
            <a:off x="4910328" y="2377440"/>
            <a:ext cx="146304" cy="146304"/>
          </a:xfrm>
          <a:prstGeom prst="ellipse">
            <a:avLst/>
          </a:prstGeom>
          <a:solidFill>
            <a:srgbClr val="1F2430"/>
          </a:solidFill>
          <a:ln/>
        </p:spPr>
      </p:sp>
      <p:sp>
        <p:nvSpPr>
          <p:cNvPr id="27" name="reportado todos 15"/>
          <p:cNvSpPr/>
          <p:nvPr/>
        </p:nvSpPr>
        <p:spPr>
          <a:xfrm>
            <a:off x="5129784" y="2377440"/>
            <a:ext cx="146304" cy="146304"/>
          </a:xfrm>
          <a:prstGeom prst="ellipse">
            <a:avLst/>
          </a:prstGeom>
          <a:solidFill>
            <a:srgbClr val="1F2430"/>
          </a:solidFill>
          <a:ln/>
        </p:spPr>
      </p:sp>
      <p:sp>
        <p:nvSpPr>
          <p:cNvPr id="28" name="reportado todos 16"/>
          <p:cNvSpPr/>
          <p:nvPr/>
        </p:nvSpPr>
        <p:spPr>
          <a:xfrm>
            <a:off x="5349240" y="2377440"/>
            <a:ext cx="146304" cy="146304"/>
          </a:xfrm>
          <a:prstGeom prst="ellipse">
            <a:avLst/>
          </a:prstGeom>
          <a:solidFill>
            <a:srgbClr val="1F2430"/>
          </a:solidFill>
          <a:ln/>
        </p:spPr>
      </p:sp>
      <p:sp>
        <p:nvSpPr>
          <p:cNvPr id="29" name="reportado todos 17"/>
          <p:cNvSpPr/>
          <p:nvPr/>
        </p:nvSpPr>
        <p:spPr>
          <a:xfrm>
            <a:off x="5568696" y="2377440"/>
            <a:ext cx="146304" cy="146304"/>
          </a:xfrm>
          <a:prstGeom prst="ellipse">
            <a:avLst/>
          </a:prstGeom>
          <a:solidFill>
            <a:srgbClr val="1F2430"/>
          </a:solidFill>
          <a:ln/>
        </p:spPr>
      </p:sp>
      <p:sp>
        <p:nvSpPr>
          <p:cNvPr id="30" name="reportado todos 18"/>
          <p:cNvSpPr/>
          <p:nvPr/>
        </p:nvSpPr>
        <p:spPr>
          <a:xfrm>
            <a:off x="5788152" y="2377440"/>
            <a:ext cx="146304" cy="146304"/>
          </a:xfrm>
          <a:prstGeom prst="ellipse">
            <a:avLst/>
          </a:prstGeom>
          <a:solidFill>
            <a:srgbClr val="1F2430"/>
          </a:solidFill>
          <a:ln/>
        </p:spPr>
      </p:sp>
      <p:sp>
        <p:nvSpPr>
          <p:cNvPr id="31" name="reportado todos 19"/>
          <p:cNvSpPr/>
          <p:nvPr/>
        </p:nvSpPr>
        <p:spPr>
          <a:xfrm>
            <a:off x="6007608" y="2377440"/>
            <a:ext cx="146304" cy="146304"/>
          </a:xfrm>
          <a:prstGeom prst="ellipse">
            <a:avLst/>
          </a:prstGeom>
          <a:solidFill>
            <a:srgbClr val="1F2430"/>
          </a:solidFill>
          <a:ln/>
        </p:spPr>
      </p:sp>
      <p:sp>
        <p:nvSpPr>
          <p:cNvPr id="32" name="reportado todos 20"/>
          <p:cNvSpPr/>
          <p:nvPr/>
        </p:nvSpPr>
        <p:spPr>
          <a:xfrm>
            <a:off x="6227064" y="2377440"/>
            <a:ext cx="146304" cy="146304"/>
          </a:xfrm>
          <a:prstGeom prst="ellipse">
            <a:avLst/>
          </a:prstGeom>
          <a:solidFill>
            <a:srgbClr val="1F2430"/>
          </a:solidFill>
          <a:ln/>
        </p:spPr>
      </p:sp>
      <p:sp>
        <p:nvSpPr>
          <p:cNvPr id="33" name="Text 31"/>
          <p:cNvSpPr txBox="1"/>
          <p:nvPr/>
        </p:nvSpPr>
        <p:spPr>
          <a:xfrm>
            <a:off x="6583680" y="2286000"/>
            <a:ext cx="1371600" cy="329184"/>
          </a:xfrm>
          <a:prstGeom prst="rect">
            <a:avLst/>
          </a:prstGeom>
          <a:noFill/>
          <a:ln/>
        </p:spPr>
        <p:txBody>
          <a:bodyPr wrap="square" lIns="0" tIns="0" rIns="0" bIns="0" rtlCol="0" anchor="t"/>
          <a:lstStyle/>
          <a:p>
            <a:pPr indent="0" marL="0">
              <a:lnSpc>
                <a:spcPct val="100000"/>
              </a:lnSpc>
              <a:buNone/>
            </a:pPr>
            <a:r>
              <a:rPr lang="en-US" sz="2000" b="1" dirty="0">
                <a:solidFill>
                  <a:srgbClr val="1F2430"/>
                </a:solidFill>
                <a:latin typeface="Arial" pitchFamily="34" charset="0"/>
                <a:ea typeface="Arial" pitchFamily="34" charset="-122"/>
                <a:cs typeface="Arial" pitchFamily="34" charset="-120"/>
              </a:rPr>
              <a:t>305</a:t>
            </a:r>
            <a:endParaRPr lang="en-US" sz="2000" dirty="0"/>
          </a:p>
        </p:txBody>
      </p:sp>
      <p:sp>
        <p:nvSpPr>
          <p:cNvPr id="34" name="Text 32"/>
          <p:cNvSpPr txBox="1"/>
          <p:nvPr/>
        </p:nvSpPr>
        <p:spPr>
          <a:xfrm>
            <a:off x="548640" y="2980944"/>
            <a:ext cx="1417320" cy="274320"/>
          </a:xfrm>
          <a:prstGeom prst="rect">
            <a:avLst/>
          </a:prstGeom>
          <a:noFill/>
          <a:ln/>
        </p:spPr>
        <p:txBody>
          <a:bodyPr wrap="square" lIns="0" tIns="0" rIns="0" bIns="0" rtlCol="0" anchor="t"/>
          <a:lstStyle/>
          <a:p>
            <a:pPr indent="0" marL="0">
              <a:lnSpc>
                <a:spcPct val="100000"/>
              </a:lnSpc>
              <a:buNone/>
            </a:pPr>
            <a:r>
              <a:rPr lang="en-US" sz="1500" b="1" dirty="0">
                <a:solidFill>
                  <a:srgbClr val="1F2430"/>
                </a:solidFill>
                <a:latin typeface="Arial" pitchFamily="34" charset="0"/>
                <a:ea typeface="Arial" pitchFamily="34" charset="-122"/>
                <a:cs typeface="Arial" pitchFamily="34" charset="-120"/>
              </a:rPr>
              <a:t>1 de cada 2</a:t>
            </a:r>
            <a:endParaRPr lang="en-US" sz="1500" dirty="0"/>
          </a:p>
        </p:txBody>
      </p:sp>
      <p:sp>
        <p:nvSpPr>
          <p:cNvPr id="35" name="reportado 1 de cada 2 1"/>
          <p:cNvSpPr/>
          <p:nvPr/>
        </p:nvSpPr>
        <p:spPr>
          <a:xfrm>
            <a:off x="2057400" y="3035808"/>
            <a:ext cx="146304" cy="146304"/>
          </a:xfrm>
          <a:prstGeom prst="ellipse">
            <a:avLst/>
          </a:prstGeom>
          <a:solidFill>
            <a:srgbClr val="1F2430"/>
          </a:solidFill>
          <a:ln/>
        </p:spPr>
      </p:sp>
      <p:sp>
        <p:nvSpPr>
          <p:cNvPr id="36" name="sin reportar 1 de cada 2 2"/>
          <p:cNvSpPr/>
          <p:nvPr/>
        </p:nvSpPr>
        <p:spPr>
          <a:xfrm>
            <a:off x="2276856" y="3035808"/>
            <a:ext cx="146304" cy="146304"/>
          </a:xfrm>
          <a:prstGeom prst="ellipse">
            <a:avLst/>
          </a:prstGeom>
          <a:ln w="15875">
            <a:solidFill>
              <a:srgbClr val="9AA1AE"/>
            </a:solidFill>
            <a:prstDash val="solid"/>
          </a:ln>
        </p:spPr>
      </p:sp>
      <p:sp>
        <p:nvSpPr>
          <p:cNvPr id="37" name="reportado 1 de cada 2 3"/>
          <p:cNvSpPr/>
          <p:nvPr/>
        </p:nvSpPr>
        <p:spPr>
          <a:xfrm>
            <a:off x="2496312" y="3035808"/>
            <a:ext cx="146304" cy="146304"/>
          </a:xfrm>
          <a:prstGeom prst="ellipse">
            <a:avLst/>
          </a:prstGeom>
          <a:solidFill>
            <a:srgbClr val="1F2430"/>
          </a:solidFill>
          <a:ln/>
        </p:spPr>
      </p:sp>
      <p:sp>
        <p:nvSpPr>
          <p:cNvPr id="38" name="sin reportar 1 de cada 2 4"/>
          <p:cNvSpPr/>
          <p:nvPr/>
        </p:nvSpPr>
        <p:spPr>
          <a:xfrm>
            <a:off x="2715768" y="3035808"/>
            <a:ext cx="146304" cy="146304"/>
          </a:xfrm>
          <a:prstGeom prst="ellipse">
            <a:avLst/>
          </a:prstGeom>
          <a:ln w="15875">
            <a:solidFill>
              <a:srgbClr val="9AA1AE"/>
            </a:solidFill>
            <a:prstDash val="solid"/>
          </a:ln>
        </p:spPr>
      </p:sp>
      <p:sp>
        <p:nvSpPr>
          <p:cNvPr id="39" name="reportado 1 de cada 2 5"/>
          <p:cNvSpPr/>
          <p:nvPr/>
        </p:nvSpPr>
        <p:spPr>
          <a:xfrm>
            <a:off x="2935224" y="3035808"/>
            <a:ext cx="146304" cy="146304"/>
          </a:xfrm>
          <a:prstGeom prst="ellipse">
            <a:avLst/>
          </a:prstGeom>
          <a:solidFill>
            <a:srgbClr val="1F2430"/>
          </a:solidFill>
          <a:ln/>
        </p:spPr>
      </p:sp>
      <p:sp>
        <p:nvSpPr>
          <p:cNvPr id="40" name="sin reportar 1 de cada 2 6"/>
          <p:cNvSpPr/>
          <p:nvPr/>
        </p:nvSpPr>
        <p:spPr>
          <a:xfrm>
            <a:off x="3154680" y="3035808"/>
            <a:ext cx="146304" cy="146304"/>
          </a:xfrm>
          <a:prstGeom prst="ellipse">
            <a:avLst/>
          </a:prstGeom>
          <a:ln w="15875">
            <a:solidFill>
              <a:srgbClr val="9AA1AE"/>
            </a:solidFill>
            <a:prstDash val="solid"/>
          </a:ln>
        </p:spPr>
      </p:sp>
      <p:sp>
        <p:nvSpPr>
          <p:cNvPr id="41" name="reportado 1 de cada 2 7"/>
          <p:cNvSpPr/>
          <p:nvPr/>
        </p:nvSpPr>
        <p:spPr>
          <a:xfrm>
            <a:off x="3374136" y="3035808"/>
            <a:ext cx="146304" cy="146304"/>
          </a:xfrm>
          <a:prstGeom prst="ellipse">
            <a:avLst/>
          </a:prstGeom>
          <a:solidFill>
            <a:srgbClr val="1F2430"/>
          </a:solidFill>
          <a:ln/>
        </p:spPr>
      </p:sp>
      <p:sp>
        <p:nvSpPr>
          <p:cNvPr id="42" name="sin reportar 1 de cada 2 8"/>
          <p:cNvSpPr/>
          <p:nvPr/>
        </p:nvSpPr>
        <p:spPr>
          <a:xfrm>
            <a:off x="3593592" y="3035808"/>
            <a:ext cx="146304" cy="146304"/>
          </a:xfrm>
          <a:prstGeom prst="ellipse">
            <a:avLst/>
          </a:prstGeom>
          <a:ln w="15875">
            <a:solidFill>
              <a:srgbClr val="9AA1AE"/>
            </a:solidFill>
            <a:prstDash val="solid"/>
          </a:ln>
        </p:spPr>
      </p:sp>
      <p:sp>
        <p:nvSpPr>
          <p:cNvPr id="43" name="reportado 1 de cada 2 9"/>
          <p:cNvSpPr/>
          <p:nvPr/>
        </p:nvSpPr>
        <p:spPr>
          <a:xfrm>
            <a:off x="3813048" y="3035808"/>
            <a:ext cx="146304" cy="146304"/>
          </a:xfrm>
          <a:prstGeom prst="ellipse">
            <a:avLst/>
          </a:prstGeom>
          <a:solidFill>
            <a:srgbClr val="1F2430"/>
          </a:solidFill>
          <a:ln/>
        </p:spPr>
      </p:sp>
      <p:sp>
        <p:nvSpPr>
          <p:cNvPr id="44" name="sin reportar 1 de cada 2 10"/>
          <p:cNvSpPr/>
          <p:nvPr/>
        </p:nvSpPr>
        <p:spPr>
          <a:xfrm>
            <a:off x="4032504" y="3035808"/>
            <a:ext cx="146304" cy="146304"/>
          </a:xfrm>
          <a:prstGeom prst="ellipse">
            <a:avLst/>
          </a:prstGeom>
          <a:ln w="15875">
            <a:solidFill>
              <a:srgbClr val="9AA1AE"/>
            </a:solidFill>
            <a:prstDash val="solid"/>
          </a:ln>
        </p:spPr>
      </p:sp>
      <p:sp>
        <p:nvSpPr>
          <p:cNvPr id="45" name="reportado 1 de cada 2 11"/>
          <p:cNvSpPr/>
          <p:nvPr/>
        </p:nvSpPr>
        <p:spPr>
          <a:xfrm>
            <a:off x="4251960" y="3035808"/>
            <a:ext cx="146304" cy="146304"/>
          </a:xfrm>
          <a:prstGeom prst="ellipse">
            <a:avLst/>
          </a:prstGeom>
          <a:solidFill>
            <a:srgbClr val="1F2430"/>
          </a:solidFill>
          <a:ln/>
        </p:spPr>
      </p:sp>
      <p:sp>
        <p:nvSpPr>
          <p:cNvPr id="46" name="sin reportar 1 de cada 2 12"/>
          <p:cNvSpPr/>
          <p:nvPr/>
        </p:nvSpPr>
        <p:spPr>
          <a:xfrm>
            <a:off x="4471416" y="3035808"/>
            <a:ext cx="146304" cy="146304"/>
          </a:xfrm>
          <a:prstGeom prst="ellipse">
            <a:avLst/>
          </a:prstGeom>
          <a:ln w="15875">
            <a:solidFill>
              <a:srgbClr val="9AA1AE"/>
            </a:solidFill>
            <a:prstDash val="solid"/>
          </a:ln>
        </p:spPr>
      </p:sp>
      <p:sp>
        <p:nvSpPr>
          <p:cNvPr id="47" name="reportado 1 de cada 2 13"/>
          <p:cNvSpPr/>
          <p:nvPr/>
        </p:nvSpPr>
        <p:spPr>
          <a:xfrm>
            <a:off x="4690872" y="3035808"/>
            <a:ext cx="146304" cy="146304"/>
          </a:xfrm>
          <a:prstGeom prst="ellipse">
            <a:avLst/>
          </a:prstGeom>
          <a:solidFill>
            <a:srgbClr val="1F2430"/>
          </a:solidFill>
          <a:ln/>
        </p:spPr>
      </p:sp>
      <p:sp>
        <p:nvSpPr>
          <p:cNvPr id="48" name="sin reportar 1 de cada 2 14"/>
          <p:cNvSpPr/>
          <p:nvPr/>
        </p:nvSpPr>
        <p:spPr>
          <a:xfrm>
            <a:off x="4910328" y="3035808"/>
            <a:ext cx="146304" cy="146304"/>
          </a:xfrm>
          <a:prstGeom prst="ellipse">
            <a:avLst/>
          </a:prstGeom>
          <a:ln w="15875">
            <a:solidFill>
              <a:srgbClr val="9AA1AE"/>
            </a:solidFill>
            <a:prstDash val="solid"/>
          </a:ln>
        </p:spPr>
      </p:sp>
      <p:sp>
        <p:nvSpPr>
          <p:cNvPr id="49" name="reportado 1 de cada 2 15"/>
          <p:cNvSpPr/>
          <p:nvPr/>
        </p:nvSpPr>
        <p:spPr>
          <a:xfrm>
            <a:off x="5129784" y="3035808"/>
            <a:ext cx="146304" cy="146304"/>
          </a:xfrm>
          <a:prstGeom prst="ellipse">
            <a:avLst/>
          </a:prstGeom>
          <a:solidFill>
            <a:srgbClr val="1F2430"/>
          </a:solidFill>
          <a:ln/>
        </p:spPr>
      </p:sp>
      <p:sp>
        <p:nvSpPr>
          <p:cNvPr id="50" name="sin reportar 1 de cada 2 16"/>
          <p:cNvSpPr/>
          <p:nvPr/>
        </p:nvSpPr>
        <p:spPr>
          <a:xfrm>
            <a:off x="5349240" y="3035808"/>
            <a:ext cx="146304" cy="146304"/>
          </a:xfrm>
          <a:prstGeom prst="ellipse">
            <a:avLst/>
          </a:prstGeom>
          <a:ln w="15875">
            <a:solidFill>
              <a:srgbClr val="9AA1AE"/>
            </a:solidFill>
            <a:prstDash val="solid"/>
          </a:ln>
        </p:spPr>
      </p:sp>
      <p:sp>
        <p:nvSpPr>
          <p:cNvPr id="51" name="reportado 1 de cada 2 17"/>
          <p:cNvSpPr/>
          <p:nvPr/>
        </p:nvSpPr>
        <p:spPr>
          <a:xfrm>
            <a:off x="5568696" y="3035808"/>
            <a:ext cx="146304" cy="146304"/>
          </a:xfrm>
          <a:prstGeom prst="ellipse">
            <a:avLst/>
          </a:prstGeom>
          <a:solidFill>
            <a:srgbClr val="1F2430"/>
          </a:solidFill>
          <a:ln/>
        </p:spPr>
      </p:sp>
      <p:sp>
        <p:nvSpPr>
          <p:cNvPr id="52" name="sin reportar 1 de cada 2 18"/>
          <p:cNvSpPr/>
          <p:nvPr/>
        </p:nvSpPr>
        <p:spPr>
          <a:xfrm>
            <a:off x="5788152" y="3035808"/>
            <a:ext cx="146304" cy="146304"/>
          </a:xfrm>
          <a:prstGeom prst="ellipse">
            <a:avLst/>
          </a:prstGeom>
          <a:ln w="15875">
            <a:solidFill>
              <a:srgbClr val="9AA1AE"/>
            </a:solidFill>
            <a:prstDash val="solid"/>
          </a:ln>
        </p:spPr>
      </p:sp>
      <p:sp>
        <p:nvSpPr>
          <p:cNvPr id="53" name="reportado 1 de cada 2 19"/>
          <p:cNvSpPr/>
          <p:nvPr/>
        </p:nvSpPr>
        <p:spPr>
          <a:xfrm>
            <a:off x="6007608" y="3035808"/>
            <a:ext cx="146304" cy="146304"/>
          </a:xfrm>
          <a:prstGeom prst="ellipse">
            <a:avLst/>
          </a:prstGeom>
          <a:solidFill>
            <a:srgbClr val="1F2430"/>
          </a:solidFill>
          <a:ln/>
        </p:spPr>
      </p:sp>
      <p:sp>
        <p:nvSpPr>
          <p:cNvPr id="54" name="sin reportar 1 de cada 2 20"/>
          <p:cNvSpPr/>
          <p:nvPr/>
        </p:nvSpPr>
        <p:spPr>
          <a:xfrm>
            <a:off x="6227064" y="3035808"/>
            <a:ext cx="146304" cy="146304"/>
          </a:xfrm>
          <a:prstGeom prst="ellipse">
            <a:avLst/>
          </a:prstGeom>
          <a:ln w="15875">
            <a:solidFill>
              <a:srgbClr val="9AA1AE"/>
            </a:solidFill>
            <a:prstDash val="solid"/>
          </a:ln>
        </p:spPr>
      </p:sp>
      <p:sp>
        <p:nvSpPr>
          <p:cNvPr id="55" name="Text 53"/>
          <p:cNvSpPr txBox="1"/>
          <p:nvPr/>
        </p:nvSpPr>
        <p:spPr>
          <a:xfrm>
            <a:off x="6583680" y="2944368"/>
            <a:ext cx="1371600" cy="329184"/>
          </a:xfrm>
          <a:prstGeom prst="rect">
            <a:avLst/>
          </a:prstGeom>
          <a:noFill/>
          <a:ln/>
        </p:spPr>
        <p:txBody>
          <a:bodyPr wrap="square" lIns="0" tIns="0" rIns="0" bIns="0" rtlCol="0" anchor="t"/>
          <a:lstStyle/>
          <a:p>
            <a:pPr indent="0" marL="0">
              <a:lnSpc>
                <a:spcPct val="100000"/>
              </a:lnSpc>
              <a:buNone/>
            </a:pPr>
            <a:r>
              <a:rPr lang="en-US" sz="2000" b="1" dirty="0">
                <a:solidFill>
                  <a:srgbClr val="1F2430"/>
                </a:solidFill>
                <a:latin typeface="Arial" pitchFamily="34" charset="0"/>
                <a:ea typeface="Arial" pitchFamily="34" charset="-122"/>
                <a:cs typeface="Arial" pitchFamily="34" charset="-120"/>
              </a:rPr>
              <a:t>≈ 152</a:t>
            </a:r>
            <a:endParaRPr lang="en-US" sz="2000" dirty="0"/>
          </a:p>
        </p:txBody>
      </p:sp>
      <p:sp>
        <p:nvSpPr>
          <p:cNvPr id="56" name="Text 54"/>
          <p:cNvSpPr txBox="1"/>
          <p:nvPr/>
        </p:nvSpPr>
        <p:spPr>
          <a:xfrm>
            <a:off x="548640" y="3639312"/>
            <a:ext cx="1417320" cy="274320"/>
          </a:xfrm>
          <a:prstGeom prst="rect">
            <a:avLst/>
          </a:prstGeom>
          <a:noFill/>
          <a:ln/>
        </p:spPr>
        <p:txBody>
          <a:bodyPr wrap="square" lIns="0" tIns="0" rIns="0" bIns="0" rtlCol="0" anchor="t"/>
          <a:lstStyle/>
          <a:p>
            <a:pPr indent="0" marL="0">
              <a:lnSpc>
                <a:spcPct val="100000"/>
              </a:lnSpc>
              <a:buNone/>
            </a:pPr>
            <a:r>
              <a:rPr lang="en-US" sz="1500" b="1" dirty="0">
                <a:solidFill>
                  <a:srgbClr val="1F2430"/>
                </a:solidFill>
                <a:latin typeface="Arial" pitchFamily="34" charset="0"/>
                <a:ea typeface="Arial" pitchFamily="34" charset="-122"/>
                <a:cs typeface="Arial" pitchFamily="34" charset="-120"/>
              </a:rPr>
              <a:t>1 de cada 5</a:t>
            </a:r>
            <a:endParaRPr lang="en-US" sz="1500" dirty="0"/>
          </a:p>
        </p:txBody>
      </p:sp>
      <p:sp>
        <p:nvSpPr>
          <p:cNvPr id="57" name="reportado 1 de cada 5 1"/>
          <p:cNvSpPr/>
          <p:nvPr/>
        </p:nvSpPr>
        <p:spPr>
          <a:xfrm>
            <a:off x="2057400" y="3694176"/>
            <a:ext cx="146304" cy="146304"/>
          </a:xfrm>
          <a:prstGeom prst="ellipse">
            <a:avLst/>
          </a:prstGeom>
          <a:solidFill>
            <a:srgbClr val="1F2430"/>
          </a:solidFill>
          <a:ln/>
        </p:spPr>
      </p:sp>
      <p:sp>
        <p:nvSpPr>
          <p:cNvPr id="58" name="sin reportar 1 de cada 5 2"/>
          <p:cNvSpPr/>
          <p:nvPr/>
        </p:nvSpPr>
        <p:spPr>
          <a:xfrm>
            <a:off x="2276856" y="3694176"/>
            <a:ext cx="146304" cy="146304"/>
          </a:xfrm>
          <a:prstGeom prst="ellipse">
            <a:avLst/>
          </a:prstGeom>
          <a:ln w="15875">
            <a:solidFill>
              <a:srgbClr val="9AA1AE"/>
            </a:solidFill>
            <a:prstDash val="solid"/>
          </a:ln>
        </p:spPr>
      </p:sp>
      <p:sp>
        <p:nvSpPr>
          <p:cNvPr id="59" name="sin reportar 1 de cada 5 3"/>
          <p:cNvSpPr/>
          <p:nvPr/>
        </p:nvSpPr>
        <p:spPr>
          <a:xfrm>
            <a:off x="2496312" y="3694176"/>
            <a:ext cx="146304" cy="146304"/>
          </a:xfrm>
          <a:prstGeom prst="ellipse">
            <a:avLst/>
          </a:prstGeom>
          <a:ln w="15875">
            <a:solidFill>
              <a:srgbClr val="9AA1AE"/>
            </a:solidFill>
            <a:prstDash val="solid"/>
          </a:ln>
        </p:spPr>
      </p:sp>
      <p:sp>
        <p:nvSpPr>
          <p:cNvPr id="60" name="sin reportar 1 de cada 5 4"/>
          <p:cNvSpPr/>
          <p:nvPr/>
        </p:nvSpPr>
        <p:spPr>
          <a:xfrm>
            <a:off x="2715768" y="3694176"/>
            <a:ext cx="146304" cy="146304"/>
          </a:xfrm>
          <a:prstGeom prst="ellipse">
            <a:avLst/>
          </a:prstGeom>
          <a:ln w="15875">
            <a:solidFill>
              <a:srgbClr val="9AA1AE"/>
            </a:solidFill>
            <a:prstDash val="solid"/>
          </a:ln>
        </p:spPr>
      </p:sp>
      <p:sp>
        <p:nvSpPr>
          <p:cNvPr id="61" name="sin reportar 1 de cada 5 5"/>
          <p:cNvSpPr/>
          <p:nvPr/>
        </p:nvSpPr>
        <p:spPr>
          <a:xfrm>
            <a:off x="2935224" y="3694176"/>
            <a:ext cx="146304" cy="146304"/>
          </a:xfrm>
          <a:prstGeom prst="ellipse">
            <a:avLst/>
          </a:prstGeom>
          <a:ln w="15875">
            <a:solidFill>
              <a:srgbClr val="9AA1AE"/>
            </a:solidFill>
            <a:prstDash val="solid"/>
          </a:ln>
        </p:spPr>
      </p:sp>
      <p:sp>
        <p:nvSpPr>
          <p:cNvPr id="62" name="reportado 1 de cada 5 6"/>
          <p:cNvSpPr/>
          <p:nvPr/>
        </p:nvSpPr>
        <p:spPr>
          <a:xfrm>
            <a:off x="3154680" y="3694176"/>
            <a:ext cx="146304" cy="146304"/>
          </a:xfrm>
          <a:prstGeom prst="ellipse">
            <a:avLst/>
          </a:prstGeom>
          <a:solidFill>
            <a:srgbClr val="1F2430"/>
          </a:solidFill>
          <a:ln/>
        </p:spPr>
      </p:sp>
      <p:sp>
        <p:nvSpPr>
          <p:cNvPr id="63" name="sin reportar 1 de cada 5 7"/>
          <p:cNvSpPr/>
          <p:nvPr/>
        </p:nvSpPr>
        <p:spPr>
          <a:xfrm>
            <a:off x="3374136" y="3694176"/>
            <a:ext cx="146304" cy="146304"/>
          </a:xfrm>
          <a:prstGeom prst="ellipse">
            <a:avLst/>
          </a:prstGeom>
          <a:ln w="15875">
            <a:solidFill>
              <a:srgbClr val="9AA1AE"/>
            </a:solidFill>
            <a:prstDash val="solid"/>
          </a:ln>
        </p:spPr>
      </p:sp>
      <p:sp>
        <p:nvSpPr>
          <p:cNvPr id="64" name="sin reportar 1 de cada 5 8"/>
          <p:cNvSpPr/>
          <p:nvPr/>
        </p:nvSpPr>
        <p:spPr>
          <a:xfrm>
            <a:off x="3593592" y="3694176"/>
            <a:ext cx="146304" cy="146304"/>
          </a:xfrm>
          <a:prstGeom prst="ellipse">
            <a:avLst/>
          </a:prstGeom>
          <a:ln w="15875">
            <a:solidFill>
              <a:srgbClr val="9AA1AE"/>
            </a:solidFill>
            <a:prstDash val="solid"/>
          </a:ln>
        </p:spPr>
      </p:sp>
      <p:sp>
        <p:nvSpPr>
          <p:cNvPr id="65" name="sin reportar 1 de cada 5 9"/>
          <p:cNvSpPr/>
          <p:nvPr/>
        </p:nvSpPr>
        <p:spPr>
          <a:xfrm>
            <a:off x="3813048" y="3694176"/>
            <a:ext cx="146304" cy="146304"/>
          </a:xfrm>
          <a:prstGeom prst="ellipse">
            <a:avLst/>
          </a:prstGeom>
          <a:ln w="15875">
            <a:solidFill>
              <a:srgbClr val="9AA1AE"/>
            </a:solidFill>
            <a:prstDash val="solid"/>
          </a:ln>
        </p:spPr>
      </p:sp>
      <p:sp>
        <p:nvSpPr>
          <p:cNvPr id="66" name="sin reportar 1 de cada 5 10"/>
          <p:cNvSpPr/>
          <p:nvPr/>
        </p:nvSpPr>
        <p:spPr>
          <a:xfrm>
            <a:off x="4032504" y="3694176"/>
            <a:ext cx="146304" cy="146304"/>
          </a:xfrm>
          <a:prstGeom prst="ellipse">
            <a:avLst/>
          </a:prstGeom>
          <a:ln w="15875">
            <a:solidFill>
              <a:srgbClr val="9AA1AE"/>
            </a:solidFill>
            <a:prstDash val="solid"/>
          </a:ln>
        </p:spPr>
      </p:sp>
      <p:sp>
        <p:nvSpPr>
          <p:cNvPr id="67" name="reportado 1 de cada 5 11"/>
          <p:cNvSpPr/>
          <p:nvPr/>
        </p:nvSpPr>
        <p:spPr>
          <a:xfrm>
            <a:off x="4251960" y="3694176"/>
            <a:ext cx="146304" cy="146304"/>
          </a:xfrm>
          <a:prstGeom prst="ellipse">
            <a:avLst/>
          </a:prstGeom>
          <a:solidFill>
            <a:srgbClr val="1F2430"/>
          </a:solidFill>
          <a:ln/>
        </p:spPr>
      </p:sp>
      <p:sp>
        <p:nvSpPr>
          <p:cNvPr id="68" name="sin reportar 1 de cada 5 12"/>
          <p:cNvSpPr/>
          <p:nvPr/>
        </p:nvSpPr>
        <p:spPr>
          <a:xfrm>
            <a:off x="4471416" y="3694176"/>
            <a:ext cx="146304" cy="146304"/>
          </a:xfrm>
          <a:prstGeom prst="ellipse">
            <a:avLst/>
          </a:prstGeom>
          <a:ln w="15875">
            <a:solidFill>
              <a:srgbClr val="9AA1AE"/>
            </a:solidFill>
            <a:prstDash val="solid"/>
          </a:ln>
        </p:spPr>
      </p:sp>
      <p:sp>
        <p:nvSpPr>
          <p:cNvPr id="69" name="sin reportar 1 de cada 5 13"/>
          <p:cNvSpPr/>
          <p:nvPr/>
        </p:nvSpPr>
        <p:spPr>
          <a:xfrm>
            <a:off x="4690872" y="3694176"/>
            <a:ext cx="146304" cy="146304"/>
          </a:xfrm>
          <a:prstGeom prst="ellipse">
            <a:avLst/>
          </a:prstGeom>
          <a:ln w="15875">
            <a:solidFill>
              <a:srgbClr val="9AA1AE"/>
            </a:solidFill>
            <a:prstDash val="solid"/>
          </a:ln>
        </p:spPr>
      </p:sp>
      <p:sp>
        <p:nvSpPr>
          <p:cNvPr id="70" name="sin reportar 1 de cada 5 14"/>
          <p:cNvSpPr/>
          <p:nvPr/>
        </p:nvSpPr>
        <p:spPr>
          <a:xfrm>
            <a:off x="4910328" y="3694176"/>
            <a:ext cx="146304" cy="146304"/>
          </a:xfrm>
          <a:prstGeom prst="ellipse">
            <a:avLst/>
          </a:prstGeom>
          <a:ln w="15875">
            <a:solidFill>
              <a:srgbClr val="9AA1AE"/>
            </a:solidFill>
            <a:prstDash val="solid"/>
          </a:ln>
        </p:spPr>
      </p:sp>
      <p:sp>
        <p:nvSpPr>
          <p:cNvPr id="71" name="sin reportar 1 de cada 5 15"/>
          <p:cNvSpPr/>
          <p:nvPr/>
        </p:nvSpPr>
        <p:spPr>
          <a:xfrm>
            <a:off x="5129784" y="3694176"/>
            <a:ext cx="146304" cy="146304"/>
          </a:xfrm>
          <a:prstGeom prst="ellipse">
            <a:avLst/>
          </a:prstGeom>
          <a:ln w="15875">
            <a:solidFill>
              <a:srgbClr val="9AA1AE"/>
            </a:solidFill>
            <a:prstDash val="solid"/>
          </a:ln>
        </p:spPr>
      </p:sp>
      <p:sp>
        <p:nvSpPr>
          <p:cNvPr id="72" name="reportado 1 de cada 5 16"/>
          <p:cNvSpPr/>
          <p:nvPr/>
        </p:nvSpPr>
        <p:spPr>
          <a:xfrm>
            <a:off x="5349240" y="3694176"/>
            <a:ext cx="146304" cy="146304"/>
          </a:xfrm>
          <a:prstGeom prst="ellipse">
            <a:avLst/>
          </a:prstGeom>
          <a:solidFill>
            <a:srgbClr val="1F2430"/>
          </a:solidFill>
          <a:ln/>
        </p:spPr>
      </p:sp>
      <p:sp>
        <p:nvSpPr>
          <p:cNvPr id="73" name="sin reportar 1 de cada 5 17"/>
          <p:cNvSpPr/>
          <p:nvPr/>
        </p:nvSpPr>
        <p:spPr>
          <a:xfrm>
            <a:off x="5568696" y="3694176"/>
            <a:ext cx="146304" cy="146304"/>
          </a:xfrm>
          <a:prstGeom prst="ellipse">
            <a:avLst/>
          </a:prstGeom>
          <a:ln w="15875">
            <a:solidFill>
              <a:srgbClr val="9AA1AE"/>
            </a:solidFill>
            <a:prstDash val="solid"/>
          </a:ln>
        </p:spPr>
      </p:sp>
      <p:sp>
        <p:nvSpPr>
          <p:cNvPr id="74" name="sin reportar 1 de cada 5 18"/>
          <p:cNvSpPr/>
          <p:nvPr/>
        </p:nvSpPr>
        <p:spPr>
          <a:xfrm>
            <a:off x="5788152" y="3694176"/>
            <a:ext cx="146304" cy="146304"/>
          </a:xfrm>
          <a:prstGeom prst="ellipse">
            <a:avLst/>
          </a:prstGeom>
          <a:ln w="15875">
            <a:solidFill>
              <a:srgbClr val="9AA1AE"/>
            </a:solidFill>
            <a:prstDash val="solid"/>
          </a:ln>
        </p:spPr>
      </p:sp>
      <p:sp>
        <p:nvSpPr>
          <p:cNvPr id="75" name="sin reportar 1 de cada 5 19"/>
          <p:cNvSpPr/>
          <p:nvPr/>
        </p:nvSpPr>
        <p:spPr>
          <a:xfrm>
            <a:off x="6007608" y="3694176"/>
            <a:ext cx="146304" cy="146304"/>
          </a:xfrm>
          <a:prstGeom prst="ellipse">
            <a:avLst/>
          </a:prstGeom>
          <a:ln w="15875">
            <a:solidFill>
              <a:srgbClr val="9AA1AE"/>
            </a:solidFill>
            <a:prstDash val="solid"/>
          </a:ln>
        </p:spPr>
      </p:sp>
      <p:sp>
        <p:nvSpPr>
          <p:cNvPr id="76" name="sin reportar 1 de cada 5 20"/>
          <p:cNvSpPr/>
          <p:nvPr/>
        </p:nvSpPr>
        <p:spPr>
          <a:xfrm>
            <a:off x="6227064" y="3694176"/>
            <a:ext cx="146304" cy="146304"/>
          </a:xfrm>
          <a:prstGeom prst="ellipse">
            <a:avLst/>
          </a:prstGeom>
          <a:ln w="15875">
            <a:solidFill>
              <a:srgbClr val="9AA1AE"/>
            </a:solidFill>
            <a:prstDash val="solid"/>
          </a:ln>
        </p:spPr>
      </p:sp>
      <p:sp>
        <p:nvSpPr>
          <p:cNvPr id="77" name="Text 75"/>
          <p:cNvSpPr txBox="1"/>
          <p:nvPr/>
        </p:nvSpPr>
        <p:spPr>
          <a:xfrm>
            <a:off x="6583680" y="3602736"/>
            <a:ext cx="1371600" cy="329184"/>
          </a:xfrm>
          <a:prstGeom prst="rect">
            <a:avLst/>
          </a:prstGeom>
          <a:noFill/>
          <a:ln/>
        </p:spPr>
        <p:txBody>
          <a:bodyPr wrap="square" lIns="0" tIns="0" rIns="0" bIns="0" rtlCol="0" anchor="t"/>
          <a:lstStyle/>
          <a:p>
            <a:pPr indent="0" marL="0">
              <a:lnSpc>
                <a:spcPct val="100000"/>
              </a:lnSpc>
              <a:buNone/>
            </a:pPr>
            <a:r>
              <a:rPr lang="en-US" sz="2000" b="1" dirty="0">
                <a:solidFill>
                  <a:srgbClr val="1F2430"/>
                </a:solidFill>
                <a:latin typeface="Arial" pitchFamily="34" charset="0"/>
                <a:ea typeface="Arial" pitchFamily="34" charset="-122"/>
                <a:cs typeface="Arial" pitchFamily="34" charset="-120"/>
              </a:rPr>
              <a:t>≈ 61</a:t>
            </a:r>
            <a:endParaRPr lang="en-US" sz="2000" dirty="0"/>
          </a:p>
        </p:txBody>
      </p:sp>
      <p:sp>
        <p:nvSpPr>
          <p:cNvPr id="78" name="Text 76"/>
          <p:cNvSpPr txBox="1"/>
          <p:nvPr/>
        </p:nvSpPr>
        <p:spPr>
          <a:xfrm>
            <a:off x="548640" y="4297680"/>
            <a:ext cx="1417320" cy="274320"/>
          </a:xfrm>
          <a:prstGeom prst="rect">
            <a:avLst/>
          </a:prstGeom>
          <a:noFill/>
          <a:ln/>
        </p:spPr>
        <p:txBody>
          <a:bodyPr wrap="square" lIns="0" tIns="0" rIns="0" bIns="0" rtlCol="0" anchor="t"/>
          <a:lstStyle/>
          <a:p>
            <a:pPr indent="0" marL="0">
              <a:lnSpc>
                <a:spcPct val="100000"/>
              </a:lnSpc>
              <a:buNone/>
            </a:pPr>
            <a:r>
              <a:rPr lang="en-US" sz="1500" b="1" dirty="0">
                <a:solidFill>
                  <a:srgbClr val="1F2430"/>
                </a:solidFill>
                <a:latin typeface="Arial" pitchFamily="34" charset="0"/>
                <a:ea typeface="Arial" pitchFamily="34" charset="-122"/>
                <a:cs typeface="Arial" pitchFamily="34" charset="-120"/>
              </a:rPr>
              <a:t>1 de cada 20</a:t>
            </a:r>
            <a:endParaRPr lang="en-US" sz="1500" dirty="0"/>
          </a:p>
        </p:txBody>
      </p:sp>
      <p:sp>
        <p:nvSpPr>
          <p:cNvPr id="79" name="reportado 1 de cada 20 1"/>
          <p:cNvSpPr/>
          <p:nvPr/>
        </p:nvSpPr>
        <p:spPr>
          <a:xfrm>
            <a:off x="2057400" y="4352544"/>
            <a:ext cx="146304" cy="146304"/>
          </a:xfrm>
          <a:prstGeom prst="ellipse">
            <a:avLst/>
          </a:prstGeom>
          <a:solidFill>
            <a:srgbClr val="1F2430"/>
          </a:solidFill>
          <a:ln/>
        </p:spPr>
      </p:sp>
      <p:sp>
        <p:nvSpPr>
          <p:cNvPr id="80" name="sin reportar 1 de cada 20 2"/>
          <p:cNvSpPr/>
          <p:nvPr/>
        </p:nvSpPr>
        <p:spPr>
          <a:xfrm>
            <a:off x="2276856" y="4352544"/>
            <a:ext cx="146304" cy="146304"/>
          </a:xfrm>
          <a:prstGeom prst="ellipse">
            <a:avLst/>
          </a:prstGeom>
          <a:ln w="15875">
            <a:solidFill>
              <a:srgbClr val="9AA1AE"/>
            </a:solidFill>
            <a:prstDash val="solid"/>
          </a:ln>
        </p:spPr>
      </p:sp>
      <p:sp>
        <p:nvSpPr>
          <p:cNvPr id="81" name="sin reportar 1 de cada 20 3"/>
          <p:cNvSpPr/>
          <p:nvPr/>
        </p:nvSpPr>
        <p:spPr>
          <a:xfrm>
            <a:off x="2496312" y="4352544"/>
            <a:ext cx="146304" cy="146304"/>
          </a:xfrm>
          <a:prstGeom prst="ellipse">
            <a:avLst/>
          </a:prstGeom>
          <a:ln w="15875">
            <a:solidFill>
              <a:srgbClr val="9AA1AE"/>
            </a:solidFill>
            <a:prstDash val="solid"/>
          </a:ln>
        </p:spPr>
      </p:sp>
      <p:sp>
        <p:nvSpPr>
          <p:cNvPr id="82" name="sin reportar 1 de cada 20 4"/>
          <p:cNvSpPr/>
          <p:nvPr/>
        </p:nvSpPr>
        <p:spPr>
          <a:xfrm>
            <a:off x="2715768" y="4352544"/>
            <a:ext cx="146304" cy="146304"/>
          </a:xfrm>
          <a:prstGeom prst="ellipse">
            <a:avLst/>
          </a:prstGeom>
          <a:ln w="15875">
            <a:solidFill>
              <a:srgbClr val="9AA1AE"/>
            </a:solidFill>
            <a:prstDash val="solid"/>
          </a:ln>
        </p:spPr>
      </p:sp>
      <p:sp>
        <p:nvSpPr>
          <p:cNvPr id="83" name="sin reportar 1 de cada 20 5"/>
          <p:cNvSpPr/>
          <p:nvPr/>
        </p:nvSpPr>
        <p:spPr>
          <a:xfrm>
            <a:off x="2935224" y="4352544"/>
            <a:ext cx="146304" cy="146304"/>
          </a:xfrm>
          <a:prstGeom prst="ellipse">
            <a:avLst/>
          </a:prstGeom>
          <a:ln w="15875">
            <a:solidFill>
              <a:srgbClr val="9AA1AE"/>
            </a:solidFill>
            <a:prstDash val="solid"/>
          </a:ln>
        </p:spPr>
      </p:sp>
      <p:sp>
        <p:nvSpPr>
          <p:cNvPr id="84" name="sin reportar 1 de cada 20 6"/>
          <p:cNvSpPr/>
          <p:nvPr/>
        </p:nvSpPr>
        <p:spPr>
          <a:xfrm>
            <a:off x="3154680" y="4352544"/>
            <a:ext cx="146304" cy="146304"/>
          </a:xfrm>
          <a:prstGeom prst="ellipse">
            <a:avLst/>
          </a:prstGeom>
          <a:ln w="15875">
            <a:solidFill>
              <a:srgbClr val="9AA1AE"/>
            </a:solidFill>
            <a:prstDash val="solid"/>
          </a:ln>
        </p:spPr>
      </p:sp>
      <p:sp>
        <p:nvSpPr>
          <p:cNvPr id="85" name="sin reportar 1 de cada 20 7"/>
          <p:cNvSpPr/>
          <p:nvPr/>
        </p:nvSpPr>
        <p:spPr>
          <a:xfrm>
            <a:off x="3374136" y="4352544"/>
            <a:ext cx="146304" cy="146304"/>
          </a:xfrm>
          <a:prstGeom prst="ellipse">
            <a:avLst/>
          </a:prstGeom>
          <a:ln w="15875">
            <a:solidFill>
              <a:srgbClr val="9AA1AE"/>
            </a:solidFill>
            <a:prstDash val="solid"/>
          </a:ln>
        </p:spPr>
      </p:sp>
      <p:sp>
        <p:nvSpPr>
          <p:cNvPr id="86" name="sin reportar 1 de cada 20 8"/>
          <p:cNvSpPr/>
          <p:nvPr/>
        </p:nvSpPr>
        <p:spPr>
          <a:xfrm>
            <a:off x="3593592" y="4352544"/>
            <a:ext cx="146304" cy="146304"/>
          </a:xfrm>
          <a:prstGeom prst="ellipse">
            <a:avLst/>
          </a:prstGeom>
          <a:ln w="15875">
            <a:solidFill>
              <a:srgbClr val="9AA1AE"/>
            </a:solidFill>
            <a:prstDash val="solid"/>
          </a:ln>
        </p:spPr>
      </p:sp>
      <p:sp>
        <p:nvSpPr>
          <p:cNvPr id="87" name="sin reportar 1 de cada 20 9"/>
          <p:cNvSpPr/>
          <p:nvPr/>
        </p:nvSpPr>
        <p:spPr>
          <a:xfrm>
            <a:off x="3813048" y="4352544"/>
            <a:ext cx="146304" cy="146304"/>
          </a:xfrm>
          <a:prstGeom prst="ellipse">
            <a:avLst/>
          </a:prstGeom>
          <a:ln w="15875">
            <a:solidFill>
              <a:srgbClr val="9AA1AE"/>
            </a:solidFill>
            <a:prstDash val="solid"/>
          </a:ln>
        </p:spPr>
      </p:sp>
      <p:sp>
        <p:nvSpPr>
          <p:cNvPr id="88" name="sin reportar 1 de cada 20 10"/>
          <p:cNvSpPr/>
          <p:nvPr/>
        </p:nvSpPr>
        <p:spPr>
          <a:xfrm>
            <a:off x="4032504" y="4352544"/>
            <a:ext cx="146304" cy="146304"/>
          </a:xfrm>
          <a:prstGeom prst="ellipse">
            <a:avLst/>
          </a:prstGeom>
          <a:ln w="15875">
            <a:solidFill>
              <a:srgbClr val="9AA1AE"/>
            </a:solidFill>
            <a:prstDash val="solid"/>
          </a:ln>
        </p:spPr>
      </p:sp>
      <p:sp>
        <p:nvSpPr>
          <p:cNvPr id="89" name="sin reportar 1 de cada 20 11"/>
          <p:cNvSpPr/>
          <p:nvPr/>
        </p:nvSpPr>
        <p:spPr>
          <a:xfrm>
            <a:off x="4251960" y="4352544"/>
            <a:ext cx="146304" cy="146304"/>
          </a:xfrm>
          <a:prstGeom prst="ellipse">
            <a:avLst/>
          </a:prstGeom>
          <a:ln w="15875">
            <a:solidFill>
              <a:srgbClr val="9AA1AE"/>
            </a:solidFill>
            <a:prstDash val="solid"/>
          </a:ln>
        </p:spPr>
      </p:sp>
      <p:sp>
        <p:nvSpPr>
          <p:cNvPr id="90" name="sin reportar 1 de cada 20 12"/>
          <p:cNvSpPr/>
          <p:nvPr/>
        </p:nvSpPr>
        <p:spPr>
          <a:xfrm>
            <a:off x="4471416" y="4352544"/>
            <a:ext cx="146304" cy="146304"/>
          </a:xfrm>
          <a:prstGeom prst="ellipse">
            <a:avLst/>
          </a:prstGeom>
          <a:ln w="15875">
            <a:solidFill>
              <a:srgbClr val="9AA1AE"/>
            </a:solidFill>
            <a:prstDash val="solid"/>
          </a:ln>
        </p:spPr>
      </p:sp>
      <p:sp>
        <p:nvSpPr>
          <p:cNvPr id="91" name="sin reportar 1 de cada 20 13"/>
          <p:cNvSpPr/>
          <p:nvPr/>
        </p:nvSpPr>
        <p:spPr>
          <a:xfrm>
            <a:off x="4690872" y="4352544"/>
            <a:ext cx="146304" cy="146304"/>
          </a:xfrm>
          <a:prstGeom prst="ellipse">
            <a:avLst/>
          </a:prstGeom>
          <a:ln w="15875">
            <a:solidFill>
              <a:srgbClr val="9AA1AE"/>
            </a:solidFill>
            <a:prstDash val="solid"/>
          </a:ln>
        </p:spPr>
      </p:sp>
      <p:sp>
        <p:nvSpPr>
          <p:cNvPr id="92" name="sin reportar 1 de cada 20 14"/>
          <p:cNvSpPr/>
          <p:nvPr/>
        </p:nvSpPr>
        <p:spPr>
          <a:xfrm>
            <a:off x="4910328" y="4352544"/>
            <a:ext cx="146304" cy="146304"/>
          </a:xfrm>
          <a:prstGeom prst="ellipse">
            <a:avLst/>
          </a:prstGeom>
          <a:ln w="15875">
            <a:solidFill>
              <a:srgbClr val="9AA1AE"/>
            </a:solidFill>
            <a:prstDash val="solid"/>
          </a:ln>
        </p:spPr>
      </p:sp>
      <p:sp>
        <p:nvSpPr>
          <p:cNvPr id="93" name="sin reportar 1 de cada 20 15"/>
          <p:cNvSpPr/>
          <p:nvPr/>
        </p:nvSpPr>
        <p:spPr>
          <a:xfrm>
            <a:off x="5129784" y="4352544"/>
            <a:ext cx="146304" cy="146304"/>
          </a:xfrm>
          <a:prstGeom prst="ellipse">
            <a:avLst/>
          </a:prstGeom>
          <a:ln w="15875">
            <a:solidFill>
              <a:srgbClr val="9AA1AE"/>
            </a:solidFill>
            <a:prstDash val="solid"/>
          </a:ln>
        </p:spPr>
      </p:sp>
      <p:sp>
        <p:nvSpPr>
          <p:cNvPr id="94" name="sin reportar 1 de cada 20 16"/>
          <p:cNvSpPr/>
          <p:nvPr/>
        </p:nvSpPr>
        <p:spPr>
          <a:xfrm>
            <a:off x="5349240" y="4352544"/>
            <a:ext cx="146304" cy="146304"/>
          </a:xfrm>
          <a:prstGeom prst="ellipse">
            <a:avLst/>
          </a:prstGeom>
          <a:ln w="15875">
            <a:solidFill>
              <a:srgbClr val="9AA1AE"/>
            </a:solidFill>
            <a:prstDash val="solid"/>
          </a:ln>
        </p:spPr>
      </p:sp>
      <p:sp>
        <p:nvSpPr>
          <p:cNvPr id="95" name="sin reportar 1 de cada 20 17"/>
          <p:cNvSpPr/>
          <p:nvPr/>
        </p:nvSpPr>
        <p:spPr>
          <a:xfrm>
            <a:off x="5568696" y="4352544"/>
            <a:ext cx="146304" cy="146304"/>
          </a:xfrm>
          <a:prstGeom prst="ellipse">
            <a:avLst/>
          </a:prstGeom>
          <a:ln w="15875">
            <a:solidFill>
              <a:srgbClr val="9AA1AE"/>
            </a:solidFill>
            <a:prstDash val="solid"/>
          </a:ln>
        </p:spPr>
      </p:sp>
      <p:sp>
        <p:nvSpPr>
          <p:cNvPr id="96" name="sin reportar 1 de cada 20 18"/>
          <p:cNvSpPr/>
          <p:nvPr/>
        </p:nvSpPr>
        <p:spPr>
          <a:xfrm>
            <a:off x="5788152" y="4352544"/>
            <a:ext cx="146304" cy="146304"/>
          </a:xfrm>
          <a:prstGeom prst="ellipse">
            <a:avLst/>
          </a:prstGeom>
          <a:ln w="15875">
            <a:solidFill>
              <a:srgbClr val="9AA1AE"/>
            </a:solidFill>
            <a:prstDash val="solid"/>
          </a:ln>
        </p:spPr>
      </p:sp>
      <p:sp>
        <p:nvSpPr>
          <p:cNvPr id="97" name="sin reportar 1 de cada 20 19"/>
          <p:cNvSpPr/>
          <p:nvPr/>
        </p:nvSpPr>
        <p:spPr>
          <a:xfrm>
            <a:off x="6007608" y="4352544"/>
            <a:ext cx="146304" cy="146304"/>
          </a:xfrm>
          <a:prstGeom prst="ellipse">
            <a:avLst/>
          </a:prstGeom>
          <a:ln w="15875">
            <a:solidFill>
              <a:srgbClr val="9AA1AE"/>
            </a:solidFill>
            <a:prstDash val="solid"/>
          </a:ln>
        </p:spPr>
      </p:sp>
      <p:sp>
        <p:nvSpPr>
          <p:cNvPr id="98" name="sin reportar 1 de cada 20 20"/>
          <p:cNvSpPr/>
          <p:nvPr/>
        </p:nvSpPr>
        <p:spPr>
          <a:xfrm>
            <a:off x="6227064" y="4352544"/>
            <a:ext cx="146304" cy="146304"/>
          </a:xfrm>
          <a:prstGeom prst="ellipse">
            <a:avLst/>
          </a:prstGeom>
          <a:ln w="15875">
            <a:solidFill>
              <a:srgbClr val="9AA1AE"/>
            </a:solidFill>
            <a:prstDash val="solid"/>
          </a:ln>
        </p:spPr>
      </p:sp>
      <p:sp>
        <p:nvSpPr>
          <p:cNvPr id="99" name="Text 97"/>
          <p:cNvSpPr txBox="1"/>
          <p:nvPr/>
        </p:nvSpPr>
        <p:spPr>
          <a:xfrm>
            <a:off x="6583680" y="4261104"/>
            <a:ext cx="1371600" cy="329184"/>
          </a:xfrm>
          <a:prstGeom prst="rect">
            <a:avLst/>
          </a:prstGeom>
          <a:noFill/>
          <a:ln/>
        </p:spPr>
        <p:txBody>
          <a:bodyPr wrap="square" lIns="0" tIns="0" rIns="0" bIns="0" rtlCol="0" anchor="t"/>
          <a:lstStyle/>
          <a:p>
            <a:pPr indent="0" marL="0">
              <a:lnSpc>
                <a:spcPct val="100000"/>
              </a:lnSpc>
              <a:buNone/>
            </a:pPr>
            <a:r>
              <a:rPr lang="en-US" sz="2000" b="1" dirty="0">
                <a:solidFill>
                  <a:srgbClr val="1F2430"/>
                </a:solidFill>
                <a:latin typeface="Arial" pitchFamily="34" charset="0"/>
                <a:ea typeface="Arial" pitchFamily="34" charset="-122"/>
                <a:cs typeface="Arial" pitchFamily="34" charset="-120"/>
              </a:rPr>
              <a:t>≈ 15</a:t>
            </a:r>
            <a:endParaRPr lang="en-US" sz="2000" dirty="0"/>
          </a:p>
        </p:txBody>
      </p:sp>
      <p:sp>
        <p:nvSpPr>
          <p:cNvPr id="100" name="Shape 98"/>
          <p:cNvSpPr/>
          <p:nvPr/>
        </p:nvSpPr>
        <p:spPr>
          <a:xfrm>
            <a:off x="548640" y="5029200"/>
            <a:ext cx="7406640" cy="0"/>
          </a:xfrm>
          <a:prstGeom prst="line">
            <a:avLst/>
          </a:prstGeom>
          <a:noFill/>
          <a:ln w="9525">
            <a:solidFill>
              <a:srgbClr val="D9D6CE"/>
            </a:solidFill>
            <a:prstDash val="solid"/>
          </a:ln>
        </p:spPr>
      </p:sp>
      <p:sp>
        <p:nvSpPr>
          <p:cNvPr id="101" name="Text 99"/>
          <p:cNvSpPr txBox="1"/>
          <p:nvPr/>
        </p:nvSpPr>
        <p:spPr>
          <a:xfrm>
            <a:off x="548640" y="5193792"/>
            <a:ext cx="7406640" cy="731520"/>
          </a:xfrm>
          <a:prstGeom prst="rect">
            <a:avLst/>
          </a:prstGeom>
          <a:noFill/>
          <a:ln/>
        </p:spPr>
        <p:txBody>
          <a:bodyPr wrap="square" lIns="0" tIns="0" rIns="0" bIns="0" rtlCol="0" anchor="t"/>
          <a:lstStyle/>
          <a:p>
            <a:pPr indent="0" marL="0">
              <a:lnSpc>
                <a:spcPct val="100000"/>
              </a:lnSpc>
              <a:buNone/>
            </a:pPr>
            <a:r>
              <a:rPr lang="en-US" sz="2000" dirty="0">
                <a:solidFill>
                  <a:srgbClr val="1F2430"/>
                </a:solidFill>
                <a:latin typeface="Georgia" pitchFamily="34" charset="0"/>
                <a:ea typeface="Georgia" pitchFamily="34" charset="-122"/>
                <a:cs typeface="Georgia" pitchFamily="34" charset="-120"/>
              </a:rPr>
              <a:t>Con 1 de cada 20, reentrenar tiene unos 15 ejemplos para aprender 800 palabras alteradas.</a:t>
            </a:r>
            <a:endParaRPr lang="en-US" sz="2000" dirty="0"/>
          </a:p>
        </p:txBody>
      </p:sp>
      <p:sp>
        <p:nvSpPr>
          <p:cNvPr id="102" name="Shape 100"/>
          <p:cNvSpPr/>
          <p:nvPr/>
        </p:nvSpPr>
        <p:spPr>
          <a:xfrm>
            <a:off x="8229600" y="1874520"/>
            <a:ext cx="0" cy="4023360"/>
          </a:xfrm>
          <a:prstGeom prst="line">
            <a:avLst/>
          </a:prstGeom>
          <a:noFill/>
          <a:ln w="9525">
            <a:solidFill>
              <a:srgbClr val="D9D6CE"/>
            </a:solidFill>
            <a:prstDash val="solid"/>
          </a:ln>
        </p:spPr>
      </p:sp>
      <p:sp>
        <p:nvSpPr>
          <p:cNvPr id="103" name="Text 101"/>
          <p:cNvSpPr txBox="1"/>
          <p:nvPr/>
        </p:nvSpPr>
        <p:spPr>
          <a:xfrm>
            <a:off x="8549640" y="1837944"/>
            <a:ext cx="320040" cy="411480"/>
          </a:xfrm>
          <a:prstGeom prst="rect">
            <a:avLst/>
          </a:prstGeom>
          <a:noFill/>
          <a:ln/>
        </p:spPr>
        <p:txBody>
          <a:bodyPr wrap="square" lIns="0" tIns="0" rIns="0" bIns="0" rtlCol="0" anchor="t"/>
          <a:lstStyle/>
          <a:p>
            <a:pPr indent="0" marL="0">
              <a:lnSpc>
                <a:spcPct val="100000"/>
              </a:lnSpc>
              <a:buNone/>
            </a:pPr>
            <a:r>
              <a:rPr lang="en-US" sz="2200" dirty="0">
                <a:solidFill>
                  <a:srgbClr val="2A78D6"/>
                </a:solidFill>
                <a:latin typeface="Georgia" pitchFamily="34" charset="0"/>
                <a:ea typeface="Georgia" pitchFamily="34" charset="-122"/>
                <a:cs typeface="Georgia" pitchFamily="34" charset="-120"/>
              </a:rPr>
              <a:t>1</a:t>
            </a:r>
            <a:endParaRPr lang="en-US" sz="2200" dirty="0"/>
          </a:p>
        </p:txBody>
      </p:sp>
      <p:sp>
        <p:nvSpPr>
          <p:cNvPr id="104" name="Text 102"/>
          <p:cNvSpPr txBox="1"/>
          <p:nvPr/>
        </p:nvSpPr>
        <p:spPr>
          <a:xfrm>
            <a:off x="8915400" y="1874520"/>
            <a:ext cx="2743200" cy="868680"/>
          </a:xfrm>
          <a:prstGeom prst="rect">
            <a:avLst/>
          </a:prstGeom>
          <a:noFill/>
          <a:ln/>
        </p:spPr>
        <p:txBody>
          <a:bodyPr wrap="square" lIns="0" tIns="0" rIns="0" bIns="0" rtlCol="0" anchor="t"/>
          <a:lstStyle/>
          <a:p>
            <a:pPr indent="0" marL="0">
              <a:lnSpc>
                <a:spcPct val="100000"/>
              </a:lnSpc>
              <a:buNone/>
            </a:pPr>
            <a:r>
              <a:rPr lang="en-US" sz="1400" dirty="0">
                <a:solidFill>
                  <a:srgbClr val="1F2430"/>
                </a:solidFill>
                <a:latin typeface="Arial" pitchFamily="34" charset="0"/>
                <a:ea typeface="Arial" pitchFamily="34" charset="-122"/>
                <a:cs typeface="Arial" pitchFamily="34" charset="-120"/>
              </a:rPr>
              <a:t>Cada mensaje se reporta con probabilidad ρ. Hedge y SGD ven exactamente los mismos reportes.</a:t>
            </a:r>
            <a:endParaRPr lang="en-US" sz="1400" dirty="0"/>
          </a:p>
        </p:txBody>
      </p:sp>
      <p:sp>
        <p:nvSpPr>
          <p:cNvPr id="105" name="Text 103"/>
          <p:cNvSpPr txBox="1"/>
          <p:nvPr/>
        </p:nvSpPr>
        <p:spPr>
          <a:xfrm>
            <a:off x="8549640" y="2980944"/>
            <a:ext cx="320040" cy="411480"/>
          </a:xfrm>
          <a:prstGeom prst="rect">
            <a:avLst/>
          </a:prstGeom>
          <a:noFill/>
          <a:ln/>
        </p:spPr>
        <p:txBody>
          <a:bodyPr wrap="square" lIns="0" tIns="0" rIns="0" bIns="0" rtlCol="0" anchor="t"/>
          <a:lstStyle/>
          <a:p>
            <a:pPr indent="0" marL="0">
              <a:lnSpc>
                <a:spcPct val="100000"/>
              </a:lnSpc>
              <a:buNone/>
            </a:pPr>
            <a:r>
              <a:rPr lang="en-US" sz="2200" dirty="0">
                <a:solidFill>
                  <a:srgbClr val="2A78D6"/>
                </a:solidFill>
                <a:latin typeface="Georgia" pitchFamily="34" charset="0"/>
                <a:ea typeface="Georgia" pitchFamily="34" charset="-122"/>
                <a:cs typeface="Georgia" pitchFamily="34" charset="-120"/>
              </a:rPr>
              <a:t>2</a:t>
            </a:r>
            <a:endParaRPr lang="en-US" sz="2200" dirty="0"/>
          </a:p>
        </p:txBody>
      </p:sp>
      <p:sp>
        <p:nvSpPr>
          <p:cNvPr id="106" name="Text 104"/>
          <p:cNvSpPr txBox="1"/>
          <p:nvPr/>
        </p:nvSpPr>
        <p:spPr>
          <a:xfrm>
            <a:off x="8915400" y="3017520"/>
            <a:ext cx="2743200" cy="1097280"/>
          </a:xfrm>
          <a:prstGeom prst="rect">
            <a:avLst/>
          </a:prstGeom>
          <a:noFill/>
          <a:ln/>
        </p:spPr>
        <p:txBody>
          <a:bodyPr wrap="square" lIns="0" tIns="0" rIns="0" bIns="0" rtlCol="0" anchor="t"/>
          <a:lstStyle/>
          <a:p>
            <a:pPr indent="0" marL="0">
              <a:lnSpc>
                <a:spcPct val="100000"/>
              </a:lnSpc>
              <a:buNone/>
            </a:pPr>
            <a:r>
              <a:rPr lang="en-US" sz="1400" dirty="0">
                <a:solidFill>
                  <a:srgbClr val="1F2430"/>
                </a:solidFill>
                <a:latin typeface="Arial" pitchFamily="34" charset="0"/>
                <a:ea typeface="Arial" pitchFamily="34" charset="-122"/>
                <a:cs typeface="Arial" pitchFamily="34" charset="-120"/>
              </a:rPr>
              <a:t>Todos predicen siempre y todo error cuenta, aunque no se reporte. Solo aprenden de los mensajes reportados.</a:t>
            </a:r>
            <a:endParaRPr lang="en-US" sz="1400" dirty="0"/>
          </a:p>
        </p:txBody>
      </p:sp>
      <p:sp>
        <p:nvSpPr>
          <p:cNvPr id="107" name="Text 105"/>
          <p:cNvSpPr txBox="1"/>
          <p:nvPr/>
        </p:nvSpPr>
        <p:spPr>
          <a:xfrm>
            <a:off x="8549640" y="4352544"/>
            <a:ext cx="320040" cy="411480"/>
          </a:xfrm>
          <a:prstGeom prst="rect">
            <a:avLst/>
          </a:prstGeom>
          <a:noFill/>
          <a:ln/>
        </p:spPr>
        <p:txBody>
          <a:bodyPr wrap="square" lIns="0" tIns="0" rIns="0" bIns="0" rtlCol="0" anchor="t"/>
          <a:lstStyle/>
          <a:p>
            <a:pPr indent="0" marL="0">
              <a:lnSpc>
                <a:spcPct val="100000"/>
              </a:lnSpc>
              <a:buNone/>
            </a:pPr>
            <a:r>
              <a:rPr lang="en-US" sz="2200" dirty="0">
                <a:solidFill>
                  <a:srgbClr val="2A78D6"/>
                </a:solidFill>
                <a:latin typeface="Georgia" pitchFamily="34" charset="0"/>
                <a:ea typeface="Georgia" pitchFamily="34" charset="-122"/>
                <a:cs typeface="Georgia" pitchFamily="34" charset="-120"/>
              </a:rPr>
              <a:t>3</a:t>
            </a:r>
            <a:endParaRPr lang="en-US" sz="2200" dirty="0"/>
          </a:p>
        </p:txBody>
      </p:sp>
      <p:sp>
        <p:nvSpPr>
          <p:cNvPr id="108" name="Text 106"/>
          <p:cNvSpPr txBox="1"/>
          <p:nvPr/>
        </p:nvSpPr>
        <p:spPr>
          <a:xfrm>
            <a:off x="8915400" y="4389120"/>
            <a:ext cx="2743200" cy="1097280"/>
          </a:xfrm>
          <a:prstGeom prst="rect">
            <a:avLst/>
          </a:prstGeom>
          <a:noFill/>
          <a:ln/>
        </p:spPr>
        <p:txBody>
          <a:bodyPr wrap="square" lIns="0" tIns="0" rIns="0" bIns="0" rtlCol="0" anchor="t"/>
          <a:lstStyle/>
          <a:p>
            <a:pPr indent="0" marL="0">
              <a:lnSpc>
                <a:spcPct val="100000"/>
              </a:lnSpc>
              <a:buNone/>
            </a:pPr>
            <a:r>
              <a:rPr lang="en-US" sz="1400" dirty="0">
                <a:solidFill>
                  <a:srgbClr val="1F2430"/>
                </a:solidFill>
                <a:latin typeface="Arial" pitchFamily="34" charset="0"/>
                <a:ea typeface="Arial" pitchFamily="34" charset="-122"/>
                <a:cs typeface="Arial" pitchFamily="34" charset="-120"/>
              </a:rPr>
              <a:t>SGD aprende de cada reporte tal cual. Hedge multiplica por 1/ρ cada error que ve y achica η para no sobrerreaccionar.</a:t>
            </a:r>
            <a:endParaRPr lang="en-US" sz="1400" dirty="0"/>
          </a:p>
        </p:txBody>
      </p:sp>
      <p:sp>
        <p:nvSpPr>
          <p:cNvPr id="109" name="Text 107"/>
          <p:cNvSpPr txBox="1"/>
          <p:nvPr/>
        </p:nvSpPr>
        <p:spPr>
          <a:xfrm>
            <a:off x="548640" y="6373368"/>
            <a:ext cx="10241280" cy="274320"/>
          </a:xfrm>
          <a:prstGeom prst="rect">
            <a:avLst/>
          </a:prstGeom>
          <a:noFill/>
          <a:ln/>
        </p:spPr>
        <p:txBody>
          <a:bodyPr wrap="square" lIns="0" tIns="0" rIns="0" bIns="0" rtlCol="0" anchor="t"/>
          <a:lstStyle/>
          <a:p>
            <a:pPr indent="0" marL="0">
              <a:lnSpc>
                <a:spcPct val="100000"/>
              </a:lnSpc>
              <a:buNone/>
            </a:pPr>
            <a:r>
              <a:rPr lang="en-US" sz="1000" dirty="0">
                <a:solidFill>
                  <a:srgbClr val="9AA1AE"/>
                </a:solidFill>
                <a:latin typeface="Arial" pitchFamily="34" charset="0"/>
                <a:ea typeface="Arial" pitchFamily="34" charset="-122"/>
                <a:cs typeface="Arial" pitchFamily="34" charset="-120"/>
              </a:rPr>
              <a:t>Ilustrativo: en el experimento, qué mensajes se reportan se sortea. Para cada nivel, 20 órdenes del corpus × 5 sorteos de etiquetas.</a:t>
            </a:r>
            <a:endParaRPr lang="en-US" sz="1000" dirty="0"/>
          </a:p>
        </p:txBody>
      </p:sp>
      <p:sp>
        <p:nvSpPr>
          <p:cNvPr id="25" name="Slide Number Placeholder 0"/>
          <p:cNvSpPr>
            <a:spLocks noGrp="1"/>
          </p:cNvSpPr>
          <p:nvPr>
            <p:ph type="sldNum" sz="quarter" idx="4294967295"/>
          </p:nvPr>
        </p:nvSpPr>
        <p:spPr>
          <a:xfrm>
            <a:off x="11091672" y="63733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1AE"/>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411480"/>
            <a:ext cx="7315200" cy="228600"/>
          </a:xfrm>
          <a:prstGeom prst="rect">
            <a:avLst/>
          </a:prstGeom>
          <a:noFill/>
          <a:ln/>
        </p:spPr>
        <p:txBody>
          <a:bodyPr wrap="square" lIns="0" tIns="0" rIns="0" bIns="0" rtlCol="0" anchor="t"/>
          <a:lstStyle/>
          <a:p>
            <a:pPr indent="0" marL="0">
              <a:lnSpc>
                <a:spcPct val="100000"/>
              </a:lnSpc>
              <a:buNone/>
            </a:pPr>
            <a:r>
              <a:rPr lang="en-US" sz="1100" b="1" spc="200" kern="0" dirty="0">
                <a:solidFill>
                  <a:srgbClr val="5A6274"/>
                </a:solidFill>
                <a:latin typeface="Arial" pitchFamily="34" charset="0"/>
                <a:ea typeface="Arial" pitchFamily="34" charset="-122"/>
                <a:cs typeface="Arial" pitchFamily="34" charset="-120"/>
              </a:rPr>
              <a:t>HALLAZGO 2</a:t>
            </a:r>
            <a:endParaRPr lang="en-US" sz="1100" dirty="0"/>
          </a:p>
        </p:txBody>
      </p:sp>
      <p:sp>
        <p:nvSpPr>
          <p:cNvPr id="3" name="Text 0"/>
          <p:cNvSpPr/>
          <p:nvPr>
            <p:ph idx="100" type="title" hasCustomPrompt="1"/>
          </p:nvPr>
        </p:nvSpPr>
        <p:spPr>
          <a:xfrm>
            <a:off x="548640" y="731520"/>
            <a:ext cx="10424160" cy="566928"/>
          </a:xfrm>
          <a:prstGeom prst="rect">
            <a:avLst/>
          </a:prstGeom>
          <a:noFill/>
          <a:ln/>
        </p:spPr>
        <p:txBody>
          <a:bodyPr wrap="square" lIns="0" tIns="0" rIns="0" bIns="0" rtlCol="0" anchor="t"/>
          <a:lstStyle/>
          <a:p>
            <a:pPr indent="0" marL="0">
              <a:buNone/>
            </a:pPr>
            <a:r>
              <a:rPr lang="en-US" sz="3000" dirty="0">
                <a:solidFill>
                  <a:srgbClr val="1F2430"/>
                </a:solidFill>
                <a:latin typeface="Georgia" pitchFamily="34" charset="0"/>
                <a:ea typeface="Georgia" pitchFamily="34" charset="-122"/>
                <a:cs typeface="Georgia" pitchFamily="34" charset="-120"/>
              </a:rPr>
              <a:t>Con pocas etiquetas, combinar le gana a reentrenar</a:t>
            </a:r>
            <a:endParaRPr lang="en-US" sz="3000" dirty="0"/>
          </a:p>
        </p:txBody>
      </p:sp>
      <p:sp>
        <p:nvSpPr>
          <p:cNvPr id="4" name="Text 2"/>
          <p:cNvSpPr txBox="1"/>
          <p:nvPr/>
        </p:nvSpPr>
        <p:spPr>
          <a:xfrm>
            <a:off x="548640" y="1307592"/>
            <a:ext cx="10424160" cy="320040"/>
          </a:xfrm>
          <a:prstGeom prst="rect">
            <a:avLst/>
          </a:prstGeom>
          <a:noFill/>
          <a:ln/>
        </p:spPr>
        <p:txBody>
          <a:bodyPr wrap="square" lIns="0" tIns="0" rIns="0" bIns="0" rtlCol="0" anchor="t"/>
          <a:lstStyle/>
          <a:p>
            <a:pPr indent="0" marL="0">
              <a:lnSpc>
                <a:spcPct val="100000"/>
              </a:lnSpc>
              <a:buNone/>
            </a:pPr>
            <a:r>
              <a:rPr lang="en-US" sz="1500" dirty="0">
                <a:solidFill>
                  <a:srgbClr val="5A6274"/>
                </a:solidFill>
                <a:latin typeface="Arial" pitchFamily="34" charset="0"/>
                <a:ea typeface="Arial" pitchFamily="34" charset="-122"/>
                <a:cs typeface="Arial" pitchFamily="34" charset="-120"/>
              </a:rPr>
              <a:t>Errores en la mitad atacada, según cuántos mensajes reporta el usuario.</a:t>
            </a:r>
            <a:endParaRPr lang="en-US" sz="1500" dirty="0"/>
          </a:p>
        </p:txBody>
      </p:sp>
      <p:sp>
        <p:nvSpPr>
          <p:cNvPr id="5" name="Text 3"/>
          <p:cNvSpPr txBox="1"/>
          <p:nvPr/>
        </p:nvSpPr>
        <p:spPr>
          <a:xfrm>
            <a:off x="9235440" y="429768"/>
            <a:ext cx="1554480" cy="201168"/>
          </a:xfrm>
          <a:prstGeom prst="rect">
            <a:avLst/>
          </a:prstGeom>
          <a:noFill/>
          <a:ln/>
        </p:spPr>
        <p:txBody>
          <a:bodyPr wrap="square" lIns="0" tIns="0" rIns="0" bIns="0" rtlCol="0" anchor="t"/>
          <a:lstStyle/>
          <a:p>
            <a:pPr algn="r" indent="0" marL="0">
              <a:lnSpc>
                <a:spcPct val="100000"/>
              </a:lnSpc>
              <a:buNone/>
            </a:pPr>
            <a:r>
              <a:rPr lang="en-US" sz="900" b="1" spc="200" kern="0" dirty="0">
                <a:solidFill>
                  <a:srgbClr val="9AA1AE"/>
                </a:solidFill>
                <a:latin typeface="Arial" pitchFamily="34" charset="0"/>
                <a:ea typeface="Arial" pitchFamily="34" charset="-122"/>
                <a:cs typeface="Arial" pitchFamily="34" charset="-120"/>
              </a:rPr>
              <a:t>HALLAZGOS</a:t>
            </a:r>
            <a:endParaRPr lang="en-US" sz="900" dirty="0"/>
          </a:p>
        </p:txBody>
      </p:sp>
      <p:sp>
        <p:nvSpPr>
          <p:cNvPr id="6" name="hallazgo 1"/>
          <p:cNvSpPr/>
          <p:nvPr/>
        </p:nvSpPr>
        <p:spPr>
          <a:xfrm>
            <a:off x="10899648" y="457200"/>
            <a:ext cx="137160" cy="137160"/>
          </a:xfrm>
          <a:prstGeom prst="ellipse">
            <a:avLst/>
          </a:prstGeom>
          <a:ln w="15875">
            <a:solidFill>
              <a:srgbClr val="9AA1AE"/>
            </a:solidFill>
            <a:prstDash val="solid"/>
          </a:ln>
        </p:spPr>
      </p:sp>
      <p:sp>
        <p:nvSpPr>
          <p:cNvPr id="7" name="hallazgo 2 (actual)"/>
          <p:cNvSpPr/>
          <p:nvPr/>
        </p:nvSpPr>
        <p:spPr>
          <a:xfrm>
            <a:off x="11100816" y="457200"/>
            <a:ext cx="137160" cy="137160"/>
          </a:xfrm>
          <a:prstGeom prst="ellipse">
            <a:avLst/>
          </a:prstGeom>
          <a:solidFill>
            <a:srgbClr val="1F2430"/>
          </a:solidFill>
          <a:ln/>
        </p:spPr>
      </p:sp>
      <p:sp>
        <p:nvSpPr>
          <p:cNvPr id="8" name="hallazgo 3"/>
          <p:cNvSpPr/>
          <p:nvPr/>
        </p:nvSpPr>
        <p:spPr>
          <a:xfrm>
            <a:off x="11301984" y="457200"/>
            <a:ext cx="137160" cy="137160"/>
          </a:xfrm>
          <a:prstGeom prst="ellipse">
            <a:avLst/>
          </a:prstGeom>
          <a:ln w="15875">
            <a:solidFill>
              <a:srgbClr val="9AA1AE"/>
            </a:solidFill>
            <a:prstDash val="solid"/>
          </a:ln>
        </p:spPr>
      </p:sp>
      <p:sp>
        <p:nvSpPr>
          <p:cNvPr id="9" name="hallazgo 4"/>
          <p:cNvSpPr/>
          <p:nvPr/>
        </p:nvSpPr>
        <p:spPr>
          <a:xfrm>
            <a:off x="11503152" y="457200"/>
            <a:ext cx="137160" cy="137160"/>
          </a:xfrm>
          <a:prstGeom prst="ellipse">
            <a:avLst/>
          </a:prstGeom>
          <a:ln w="15875">
            <a:solidFill>
              <a:srgbClr val="9AA1AE"/>
            </a:solidFill>
            <a:prstDash val="solid"/>
          </a:ln>
        </p:spPr>
      </p:sp>
      <p:pic>
        <p:nvPicPr>
          <p:cNvPr id="10" name="Image 0" descr="Errores según la fracción de mensajes etiquetados. Con todas las etiquetas SGD comete 73 y Hedge 133; con 1 de cada 20, SGD 210 y Hedge 189, frente a 190 del estático.">    </p:cNvPr>
          <p:cNvPicPr>
            <a:picLocks noChangeAspect="1"/>
          </p:cNvPicPr>
          <p:nvPr/>
        </p:nvPicPr>
        <p:blipFill>
          <a:blip r:embed="rId1"/>
          <a:stretch>
            <a:fillRect/>
          </a:stretch>
        </p:blipFill>
        <p:spPr>
          <a:xfrm>
            <a:off x="411480" y="1783080"/>
            <a:ext cx="6495445" cy="4434840"/>
          </a:xfrm>
          <a:prstGeom prst="rect">
            <a:avLst/>
          </a:prstGeom>
        </p:spPr>
      </p:pic>
      <p:sp>
        <p:nvSpPr>
          <p:cNvPr id="11" name="Text 8"/>
          <p:cNvSpPr txBox="1"/>
          <p:nvPr/>
        </p:nvSpPr>
        <p:spPr>
          <a:xfrm>
            <a:off x="7726680" y="1920240"/>
            <a:ext cx="3931920" cy="822960"/>
          </a:xfrm>
          <a:prstGeom prst="rect">
            <a:avLst/>
          </a:prstGeom>
          <a:noFill/>
          <a:ln/>
        </p:spPr>
        <p:txBody>
          <a:bodyPr wrap="square" lIns="0" tIns="0" rIns="0" bIns="0" rtlCol="0" anchor="t"/>
          <a:lstStyle/>
          <a:p>
            <a:pPr indent="0" marL="0">
              <a:lnSpc>
                <a:spcPct val="100000"/>
              </a:lnSpc>
              <a:buNone/>
            </a:pPr>
            <a:r>
              <a:rPr lang="en-US" sz="5400" b="1" dirty="0">
                <a:solidFill>
                  <a:srgbClr val="2A78D6"/>
                </a:solidFill>
                <a:latin typeface="Arial" pitchFamily="34" charset="0"/>
                <a:ea typeface="Arial" pitchFamily="34" charset="-122"/>
                <a:cs typeface="Arial" pitchFamily="34" charset="-120"/>
              </a:rPr>
              <a:t>15 de 20</a:t>
            </a:r>
            <a:endParaRPr lang="en-US" sz="5400" dirty="0"/>
          </a:p>
        </p:txBody>
      </p:sp>
      <p:sp>
        <p:nvSpPr>
          <p:cNvPr id="12" name="Text 9"/>
          <p:cNvSpPr txBox="1"/>
          <p:nvPr/>
        </p:nvSpPr>
        <p:spPr>
          <a:xfrm>
            <a:off x="7726680" y="2816352"/>
            <a:ext cx="3931920" cy="685800"/>
          </a:xfrm>
          <a:prstGeom prst="rect">
            <a:avLst/>
          </a:prstGeom>
          <a:noFill/>
          <a:ln/>
        </p:spPr>
        <p:txBody>
          <a:bodyPr wrap="square" lIns="0" tIns="0" rIns="0" bIns="0" rtlCol="0" anchor="t"/>
          <a:lstStyle/>
          <a:p>
            <a:pPr indent="0" marL="0">
              <a:lnSpc>
                <a:spcPct val="100000"/>
              </a:lnSpc>
              <a:buNone/>
            </a:pPr>
            <a:r>
              <a:rPr lang="en-US" sz="1500" dirty="0">
                <a:solidFill>
                  <a:srgbClr val="1F2430"/>
                </a:solidFill>
                <a:latin typeface="Arial" pitchFamily="34" charset="0"/>
                <a:ea typeface="Arial" pitchFamily="34" charset="-122"/>
                <a:cs typeface="Arial" pitchFamily="34" charset="-120"/>
              </a:rPr>
              <a:t>semillas en las que gana Hedge cuando el usuario reporta 1 de cada 20 mensajes</a:t>
            </a:r>
            <a:endParaRPr lang="en-US" sz="1500" dirty="0"/>
          </a:p>
        </p:txBody>
      </p:sp>
      <p:sp>
        <p:nvSpPr>
          <p:cNvPr id="13" name="Text 10"/>
          <p:cNvSpPr txBox="1"/>
          <p:nvPr/>
        </p:nvSpPr>
        <p:spPr>
          <a:xfrm>
            <a:off x="7726680" y="3657600"/>
            <a:ext cx="3931920" cy="670560"/>
          </a:xfrm>
          <a:prstGeom prst="rect">
            <a:avLst/>
          </a:prstGeom>
          <a:noFill/>
          <a:ln/>
        </p:spPr>
        <p:txBody>
          <a:bodyPr wrap="square" lIns="0" tIns="0" rIns="0" bIns="0" rtlCol="0" anchor="t"/>
          <a:lstStyle/>
          <a:p>
            <a:pPr indent="0" marL="0">
              <a:lnSpc>
                <a:spcPct val="100000"/>
              </a:lnSpc>
              <a:buNone/>
            </a:pPr>
            <a:r>
              <a:rPr lang="en-US" sz="4400" b="1" dirty="0">
                <a:solidFill>
                  <a:srgbClr val="1BAF7A"/>
                </a:solidFill>
                <a:latin typeface="Arial" pitchFamily="34" charset="0"/>
                <a:ea typeface="Arial" pitchFamily="34" charset="-122"/>
                <a:cs typeface="Arial" pitchFamily="34" charset="-120"/>
              </a:rPr>
              <a:t>210 &gt; 190</a:t>
            </a:r>
            <a:endParaRPr lang="en-US" sz="4400" dirty="0"/>
          </a:p>
        </p:txBody>
      </p:sp>
      <p:sp>
        <p:nvSpPr>
          <p:cNvPr id="14" name="Text 11"/>
          <p:cNvSpPr txBox="1"/>
          <p:nvPr/>
        </p:nvSpPr>
        <p:spPr>
          <a:xfrm>
            <a:off x="7726680" y="4401312"/>
            <a:ext cx="3931920" cy="685800"/>
          </a:xfrm>
          <a:prstGeom prst="rect">
            <a:avLst/>
          </a:prstGeom>
          <a:noFill/>
          <a:ln/>
        </p:spPr>
        <p:txBody>
          <a:bodyPr wrap="square" lIns="0" tIns="0" rIns="0" bIns="0" rtlCol="0" anchor="t"/>
          <a:lstStyle/>
          <a:p>
            <a:pPr indent="0" marL="0">
              <a:lnSpc>
                <a:spcPct val="100000"/>
              </a:lnSpc>
              <a:buNone/>
            </a:pPr>
            <a:r>
              <a:rPr lang="en-US" sz="1500" dirty="0">
                <a:solidFill>
                  <a:srgbClr val="1F2430"/>
                </a:solidFill>
                <a:latin typeface="Arial" pitchFamily="34" charset="0"/>
                <a:ea typeface="Arial" pitchFamily="34" charset="-122"/>
                <a:cs typeface="Arial" pitchFamily="34" charset="-120"/>
              </a:rPr>
              <a:t>errores: con tan pocas etiquetas, SGD termina peor que no adaptarse</a:t>
            </a:r>
            <a:endParaRPr lang="en-US" sz="1500" dirty="0"/>
          </a:p>
        </p:txBody>
      </p:sp>
      <p:sp>
        <p:nvSpPr>
          <p:cNvPr id="15" name="Text 12"/>
          <p:cNvSpPr txBox="1"/>
          <p:nvPr/>
        </p:nvSpPr>
        <p:spPr>
          <a:xfrm>
            <a:off x="7726680" y="5440680"/>
            <a:ext cx="3931920" cy="548640"/>
          </a:xfrm>
          <a:prstGeom prst="rect">
            <a:avLst/>
          </a:prstGeom>
          <a:noFill/>
          <a:ln/>
        </p:spPr>
        <p:txBody>
          <a:bodyPr wrap="square" lIns="0" tIns="0" rIns="0" bIns="0" rtlCol="0" anchor="t"/>
          <a:lstStyle/>
          <a:p>
            <a:pPr indent="0" marL="0">
              <a:lnSpc>
                <a:spcPct val="100000"/>
              </a:lnSpc>
              <a:buNone/>
            </a:pPr>
            <a:r>
              <a:rPr lang="en-US" sz="1300" dirty="0">
                <a:solidFill>
                  <a:srgbClr val="5A6274"/>
                </a:solidFill>
                <a:latin typeface="Arial" pitchFamily="34" charset="0"/>
                <a:ea typeface="Arial" pitchFamily="34" charset="-122"/>
                <a:cs typeface="Arial" pitchFamily="34" charset="-120"/>
              </a:rPr>
              <a:t>Con 1 de cada 5 o más, reentrenar gana en al menos 18 de 20 semillas.</a:t>
            </a:r>
            <a:endParaRPr lang="en-US" sz="1300" dirty="0"/>
          </a:p>
        </p:txBody>
      </p:sp>
      <p:sp>
        <p:nvSpPr>
          <p:cNvPr id="16" name="Text 13"/>
          <p:cNvSpPr txBox="1"/>
          <p:nvPr/>
        </p:nvSpPr>
        <p:spPr>
          <a:xfrm>
            <a:off x="548640" y="6373368"/>
            <a:ext cx="10241280" cy="274320"/>
          </a:xfrm>
          <a:prstGeom prst="rect">
            <a:avLst/>
          </a:prstGeom>
          <a:noFill/>
          <a:ln/>
        </p:spPr>
        <p:txBody>
          <a:bodyPr wrap="square" lIns="0" tIns="0" rIns="0" bIns="0" rtlCol="0" anchor="t"/>
          <a:lstStyle/>
          <a:p>
            <a:pPr indent="0" marL="0">
              <a:lnSpc>
                <a:spcPct val="100000"/>
              </a:lnSpc>
              <a:buNone/>
            </a:pPr>
            <a:r>
              <a:rPr lang="en-US" sz="1000" dirty="0">
                <a:solidFill>
                  <a:srgbClr val="9AA1AE"/>
                </a:solidFill>
                <a:latin typeface="Arial" pitchFamily="34" charset="0"/>
                <a:ea typeface="Arial" pitchFamily="34" charset="-122"/>
                <a:cs typeface="Arial" pitchFamily="34" charset="-120"/>
              </a:rPr>
              <a:t>Para cada nivel, 20 órdenes del corpus × 5 sorteos de etiquetas. Hedge usa η_ρ = √ρ · η_T.</a:t>
            </a:r>
            <a:endParaRPr lang="en-US" sz="1000" dirty="0"/>
          </a:p>
        </p:txBody>
      </p:sp>
      <p:sp>
        <p:nvSpPr>
          <p:cNvPr id="25" name="Slide Number Placeholder 0"/>
          <p:cNvSpPr>
            <a:spLocks noGrp="1"/>
          </p:cNvSpPr>
          <p:nvPr>
            <p:ph type="sldNum" sz="quarter" idx="4294967295"/>
          </p:nvPr>
        </p:nvSpPr>
        <p:spPr>
          <a:xfrm>
            <a:off x="11091672" y="63733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1AE"/>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411480"/>
            <a:ext cx="7315200" cy="228600"/>
          </a:xfrm>
          <a:prstGeom prst="rect">
            <a:avLst/>
          </a:prstGeom>
          <a:noFill/>
          <a:ln/>
        </p:spPr>
        <p:txBody>
          <a:bodyPr wrap="square" lIns="0" tIns="0" rIns="0" bIns="0" rtlCol="0" anchor="t"/>
          <a:lstStyle/>
          <a:p>
            <a:pPr indent="0" marL="0">
              <a:lnSpc>
                <a:spcPct val="100000"/>
              </a:lnSpc>
              <a:buNone/>
            </a:pPr>
            <a:r>
              <a:rPr lang="en-US" sz="1100" b="1" spc="200" kern="0" dirty="0">
                <a:solidFill>
                  <a:srgbClr val="5A6274"/>
                </a:solidFill>
                <a:latin typeface="Arial" pitchFamily="34" charset="0"/>
                <a:ea typeface="Arial" pitchFamily="34" charset="-122"/>
                <a:cs typeface="Arial" pitchFamily="34" charset="-120"/>
              </a:rPr>
              <a:t>HALLAZGO 2</a:t>
            </a:r>
            <a:endParaRPr lang="en-US" sz="1100" dirty="0"/>
          </a:p>
        </p:txBody>
      </p:sp>
      <p:sp>
        <p:nvSpPr>
          <p:cNvPr id="3" name="Text 0"/>
          <p:cNvSpPr/>
          <p:nvPr>
            <p:ph idx="100" type="title" hasCustomPrompt="1"/>
          </p:nvPr>
        </p:nvSpPr>
        <p:spPr>
          <a:xfrm>
            <a:off x="548640" y="731520"/>
            <a:ext cx="10424160" cy="566928"/>
          </a:xfrm>
          <a:prstGeom prst="rect">
            <a:avLst/>
          </a:prstGeom>
          <a:noFill/>
          <a:ln/>
        </p:spPr>
        <p:txBody>
          <a:bodyPr wrap="square" lIns="0" tIns="0" rIns="0" bIns="0" rtlCol="0" anchor="t"/>
          <a:lstStyle/>
          <a:p>
            <a:pPr indent="0" marL="0">
              <a:buNone/>
            </a:pPr>
            <a:r>
              <a:rPr lang="en-US" sz="3000" dirty="0">
                <a:solidFill>
                  <a:srgbClr val="1F2430"/>
                </a:solidFill>
                <a:latin typeface="Georgia" pitchFamily="34" charset="0"/>
                <a:ea typeface="Georgia" pitchFamily="34" charset="-122"/>
                <a:cs typeface="Georgia" pitchFamily="34" charset="-120"/>
              </a:rPr>
              <a:t>No es un artefacto de cómo se pondera</a:t>
            </a:r>
            <a:endParaRPr lang="en-US" sz="3000" dirty="0"/>
          </a:p>
        </p:txBody>
      </p:sp>
      <p:sp>
        <p:nvSpPr>
          <p:cNvPr id="4" name="Text 2"/>
          <p:cNvSpPr txBox="1"/>
          <p:nvPr/>
        </p:nvSpPr>
        <p:spPr>
          <a:xfrm>
            <a:off x="548640" y="1307592"/>
            <a:ext cx="10424160" cy="320040"/>
          </a:xfrm>
          <a:prstGeom prst="rect">
            <a:avLst/>
          </a:prstGeom>
          <a:noFill/>
          <a:ln/>
        </p:spPr>
        <p:txBody>
          <a:bodyPr wrap="square" lIns="0" tIns="0" rIns="0" bIns="0" rtlCol="0" anchor="t"/>
          <a:lstStyle/>
          <a:p>
            <a:pPr indent="0" marL="0">
              <a:lnSpc>
                <a:spcPct val="100000"/>
              </a:lnSpc>
              <a:buNone/>
            </a:pPr>
            <a:r>
              <a:rPr lang="en-US" sz="1500" dirty="0">
                <a:solidFill>
                  <a:srgbClr val="5A6274"/>
                </a:solidFill>
                <a:latin typeface="Arial" pitchFamily="34" charset="0"/>
                <a:ea typeface="Arial" pitchFamily="34" charset="-122"/>
                <a:cs typeface="Arial" pitchFamily="34" charset="-120"/>
              </a:rPr>
              <a:t>Errores en la mitad atacada con 1 de cada 20 mensajes etiquetado.</a:t>
            </a:r>
            <a:endParaRPr lang="en-US" sz="1500" dirty="0"/>
          </a:p>
        </p:txBody>
      </p:sp>
      <p:sp>
        <p:nvSpPr>
          <p:cNvPr id="5" name="Text 3"/>
          <p:cNvSpPr txBox="1"/>
          <p:nvPr/>
        </p:nvSpPr>
        <p:spPr>
          <a:xfrm>
            <a:off x="9235440" y="429768"/>
            <a:ext cx="1554480" cy="201168"/>
          </a:xfrm>
          <a:prstGeom prst="rect">
            <a:avLst/>
          </a:prstGeom>
          <a:noFill/>
          <a:ln/>
        </p:spPr>
        <p:txBody>
          <a:bodyPr wrap="square" lIns="0" tIns="0" rIns="0" bIns="0" rtlCol="0" anchor="t"/>
          <a:lstStyle/>
          <a:p>
            <a:pPr algn="r" indent="0" marL="0">
              <a:lnSpc>
                <a:spcPct val="100000"/>
              </a:lnSpc>
              <a:buNone/>
            </a:pPr>
            <a:r>
              <a:rPr lang="en-US" sz="900" b="1" spc="200" kern="0" dirty="0">
                <a:solidFill>
                  <a:srgbClr val="9AA1AE"/>
                </a:solidFill>
                <a:latin typeface="Arial" pitchFamily="34" charset="0"/>
                <a:ea typeface="Arial" pitchFamily="34" charset="-122"/>
                <a:cs typeface="Arial" pitchFamily="34" charset="-120"/>
              </a:rPr>
              <a:t>HALLAZGOS</a:t>
            </a:r>
            <a:endParaRPr lang="en-US" sz="900" dirty="0"/>
          </a:p>
        </p:txBody>
      </p:sp>
      <p:sp>
        <p:nvSpPr>
          <p:cNvPr id="6" name="hallazgo 1"/>
          <p:cNvSpPr/>
          <p:nvPr/>
        </p:nvSpPr>
        <p:spPr>
          <a:xfrm>
            <a:off x="10899648" y="457200"/>
            <a:ext cx="137160" cy="137160"/>
          </a:xfrm>
          <a:prstGeom prst="ellipse">
            <a:avLst/>
          </a:prstGeom>
          <a:ln w="15875">
            <a:solidFill>
              <a:srgbClr val="9AA1AE"/>
            </a:solidFill>
            <a:prstDash val="solid"/>
          </a:ln>
        </p:spPr>
      </p:sp>
      <p:sp>
        <p:nvSpPr>
          <p:cNvPr id="7" name="hallazgo 2 (actual)"/>
          <p:cNvSpPr/>
          <p:nvPr/>
        </p:nvSpPr>
        <p:spPr>
          <a:xfrm>
            <a:off x="11100816" y="457200"/>
            <a:ext cx="137160" cy="137160"/>
          </a:xfrm>
          <a:prstGeom prst="ellipse">
            <a:avLst/>
          </a:prstGeom>
          <a:solidFill>
            <a:srgbClr val="1F2430"/>
          </a:solidFill>
          <a:ln/>
        </p:spPr>
      </p:sp>
      <p:sp>
        <p:nvSpPr>
          <p:cNvPr id="8" name="hallazgo 3"/>
          <p:cNvSpPr/>
          <p:nvPr/>
        </p:nvSpPr>
        <p:spPr>
          <a:xfrm>
            <a:off x="11301984" y="457200"/>
            <a:ext cx="137160" cy="137160"/>
          </a:xfrm>
          <a:prstGeom prst="ellipse">
            <a:avLst/>
          </a:prstGeom>
          <a:ln w="15875">
            <a:solidFill>
              <a:srgbClr val="9AA1AE"/>
            </a:solidFill>
            <a:prstDash val="solid"/>
          </a:ln>
        </p:spPr>
      </p:sp>
      <p:sp>
        <p:nvSpPr>
          <p:cNvPr id="9" name="hallazgo 4"/>
          <p:cNvSpPr/>
          <p:nvPr/>
        </p:nvSpPr>
        <p:spPr>
          <a:xfrm>
            <a:off x="11503152" y="457200"/>
            <a:ext cx="137160" cy="137160"/>
          </a:xfrm>
          <a:prstGeom prst="ellipse">
            <a:avLst/>
          </a:prstGeom>
          <a:ln w="15875">
            <a:solidFill>
              <a:srgbClr val="9AA1AE"/>
            </a:solidFill>
            <a:prstDash val="solid"/>
          </a:ln>
        </p:spPr>
      </p:sp>
      <p:pic>
        <p:nvPicPr>
          <p:cNvPr id="10" name="Image 0" descr="SGD online sin reponderar comete 210 errores; reponderado por 1 sobre raíz de rho, 240; por 1 sobre rho, 323. Hedge comete 189.">    </p:cNvPr>
          <p:cNvPicPr>
            <a:picLocks noChangeAspect="1"/>
          </p:cNvPicPr>
          <p:nvPr/>
        </p:nvPicPr>
        <p:blipFill>
          <a:blip r:embed="rId1"/>
          <a:stretch>
            <a:fillRect/>
          </a:stretch>
        </p:blipFill>
        <p:spPr>
          <a:xfrm>
            <a:off x="411480" y="1828800"/>
            <a:ext cx="6949440" cy="3897102"/>
          </a:xfrm>
          <a:prstGeom prst="rect">
            <a:avLst/>
          </a:prstGeom>
        </p:spPr>
      </p:pic>
      <p:sp>
        <p:nvSpPr>
          <p:cNvPr id="11" name="Text 8"/>
          <p:cNvSpPr txBox="1"/>
          <p:nvPr/>
        </p:nvSpPr>
        <p:spPr>
          <a:xfrm>
            <a:off x="7726680" y="1920240"/>
            <a:ext cx="3931920" cy="1097280"/>
          </a:xfrm>
          <a:prstGeom prst="rect">
            <a:avLst/>
          </a:prstGeom>
          <a:noFill/>
          <a:ln/>
        </p:spPr>
        <p:txBody>
          <a:bodyPr wrap="square" lIns="0" tIns="0" rIns="0" bIns="0" rtlCol="0" anchor="t"/>
          <a:lstStyle/>
          <a:p>
            <a:pPr indent="0" marL="0">
              <a:lnSpc>
                <a:spcPct val="100000"/>
              </a:lnSpc>
              <a:buNone/>
            </a:pPr>
            <a:r>
              <a:rPr lang="en-US" sz="2000" dirty="0">
                <a:solidFill>
                  <a:srgbClr val="1F2430"/>
                </a:solidFill>
                <a:latin typeface="Georgia" pitchFamily="34" charset="0"/>
                <a:ea typeface="Georgia" pitchFamily="34" charset="-122"/>
                <a:cs typeface="Georgia" pitchFamily="34" charset="-120"/>
              </a:rPr>
              <a:t>¿Y si SGD compensa las etiquetas que faltan pesando más cada ejemplo, como hace Hedge?</a:t>
            </a:r>
            <a:endParaRPr lang="en-US" sz="2000" dirty="0"/>
          </a:p>
        </p:txBody>
      </p:sp>
      <p:sp>
        <p:nvSpPr>
          <p:cNvPr id="12" name="Text 9"/>
          <p:cNvSpPr txBox="1"/>
          <p:nvPr/>
        </p:nvSpPr>
        <p:spPr>
          <a:xfrm>
            <a:off x="7726680" y="3108960"/>
            <a:ext cx="3931920" cy="548640"/>
          </a:xfrm>
          <a:prstGeom prst="rect">
            <a:avLst/>
          </a:prstGeom>
          <a:noFill/>
          <a:ln/>
        </p:spPr>
        <p:txBody>
          <a:bodyPr wrap="square" lIns="0" tIns="0" rIns="0" bIns="0" rtlCol="0" anchor="t"/>
          <a:lstStyle/>
          <a:p>
            <a:pPr indent="0" marL="0">
              <a:lnSpc>
                <a:spcPct val="100000"/>
              </a:lnSpc>
              <a:buNone/>
            </a:pPr>
            <a:r>
              <a:rPr lang="en-US" sz="1500" dirty="0">
                <a:solidFill>
                  <a:srgbClr val="5A6274"/>
                </a:solidFill>
                <a:latin typeface="Arial" pitchFamily="34" charset="0"/>
                <a:ea typeface="Arial" pitchFamily="34" charset="-122"/>
                <a:cs typeface="Arial" pitchFamily="34" charset="-120"/>
              </a:rPr>
              <a:t>Empeora: con pocos ejemplos, pasos más grandes sobreajustan a cada uno.</a:t>
            </a:r>
            <a:endParaRPr lang="en-US" sz="1500" dirty="0"/>
          </a:p>
        </p:txBody>
      </p:sp>
      <p:sp>
        <p:nvSpPr>
          <p:cNvPr id="13" name="Shape 10"/>
          <p:cNvSpPr/>
          <p:nvPr/>
        </p:nvSpPr>
        <p:spPr>
          <a:xfrm>
            <a:off x="7726680" y="3931920"/>
            <a:ext cx="3913632" cy="0"/>
          </a:xfrm>
          <a:prstGeom prst="line">
            <a:avLst/>
          </a:prstGeom>
          <a:noFill/>
          <a:ln w="9525">
            <a:solidFill>
              <a:srgbClr val="D9D6CE"/>
            </a:solidFill>
            <a:prstDash val="solid"/>
          </a:ln>
        </p:spPr>
      </p:sp>
      <p:sp>
        <p:nvSpPr>
          <p:cNvPr id="14" name="Text 11"/>
          <p:cNvSpPr txBox="1"/>
          <p:nvPr/>
        </p:nvSpPr>
        <p:spPr>
          <a:xfrm>
            <a:off x="7726680" y="4114800"/>
            <a:ext cx="3931920" cy="1051560"/>
          </a:xfrm>
          <a:prstGeom prst="rect">
            <a:avLst/>
          </a:prstGeom>
          <a:noFill/>
          <a:ln/>
        </p:spPr>
        <p:txBody>
          <a:bodyPr wrap="square" lIns="0" tIns="0" rIns="0" bIns="0" rtlCol="0" anchor="t"/>
          <a:lstStyle/>
          <a:p>
            <a:pPr indent="0" marL="0">
              <a:lnSpc>
                <a:spcPct val="100000"/>
              </a:lnSpc>
              <a:buNone/>
            </a:pPr>
            <a:r>
              <a:rPr lang="en-US" sz="2200" dirty="0">
                <a:solidFill>
                  <a:srgbClr val="2A78D6"/>
                </a:solidFill>
                <a:latin typeface="Georgia" pitchFamily="34" charset="0"/>
                <a:ea typeface="Georgia" pitchFamily="34" charset="-122"/>
                <a:cs typeface="Georgia" pitchFamily="34" charset="-120"/>
              </a:rPr>
              <a:t>Hedge aprende 5 pesos. Reentrenar, uno por cada palabra nueva.</a:t>
            </a:r>
            <a:endParaRPr lang="en-US" sz="2200" dirty="0"/>
          </a:p>
        </p:txBody>
      </p:sp>
      <p:sp>
        <p:nvSpPr>
          <p:cNvPr id="15" name="Text 12"/>
          <p:cNvSpPr txBox="1"/>
          <p:nvPr/>
        </p:nvSpPr>
        <p:spPr>
          <a:xfrm>
            <a:off x="7726680" y="5303520"/>
            <a:ext cx="3931920" cy="548640"/>
          </a:xfrm>
          <a:prstGeom prst="rect">
            <a:avLst/>
          </a:prstGeom>
          <a:noFill/>
          <a:ln/>
        </p:spPr>
        <p:txBody>
          <a:bodyPr wrap="square" lIns="0" tIns="0" rIns="0" bIns="0" rtlCol="0" anchor="t"/>
          <a:lstStyle/>
          <a:p>
            <a:pPr indent="0" marL="0">
              <a:lnSpc>
                <a:spcPct val="100000"/>
              </a:lnSpc>
              <a:buNone/>
            </a:pPr>
            <a:r>
              <a:rPr lang="en-US" sz="1300" dirty="0">
                <a:solidFill>
                  <a:srgbClr val="5A6274"/>
                </a:solidFill>
                <a:latin typeface="Arial" pitchFamily="34" charset="0"/>
                <a:ea typeface="Arial" pitchFamily="34" charset="-122"/>
                <a:cs typeface="Arial" pitchFamily="34" charset="-120"/>
              </a:rPr>
              <a:t>Lo que sí paga Hedge es varianza: con ρ = 0,05 cada observación pesa ≈ 4,5 veces más.</a:t>
            </a:r>
            <a:endParaRPr lang="en-US" sz="1300" dirty="0"/>
          </a:p>
        </p:txBody>
      </p:sp>
      <p:sp>
        <p:nvSpPr>
          <p:cNvPr id="16" name="Text 13"/>
          <p:cNvSpPr txBox="1"/>
          <p:nvPr/>
        </p:nvSpPr>
        <p:spPr>
          <a:xfrm>
            <a:off x="548640" y="6373368"/>
            <a:ext cx="10241280" cy="274320"/>
          </a:xfrm>
          <a:prstGeom prst="rect">
            <a:avLst/>
          </a:prstGeom>
          <a:noFill/>
          <a:ln/>
        </p:spPr>
        <p:txBody>
          <a:bodyPr wrap="square" lIns="0" tIns="0" rIns="0" bIns="0" rtlCol="0" anchor="t"/>
          <a:lstStyle/>
          <a:p>
            <a:pPr indent="0" marL="0">
              <a:lnSpc>
                <a:spcPct val="100000"/>
              </a:lnSpc>
              <a:buNone/>
            </a:pPr>
            <a:r>
              <a:rPr lang="en-US" sz="1000" dirty="0">
                <a:solidFill>
                  <a:srgbClr val="9AA1AE"/>
                </a:solidFill>
                <a:latin typeface="Arial" pitchFamily="34" charset="0"/>
                <a:ea typeface="Arial" pitchFamily="34" charset="-122"/>
                <a:cs typeface="Arial" pitchFamily="34" charset="-120"/>
              </a:rPr>
              <a:t>Media de 20 permutaciones (semillas) del SMS Spam Collection. Ataque desde la mitad del stream.</a:t>
            </a:r>
            <a:endParaRPr lang="en-US" sz="1000" dirty="0"/>
          </a:p>
        </p:txBody>
      </p:sp>
      <p:sp>
        <p:nvSpPr>
          <p:cNvPr id="25" name="Slide Number Placeholder 0"/>
          <p:cNvSpPr>
            <a:spLocks noGrp="1"/>
          </p:cNvSpPr>
          <p:nvPr>
            <p:ph type="sldNum" sz="quarter" idx="4294967295"/>
          </p:nvPr>
        </p:nvSpPr>
        <p:spPr>
          <a:xfrm>
            <a:off x="11091672" y="63733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1AE"/>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411480"/>
            <a:ext cx="7315200" cy="228600"/>
          </a:xfrm>
          <a:prstGeom prst="rect">
            <a:avLst/>
          </a:prstGeom>
          <a:noFill/>
          <a:ln/>
        </p:spPr>
        <p:txBody>
          <a:bodyPr wrap="square" lIns="0" tIns="0" rIns="0" bIns="0" rtlCol="0" anchor="t"/>
          <a:lstStyle/>
          <a:p>
            <a:pPr indent="0" marL="0">
              <a:lnSpc>
                <a:spcPct val="100000"/>
              </a:lnSpc>
              <a:buNone/>
            </a:pPr>
            <a:r>
              <a:rPr lang="en-US" sz="1100" b="1" spc="200" kern="0" dirty="0">
                <a:solidFill>
                  <a:srgbClr val="5A6274"/>
                </a:solidFill>
                <a:latin typeface="Arial" pitchFamily="34" charset="0"/>
                <a:ea typeface="Arial" pitchFamily="34" charset="-122"/>
                <a:cs typeface="Arial" pitchFamily="34" charset="-120"/>
              </a:rPr>
              <a:t>HALLAZGO 3 · LA TEORÍA, CON PRECISIÓN</a:t>
            </a:r>
            <a:endParaRPr lang="en-US" sz="1100" dirty="0"/>
          </a:p>
        </p:txBody>
      </p:sp>
      <p:sp>
        <p:nvSpPr>
          <p:cNvPr id="3" name="Text 0"/>
          <p:cNvSpPr/>
          <p:nvPr>
            <p:ph idx="100" type="title" hasCustomPrompt="1"/>
          </p:nvPr>
        </p:nvSpPr>
        <p:spPr>
          <a:xfrm>
            <a:off x="548640" y="731520"/>
            <a:ext cx="10424160" cy="566928"/>
          </a:xfrm>
          <a:prstGeom prst="rect">
            <a:avLst/>
          </a:prstGeom>
          <a:noFill/>
          <a:ln/>
        </p:spPr>
        <p:txBody>
          <a:bodyPr wrap="square" lIns="0" tIns="0" rIns="0" bIns="0" rtlCol="0" anchor="t"/>
          <a:lstStyle/>
          <a:p>
            <a:pPr indent="0" marL="0">
              <a:buNone/>
            </a:pPr>
            <a:r>
              <a:rPr lang="en-US" sz="3000" dirty="0">
                <a:solidFill>
                  <a:srgbClr val="1F2430"/>
                </a:solidFill>
                <a:latin typeface="Georgia" pitchFamily="34" charset="0"/>
                <a:ea typeface="Georgia" pitchFamily="34" charset="-122"/>
                <a:cs typeface="Georgia" pitchFamily="34" charset="-120"/>
              </a:rPr>
              <a:t>La cota de la teoría no es la del voto pesado</a:t>
            </a:r>
            <a:endParaRPr lang="en-US" sz="3000" dirty="0"/>
          </a:p>
        </p:txBody>
      </p:sp>
      <p:sp>
        <p:nvSpPr>
          <p:cNvPr id="4" name="Text 2"/>
          <p:cNvSpPr txBox="1"/>
          <p:nvPr/>
        </p:nvSpPr>
        <p:spPr>
          <a:xfrm>
            <a:off x="9235440" y="429768"/>
            <a:ext cx="1554480" cy="201168"/>
          </a:xfrm>
          <a:prstGeom prst="rect">
            <a:avLst/>
          </a:prstGeom>
          <a:noFill/>
          <a:ln/>
        </p:spPr>
        <p:txBody>
          <a:bodyPr wrap="square" lIns="0" tIns="0" rIns="0" bIns="0" rtlCol="0" anchor="t"/>
          <a:lstStyle/>
          <a:p>
            <a:pPr algn="r" indent="0" marL="0">
              <a:lnSpc>
                <a:spcPct val="100000"/>
              </a:lnSpc>
              <a:buNone/>
            </a:pPr>
            <a:r>
              <a:rPr lang="en-US" sz="900" b="1" spc="200" kern="0" dirty="0">
                <a:solidFill>
                  <a:srgbClr val="9AA1AE"/>
                </a:solidFill>
                <a:latin typeface="Arial" pitchFamily="34" charset="0"/>
                <a:ea typeface="Arial" pitchFamily="34" charset="-122"/>
                <a:cs typeface="Arial" pitchFamily="34" charset="-120"/>
              </a:rPr>
              <a:t>HALLAZGOS</a:t>
            </a:r>
            <a:endParaRPr lang="en-US" sz="900" dirty="0"/>
          </a:p>
        </p:txBody>
      </p:sp>
      <p:sp>
        <p:nvSpPr>
          <p:cNvPr id="5" name="hallazgo 1"/>
          <p:cNvSpPr/>
          <p:nvPr/>
        </p:nvSpPr>
        <p:spPr>
          <a:xfrm>
            <a:off x="10899648" y="457200"/>
            <a:ext cx="137160" cy="137160"/>
          </a:xfrm>
          <a:prstGeom prst="ellipse">
            <a:avLst/>
          </a:prstGeom>
          <a:ln w="15875">
            <a:solidFill>
              <a:srgbClr val="9AA1AE"/>
            </a:solidFill>
            <a:prstDash val="solid"/>
          </a:ln>
        </p:spPr>
      </p:sp>
      <p:sp>
        <p:nvSpPr>
          <p:cNvPr id="6" name="hallazgo 2"/>
          <p:cNvSpPr/>
          <p:nvPr/>
        </p:nvSpPr>
        <p:spPr>
          <a:xfrm>
            <a:off x="11100816" y="457200"/>
            <a:ext cx="137160" cy="137160"/>
          </a:xfrm>
          <a:prstGeom prst="ellipse">
            <a:avLst/>
          </a:prstGeom>
          <a:ln w="15875">
            <a:solidFill>
              <a:srgbClr val="9AA1AE"/>
            </a:solidFill>
            <a:prstDash val="solid"/>
          </a:ln>
        </p:spPr>
      </p:sp>
      <p:sp>
        <p:nvSpPr>
          <p:cNvPr id="7" name="hallazgo 3 (actual)"/>
          <p:cNvSpPr/>
          <p:nvPr/>
        </p:nvSpPr>
        <p:spPr>
          <a:xfrm>
            <a:off x="11301984" y="457200"/>
            <a:ext cx="137160" cy="137160"/>
          </a:xfrm>
          <a:prstGeom prst="ellipse">
            <a:avLst/>
          </a:prstGeom>
          <a:solidFill>
            <a:srgbClr val="1F2430"/>
          </a:solidFill>
          <a:ln/>
        </p:spPr>
      </p:sp>
      <p:sp>
        <p:nvSpPr>
          <p:cNvPr id="8" name="hallazgo 4"/>
          <p:cNvSpPr/>
          <p:nvPr/>
        </p:nvSpPr>
        <p:spPr>
          <a:xfrm>
            <a:off x="11503152" y="457200"/>
            <a:ext cx="137160" cy="137160"/>
          </a:xfrm>
          <a:prstGeom prst="ellipse">
            <a:avLst/>
          </a:prstGeom>
          <a:ln w="15875">
            <a:solidFill>
              <a:srgbClr val="9AA1AE"/>
            </a:solidFill>
            <a:prstDash val="solid"/>
          </a:ln>
        </p:spPr>
      </p:sp>
      <p:sp>
        <p:nvSpPr>
          <p:cNvPr id="9" name="Text 7"/>
          <p:cNvSpPr txBox="1"/>
          <p:nvPr/>
        </p:nvSpPr>
        <p:spPr>
          <a:xfrm>
            <a:off x="548640" y="1783080"/>
            <a:ext cx="4572000" cy="274320"/>
          </a:xfrm>
          <a:prstGeom prst="rect">
            <a:avLst/>
          </a:prstGeom>
          <a:noFill/>
          <a:ln/>
        </p:spPr>
        <p:txBody>
          <a:bodyPr wrap="square" lIns="0" tIns="0" rIns="0" bIns="0" rtlCol="0" anchor="t"/>
          <a:lstStyle/>
          <a:p>
            <a:pPr indent="0" marL="0">
              <a:lnSpc>
                <a:spcPct val="100000"/>
              </a:lnSpc>
              <a:buNone/>
            </a:pPr>
            <a:r>
              <a:rPr lang="en-US" sz="1500" dirty="0">
                <a:solidFill>
                  <a:srgbClr val="5A6274"/>
                </a:solidFill>
                <a:latin typeface="Arial" pitchFamily="34" charset="0"/>
                <a:ea typeface="Arial" pitchFamily="34" charset="-122"/>
                <a:cs typeface="Arial" pitchFamily="34" charset="-120"/>
              </a:rPr>
              <a:t>En clase se presentan juntos:</a:t>
            </a:r>
            <a:endParaRPr lang="en-US" sz="1500" dirty="0"/>
          </a:p>
        </p:txBody>
      </p:sp>
      <p:sp>
        <p:nvSpPr>
          <p:cNvPr id="10" name="punto Voto pesado determinístico"/>
          <p:cNvSpPr/>
          <p:nvPr/>
        </p:nvSpPr>
        <p:spPr>
          <a:xfrm>
            <a:off x="548640" y="2295144"/>
            <a:ext cx="219456" cy="219456"/>
          </a:xfrm>
          <a:prstGeom prst="ellipse">
            <a:avLst/>
          </a:prstGeom>
          <a:solidFill>
            <a:srgbClr val="E34948"/>
          </a:solidFill>
          <a:ln/>
        </p:spPr>
      </p:sp>
      <p:sp>
        <p:nvSpPr>
          <p:cNvPr id="11" name="Text 9"/>
          <p:cNvSpPr txBox="1"/>
          <p:nvPr/>
        </p:nvSpPr>
        <p:spPr>
          <a:xfrm>
            <a:off x="932688" y="2240280"/>
            <a:ext cx="4187952" cy="292608"/>
          </a:xfrm>
          <a:prstGeom prst="rect">
            <a:avLst/>
          </a:prstGeom>
          <a:noFill/>
          <a:ln/>
        </p:spPr>
        <p:txBody>
          <a:bodyPr wrap="square" lIns="0" tIns="0" rIns="0" bIns="0" rtlCol="0" anchor="t"/>
          <a:lstStyle/>
          <a:p>
            <a:pPr indent="0" marL="0">
              <a:lnSpc>
                <a:spcPct val="100000"/>
              </a:lnSpc>
              <a:buNone/>
            </a:pPr>
            <a:r>
              <a:rPr lang="en-US" sz="1600" b="1" dirty="0">
                <a:solidFill>
                  <a:srgbClr val="1F2430"/>
                </a:solidFill>
                <a:latin typeface="Arial" pitchFamily="34" charset="0"/>
                <a:ea typeface="Arial" pitchFamily="34" charset="-122"/>
                <a:cs typeface="Arial" pitchFamily="34" charset="-120"/>
              </a:rPr>
              <a:t>Voto pesado determinístico</a:t>
            </a:r>
            <a:endParaRPr lang="en-US" sz="1600" dirty="0"/>
          </a:p>
        </p:txBody>
      </p:sp>
      <p:sp>
        <p:nvSpPr>
          <p:cNvPr id="12" name="Text 10"/>
          <p:cNvSpPr txBox="1"/>
          <p:nvPr/>
        </p:nvSpPr>
        <p:spPr>
          <a:xfrm>
            <a:off x="932688" y="2569464"/>
            <a:ext cx="4187952" cy="457200"/>
          </a:xfrm>
          <a:prstGeom prst="rect">
            <a:avLst/>
          </a:prstGeom>
          <a:noFill/>
          <a:ln/>
        </p:spPr>
        <p:txBody>
          <a:bodyPr wrap="square" lIns="0" tIns="0" rIns="0" bIns="0" rtlCol="0" anchor="t"/>
          <a:lstStyle/>
          <a:p>
            <a:pPr indent="0" marL="0">
              <a:lnSpc>
                <a:spcPct val="100000"/>
              </a:lnSpc>
              <a:buNone/>
            </a:pPr>
            <a:r>
              <a:rPr lang="en-US" sz="1300" dirty="0">
                <a:solidFill>
                  <a:srgbClr val="5A6274"/>
                </a:solidFill>
                <a:latin typeface="Arial" pitchFamily="34" charset="0"/>
                <a:ea typeface="Arial" pitchFamily="34" charset="-122"/>
                <a:cs typeface="Arial" pitchFamily="34" charset="-120"/>
              </a:rPr>
              <a:t>predice lo que dice la mayoría ponderada</a:t>
            </a:r>
            <a:endParaRPr lang="en-US" sz="1300" dirty="0"/>
          </a:p>
        </p:txBody>
      </p:sp>
      <p:sp>
        <p:nvSpPr>
          <p:cNvPr id="13" name="punto Hedge randomizado"/>
          <p:cNvSpPr/>
          <p:nvPr/>
        </p:nvSpPr>
        <p:spPr>
          <a:xfrm>
            <a:off x="548640" y="3118104"/>
            <a:ext cx="219456" cy="219456"/>
          </a:xfrm>
          <a:prstGeom prst="ellipse">
            <a:avLst/>
          </a:prstGeom>
          <a:solidFill>
            <a:srgbClr val="2A78D6"/>
          </a:solidFill>
          <a:ln/>
        </p:spPr>
      </p:sp>
      <p:sp>
        <p:nvSpPr>
          <p:cNvPr id="14" name="Text 12"/>
          <p:cNvSpPr txBox="1"/>
          <p:nvPr/>
        </p:nvSpPr>
        <p:spPr>
          <a:xfrm>
            <a:off x="932688" y="3063240"/>
            <a:ext cx="4187952" cy="292608"/>
          </a:xfrm>
          <a:prstGeom prst="rect">
            <a:avLst/>
          </a:prstGeom>
          <a:noFill/>
          <a:ln/>
        </p:spPr>
        <p:txBody>
          <a:bodyPr wrap="square" lIns="0" tIns="0" rIns="0" bIns="0" rtlCol="0" anchor="t"/>
          <a:lstStyle/>
          <a:p>
            <a:pPr indent="0" marL="0">
              <a:lnSpc>
                <a:spcPct val="100000"/>
              </a:lnSpc>
              <a:buNone/>
            </a:pPr>
            <a:r>
              <a:rPr lang="en-US" sz="1600" b="1" dirty="0">
                <a:solidFill>
                  <a:srgbClr val="1F2430"/>
                </a:solidFill>
                <a:latin typeface="Arial" pitchFamily="34" charset="0"/>
                <a:ea typeface="Arial" pitchFamily="34" charset="-122"/>
                <a:cs typeface="Arial" pitchFamily="34" charset="-120"/>
              </a:rPr>
              <a:t>Hedge randomizado</a:t>
            </a:r>
            <a:endParaRPr lang="en-US" sz="1600" dirty="0"/>
          </a:p>
        </p:txBody>
      </p:sp>
      <p:sp>
        <p:nvSpPr>
          <p:cNvPr id="15" name="Text 13"/>
          <p:cNvSpPr txBox="1"/>
          <p:nvPr/>
        </p:nvSpPr>
        <p:spPr>
          <a:xfrm>
            <a:off x="932688" y="3392424"/>
            <a:ext cx="4187952" cy="457200"/>
          </a:xfrm>
          <a:prstGeom prst="rect">
            <a:avLst/>
          </a:prstGeom>
          <a:noFill/>
          <a:ln/>
        </p:spPr>
        <p:txBody>
          <a:bodyPr wrap="square" lIns="0" tIns="0" rIns="0" bIns="0" rtlCol="0" anchor="t"/>
          <a:lstStyle/>
          <a:p>
            <a:pPr indent="0" marL="0">
              <a:lnSpc>
                <a:spcPct val="100000"/>
              </a:lnSpc>
              <a:buNone/>
            </a:pPr>
            <a:r>
              <a:rPr lang="en-US" sz="1300" dirty="0">
                <a:solidFill>
                  <a:srgbClr val="5A6274"/>
                </a:solidFill>
                <a:latin typeface="Arial" pitchFamily="34" charset="0"/>
                <a:ea typeface="Arial" pitchFamily="34" charset="-122"/>
                <a:cs typeface="Arial" pitchFamily="34" charset="-120"/>
              </a:rPr>
              <a:t>sortea un experto según los pesos: para este vale la cota</a:t>
            </a:r>
            <a:endParaRPr lang="en-US" sz="1300" dirty="0"/>
          </a:p>
        </p:txBody>
      </p:sp>
      <p:sp>
        <p:nvSpPr>
          <p:cNvPr id="16" name="Shape 14"/>
          <p:cNvSpPr/>
          <p:nvPr/>
        </p:nvSpPr>
        <p:spPr>
          <a:xfrm>
            <a:off x="548640" y="3977640"/>
            <a:ext cx="4572000" cy="0"/>
          </a:xfrm>
          <a:prstGeom prst="line">
            <a:avLst/>
          </a:prstGeom>
          <a:noFill/>
          <a:ln w="9525">
            <a:solidFill>
              <a:srgbClr val="D9D6CE"/>
            </a:solidFill>
            <a:prstDash val="solid"/>
          </a:ln>
        </p:spPr>
      </p:sp>
      <p:sp>
        <p:nvSpPr>
          <p:cNvPr id="17" name="Text 15"/>
          <p:cNvSpPr txBox="1"/>
          <p:nvPr/>
        </p:nvSpPr>
        <p:spPr>
          <a:xfrm>
            <a:off x="548640" y="4160520"/>
            <a:ext cx="4572000" cy="1005840"/>
          </a:xfrm>
          <a:prstGeom prst="rect">
            <a:avLst/>
          </a:prstGeom>
          <a:noFill/>
          <a:ln/>
        </p:spPr>
        <p:txBody>
          <a:bodyPr wrap="square" lIns="0" tIns="0" rIns="0" bIns="0" rtlCol="0" anchor="t"/>
          <a:lstStyle/>
          <a:p>
            <a:pPr indent="0" marL="0">
              <a:lnSpc>
                <a:spcPct val="100000"/>
              </a:lnSpc>
              <a:buNone/>
            </a:pPr>
            <a:r>
              <a:rPr lang="en-US" sz="2000" dirty="0">
                <a:solidFill>
                  <a:srgbClr val="1F2430"/>
                </a:solidFill>
                <a:latin typeface="Georgia" pitchFamily="34" charset="0"/>
                <a:ea typeface="Georgia" pitchFamily="34" charset="-122"/>
                <a:cs typeface="Georgia" pitchFamily="34" charset="-120"/>
              </a:rPr>
              <a:t>Si el jugador es predecible, un adversario lo simula y etiqueta lo contrario: lo hace errar siempre.</a:t>
            </a:r>
            <a:endParaRPr lang="en-US" sz="2000" dirty="0"/>
          </a:p>
        </p:txBody>
      </p:sp>
      <p:sp>
        <p:nvSpPr>
          <p:cNvPr id="18" name="Text 16"/>
          <p:cNvSpPr txBox="1"/>
          <p:nvPr/>
        </p:nvSpPr>
        <p:spPr>
          <a:xfrm>
            <a:off x="548640" y="5349240"/>
            <a:ext cx="4572000" cy="548640"/>
          </a:xfrm>
          <a:prstGeom prst="rect">
            <a:avLst/>
          </a:prstGeom>
          <a:noFill/>
          <a:ln/>
        </p:spPr>
        <p:txBody>
          <a:bodyPr wrap="square" lIns="0" tIns="0" rIns="0" bIns="0" rtlCol="0" anchor="t"/>
          <a:lstStyle/>
          <a:p>
            <a:pPr indent="0" marL="0">
              <a:lnSpc>
                <a:spcPct val="100000"/>
              </a:lnSpc>
              <a:buNone/>
            </a:pPr>
            <a:r>
              <a:rPr lang="en-US" sz="1300" dirty="0">
                <a:solidFill>
                  <a:srgbClr val="5A6274"/>
                </a:solidFill>
                <a:latin typeface="Arial" pitchFamily="34" charset="0"/>
                <a:ea typeface="Arial" pitchFamily="34" charset="-122"/>
                <a:cs typeface="Arial" pitchFamily="34" charset="-120"/>
              </a:rPr>
              <a:t>En nuestro stream de spam, que es benigno, el determinístico incluso anda mejor (regret −2,6).</a:t>
            </a:r>
            <a:endParaRPr lang="en-US" sz="1300" dirty="0"/>
          </a:p>
        </p:txBody>
      </p:sp>
      <p:pic>
        <p:nvPicPr>
          <p:cNvPr id="19" name="Image 0" descr="Regret frente a un adversario que simula al jugador. El voto pesado determinístico llega a 2.000, T sobre 2; Hedge randomizado queda en 14, bajo su cota de 37.">    </p:cNvPr>
          <p:cNvPicPr>
            <a:picLocks noChangeAspect="1"/>
          </p:cNvPicPr>
          <p:nvPr/>
        </p:nvPicPr>
        <p:blipFill>
          <a:blip r:embed="rId1"/>
          <a:stretch>
            <a:fillRect/>
          </a:stretch>
        </p:blipFill>
        <p:spPr>
          <a:xfrm>
            <a:off x="5440680" y="1737360"/>
            <a:ext cx="6263640" cy="4276573"/>
          </a:xfrm>
          <a:prstGeom prst="rect">
            <a:avLst/>
          </a:prstGeom>
        </p:spPr>
      </p:pic>
      <p:sp>
        <p:nvSpPr>
          <p:cNvPr id="20" name="Text 17"/>
          <p:cNvSpPr txBox="1"/>
          <p:nvPr/>
        </p:nvSpPr>
        <p:spPr>
          <a:xfrm>
            <a:off x="548640" y="6373368"/>
            <a:ext cx="10241280" cy="274320"/>
          </a:xfrm>
          <a:prstGeom prst="rect">
            <a:avLst/>
          </a:prstGeom>
          <a:noFill/>
          <a:ln/>
        </p:spPr>
        <p:txBody>
          <a:bodyPr wrap="square" lIns="0" tIns="0" rIns="0" bIns="0" rtlCol="0" anchor="t"/>
          <a:lstStyle/>
          <a:p>
            <a:pPr indent="0" marL="0">
              <a:lnSpc>
                <a:spcPct val="100000"/>
              </a:lnSpc>
              <a:buNone/>
            </a:pPr>
            <a:r>
              <a:rPr lang="en-US" sz="1000" dirty="0">
                <a:solidFill>
                  <a:srgbClr val="9AA1AE"/>
                </a:solidFill>
                <a:latin typeface="Arial" pitchFamily="34" charset="0"/>
                <a:ea typeface="Arial" pitchFamily="34" charset="-122"/>
                <a:cs typeface="Arial" pitchFamily="34" charset="-120"/>
              </a:rPr>
              <a:t>Secuencia sintética de 4.000 rondas con 2 expertos. Slides 71 y 73 de la clase 2.</a:t>
            </a:r>
            <a:endParaRPr lang="en-US" sz="1000" dirty="0"/>
          </a:p>
        </p:txBody>
      </p:sp>
      <p:sp>
        <p:nvSpPr>
          <p:cNvPr id="25" name="Slide Number Placeholder 0"/>
          <p:cNvSpPr>
            <a:spLocks noGrp="1"/>
          </p:cNvSpPr>
          <p:nvPr>
            <p:ph type="sldNum" sz="quarter" idx="4294967295"/>
          </p:nvPr>
        </p:nvSpPr>
        <p:spPr>
          <a:xfrm>
            <a:off x="11091672" y="63733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1AE"/>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411480"/>
            <a:ext cx="7315200" cy="228600"/>
          </a:xfrm>
          <a:prstGeom prst="rect">
            <a:avLst/>
          </a:prstGeom>
          <a:noFill/>
          <a:ln/>
        </p:spPr>
        <p:txBody>
          <a:bodyPr wrap="square" lIns="0" tIns="0" rIns="0" bIns="0" rtlCol="0" anchor="t"/>
          <a:lstStyle/>
          <a:p>
            <a:pPr indent="0" marL="0">
              <a:lnSpc>
                <a:spcPct val="100000"/>
              </a:lnSpc>
              <a:buNone/>
            </a:pPr>
            <a:r>
              <a:rPr lang="en-US" sz="1100" b="1" spc="200" kern="0" dirty="0">
                <a:solidFill>
                  <a:srgbClr val="5A6274"/>
                </a:solidFill>
                <a:latin typeface="Arial" pitchFamily="34" charset="0"/>
                <a:ea typeface="Arial" pitchFamily="34" charset="-122"/>
                <a:cs typeface="Arial" pitchFamily="34" charset="-120"/>
              </a:rPr>
              <a:t>HALLAZGO 3</a:t>
            </a:r>
            <a:endParaRPr lang="en-US" sz="1100" dirty="0"/>
          </a:p>
        </p:txBody>
      </p:sp>
      <p:sp>
        <p:nvSpPr>
          <p:cNvPr id="3" name="Text 0"/>
          <p:cNvSpPr/>
          <p:nvPr>
            <p:ph idx="100" type="title" hasCustomPrompt="1"/>
          </p:nvPr>
        </p:nvSpPr>
        <p:spPr>
          <a:xfrm>
            <a:off x="548640" y="731520"/>
            <a:ext cx="10424160" cy="566928"/>
          </a:xfrm>
          <a:prstGeom prst="rect">
            <a:avLst/>
          </a:prstGeom>
          <a:noFill/>
          <a:ln/>
        </p:spPr>
        <p:txBody>
          <a:bodyPr wrap="square" lIns="0" tIns="0" rIns="0" bIns="0" rtlCol="0" anchor="t"/>
          <a:lstStyle/>
          <a:p>
            <a:pPr indent="0" marL="0">
              <a:buNone/>
            </a:pPr>
            <a:r>
              <a:rPr lang="en-US" sz="3000" dirty="0">
                <a:solidFill>
                  <a:srgbClr val="1F2430"/>
                </a:solidFill>
                <a:latin typeface="Georgia" pitchFamily="34" charset="0"/>
                <a:ea typeface="Georgia" pitchFamily="34" charset="-122"/>
                <a:cs typeface="Georgia" pitchFamily="34" charset="-120"/>
              </a:rPr>
              <a:t>Cada cota vale para su tasa de aprendizaje</a:t>
            </a:r>
            <a:endParaRPr lang="en-US" sz="3000" dirty="0"/>
          </a:p>
        </p:txBody>
      </p:sp>
      <p:sp>
        <p:nvSpPr>
          <p:cNvPr id="4" name="Text 2"/>
          <p:cNvSpPr txBox="1"/>
          <p:nvPr/>
        </p:nvSpPr>
        <p:spPr>
          <a:xfrm>
            <a:off x="548640" y="1307592"/>
            <a:ext cx="10424160" cy="320040"/>
          </a:xfrm>
          <a:prstGeom prst="rect">
            <a:avLst/>
          </a:prstGeom>
          <a:noFill/>
          <a:ln/>
        </p:spPr>
        <p:txBody>
          <a:bodyPr wrap="square" lIns="0" tIns="0" rIns="0" bIns="0" rtlCol="0" anchor="t"/>
          <a:lstStyle/>
          <a:p>
            <a:pPr indent="0" marL="0">
              <a:lnSpc>
                <a:spcPct val="100000"/>
              </a:lnSpc>
              <a:buNone/>
            </a:pPr>
            <a:r>
              <a:rPr lang="en-US" sz="1500" dirty="0">
                <a:solidFill>
                  <a:srgbClr val="5A6274"/>
                </a:solidFill>
                <a:latin typeface="Arial" pitchFamily="34" charset="0"/>
                <a:ea typeface="Arial" pitchFamily="34" charset="-122"/>
                <a:cs typeface="Arial" pitchFamily="34" charset="-120"/>
              </a:rPr>
              <a:t>Regret de Hedge en el stream atacado, con dos formas de elegir η.</a:t>
            </a:r>
            <a:endParaRPr lang="en-US" sz="1500" dirty="0"/>
          </a:p>
        </p:txBody>
      </p:sp>
      <p:sp>
        <p:nvSpPr>
          <p:cNvPr id="5" name="Text 3"/>
          <p:cNvSpPr txBox="1"/>
          <p:nvPr/>
        </p:nvSpPr>
        <p:spPr>
          <a:xfrm>
            <a:off x="9235440" y="429768"/>
            <a:ext cx="1554480" cy="201168"/>
          </a:xfrm>
          <a:prstGeom prst="rect">
            <a:avLst/>
          </a:prstGeom>
          <a:noFill/>
          <a:ln/>
        </p:spPr>
        <p:txBody>
          <a:bodyPr wrap="square" lIns="0" tIns="0" rIns="0" bIns="0" rtlCol="0" anchor="t"/>
          <a:lstStyle/>
          <a:p>
            <a:pPr algn="r" indent="0" marL="0">
              <a:lnSpc>
                <a:spcPct val="100000"/>
              </a:lnSpc>
              <a:buNone/>
            </a:pPr>
            <a:r>
              <a:rPr lang="en-US" sz="900" b="1" spc="200" kern="0" dirty="0">
                <a:solidFill>
                  <a:srgbClr val="9AA1AE"/>
                </a:solidFill>
                <a:latin typeface="Arial" pitchFamily="34" charset="0"/>
                <a:ea typeface="Arial" pitchFamily="34" charset="-122"/>
                <a:cs typeface="Arial" pitchFamily="34" charset="-120"/>
              </a:rPr>
              <a:t>HALLAZGOS</a:t>
            </a:r>
            <a:endParaRPr lang="en-US" sz="900" dirty="0"/>
          </a:p>
        </p:txBody>
      </p:sp>
      <p:sp>
        <p:nvSpPr>
          <p:cNvPr id="6" name="hallazgo 1"/>
          <p:cNvSpPr/>
          <p:nvPr/>
        </p:nvSpPr>
        <p:spPr>
          <a:xfrm>
            <a:off x="10899648" y="457200"/>
            <a:ext cx="137160" cy="137160"/>
          </a:xfrm>
          <a:prstGeom prst="ellipse">
            <a:avLst/>
          </a:prstGeom>
          <a:ln w="15875">
            <a:solidFill>
              <a:srgbClr val="9AA1AE"/>
            </a:solidFill>
            <a:prstDash val="solid"/>
          </a:ln>
        </p:spPr>
      </p:sp>
      <p:sp>
        <p:nvSpPr>
          <p:cNvPr id="7" name="hallazgo 2"/>
          <p:cNvSpPr/>
          <p:nvPr/>
        </p:nvSpPr>
        <p:spPr>
          <a:xfrm>
            <a:off x="11100816" y="457200"/>
            <a:ext cx="137160" cy="137160"/>
          </a:xfrm>
          <a:prstGeom prst="ellipse">
            <a:avLst/>
          </a:prstGeom>
          <a:ln w="15875">
            <a:solidFill>
              <a:srgbClr val="9AA1AE"/>
            </a:solidFill>
            <a:prstDash val="solid"/>
          </a:ln>
        </p:spPr>
      </p:sp>
      <p:sp>
        <p:nvSpPr>
          <p:cNvPr id="8" name="hallazgo 3 (actual)"/>
          <p:cNvSpPr/>
          <p:nvPr/>
        </p:nvSpPr>
        <p:spPr>
          <a:xfrm>
            <a:off x="11301984" y="457200"/>
            <a:ext cx="137160" cy="137160"/>
          </a:xfrm>
          <a:prstGeom prst="ellipse">
            <a:avLst/>
          </a:prstGeom>
          <a:solidFill>
            <a:srgbClr val="1F2430"/>
          </a:solidFill>
          <a:ln/>
        </p:spPr>
      </p:sp>
      <p:sp>
        <p:nvSpPr>
          <p:cNvPr id="9" name="hallazgo 4"/>
          <p:cNvSpPr/>
          <p:nvPr/>
        </p:nvSpPr>
        <p:spPr>
          <a:xfrm>
            <a:off x="11503152" y="457200"/>
            <a:ext cx="137160" cy="137160"/>
          </a:xfrm>
          <a:prstGeom prst="ellipse">
            <a:avLst/>
          </a:prstGeom>
          <a:ln w="15875">
            <a:solidFill>
              <a:srgbClr val="9AA1AE"/>
            </a:solidFill>
            <a:prstDash val="solid"/>
          </a:ln>
        </p:spPr>
      </p:sp>
      <p:pic>
        <p:nvPicPr>
          <p:cNvPr id="10" name="Image 0" descr="Regret de Hedge con eta de peor caso: 31, bajo su cota de 60. Con eta small-loss: 15, bajo su cota de 25.">    </p:cNvPr>
          <p:cNvPicPr>
            <a:picLocks noChangeAspect="1"/>
          </p:cNvPicPr>
          <p:nvPr/>
        </p:nvPicPr>
        <p:blipFill>
          <a:blip r:embed="rId1"/>
          <a:stretch>
            <a:fillRect/>
          </a:stretch>
        </p:blipFill>
        <p:spPr>
          <a:xfrm>
            <a:off x="411480" y="1783080"/>
            <a:ext cx="6495445" cy="4434840"/>
          </a:xfrm>
          <a:prstGeom prst="rect">
            <a:avLst/>
          </a:prstGeom>
        </p:spPr>
      </p:pic>
      <p:sp>
        <p:nvSpPr>
          <p:cNvPr id="11" name="Text 8"/>
          <p:cNvSpPr txBox="1"/>
          <p:nvPr/>
        </p:nvSpPr>
        <p:spPr>
          <a:xfrm>
            <a:off x="7726680" y="1920240"/>
            <a:ext cx="3931920" cy="868680"/>
          </a:xfrm>
          <a:prstGeom prst="rect">
            <a:avLst/>
          </a:prstGeom>
          <a:noFill/>
          <a:ln/>
        </p:spPr>
        <p:txBody>
          <a:bodyPr wrap="square" lIns="0" tIns="0" rIns="0" bIns="0" rtlCol="0" anchor="t"/>
          <a:lstStyle/>
          <a:p>
            <a:pPr indent="0" marL="0">
              <a:lnSpc>
                <a:spcPct val="100000"/>
              </a:lnSpc>
              <a:buNone/>
            </a:pPr>
            <a:r>
              <a:rPr lang="en-US" sz="2000" dirty="0">
                <a:solidFill>
                  <a:srgbClr val="1F2430"/>
                </a:solidFill>
                <a:latin typeface="Georgia" pitchFamily="34" charset="0"/>
                <a:ea typeface="Georgia" pitchFamily="34" charset="-122"/>
                <a:cs typeface="Georgia" pitchFamily="34" charset="-120"/>
              </a:rPr>
              <a:t>Las dos cotas se cumplen en las 20 semillas, cada una con su propio η.</a:t>
            </a:r>
            <a:endParaRPr lang="en-US" sz="2000" dirty="0"/>
          </a:p>
        </p:txBody>
      </p:sp>
      <p:sp>
        <p:nvSpPr>
          <p:cNvPr id="12" name="punto η de peor caso"/>
          <p:cNvSpPr/>
          <p:nvPr/>
        </p:nvSpPr>
        <p:spPr>
          <a:xfrm>
            <a:off x="7726680" y="3072384"/>
            <a:ext cx="219456" cy="219456"/>
          </a:xfrm>
          <a:prstGeom prst="ellipse">
            <a:avLst/>
          </a:prstGeom>
          <a:solidFill>
            <a:srgbClr val="2A78D6"/>
          </a:solidFill>
          <a:ln/>
        </p:spPr>
      </p:sp>
      <p:sp>
        <p:nvSpPr>
          <p:cNvPr id="13" name="Text 10"/>
          <p:cNvSpPr txBox="1"/>
          <p:nvPr/>
        </p:nvSpPr>
        <p:spPr>
          <a:xfrm>
            <a:off x="8110728" y="3017520"/>
            <a:ext cx="3547872" cy="292608"/>
          </a:xfrm>
          <a:prstGeom prst="rect">
            <a:avLst/>
          </a:prstGeom>
          <a:noFill/>
          <a:ln/>
        </p:spPr>
        <p:txBody>
          <a:bodyPr wrap="square" lIns="0" tIns="0" rIns="0" bIns="0" rtlCol="0" anchor="t"/>
          <a:lstStyle/>
          <a:p>
            <a:pPr indent="0" marL="0">
              <a:lnSpc>
                <a:spcPct val="100000"/>
              </a:lnSpc>
              <a:buNone/>
            </a:pPr>
            <a:r>
              <a:rPr lang="en-US" sz="1600" b="1" dirty="0">
                <a:solidFill>
                  <a:srgbClr val="1F2430"/>
                </a:solidFill>
                <a:latin typeface="Arial" pitchFamily="34" charset="0"/>
                <a:ea typeface="Arial" pitchFamily="34" charset="-122"/>
                <a:cs typeface="Arial" pitchFamily="34" charset="-120"/>
              </a:rPr>
              <a:t>η de peor caso</a:t>
            </a:r>
            <a:endParaRPr lang="en-US" sz="1600" dirty="0"/>
          </a:p>
        </p:txBody>
      </p:sp>
      <p:sp>
        <p:nvSpPr>
          <p:cNvPr id="14" name="Text 11"/>
          <p:cNvSpPr txBox="1"/>
          <p:nvPr/>
        </p:nvSpPr>
        <p:spPr>
          <a:xfrm>
            <a:off x="8110728" y="3346704"/>
            <a:ext cx="3547872" cy="457200"/>
          </a:xfrm>
          <a:prstGeom prst="rect">
            <a:avLst/>
          </a:prstGeom>
          <a:noFill/>
          <a:ln/>
        </p:spPr>
        <p:txBody>
          <a:bodyPr wrap="square" lIns="0" tIns="0" rIns="0" bIns="0" rtlCol="0" anchor="t"/>
          <a:lstStyle/>
          <a:p>
            <a:pPr indent="0" marL="0">
              <a:lnSpc>
                <a:spcPct val="100000"/>
              </a:lnSpc>
              <a:buNone/>
            </a:pPr>
            <a:r>
              <a:rPr lang="en-US" sz="1300" dirty="0">
                <a:solidFill>
                  <a:srgbClr val="5A6274"/>
                </a:solidFill>
                <a:latin typeface="Arial" pitchFamily="34" charset="0"/>
                <a:ea typeface="Arial" pitchFamily="34" charset="-122"/>
                <a:cs typeface="Arial" pitchFamily="34" charset="-120"/>
              </a:rPr>
              <a:t>sintonizado por T: regret 31, cota 60</a:t>
            </a:r>
            <a:endParaRPr lang="en-US" sz="1300" dirty="0"/>
          </a:p>
        </p:txBody>
      </p:sp>
      <p:sp>
        <p:nvSpPr>
          <p:cNvPr id="15" name="punto η small-loss"/>
          <p:cNvSpPr/>
          <p:nvPr/>
        </p:nvSpPr>
        <p:spPr>
          <a:xfrm>
            <a:off x="7726680" y="3895344"/>
            <a:ext cx="219456" cy="219456"/>
          </a:xfrm>
          <a:prstGeom prst="ellipse">
            <a:avLst/>
          </a:prstGeom>
          <a:solidFill>
            <a:srgbClr val="E87BA4"/>
          </a:solidFill>
          <a:ln/>
        </p:spPr>
      </p:sp>
      <p:sp>
        <p:nvSpPr>
          <p:cNvPr id="16" name="Text 13"/>
          <p:cNvSpPr txBox="1"/>
          <p:nvPr/>
        </p:nvSpPr>
        <p:spPr>
          <a:xfrm>
            <a:off x="8110728" y="3840480"/>
            <a:ext cx="3547872" cy="292608"/>
          </a:xfrm>
          <a:prstGeom prst="rect">
            <a:avLst/>
          </a:prstGeom>
          <a:noFill/>
          <a:ln/>
        </p:spPr>
        <p:txBody>
          <a:bodyPr wrap="square" lIns="0" tIns="0" rIns="0" bIns="0" rtlCol="0" anchor="t"/>
          <a:lstStyle/>
          <a:p>
            <a:pPr indent="0" marL="0">
              <a:lnSpc>
                <a:spcPct val="100000"/>
              </a:lnSpc>
              <a:buNone/>
            </a:pPr>
            <a:r>
              <a:rPr lang="en-US" sz="1600" b="1" dirty="0">
                <a:solidFill>
                  <a:srgbClr val="1F2430"/>
                </a:solidFill>
                <a:latin typeface="Arial" pitchFamily="34" charset="0"/>
                <a:ea typeface="Arial" pitchFamily="34" charset="-122"/>
                <a:cs typeface="Arial" pitchFamily="34" charset="-120"/>
              </a:rPr>
              <a:t>η small-loss</a:t>
            </a:r>
            <a:endParaRPr lang="en-US" sz="1600" dirty="0"/>
          </a:p>
        </p:txBody>
      </p:sp>
      <p:sp>
        <p:nvSpPr>
          <p:cNvPr id="17" name="Text 14"/>
          <p:cNvSpPr txBox="1"/>
          <p:nvPr/>
        </p:nvSpPr>
        <p:spPr>
          <a:xfrm>
            <a:off x="8110728" y="4169664"/>
            <a:ext cx="3547872" cy="457200"/>
          </a:xfrm>
          <a:prstGeom prst="rect">
            <a:avLst/>
          </a:prstGeom>
          <a:noFill/>
          <a:ln/>
        </p:spPr>
        <p:txBody>
          <a:bodyPr wrap="square" lIns="0" tIns="0" rIns="0" bIns="0" rtlCol="0" anchor="t"/>
          <a:lstStyle/>
          <a:p>
            <a:pPr indent="0" marL="0">
              <a:lnSpc>
                <a:spcPct val="100000"/>
              </a:lnSpc>
              <a:buNone/>
            </a:pPr>
            <a:r>
              <a:rPr lang="en-US" sz="1300" dirty="0">
                <a:solidFill>
                  <a:srgbClr val="5A6274"/>
                </a:solidFill>
                <a:latin typeface="Arial" pitchFamily="34" charset="0"/>
                <a:ea typeface="Arial" pitchFamily="34" charset="-122"/>
                <a:cs typeface="Arial" pitchFamily="34" charset="-120"/>
              </a:rPr>
              <a:t>sintonizado por la pérdida del mejor: regret 15, cota 25</a:t>
            </a:r>
            <a:endParaRPr lang="en-US" sz="1300" dirty="0"/>
          </a:p>
        </p:txBody>
      </p:sp>
      <p:sp>
        <p:nvSpPr>
          <p:cNvPr id="18" name="Shape 15"/>
          <p:cNvSpPr/>
          <p:nvPr/>
        </p:nvSpPr>
        <p:spPr>
          <a:xfrm>
            <a:off x="7726680" y="4709160"/>
            <a:ext cx="3913632" cy="0"/>
          </a:xfrm>
          <a:prstGeom prst="line">
            <a:avLst/>
          </a:prstGeom>
          <a:noFill/>
          <a:ln w="9525">
            <a:solidFill>
              <a:srgbClr val="D9D6CE"/>
            </a:solidFill>
            <a:prstDash val="solid"/>
          </a:ln>
        </p:spPr>
      </p:sp>
      <p:sp>
        <p:nvSpPr>
          <p:cNvPr id="19" name="Text 16"/>
          <p:cNvSpPr txBox="1"/>
          <p:nvPr/>
        </p:nvSpPr>
        <p:spPr>
          <a:xfrm>
            <a:off x="7726680" y="4846320"/>
            <a:ext cx="3931920" cy="914400"/>
          </a:xfrm>
          <a:prstGeom prst="rect">
            <a:avLst/>
          </a:prstGeom>
          <a:noFill/>
          <a:ln/>
        </p:spPr>
        <p:txBody>
          <a:bodyPr wrap="square" lIns="0" tIns="0" rIns="0" bIns="0" rtlCol="0" anchor="t"/>
          <a:lstStyle/>
          <a:p>
            <a:pPr indent="0" marL="0">
              <a:lnSpc>
                <a:spcPct val="100000"/>
              </a:lnSpc>
              <a:buNone/>
            </a:pPr>
            <a:r>
              <a:rPr lang="en-US" sz="1400" dirty="0">
                <a:solidFill>
                  <a:srgbClr val="5A6274"/>
                </a:solidFill>
                <a:latin typeface="Arial" pitchFamily="34" charset="0"/>
                <a:ea typeface="Arial" pitchFamily="34" charset="-122"/>
                <a:cs typeface="Arial" pitchFamily="34" charset="-120"/>
              </a:rPr>
              <a:t>La small-loss es mejor algoritmo, pero necesita saber de antemano cuántos errores comete el mejor experto: información de oráculo.</a:t>
            </a:r>
            <a:endParaRPr lang="en-US" sz="1400" dirty="0"/>
          </a:p>
        </p:txBody>
      </p:sp>
      <p:sp>
        <p:nvSpPr>
          <p:cNvPr id="20" name="Text 17"/>
          <p:cNvSpPr txBox="1"/>
          <p:nvPr/>
        </p:nvSpPr>
        <p:spPr>
          <a:xfrm>
            <a:off x="548640" y="6373368"/>
            <a:ext cx="10241280" cy="274320"/>
          </a:xfrm>
          <a:prstGeom prst="rect">
            <a:avLst/>
          </a:prstGeom>
          <a:noFill/>
          <a:ln/>
        </p:spPr>
        <p:txBody>
          <a:bodyPr wrap="square" lIns="0" tIns="0" rIns="0" bIns="0" rtlCol="0" anchor="t"/>
          <a:lstStyle/>
          <a:p>
            <a:pPr indent="0" marL="0">
              <a:lnSpc>
                <a:spcPct val="100000"/>
              </a:lnSpc>
              <a:buNone/>
            </a:pPr>
            <a:r>
              <a:rPr lang="en-US" sz="1000" dirty="0">
                <a:solidFill>
                  <a:srgbClr val="9AA1AE"/>
                </a:solidFill>
                <a:latin typeface="Arial" pitchFamily="34" charset="0"/>
                <a:ea typeface="Arial" pitchFamily="34" charset="-122"/>
                <a:cs typeface="Arial" pitchFamily="34" charset="-120"/>
              </a:rPr>
              <a:t>La √(2T ln K) de la clase vale 120: correcta, pero el doble de lo necesario. Media de 20 permutaciones (semillas) del SMS Spam Collection.</a:t>
            </a:r>
            <a:endParaRPr lang="en-US" sz="1000" dirty="0"/>
          </a:p>
        </p:txBody>
      </p:sp>
      <p:sp>
        <p:nvSpPr>
          <p:cNvPr id="25" name="Slide Number Placeholder 0"/>
          <p:cNvSpPr>
            <a:spLocks noGrp="1"/>
          </p:cNvSpPr>
          <p:nvPr>
            <p:ph type="sldNum" sz="quarter" idx="4294967295"/>
          </p:nvPr>
        </p:nvSpPr>
        <p:spPr>
          <a:xfrm>
            <a:off x="11091672" y="63733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1AE"/>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411480"/>
            <a:ext cx="7315200" cy="228600"/>
          </a:xfrm>
          <a:prstGeom prst="rect">
            <a:avLst/>
          </a:prstGeom>
          <a:noFill/>
          <a:ln/>
        </p:spPr>
        <p:txBody>
          <a:bodyPr wrap="square" lIns="0" tIns="0" rIns="0" bIns="0" rtlCol="0" anchor="t"/>
          <a:lstStyle/>
          <a:p>
            <a:pPr indent="0" marL="0">
              <a:lnSpc>
                <a:spcPct val="100000"/>
              </a:lnSpc>
              <a:buNone/>
            </a:pPr>
            <a:r>
              <a:rPr lang="en-US" sz="1100" b="1" spc="200" kern="0" dirty="0">
                <a:solidFill>
                  <a:srgbClr val="5A6274"/>
                </a:solidFill>
                <a:latin typeface="Arial" pitchFamily="34" charset="0"/>
                <a:ea typeface="Arial" pitchFamily="34" charset="-122"/>
                <a:cs typeface="Arial" pitchFamily="34" charset="-120"/>
              </a:rPr>
              <a:t>HALLAZGO 4 · LECCIONES DE MÉTODO</a:t>
            </a:r>
            <a:endParaRPr lang="en-US" sz="1100" dirty="0"/>
          </a:p>
        </p:txBody>
      </p:sp>
      <p:sp>
        <p:nvSpPr>
          <p:cNvPr id="3" name="Text 0"/>
          <p:cNvSpPr/>
          <p:nvPr>
            <p:ph idx="100" type="title" hasCustomPrompt="1"/>
          </p:nvPr>
        </p:nvSpPr>
        <p:spPr>
          <a:xfrm>
            <a:off x="548640" y="731520"/>
            <a:ext cx="10424160" cy="566928"/>
          </a:xfrm>
          <a:prstGeom prst="rect">
            <a:avLst/>
          </a:prstGeom>
          <a:noFill/>
          <a:ln/>
        </p:spPr>
        <p:txBody>
          <a:bodyPr wrap="square" lIns="0" tIns="0" rIns="0" bIns="0" rtlCol="0" anchor="t"/>
          <a:lstStyle/>
          <a:p>
            <a:pPr indent="0" marL="0">
              <a:buNone/>
            </a:pPr>
            <a:r>
              <a:rPr lang="en-US" sz="3000" dirty="0">
                <a:solidFill>
                  <a:srgbClr val="1F2430"/>
                </a:solidFill>
                <a:latin typeface="Georgia" pitchFamily="34" charset="0"/>
                <a:ea typeface="Georgia" pitchFamily="34" charset="-122"/>
                <a:cs typeface="Georgia" pitchFamily="34" charset="-120"/>
              </a:rPr>
              <a:t>Tres cosas que sirven fuera de este trabajo</a:t>
            </a:r>
            <a:endParaRPr lang="en-US" sz="3000" dirty="0"/>
          </a:p>
        </p:txBody>
      </p:sp>
      <p:sp>
        <p:nvSpPr>
          <p:cNvPr id="4" name="Text 2"/>
          <p:cNvSpPr txBox="1"/>
          <p:nvPr/>
        </p:nvSpPr>
        <p:spPr>
          <a:xfrm>
            <a:off x="9235440" y="429768"/>
            <a:ext cx="1554480" cy="201168"/>
          </a:xfrm>
          <a:prstGeom prst="rect">
            <a:avLst/>
          </a:prstGeom>
          <a:noFill/>
          <a:ln/>
        </p:spPr>
        <p:txBody>
          <a:bodyPr wrap="square" lIns="0" tIns="0" rIns="0" bIns="0" rtlCol="0" anchor="t"/>
          <a:lstStyle/>
          <a:p>
            <a:pPr algn="r" indent="0" marL="0">
              <a:lnSpc>
                <a:spcPct val="100000"/>
              </a:lnSpc>
              <a:buNone/>
            </a:pPr>
            <a:r>
              <a:rPr lang="en-US" sz="900" b="1" spc="200" kern="0" dirty="0">
                <a:solidFill>
                  <a:srgbClr val="9AA1AE"/>
                </a:solidFill>
                <a:latin typeface="Arial" pitchFamily="34" charset="0"/>
                <a:ea typeface="Arial" pitchFamily="34" charset="-122"/>
                <a:cs typeface="Arial" pitchFamily="34" charset="-120"/>
              </a:rPr>
              <a:t>HALLAZGOS</a:t>
            </a:r>
            <a:endParaRPr lang="en-US" sz="900" dirty="0"/>
          </a:p>
        </p:txBody>
      </p:sp>
      <p:sp>
        <p:nvSpPr>
          <p:cNvPr id="5" name="hallazgo 1"/>
          <p:cNvSpPr/>
          <p:nvPr/>
        </p:nvSpPr>
        <p:spPr>
          <a:xfrm>
            <a:off x="10899648" y="457200"/>
            <a:ext cx="137160" cy="137160"/>
          </a:xfrm>
          <a:prstGeom prst="ellipse">
            <a:avLst/>
          </a:prstGeom>
          <a:ln w="15875">
            <a:solidFill>
              <a:srgbClr val="9AA1AE"/>
            </a:solidFill>
            <a:prstDash val="solid"/>
          </a:ln>
        </p:spPr>
      </p:sp>
      <p:sp>
        <p:nvSpPr>
          <p:cNvPr id="6" name="hallazgo 2"/>
          <p:cNvSpPr/>
          <p:nvPr/>
        </p:nvSpPr>
        <p:spPr>
          <a:xfrm>
            <a:off x="11100816" y="457200"/>
            <a:ext cx="137160" cy="137160"/>
          </a:xfrm>
          <a:prstGeom prst="ellipse">
            <a:avLst/>
          </a:prstGeom>
          <a:ln w="15875">
            <a:solidFill>
              <a:srgbClr val="9AA1AE"/>
            </a:solidFill>
            <a:prstDash val="solid"/>
          </a:ln>
        </p:spPr>
      </p:sp>
      <p:sp>
        <p:nvSpPr>
          <p:cNvPr id="7" name="hallazgo 3"/>
          <p:cNvSpPr/>
          <p:nvPr/>
        </p:nvSpPr>
        <p:spPr>
          <a:xfrm>
            <a:off x="11301984" y="457200"/>
            <a:ext cx="137160" cy="137160"/>
          </a:xfrm>
          <a:prstGeom prst="ellipse">
            <a:avLst/>
          </a:prstGeom>
          <a:ln w="15875">
            <a:solidFill>
              <a:srgbClr val="9AA1AE"/>
            </a:solidFill>
            <a:prstDash val="solid"/>
          </a:ln>
        </p:spPr>
      </p:sp>
      <p:sp>
        <p:nvSpPr>
          <p:cNvPr id="8" name="hallazgo 4 (actual)"/>
          <p:cNvSpPr/>
          <p:nvPr/>
        </p:nvSpPr>
        <p:spPr>
          <a:xfrm>
            <a:off x="11503152" y="457200"/>
            <a:ext cx="137160" cy="137160"/>
          </a:xfrm>
          <a:prstGeom prst="ellipse">
            <a:avLst/>
          </a:prstGeom>
          <a:solidFill>
            <a:srgbClr val="1F2430"/>
          </a:solidFill>
          <a:ln/>
        </p:spPr>
      </p:sp>
      <p:sp>
        <p:nvSpPr>
          <p:cNvPr id="9" name="Text 7"/>
          <p:cNvSpPr txBox="1"/>
          <p:nvPr/>
        </p:nvSpPr>
        <p:spPr>
          <a:xfrm>
            <a:off x="548640" y="1783080"/>
            <a:ext cx="3474720" cy="914400"/>
          </a:xfrm>
          <a:prstGeom prst="rect">
            <a:avLst/>
          </a:prstGeom>
          <a:noFill/>
          <a:ln/>
        </p:spPr>
        <p:txBody>
          <a:bodyPr wrap="square" lIns="0" tIns="0" rIns="0" bIns="0" rtlCol="0" anchor="t"/>
          <a:lstStyle/>
          <a:p>
            <a:pPr indent="0" marL="0">
              <a:lnSpc>
                <a:spcPct val="100000"/>
              </a:lnSpc>
              <a:buNone/>
            </a:pPr>
            <a:r>
              <a:rPr lang="en-US" sz="5400" b="1" dirty="0">
                <a:solidFill>
                  <a:srgbClr val="1F2430"/>
                </a:solidFill>
                <a:latin typeface="Arial" pitchFamily="34" charset="0"/>
                <a:ea typeface="Arial" pitchFamily="34" charset="-122"/>
                <a:cs typeface="Arial" pitchFamily="34" charset="-120"/>
              </a:rPr>
              <a:t>87%</a:t>
            </a:r>
            <a:endParaRPr lang="en-US" sz="5400" dirty="0"/>
          </a:p>
        </p:txBody>
      </p:sp>
      <p:sp>
        <p:nvSpPr>
          <p:cNvPr id="10" name="Text 8"/>
          <p:cNvSpPr txBox="1"/>
          <p:nvPr/>
        </p:nvSpPr>
        <p:spPr>
          <a:xfrm>
            <a:off x="548640" y="2880360"/>
            <a:ext cx="3429000" cy="868680"/>
          </a:xfrm>
          <a:prstGeom prst="rect">
            <a:avLst/>
          </a:prstGeom>
          <a:noFill/>
          <a:ln/>
        </p:spPr>
        <p:txBody>
          <a:bodyPr wrap="square" lIns="0" tIns="0" rIns="0" bIns="0" rtlCol="0" anchor="t"/>
          <a:lstStyle/>
          <a:p>
            <a:pPr indent="0" marL="0">
              <a:lnSpc>
                <a:spcPct val="100000"/>
              </a:lnSpc>
              <a:buNone/>
            </a:pPr>
            <a:r>
              <a:rPr lang="en-US" sz="1900" b="1" dirty="0">
                <a:solidFill>
                  <a:srgbClr val="1F2430"/>
                </a:solidFill>
                <a:latin typeface="Arial" pitchFamily="34" charset="0"/>
                <a:ea typeface="Arial" pitchFamily="34" charset="-122"/>
                <a:cs typeface="Arial" pitchFamily="34" charset="-120"/>
              </a:rPr>
              <a:t>La accuracy engaña</a:t>
            </a:r>
            <a:endParaRPr lang="en-US" sz="1900" dirty="0"/>
          </a:p>
        </p:txBody>
      </p:sp>
      <p:sp>
        <p:nvSpPr>
          <p:cNvPr id="11" name="Text 9"/>
          <p:cNvSpPr txBox="1"/>
          <p:nvPr/>
        </p:nvSpPr>
        <p:spPr>
          <a:xfrm>
            <a:off x="548640" y="3840480"/>
            <a:ext cx="3429000" cy="1828800"/>
          </a:xfrm>
          <a:prstGeom prst="rect">
            <a:avLst/>
          </a:prstGeom>
          <a:noFill/>
          <a:ln/>
        </p:spPr>
        <p:txBody>
          <a:bodyPr wrap="square" lIns="0" tIns="0" rIns="0" bIns="0" rtlCol="0" anchor="t"/>
          <a:lstStyle/>
          <a:p>
            <a:pPr indent="0" marL="0">
              <a:lnSpc>
                <a:spcPct val="100000"/>
              </a:lnSpc>
              <a:buNone/>
            </a:pPr>
            <a:r>
              <a:rPr lang="en-US" sz="1500" dirty="0">
                <a:solidFill>
                  <a:srgbClr val="5A6274"/>
                </a:solidFill>
                <a:latin typeface="Arial" pitchFamily="34" charset="0"/>
                <a:ea typeface="Arial" pitchFamily="34" charset="-122"/>
                <a:cs typeface="Arial" pitchFamily="34" charset="-120"/>
              </a:rPr>
              <a:t>Con 13% de spam, no marcar nada acierta el 87%. Medimos spam atrapado, legítimo bloqueado y MCC.</a:t>
            </a:r>
            <a:endParaRPr lang="en-US" sz="1500" dirty="0"/>
          </a:p>
        </p:txBody>
      </p:sp>
      <p:sp>
        <p:nvSpPr>
          <p:cNvPr id="12" name="Shape 10"/>
          <p:cNvSpPr/>
          <p:nvPr/>
        </p:nvSpPr>
        <p:spPr>
          <a:xfrm>
            <a:off x="4142232" y="1828800"/>
            <a:ext cx="0" cy="4023360"/>
          </a:xfrm>
          <a:prstGeom prst="line">
            <a:avLst/>
          </a:prstGeom>
          <a:noFill/>
          <a:ln w="9525">
            <a:solidFill>
              <a:srgbClr val="D9D6CE"/>
            </a:solidFill>
            <a:prstDash val="solid"/>
          </a:ln>
        </p:spPr>
      </p:sp>
      <p:sp>
        <p:nvSpPr>
          <p:cNvPr id="13" name="Text 11"/>
          <p:cNvSpPr txBox="1"/>
          <p:nvPr/>
        </p:nvSpPr>
        <p:spPr>
          <a:xfrm>
            <a:off x="4370832" y="1783080"/>
            <a:ext cx="3474720" cy="914400"/>
          </a:xfrm>
          <a:prstGeom prst="rect">
            <a:avLst/>
          </a:prstGeom>
          <a:noFill/>
          <a:ln/>
        </p:spPr>
        <p:txBody>
          <a:bodyPr wrap="square" lIns="0" tIns="0" rIns="0" bIns="0" rtlCol="0" anchor="t"/>
          <a:lstStyle/>
          <a:p>
            <a:pPr indent="0" marL="0">
              <a:lnSpc>
                <a:spcPct val="100000"/>
              </a:lnSpc>
              <a:buNone/>
            </a:pPr>
            <a:r>
              <a:rPr lang="en-US" sz="5400" b="1" dirty="0">
                <a:solidFill>
                  <a:srgbClr val="1BAF7A"/>
                </a:solidFill>
                <a:latin typeface="Arial" pitchFamily="34" charset="0"/>
                <a:ea typeface="Arial" pitchFamily="34" charset="-122"/>
                <a:cs typeface="Arial" pitchFamily="34" charset="-120"/>
              </a:rPr>
              <a:t>8 de 20</a:t>
            </a:r>
            <a:endParaRPr lang="en-US" sz="5400" dirty="0"/>
          </a:p>
        </p:txBody>
      </p:sp>
      <p:sp>
        <p:nvSpPr>
          <p:cNvPr id="14" name="Text 12"/>
          <p:cNvSpPr txBox="1"/>
          <p:nvPr/>
        </p:nvSpPr>
        <p:spPr>
          <a:xfrm>
            <a:off x="4370832" y="2880360"/>
            <a:ext cx="3429000" cy="868680"/>
          </a:xfrm>
          <a:prstGeom prst="rect">
            <a:avLst/>
          </a:prstGeom>
          <a:noFill/>
          <a:ln/>
        </p:spPr>
        <p:txBody>
          <a:bodyPr wrap="square" lIns="0" tIns="0" rIns="0" bIns="0" rtlCol="0" anchor="t"/>
          <a:lstStyle/>
          <a:p>
            <a:pPr indent="0" marL="0">
              <a:lnSpc>
                <a:spcPct val="100000"/>
              </a:lnSpc>
              <a:buNone/>
            </a:pPr>
            <a:r>
              <a:rPr lang="en-US" sz="1900" b="1" dirty="0">
                <a:solidFill>
                  <a:srgbClr val="1F2430"/>
                </a:solidFill>
                <a:latin typeface="Arial" pitchFamily="34" charset="0"/>
                <a:ea typeface="Arial" pitchFamily="34" charset="-122"/>
                <a:cs typeface="Arial" pitchFamily="34" charset="-120"/>
              </a:rPr>
              <a:t>La validación cruzada no mide adaptación</a:t>
            </a:r>
            <a:endParaRPr lang="en-US" sz="1900" dirty="0"/>
          </a:p>
        </p:txBody>
      </p:sp>
      <p:sp>
        <p:nvSpPr>
          <p:cNvPr id="15" name="Text 13"/>
          <p:cNvSpPr txBox="1"/>
          <p:nvPr/>
        </p:nvSpPr>
        <p:spPr>
          <a:xfrm>
            <a:off x="4370832" y="3840480"/>
            <a:ext cx="3429000" cy="1828800"/>
          </a:xfrm>
          <a:prstGeom prst="rect">
            <a:avLst/>
          </a:prstGeom>
          <a:noFill/>
          <a:ln/>
        </p:spPr>
        <p:txBody>
          <a:bodyPr wrap="square" lIns="0" tIns="0" rIns="0" bIns="0" rtlCol="0" anchor="t"/>
          <a:lstStyle/>
          <a:p>
            <a:pPr indent="0" marL="0">
              <a:lnSpc>
                <a:spcPct val="100000"/>
              </a:lnSpc>
              <a:buNone/>
            </a:pPr>
            <a:r>
              <a:rPr lang="en-US" sz="1500" dirty="0">
                <a:solidFill>
                  <a:srgbClr val="5A6274"/>
                </a:solidFill>
                <a:latin typeface="Arial" pitchFamily="34" charset="0"/>
                <a:ea typeface="Arial" pitchFamily="34" charset="-122"/>
                <a:cs typeface="Arial" pitchFamily="34" charset="-120"/>
              </a:rPr>
              <a:t>Sin ataque en el warm-up, eligió mal la regularización de SGD en 8 de 20 semillas: 125 a 153 errores, contra 65 a 83.</a:t>
            </a:r>
            <a:endParaRPr lang="en-US" sz="1500" dirty="0"/>
          </a:p>
        </p:txBody>
      </p:sp>
      <p:sp>
        <p:nvSpPr>
          <p:cNvPr id="16" name="Shape 14"/>
          <p:cNvSpPr/>
          <p:nvPr/>
        </p:nvSpPr>
        <p:spPr>
          <a:xfrm>
            <a:off x="7964424" y="1828800"/>
            <a:ext cx="0" cy="4023360"/>
          </a:xfrm>
          <a:prstGeom prst="line">
            <a:avLst/>
          </a:prstGeom>
          <a:noFill/>
          <a:ln w="9525">
            <a:solidFill>
              <a:srgbClr val="D9D6CE"/>
            </a:solidFill>
            <a:prstDash val="solid"/>
          </a:ln>
        </p:spPr>
      </p:sp>
      <p:sp>
        <p:nvSpPr>
          <p:cNvPr id="17" name="Text 15"/>
          <p:cNvSpPr txBox="1"/>
          <p:nvPr/>
        </p:nvSpPr>
        <p:spPr>
          <a:xfrm>
            <a:off x="8193024" y="1783080"/>
            <a:ext cx="3474720" cy="914400"/>
          </a:xfrm>
          <a:prstGeom prst="rect">
            <a:avLst/>
          </a:prstGeom>
          <a:noFill/>
          <a:ln/>
        </p:spPr>
        <p:txBody>
          <a:bodyPr wrap="square" lIns="0" tIns="0" rIns="0" bIns="0" rtlCol="0" anchor="t"/>
          <a:lstStyle/>
          <a:p>
            <a:pPr indent="0" marL="0">
              <a:lnSpc>
                <a:spcPct val="100000"/>
              </a:lnSpc>
              <a:buNone/>
            </a:pPr>
            <a:r>
              <a:rPr lang="en-US" sz="5400" b="1" dirty="0">
                <a:solidFill>
                  <a:srgbClr val="EB6834"/>
                </a:solidFill>
                <a:latin typeface="Arial" pitchFamily="34" charset="0"/>
                <a:ea typeface="Arial" pitchFamily="34" charset="-122"/>
                <a:cs typeface="Arial" pitchFamily="34" charset="-120"/>
              </a:rPr>
              <a:t>0,995</a:t>
            </a:r>
            <a:endParaRPr lang="en-US" sz="5400" dirty="0"/>
          </a:p>
        </p:txBody>
      </p:sp>
      <p:sp>
        <p:nvSpPr>
          <p:cNvPr id="18" name="Text 16"/>
          <p:cNvSpPr txBox="1"/>
          <p:nvPr/>
        </p:nvSpPr>
        <p:spPr>
          <a:xfrm>
            <a:off x="8193024" y="2880360"/>
            <a:ext cx="3429000" cy="868680"/>
          </a:xfrm>
          <a:prstGeom prst="rect">
            <a:avLst/>
          </a:prstGeom>
          <a:noFill/>
          <a:ln/>
        </p:spPr>
        <p:txBody>
          <a:bodyPr wrap="square" lIns="0" tIns="0" rIns="0" bIns="0" rtlCol="0" anchor="t"/>
          <a:lstStyle/>
          <a:p>
            <a:pPr indent="0" marL="0">
              <a:lnSpc>
                <a:spcPct val="100000"/>
              </a:lnSpc>
              <a:buNone/>
            </a:pPr>
            <a:r>
              <a:rPr lang="en-US" sz="1900" b="1" dirty="0">
                <a:solidFill>
                  <a:srgbClr val="1F2430"/>
                </a:solidFill>
                <a:latin typeface="Arial" pitchFamily="34" charset="0"/>
                <a:ea typeface="Arial" pitchFamily="34" charset="-122"/>
                <a:cs typeface="Arial" pitchFamily="34" charset="-120"/>
              </a:rPr>
              <a:t>Combinar necesita un experto que sobreviva</a:t>
            </a:r>
            <a:endParaRPr lang="en-US" sz="1900" dirty="0"/>
          </a:p>
        </p:txBody>
      </p:sp>
      <p:sp>
        <p:nvSpPr>
          <p:cNvPr id="19" name="Text 17"/>
          <p:cNvSpPr txBox="1"/>
          <p:nvPr/>
        </p:nvSpPr>
        <p:spPr>
          <a:xfrm>
            <a:off x="8193024" y="3840480"/>
            <a:ext cx="3429000" cy="1828800"/>
          </a:xfrm>
          <a:prstGeom prst="rect">
            <a:avLst/>
          </a:prstGeom>
          <a:noFill/>
          <a:ln/>
        </p:spPr>
        <p:txBody>
          <a:bodyPr wrap="square" lIns="0" tIns="0" rIns="0" bIns="0" rtlCol="0" anchor="t"/>
          <a:lstStyle/>
          <a:p>
            <a:pPr indent="0" marL="0">
              <a:lnSpc>
                <a:spcPct val="100000"/>
              </a:lnSpc>
              <a:buNone/>
            </a:pPr>
            <a:r>
              <a:rPr lang="en-US" sz="1500" dirty="0">
                <a:solidFill>
                  <a:srgbClr val="5A6274"/>
                </a:solidFill>
                <a:latin typeface="Arial" pitchFamily="34" charset="0"/>
                <a:ea typeface="Arial" pitchFamily="34" charset="-122"/>
                <a:cs typeface="Arial" pitchFamily="34" charset="-120"/>
              </a:rPr>
              <a:t>Si ningún experto resiste el ataque, Hedge deja 0,995 del peso en el modelo dañado y no recupera nada.</a:t>
            </a:r>
            <a:endParaRPr lang="en-US" sz="1500" dirty="0"/>
          </a:p>
        </p:txBody>
      </p:sp>
      <p:sp>
        <p:nvSpPr>
          <p:cNvPr id="20" name="Text 18"/>
          <p:cNvSpPr txBox="1"/>
          <p:nvPr/>
        </p:nvSpPr>
        <p:spPr>
          <a:xfrm>
            <a:off x="548640" y="6373368"/>
            <a:ext cx="10241280" cy="274320"/>
          </a:xfrm>
          <a:prstGeom prst="rect">
            <a:avLst/>
          </a:prstGeom>
          <a:noFill/>
          <a:ln/>
        </p:spPr>
        <p:txBody>
          <a:bodyPr wrap="square" lIns="0" tIns="0" rIns="0" bIns="0" rtlCol="0" anchor="t"/>
          <a:lstStyle/>
          <a:p>
            <a:pPr indent="0" marL="0">
              <a:lnSpc>
                <a:spcPct val="100000"/>
              </a:lnSpc>
              <a:buNone/>
            </a:pPr>
            <a:r>
              <a:rPr lang="en-US" sz="1000" dirty="0">
                <a:solidFill>
                  <a:srgbClr val="9AA1AE"/>
                </a:solidFill>
                <a:latin typeface="Arial" pitchFamily="34" charset="0"/>
                <a:ea typeface="Arial" pitchFamily="34" charset="-122"/>
                <a:cs typeface="Arial" pitchFamily="34" charset="-120"/>
              </a:rPr>
              <a:t>El 0,995 es de la primera versión del experto estructural, con 5 rasgos, en la semilla de desarrollo.</a:t>
            </a:r>
            <a:endParaRPr lang="en-US" sz="1000" dirty="0"/>
          </a:p>
        </p:txBody>
      </p:sp>
      <p:sp>
        <p:nvSpPr>
          <p:cNvPr id="25" name="Slide Number Placeholder 0"/>
          <p:cNvSpPr>
            <a:spLocks noGrp="1"/>
          </p:cNvSpPr>
          <p:nvPr>
            <p:ph type="sldNum" sz="quarter" idx="4294967295"/>
          </p:nvPr>
        </p:nvSpPr>
        <p:spPr>
          <a:xfrm>
            <a:off x="11091672" y="63733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1AE"/>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411480"/>
            <a:ext cx="7315200" cy="228600"/>
          </a:xfrm>
          <a:prstGeom prst="rect">
            <a:avLst/>
          </a:prstGeom>
          <a:noFill/>
          <a:ln/>
        </p:spPr>
        <p:txBody>
          <a:bodyPr wrap="square" lIns="0" tIns="0" rIns="0" bIns="0" rtlCol="0" anchor="t"/>
          <a:lstStyle/>
          <a:p>
            <a:pPr indent="0" marL="0">
              <a:lnSpc>
                <a:spcPct val="100000"/>
              </a:lnSpc>
              <a:buNone/>
            </a:pPr>
            <a:r>
              <a:rPr lang="en-US" sz="1100" b="1" spc="200" kern="0" dirty="0">
                <a:solidFill>
                  <a:srgbClr val="9AA1AE"/>
                </a:solidFill>
                <a:latin typeface="Arial" pitchFamily="34" charset="0"/>
                <a:ea typeface="Arial" pitchFamily="34" charset="-122"/>
                <a:cs typeface="Arial" pitchFamily="34" charset="-120"/>
              </a:rPr>
              <a:t>EN RESUMEN</a:t>
            </a:r>
            <a:endParaRPr lang="en-US" sz="1100" dirty="0"/>
          </a:p>
        </p:txBody>
      </p:sp>
      <p:sp>
        <p:nvSpPr>
          <p:cNvPr id="3" name="Text 1"/>
          <p:cNvSpPr txBox="1"/>
          <p:nvPr/>
        </p:nvSpPr>
        <p:spPr>
          <a:xfrm>
            <a:off x="548640" y="731520"/>
            <a:ext cx="10972800" cy="640080"/>
          </a:xfrm>
          <a:prstGeom prst="rect">
            <a:avLst/>
          </a:prstGeom>
          <a:noFill/>
          <a:ln/>
        </p:spPr>
        <p:txBody>
          <a:bodyPr wrap="square" lIns="0" tIns="0" rIns="0" bIns="0" rtlCol="0" anchor="t"/>
          <a:lstStyle/>
          <a:p>
            <a:pPr indent="0" marL="0">
              <a:lnSpc>
                <a:spcPct val="100000"/>
              </a:lnSpc>
              <a:buNone/>
            </a:pPr>
            <a:r>
              <a:rPr lang="en-US" sz="3400" dirty="0">
                <a:solidFill>
                  <a:srgbClr val="FFFFFF"/>
                </a:solidFill>
                <a:latin typeface="Georgia" pitchFamily="34" charset="0"/>
                <a:ea typeface="Georgia" pitchFamily="34" charset="-122"/>
                <a:cs typeface="Georgia" pitchFamily="34" charset="-120"/>
              </a:rPr>
              <a:t>Cuándo combinar y cuándo reentrenar</a:t>
            </a:r>
            <a:endParaRPr lang="en-US" sz="3400" dirty="0"/>
          </a:p>
        </p:txBody>
      </p:sp>
      <p:sp>
        <p:nvSpPr>
          <p:cNvPr id="4" name="Shape 2"/>
          <p:cNvSpPr/>
          <p:nvPr/>
        </p:nvSpPr>
        <p:spPr>
          <a:xfrm>
            <a:off x="548640" y="1645920"/>
            <a:ext cx="11091672" cy="0"/>
          </a:xfrm>
          <a:prstGeom prst="line">
            <a:avLst/>
          </a:prstGeom>
          <a:noFill/>
          <a:ln w="9525">
            <a:solidFill>
              <a:srgbClr val="3A4152"/>
            </a:solidFill>
            <a:prstDash val="solid"/>
          </a:ln>
        </p:spPr>
      </p:sp>
      <p:sp>
        <p:nvSpPr>
          <p:cNvPr id="5" name="fila 1"/>
          <p:cNvSpPr/>
          <p:nvPr/>
        </p:nvSpPr>
        <p:spPr>
          <a:xfrm>
            <a:off x="548640" y="1901952"/>
            <a:ext cx="274320" cy="274320"/>
          </a:xfrm>
          <a:prstGeom prst="ellipse">
            <a:avLst/>
          </a:prstGeom>
          <a:solidFill>
            <a:srgbClr val="1BAF7A"/>
          </a:solidFill>
          <a:ln/>
        </p:spPr>
      </p:sp>
      <p:sp>
        <p:nvSpPr>
          <p:cNvPr id="6" name="Text 4"/>
          <p:cNvSpPr txBox="1"/>
          <p:nvPr/>
        </p:nvSpPr>
        <p:spPr>
          <a:xfrm>
            <a:off x="1051560" y="1828800"/>
            <a:ext cx="3840480" cy="457200"/>
          </a:xfrm>
          <a:prstGeom prst="rect">
            <a:avLst/>
          </a:prstGeom>
          <a:noFill/>
          <a:ln/>
        </p:spPr>
        <p:txBody>
          <a:bodyPr wrap="square" lIns="0" tIns="0" rIns="0" bIns="0" rtlCol="0" anchor="t"/>
          <a:lstStyle/>
          <a:p>
            <a:pPr indent="0" marL="0">
              <a:lnSpc>
                <a:spcPct val="100000"/>
              </a:lnSpc>
              <a:buNone/>
            </a:pPr>
            <a:r>
              <a:rPr lang="en-US" sz="2400" dirty="0">
                <a:solidFill>
                  <a:srgbClr val="FFFFFF"/>
                </a:solidFill>
                <a:latin typeface="Georgia" pitchFamily="34" charset="0"/>
                <a:ea typeface="Georgia" pitchFamily="34" charset="-122"/>
                <a:cs typeface="Georgia" pitchFamily="34" charset="-120"/>
              </a:rPr>
              <a:t>Etiquetas abundantes</a:t>
            </a:r>
            <a:endParaRPr lang="en-US" sz="2400" dirty="0"/>
          </a:p>
        </p:txBody>
      </p:sp>
      <p:sp>
        <p:nvSpPr>
          <p:cNvPr id="7" name="Text 5"/>
          <p:cNvSpPr txBox="1"/>
          <p:nvPr/>
        </p:nvSpPr>
        <p:spPr>
          <a:xfrm>
            <a:off x="5029200" y="1874520"/>
            <a:ext cx="6583680" cy="731520"/>
          </a:xfrm>
          <a:prstGeom prst="rect">
            <a:avLst/>
          </a:prstGeom>
          <a:noFill/>
          <a:ln/>
        </p:spPr>
        <p:txBody>
          <a:bodyPr wrap="square" lIns="0" tIns="0" rIns="0" bIns="0" rtlCol="0" anchor="t"/>
          <a:lstStyle/>
          <a:p>
            <a:pPr indent="0" marL="0">
              <a:lnSpc>
                <a:spcPct val="100000"/>
              </a:lnSpc>
              <a:buNone/>
            </a:pPr>
            <a:r>
              <a:rPr lang="en-US" sz="1800" dirty="0">
                <a:solidFill>
                  <a:srgbClr val="C8CEDA"/>
                </a:solidFill>
                <a:latin typeface="Arial" pitchFamily="34" charset="0"/>
                <a:ea typeface="Arial" pitchFamily="34" charset="-122"/>
                <a:cs typeface="Arial" pitchFamily="34" charset="-120"/>
              </a:rPr>
              <a:t>Reentrenar: SGD online comete 73 errores, contra 133 de Hedge.</a:t>
            </a:r>
            <a:endParaRPr lang="en-US" sz="1800" dirty="0"/>
          </a:p>
        </p:txBody>
      </p:sp>
      <p:sp>
        <p:nvSpPr>
          <p:cNvPr id="8" name="Shape 6"/>
          <p:cNvSpPr/>
          <p:nvPr/>
        </p:nvSpPr>
        <p:spPr>
          <a:xfrm>
            <a:off x="548640" y="2697480"/>
            <a:ext cx="11091672" cy="0"/>
          </a:xfrm>
          <a:prstGeom prst="line">
            <a:avLst/>
          </a:prstGeom>
          <a:noFill/>
          <a:ln w="9525">
            <a:solidFill>
              <a:srgbClr val="3A4152"/>
            </a:solidFill>
            <a:prstDash val="solid"/>
          </a:ln>
        </p:spPr>
      </p:sp>
      <p:sp>
        <p:nvSpPr>
          <p:cNvPr id="9" name="fila 2"/>
          <p:cNvSpPr/>
          <p:nvPr/>
        </p:nvSpPr>
        <p:spPr>
          <a:xfrm>
            <a:off x="548640" y="2953512"/>
            <a:ext cx="274320" cy="274320"/>
          </a:xfrm>
          <a:prstGeom prst="ellipse">
            <a:avLst/>
          </a:prstGeom>
          <a:solidFill>
            <a:srgbClr val="2A78D6"/>
          </a:solidFill>
          <a:ln/>
        </p:spPr>
      </p:sp>
      <p:sp>
        <p:nvSpPr>
          <p:cNvPr id="10" name="Text 8"/>
          <p:cNvSpPr txBox="1"/>
          <p:nvPr/>
        </p:nvSpPr>
        <p:spPr>
          <a:xfrm>
            <a:off x="1051560" y="2880360"/>
            <a:ext cx="3840480" cy="457200"/>
          </a:xfrm>
          <a:prstGeom prst="rect">
            <a:avLst/>
          </a:prstGeom>
          <a:noFill/>
          <a:ln/>
        </p:spPr>
        <p:txBody>
          <a:bodyPr wrap="square" lIns="0" tIns="0" rIns="0" bIns="0" rtlCol="0" anchor="t"/>
          <a:lstStyle/>
          <a:p>
            <a:pPr indent="0" marL="0">
              <a:lnSpc>
                <a:spcPct val="100000"/>
              </a:lnSpc>
              <a:buNone/>
            </a:pPr>
            <a:r>
              <a:rPr lang="en-US" sz="2400" dirty="0">
                <a:solidFill>
                  <a:srgbClr val="FFFFFF"/>
                </a:solidFill>
                <a:latin typeface="Georgia" pitchFamily="34" charset="0"/>
                <a:ea typeface="Georgia" pitchFamily="34" charset="-122"/>
                <a:cs typeface="Georgia" pitchFamily="34" charset="-120"/>
              </a:rPr>
              <a:t>Etiquetas escasas</a:t>
            </a:r>
            <a:endParaRPr lang="en-US" sz="2400" dirty="0"/>
          </a:p>
        </p:txBody>
      </p:sp>
      <p:sp>
        <p:nvSpPr>
          <p:cNvPr id="11" name="Text 9"/>
          <p:cNvSpPr txBox="1"/>
          <p:nvPr/>
        </p:nvSpPr>
        <p:spPr>
          <a:xfrm>
            <a:off x="5029200" y="2926080"/>
            <a:ext cx="6583680" cy="731520"/>
          </a:xfrm>
          <a:prstGeom prst="rect">
            <a:avLst/>
          </a:prstGeom>
          <a:noFill/>
          <a:ln/>
        </p:spPr>
        <p:txBody>
          <a:bodyPr wrap="square" lIns="0" tIns="0" rIns="0" bIns="0" rtlCol="0" anchor="t"/>
          <a:lstStyle/>
          <a:p>
            <a:pPr indent="0" marL="0">
              <a:lnSpc>
                <a:spcPct val="100000"/>
              </a:lnSpc>
              <a:buNone/>
            </a:pPr>
            <a:r>
              <a:rPr lang="en-US" sz="1800" dirty="0">
                <a:solidFill>
                  <a:srgbClr val="C8CEDA"/>
                </a:solidFill>
                <a:latin typeface="Arial" pitchFamily="34" charset="0"/>
                <a:ea typeface="Arial" pitchFamily="34" charset="-122"/>
                <a:cs typeface="Arial" pitchFamily="34" charset="-120"/>
              </a:rPr>
              <a:t>Combinar expertos diversos, con al menos uno robusto al ataque.</a:t>
            </a:r>
            <a:endParaRPr lang="en-US" sz="1800" dirty="0"/>
          </a:p>
        </p:txBody>
      </p:sp>
      <p:sp>
        <p:nvSpPr>
          <p:cNvPr id="12" name="Shape 10"/>
          <p:cNvSpPr/>
          <p:nvPr/>
        </p:nvSpPr>
        <p:spPr>
          <a:xfrm>
            <a:off x="548640" y="3749040"/>
            <a:ext cx="11091672" cy="0"/>
          </a:xfrm>
          <a:prstGeom prst="line">
            <a:avLst/>
          </a:prstGeom>
          <a:noFill/>
          <a:ln w="9525">
            <a:solidFill>
              <a:srgbClr val="3A4152"/>
            </a:solidFill>
            <a:prstDash val="solid"/>
          </a:ln>
        </p:spPr>
      </p:sp>
      <p:sp>
        <p:nvSpPr>
          <p:cNvPr id="13" name="fila 3"/>
          <p:cNvSpPr/>
          <p:nvPr/>
        </p:nvSpPr>
        <p:spPr>
          <a:xfrm>
            <a:off x="548640" y="4005072"/>
            <a:ext cx="274320" cy="274320"/>
          </a:xfrm>
          <a:prstGeom prst="ellipse">
            <a:avLst/>
          </a:prstGeom>
          <a:solidFill>
            <a:srgbClr val="C8CEDA"/>
          </a:solidFill>
          <a:ln/>
        </p:spPr>
      </p:sp>
      <p:sp>
        <p:nvSpPr>
          <p:cNvPr id="14" name="Text 12"/>
          <p:cNvSpPr txBox="1"/>
          <p:nvPr/>
        </p:nvSpPr>
        <p:spPr>
          <a:xfrm>
            <a:off x="1051560" y="3931920"/>
            <a:ext cx="3840480" cy="457200"/>
          </a:xfrm>
          <a:prstGeom prst="rect">
            <a:avLst/>
          </a:prstGeom>
          <a:noFill/>
          <a:ln/>
        </p:spPr>
        <p:txBody>
          <a:bodyPr wrap="square" lIns="0" tIns="0" rIns="0" bIns="0" rtlCol="0" anchor="t"/>
          <a:lstStyle/>
          <a:p>
            <a:pPr indent="0" marL="0">
              <a:lnSpc>
                <a:spcPct val="100000"/>
              </a:lnSpc>
              <a:buNone/>
            </a:pPr>
            <a:r>
              <a:rPr lang="en-US" sz="2400" dirty="0">
                <a:solidFill>
                  <a:srgbClr val="FFFFFF"/>
                </a:solidFill>
                <a:latin typeface="Georgia" pitchFamily="34" charset="0"/>
                <a:ea typeface="Georgia" pitchFamily="34" charset="-122"/>
                <a:cs typeface="Georgia" pitchFamily="34" charset="-120"/>
              </a:rPr>
              <a:t>Siempre</a:t>
            </a:r>
            <a:endParaRPr lang="en-US" sz="2400" dirty="0"/>
          </a:p>
        </p:txBody>
      </p:sp>
      <p:sp>
        <p:nvSpPr>
          <p:cNvPr id="15" name="Text 13"/>
          <p:cNvSpPr txBox="1"/>
          <p:nvPr/>
        </p:nvSpPr>
        <p:spPr>
          <a:xfrm>
            <a:off x="5029200" y="3977640"/>
            <a:ext cx="6583680" cy="731520"/>
          </a:xfrm>
          <a:prstGeom prst="rect">
            <a:avLst/>
          </a:prstGeom>
          <a:noFill/>
          <a:ln/>
        </p:spPr>
        <p:txBody>
          <a:bodyPr wrap="square" lIns="0" tIns="0" rIns="0" bIns="0" rtlCol="0" anchor="t"/>
          <a:lstStyle/>
          <a:p>
            <a:pPr indent="0" marL="0">
              <a:lnSpc>
                <a:spcPct val="100000"/>
              </a:lnSpc>
              <a:buNone/>
            </a:pPr>
            <a:r>
              <a:rPr lang="en-US" sz="1800" dirty="0">
                <a:solidFill>
                  <a:srgbClr val="C8CEDA"/>
                </a:solidFill>
                <a:latin typeface="Arial" pitchFamily="34" charset="0"/>
                <a:ea typeface="Arial" pitchFamily="34" charset="-122"/>
                <a:cs typeface="Arial" pitchFamily="34" charset="-120"/>
              </a:rPr>
              <a:t>Medir spam atrapado y legítimo bloqueado por separado, no accuracy.</a:t>
            </a:r>
            <a:endParaRPr lang="en-US" sz="1800" dirty="0"/>
          </a:p>
        </p:txBody>
      </p:sp>
      <p:sp>
        <p:nvSpPr>
          <p:cNvPr id="16" name="Shape 14"/>
          <p:cNvSpPr/>
          <p:nvPr/>
        </p:nvSpPr>
        <p:spPr>
          <a:xfrm>
            <a:off x="548640" y="4800600"/>
            <a:ext cx="11091672" cy="0"/>
          </a:xfrm>
          <a:prstGeom prst="line">
            <a:avLst/>
          </a:prstGeom>
          <a:noFill/>
          <a:ln w="9525">
            <a:solidFill>
              <a:srgbClr val="3A4152"/>
            </a:solidFill>
            <a:prstDash val="solid"/>
          </a:ln>
        </p:spPr>
      </p:sp>
      <p:sp>
        <p:nvSpPr>
          <p:cNvPr id="17" name="Text 15"/>
          <p:cNvSpPr txBox="1"/>
          <p:nvPr/>
        </p:nvSpPr>
        <p:spPr>
          <a:xfrm>
            <a:off x="548640" y="5257800"/>
            <a:ext cx="11064240" cy="640080"/>
          </a:xfrm>
          <a:prstGeom prst="rect">
            <a:avLst/>
          </a:prstGeom>
          <a:noFill/>
          <a:ln/>
        </p:spPr>
        <p:txBody>
          <a:bodyPr wrap="square" lIns="0" tIns="0" rIns="0" bIns="0" rtlCol="0" anchor="t"/>
          <a:lstStyle/>
          <a:p>
            <a:pPr indent="0" marL="0">
              <a:lnSpc>
                <a:spcPct val="100000"/>
              </a:lnSpc>
              <a:buNone/>
            </a:pPr>
            <a:r>
              <a:rPr lang="en-US" sz="2000" i="1" dirty="0">
                <a:solidFill>
                  <a:srgbClr val="AFCBEE"/>
                </a:solidFill>
                <a:latin typeface="Georgia" pitchFamily="34" charset="0"/>
                <a:ea typeface="Georgia" pitchFamily="34" charset="-122"/>
                <a:cs typeface="Georgia" pitchFamily="34" charset="-120"/>
              </a:rPr>
              <a:t>Pregunta abierta: ¿y si el modelo que reentrena fuera uno más de los expertos de Hedge? No lo probamos.</a:t>
            </a:r>
            <a:endParaRPr lang="en-US" sz="20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411480"/>
            <a:ext cx="7315200" cy="228600"/>
          </a:xfrm>
          <a:prstGeom prst="rect">
            <a:avLst/>
          </a:prstGeom>
          <a:noFill/>
          <a:ln/>
        </p:spPr>
        <p:txBody>
          <a:bodyPr wrap="square" lIns="0" tIns="0" rIns="0" bIns="0" rtlCol="0" anchor="t"/>
          <a:lstStyle/>
          <a:p>
            <a:pPr indent="0" marL="0">
              <a:lnSpc>
                <a:spcPct val="100000"/>
              </a:lnSpc>
              <a:buNone/>
            </a:pPr>
            <a:r>
              <a:rPr lang="en-US" sz="1100" b="1" spc="200" kern="0" dirty="0">
                <a:solidFill>
                  <a:srgbClr val="5A6274"/>
                </a:solidFill>
                <a:latin typeface="Arial" pitchFamily="34" charset="0"/>
                <a:ea typeface="Arial" pitchFamily="34" charset="-122"/>
                <a:cs typeface="Arial" pitchFamily="34" charset="-120"/>
              </a:rPr>
              <a:t>LIMITACIONES</a:t>
            </a:r>
            <a:endParaRPr lang="en-US" sz="1100" dirty="0"/>
          </a:p>
        </p:txBody>
      </p:sp>
      <p:sp>
        <p:nvSpPr>
          <p:cNvPr id="3" name="Text 0"/>
          <p:cNvSpPr/>
          <p:nvPr>
            <p:ph idx="100" type="title" hasCustomPrompt="1"/>
          </p:nvPr>
        </p:nvSpPr>
        <p:spPr>
          <a:xfrm>
            <a:off x="548640" y="731520"/>
            <a:ext cx="10424160" cy="566928"/>
          </a:xfrm>
          <a:prstGeom prst="rect">
            <a:avLst/>
          </a:prstGeom>
          <a:noFill/>
          <a:ln/>
        </p:spPr>
        <p:txBody>
          <a:bodyPr wrap="square" lIns="0" tIns="0" rIns="0" bIns="0" rtlCol="0" anchor="t"/>
          <a:lstStyle/>
          <a:p>
            <a:pPr indent="0" marL="0">
              <a:buNone/>
            </a:pPr>
            <a:r>
              <a:rPr lang="en-US" sz="3000" dirty="0">
                <a:solidFill>
                  <a:srgbClr val="1F2430"/>
                </a:solidFill>
                <a:latin typeface="Georgia" pitchFamily="34" charset="0"/>
                <a:ea typeface="Georgia" pitchFamily="34" charset="-122"/>
                <a:cs typeface="Georgia" pitchFamily="34" charset="-120"/>
              </a:rPr>
              <a:t>Lo que este trabajo no muestra</a:t>
            </a:r>
            <a:endParaRPr lang="en-US" sz="3000" dirty="0"/>
          </a:p>
        </p:txBody>
      </p:sp>
      <p:sp>
        <p:nvSpPr>
          <p:cNvPr id="4" name="Text 2"/>
          <p:cNvSpPr txBox="1"/>
          <p:nvPr/>
        </p:nvSpPr>
        <p:spPr>
          <a:xfrm>
            <a:off x="9235440" y="429768"/>
            <a:ext cx="1554480" cy="201168"/>
          </a:xfrm>
          <a:prstGeom prst="rect">
            <a:avLst/>
          </a:prstGeom>
          <a:noFill/>
          <a:ln/>
        </p:spPr>
        <p:txBody>
          <a:bodyPr wrap="square" lIns="0" tIns="0" rIns="0" bIns="0" rtlCol="0" anchor="t"/>
          <a:lstStyle/>
          <a:p>
            <a:pPr algn="r" indent="0" marL="0">
              <a:lnSpc>
                <a:spcPct val="100000"/>
              </a:lnSpc>
              <a:buNone/>
            </a:pPr>
            <a:r>
              <a:rPr lang="en-US" sz="900" b="1" spc="200" kern="0" dirty="0">
                <a:solidFill>
                  <a:srgbClr val="9AA1AE"/>
                </a:solidFill>
                <a:latin typeface="Arial" pitchFamily="34" charset="0"/>
                <a:ea typeface="Arial" pitchFamily="34" charset="-122"/>
                <a:cs typeface="Arial" pitchFamily="34" charset="-120"/>
              </a:rPr>
              <a:t>HALLAZGOS</a:t>
            </a:r>
            <a:endParaRPr lang="en-US" sz="900" dirty="0"/>
          </a:p>
        </p:txBody>
      </p:sp>
      <p:sp>
        <p:nvSpPr>
          <p:cNvPr id="5" name="hallazgo 1"/>
          <p:cNvSpPr/>
          <p:nvPr/>
        </p:nvSpPr>
        <p:spPr>
          <a:xfrm>
            <a:off x="10899648" y="457200"/>
            <a:ext cx="137160" cy="137160"/>
          </a:xfrm>
          <a:prstGeom prst="ellipse">
            <a:avLst/>
          </a:prstGeom>
          <a:ln w="15875">
            <a:solidFill>
              <a:srgbClr val="9AA1AE"/>
            </a:solidFill>
            <a:prstDash val="solid"/>
          </a:ln>
        </p:spPr>
      </p:sp>
      <p:sp>
        <p:nvSpPr>
          <p:cNvPr id="6" name="hallazgo 2"/>
          <p:cNvSpPr/>
          <p:nvPr/>
        </p:nvSpPr>
        <p:spPr>
          <a:xfrm>
            <a:off x="11100816" y="457200"/>
            <a:ext cx="137160" cy="137160"/>
          </a:xfrm>
          <a:prstGeom prst="ellipse">
            <a:avLst/>
          </a:prstGeom>
          <a:ln w="15875">
            <a:solidFill>
              <a:srgbClr val="9AA1AE"/>
            </a:solidFill>
            <a:prstDash val="solid"/>
          </a:ln>
        </p:spPr>
      </p:sp>
      <p:sp>
        <p:nvSpPr>
          <p:cNvPr id="7" name="hallazgo 3"/>
          <p:cNvSpPr/>
          <p:nvPr/>
        </p:nvSpPr>
        <p:spPr>
          <a:xfrm>
            <a:off x="11301984" y="457200"/>
            <a:ext cx="137160" cy="137160"/>
          </a:xfrm>
          <a:prstGeom prst="ellipse">
            <a:avLst/>
          </a:prstGeom>
          <a:ln w="15875">
            <a:solidFill>
              <a:srgbClr val="9AA1AE"/>
            </a:solidFill>
            <a:prstDash val="solid"/>
          </a:ln>
        </p:spPr>
      </p:sp>
      <p:sp>
        <p:nvSpPr>
          <p:cNvPr id="8" name="hallazgo 4"/>
          <p:cNvSpPr/>
          <p:nvPr/>
        </p:nvSpPr>
        <p:spPr>
          <a:xfrm>
            <a:off x="11503152" y="457200"/>
            <a:ext cx="137160" cy="137160"/>
          </a:xfrm>
          <a:prstGeom prst="ellipse">
            <a:avLst/>
          </a:prstGeom>
          <a:ln w="15875">
            <a:solidFill>
              <a:srgbClr val="9AA1AE"/>
            </a:solidFill>
            <a:prstDash val="solid"/>
          </a:ln>
        </p:spPr>
      </p:sp>
      <p:sp>
        <p:nvSpPr>
          <p:cNvPr id="9" name="Shape 7"/>
          <p:cNvSpPr/>
          <p:nvPr/>
        </p:nvSpPr>
        <p:spPr>
          <a:xfrm>
            <a:off x="548640" y="1828800"/>
            <a:ext cx="3520440" cy="0"/>
          </a:xfrm>
          <a:prstGeom prst="line">
            <a:avLst/>
          </a:prstGeom>
          <a:noFill/>
          <a:ln w="9525">
            <a:solidFill>
              <a:srgbClr val="1F2430"/>
            </a:solidFill>
            <a:prstDash val="solid"/>
          </a:ln>
        </p:spPr>
      </p:sp>
      <p:sp>
        <p:nvSpPr>
          <p:cNvPr id="10" name="Text 8"/>
          <p:cNvSpPr txBox="1"/>
          <p:nvPr/>
        </p:nvSpPr>
        <p:spPr>
          <a:xfrm>
            <a:off x="548640" y="2011680"/>
            <a:ext cx="3474720" cy="640080"/>
          </a:xfrm>
          <a:prstGeom prst="rect">
            <a:avLst/>
          </a:prstGeom>
          <a:noFill/>
          <a:ln/>
        </p:spPr>
        <p:txBody>
          <a:bodyPr wrap="square" lIns="0" tIns="0" rIns="0" bIns="0" rtlCol="0" anchor="t"/>
          <a:lstStyle/>
          <a:p>
            <a:pPr indent="0" marL="0">
              <a:lnSpc>
                <a:spcPct val="100000"/>
              </a:lnSpc>
              <a:buNone/>
            </a:pPr>
            <a:r>
              <a:rPr lang="en-US" sz="1900" dirty="0">
                <a:solidFill>
                  <a:srgbClr val="1F2430"/>
                </a:solidFill>
                <a:latin typeface="Georgia" pitchFamily="34" charset="0"/>
                <a:ea typeface="Georgia" pitchFamily="34" charset="-122"/>
                <a:cs typeface="Georgia" pitchFamily="34" charset="-120"/>
              </a:rPr>
              <a:t>Drift sintético</a:t>
            </a:r>
            <a:endParaRPr lang="en-US" sz="1900" dirty="0"/>
          </a:p>
        </p:txBody>
      </p:sp>
      <p:sp>
        <p:nvSpPr>
          <p:cNvPr id="11" name="Text 9"/>
          <p:cNvSpPr txBox="1"/>
          <p:nvPr/>
        </p:nvSpPr>
        <p:spPr>
          <a:xfrm>
            <a:off x="548640" y="2697480"/>
            <a:ext cx="3474720" cy="868680"/>
          </a:xfrm>
          <a:prstGeom prst="rect">
            <a:avLst/>
          </a:prstGeom>
          <a:noFill/>
          <a:ln/>
        </p:spPr>
        <p:txBody>
          <a:bodyPr wrap="square" lIns="0" tIns="0" rIns="0" bIns="0" rtlCol="0" anchor="t"/>
          <a:lstStyle/>
          <a:p>
            <a:pPr indent="0" marL="0">
              <a:lnSpc>
                <a:spcPct val="100000"/>
              </a:lnSpc>
              <a:buNone/>
            </a:pPr>
            <a:r>
              <a:rPr lang="en-US" sz="1500" dirty="0">
                <a:solidFill>
                  <a:srgbClr val="5A6274"/>
                </a:solidFill>
                <a:latin typeface="Arial" pitchFamily="34" charset="0"/>
                <a:ea typeface="Arial" pitchFamily="34" charset="-122"/>
                <a:cs typeface="Arial" pitchFamily="34" charset="-120"/>
              </a:rPr>
              <a:t>El corpus no tiene fechas: el orden y el ataque son nuestros.</a:t>
            </a:r>
            <a:endParaRPr lang="en-US" sz="1500" dirty="0"/>
          </a:p>
        </p:txBody>
      </p:sp>
      <p:sp>
        <p:nvSpPr>
          <p:cNvPr id="12" name="Shape 10"/>
          <p:cNvSpPr/>
          <p:nvPr/>
        </p:nvSpPr>
        <p:spPr>
          <a:xfrm>
            <a:off x="4370832" y="1828800"/>
            <a:ext cx="3520440" cy="0"/>
          </a:xfrm>
          <a:prstGeom prst="line">
            <a:avLst/>
          </a:prstGeom>
          <a:noFill/>
          <a:ln w="9525">
            <a:solidFill>
              <a:srgbClr val="1F2430"/>
            </a:solidFill>
            <a:prstDash val="solid"/>
          </a:ln>
        </p:spPr>
      </p:sp>
      <p:sp>
        <p:nvSpPr>
          <p:cNvPr id="13" name="Text 11"/>
          <p:cNvSpPr txBox="1"/>
          <p:nvPr/>
        </p:nvSpPr>
        <p:spPr>
          <a:xfrm>
            <a:off x="4370832" y="2011680"/>
            <a:ext cx="3474720" cy="640080"/>
          </a:xfrm>
          <a:prstGeom prst="rect">
            <a:avLst/>
          </a:prstGeom>
          <a:noFill/>
          <a:ln/>
        </p:spPr>
        <p:txBody>
          <a:bodyPr wrap="square" lIns="0" tIns="0" rIns="0" bIns="0" rtlCol="0" anchor="t"/>
          <a:lstStyle/>
          <a:p>
            <a:pPr indent="0" marL="0">
              <a:lnSpc>
                <a:spcPct val="100000"/>
              </a:lnSpc>
              <a:buNone/>
            </a:pPr>
            <a:r>
              <a:rPr lang="en-US" sz="1900" dirty="0">
                <a:solidFill>
                  <a:srgbClr val="1F2430"/>
                </a:solidFill>
                <a:latin typeface="Georgia" pitchFamily="34" charset="0"/>
                <a:ea typeface="Georgia" pitchFamily="34" charset="-122"/>
                <a:cs typeface="Georgia" pitchFamily="34" charset="-120"/>
              </a:rPr>
              <a:t>Adversario que no reacciona</a:t>
            </a:r>
            <a:endParaRPr lang="en-US" sz="1900" dirty="0"/>
          </a:p>
        </p:txBody>
      </p:sp>
      <p:sp>
        <p:nvSpPr>
          <p:cNvPr id="14" name="Text 12"/>
          <p:cNvSpPr txBox="1"/>
          <p:nvPr/>
        </p:nvSpPr>
        <p:spPr>
          <a:xfrm>
            <a:off x="4370832" y="2697480"/>
            <a:ext cx="3474720" cy="868680"/>
          </a:xfrm>
          <a:prstGeom prst="rect">
            <a:avLst/>
          </a:prstGeom>
          <a:noFill/>
          <a:ln/>
        </p:spPr>
        <p:txBody>
          <a:bodyPr wrap="square" lIns="0" tIns="0" rIns="0" bIns="0" rtlCol="0" anchor="t"/>
          <a:lstStyle/>
          <a:p>
            <a:pPr indent="0" marL="0">
              <a:lnSpc>
                <a:spcPct val="100000"/>
              </a:lnSpc>
              <a:buNone/>
            </a:pPr>
            <a:r>
              <a:rPr lang="en-US" sz="1500" dirty="0">
                <a:solidFill>
                  <a:srgbClr val="5A6274"/>
                </a:solidFill>
                <a:latin typeface="Arial" pitchFamily="34" charset="0"/>
                <a:ea typeface="Arial" pitchFamily="34" charset="-122"/>
                <a:cs typeface="Arial" pitchFamily="34" charset="-120"/>
              </a:rPr>
              <a:t>Uno adaptativo degradaría las tasas de √T a T^(2/3).</a:t>
            </a:r>
            <a:endParaRPr lang="en-US" sz="1500" dirty="0"/>
          </a:p>
        </p:txBody>
      </p:sp>
      <p:sp>
        <p:nvSpPr>
          <p:cNvPr id="15" name="Shape 13"/>
          <p:cNvSpPr/>
          <p:nvPr/>
        </p:nvSpPr>
        <p:spPr>
          <a:xfrm>
            <a:off x="8193024" y="1828800"/>
            <a:ext cx="3520440" cy="0"/>
          </a:xfrm>
          <a:prstGeom prst="line">
            <a:avLst/>
          </a:prstGeom>
          <a:noFill/>
          <a:ln w="9525">
            <a:solidFill>
              <a:srgbClr val="1F2430"/>
            </a:solidFill>
            <a:prstDash val="solid"/>
          </a:ln>
        </p:spPr>
      </p:sp>
      <p:sp>
        <p:nvSpPr>
          <p:cNvPr id="16" name="Text 14"/>
          <p:cNvSpPr txBox="1"/>
          <p:nvPr/>
        </p:nvSpPr>
        <p:spPr>
          <a:xfrm>
            <a:off x="8193024" y="2011680"/>
            <a:ext cx="3474720" cy="640080"/>
          </a:xfrm>
          <a:prstGeom prst="rect">
            <a:avLst/>
          </a:prstGeom>
          <a:noFill/>
          <a:ln/>
        </p:spPr>
        <p:txBody>
          <a:bodyPr wrap="square" lIns="0" tIns="0" rIns="0" bIns="0" rtlCol="0" anchor="t"/>
          <a:lstStyle/>
          <a:p>
            <a:pPr indent="0" marL="0">
              <a:lnSpc>
                <a:spcPct val="100000"/>
              </a:lnSpc>
              <a:buNone/>
            </a:pPr>
            <a:r>
              <a:rPr lang="en-US" sz="1900" dirty="0">
                <a:solidFill>
                  <a:srgbClr val="1F2430"/>
                </a:solidFill>
                <a:latin typeface="Georgia" pitchFamily="34" charset="0"/>
                <a:ea typeface="Georgia" pitchFamily="34" charset="-122"/>
                <a:cs typeface="Georgia" pitchFamily="34" charset="-120"/>
              </a:rPr>
              <a:t>Experto robusto por construcción</a:t>
            </a:r>
            <a:endParaRPr lang="en-US" sz="1900" dirty="0"/>
          </a:p>
        </p:txBody>
      </p:sp>
      <p:sp>
        <p:nvSpPr>
          <p:cNvPr id="17" name="Text 15"/>
          <p:cNvSpPr txBox="1"/>
          <p:nvPr/>
        </p:nvSpPr>
        <p:spPr>
          <a:xfrm>
            <a:off x="8193024" y="2697480"/>
            <a:ext cx="3474720" cy="868680"/>
          </a:xfrm>
          <a:prstGeom prst="rect">
            <a:avLst/>
          </a:prstGeom>
          <a:noFill/>
          <a:ln/>
        </p:spPr>
        <p:txBody>
          <a:bodyPr wrap="square" lIns="0" tIns="0" rIns="0" bIns="0" rtlCol="0" anchor="t"/>
          <a:lstStyle/>
          <a:p>
            <a:pPr indent="0" marL="0">
              <a:lnSpc>
                <a:spcPct val="100000"/>
              </a:lnSpc>
              <a:buNone/>
            </a:pPr>
            <a:r>
              <a:rPr lang="en-US" sz="1500" dirty="0">
                <a:solidFill>
                  <a:srgbClr val="5A6274"/>
                </a:solidFill>
                <a:latin typeface="Arial" pitchFamily="34" charset="0"/>
                <a:ea typeface="Arial" pitchFamily="34" charset="-122"/>
                <a:cs typeface="Arial" pitchFamily="34" charset="-120"/>
              </a:rPr>
              <a:t>El ataque no toca dígitos ni símbolos; uno que lo hiciera lo rompería.</a:t>
            </a:r>
            <a:endParaRPr lang="en-US" sz="1500" dirty="0"/>
          </a:p>
        </p:txBody>
      </p:sp>
      <p:sp>
        <p:nvSpPr>
          <p:cNvPr id="18" name="Shape 16"/>
          <p:cNvSpPr/>
          <p:nvPr/>
        </p:nvSpPr>
        <p:spPr>
          <a:xfrm>
            <a:off x="548640" y="3931920"/>
            <a:ext cx="3520440" cy="0"/>
          </a:xfrm>
          <a:prstGeom prst="line">
            <a:avLst/>
          </a:prstGeom>
          <a:noFill/>
          <a:ln w="9525">
            <a:solidFill>
              <a:srgbClr val="1F2430"/>
            </a:solidFill>
            <a:prstDash val="solid"/>
          </a:ln>
        </p:spPr>
      </p:sp>
      <p:sp>
        <p:nvSpPr>
          <p:cNvPr id="19" name="Text 17"/>
          <p:cNvSpPr txBox="1"/>
          <p:nvPr/>
        </p:nvSpPr>
        <p:spPr>
          <a:xfrm>
            <a:off x="548640" y="4114800"/>
            <a:ext cx="3474720" cy="640080"/>
          </a:xfrm>
          <a:prstGeom prst="rect">
            <a:avLst/>
          </a:prstGeom>
          <a:noFill/>
          <a:ln/>
        </p:spPr>
        <p:txBody>
          <a:bodyPr wrap="square" lIns="0" tIns="0" rIns="0" bIns="0" rtlCol="0" anchor="t"/>
          <a:lstStyle/>
          <a:p>
            <a:pPr indent="0" marL="0">
              <a:lnSpc>
                <a:spcPct val="100000"/>
              </a:lnSpc>
              <a:buNone/>
            </a:pPr>
            <a:r>
              <a:rPr lang="en-US" sz="1900" dirty="0">
                <a:solidFill>
                  <a:srgbClr val="1F2430"/>
                </a:solidFill>
                <a:latin typeface="Georgia" pitchFamily="34" charset="0"/>
                <a:ea typeface="Georgia" pitchFamily="34" charset="-122"/>
                <a:cs typeface="Georgia" pitchFamily="34" charset="-120"/>
              </a:rPr>
              <a:t>Pérdida 0-1 simétrica</a:t>
            </a:r>
            <a:endParaRPr lang="en-US" sz="1900" dirty="0"/>
          </a:p>
        </p:txBody>
      </p:sp>
      <p:sp>
        <p:nvSpPr>
          <p:cNvPr id="20" name="Text 18"/>
          <p:cNvSpPr txBox="1"/>
          <p:nvPr/>
        </p:nvSpPr>
        <p:spPr>
          <a:xfrm>
            <a:off x="548640" y="4800600"/>
            <a:ext cx="3474720" cy="868680"/>
          </a:xfrm>
          <a:prstGeom prst="rect">
            <a:avLst/>
          </a:prstGeom>
          <a:noFill/>
          <a:ln/>
        </p:spPr>
        <p:txBody>
          <a:bodyPr wrap="square" lIns="0" tIns="0" rIns="0" bIns="0" rtlCol="0" anchor="t"/>
          <a:lstStyle/>
          <a:p>
            <a:pPr indent="0" marL="0">
              <a:lnSpc>
                <a:spcPct val="100000"/>
              </a:lnSpc>
              <a:buNone/>
            </a:pPr>
            <a:r>
              <a:rPr lang="en-US" sz="1500" dirty="0">
                <a:solidFill>
                  <a:srgbClr val="5A6274"/>
                </a:solidFill>
                <a:latin typeface="Arial" pitchFamily="34" charset="0"/>
                <a:ea typeface="Arial" pitchFamily="34" charset="-122"/>
                <a:cs typeface="Arial" pitchFamily="34" charset="-120"/>
              </a:rPr>
              <a:t>Bloquear un mensaje legítimo cuesta más que dejar pasar spam.</a:t>
            </a:r>
            <a:endParaRPr lang="en-US" sz="1500" dirty="0"/>
          </a:p>
        </p:txBody>
      </p:sp>
      <p:sp>
        <p:nvSpPr>
          <p:cNvPr id="21" name="Shape 19"/>
          <p:cNvSpPr/>
          <p:nvPr/>
        </p:nvSpPr>
        <p:spPr>
          <a:xfrm>
            <a:off x="4370832" y="3931920"/>
            <a:ext cx="3520440" cy="0"/>
          </a:xfrm>
          <a:prstGeom prst="line">
            <a:avLst/>
          </a:prstGeom>
          <a:noFill/>
          <a:ln w="9525">
            <a:solidFill>
              <a:srgbClr val="1F2430"/>
            </a:solidFill>
            <a:prstDash val="solid"/>
          </a:ln>
        </p:spPr>
      </p:sp>
      <p:sp>
        <p:nvSpPr>
          <p:cNvPr id="22" name="Text 20"/>
          <p:cNvSpPr txBox="1"/>
          <p:nvPr/>
        </p:nvSpPr>
        <p:spPr>
          <a:xfrm>
            <a:off x="4370832" y="4114800"/>
            <a:ext cx="3474720" cy="640080"/>
          </a:xfrm>
          <a:prstGeom prst="rect">
            <a:avLst/>
          </a:prstGeom>
          <a:noFill/>
          <a:ln/>
        </p:spPr>
        <p:txBody>
          <a:bodyPr wrap="square" lIns="0" tIns="0" rIns="0" bIns="0" rtlCol="0" anchor="t"/>
          <a:lstStyle/>
          <a:p>
            <a:pPr indent="0" marL="0">
              <a:lnSpc>
                <a:spcPct val="100000"/>
              </a:lnSpc>
              <a:buNone/>
            </a:pPr>
            <a:r>
              <a:rPr lang="en-US" sz="1900" dirty="0">
                <a:solidFill>
                  <a:srgbClr val="1F2430"/>
                </a:solidFill>
                <a:latin typeface="Georgia" pitchFamily="34" charset="0"/>
                <a:ea typeface="Georgia" pitchFamily="34" charset="-122"/>
                <a:cs typeface="Georgia" pitchFamily="34" charset="-120"/>
              </a:rPr>
              <a:t>Etiqueta de dos lados</a:t>
            </a:r>
            <a:endParaRPr lang="en-US" sz="1900" dirty="0"/>
          </a:p>
        </p:txBody>
      </p:sp>
      <p:sp>
        <p:nvSpPr>
          <p:cNvPr id="23" name="Text 21"/>
          <p:cNvSpPr txBox="1"/>
          <p:nvPr/>
        </p:nvSpPr>
        <p:spPr>
          <a:xfrm>
            <a:off x="4370832" y="4800600"/>
            <a:ext cx="3474720" cy="868680"/>
          </a:xfrm>
          <a:prstGeom prst="rect">
            <a:avLst/>
          </a:prstGeom>
          <a:noFill/>
          <a:ln/>
        </p:spPr>
        <p:txBody>
          <a:bodyPr wrap="square" lIns="0" tIns="0" rIns="0" bIns="0" rtlCol="0" anchor="t"/>
          <a:lstStyle/>
          <a:p>
            <a:pPr indent="0" marL="0">
              <a:lnSpc>
                <a:spcPct val="100000"/>
              </a:lnSpc>
              <a:buNone/>
            </a:pPr>
            <a:r>
              <a:rPr lang="en-US" sz="1500" dirty="0">
                <a:solidFill>
                  <a:srgbClr val="5A6274"/>
                </a:solidFill>
                <a:latin typeface="Arial" pitchFamily="34" charset="0"/>
                <a:ea typeface="Arial" pitchFamily="34" charset="-122"/>
                <a:cs typeface="Arial" pitchFamily="34" charset="-120"/>
              </a:rPr>
              <a:t>En la práctica solo se ven los errores de lo que se entrega.</a:t>
            </a:r>
            <a:endParaRPr lang="en-US" sz="1500" dirty="0"/>
          </a:p>
        </p:txBody>
      </p:sp>
      <p:sp>
        <p:nvSpPr>
          <p:cNvPr id="24" name="Shape 22"/>
          <p:cNvSpPr/>
          <p:nvPr/>
        </p:nvSpPr>
        <p:spPr>
          <a:xfrm>
            <a:off x="8193024" y="3931920"/>
            <a:ext cx="3520440" cy="0"/>
          </a:xfrm>
          <a:prstGeom prst="line">
            <a:avLst/>
          </a:prstGeom>
          <a:noFill/>
          <a:ln w="9525">
            <a:solidFill>
              <a:srgbClr val="1F2430"/>
            </a:solidFill>
            <a:prstDash val="solid"/>
          </a:ln>
        </p:spPr>
      </p:sp>
      <p:sp>
        <p:nvSpPr>
          <p:cNvPr id="25" name="Text 23"/>
          <p:cNvSpPr txBox="1"/>
          <p:nvPr/>
        </p:nvSpPr>
        <p:spPr>
          <a:xfrm>
            <a:off x="8193024" y="4114800"/>
            <a:ext cx="3474720" cy="640080"/>
          </a:xfrm>
          <a:prstGeom prst="rect">
            <a:avLst/>
          </a:prstGeom>
          <a:noFill/>
          <a:ln/>
        </p:spPr>
        <p:txBody>
          <a:bodyPr wrap="square" lIns="0" tIns="0" rIns="0" bIns="0" rtlCol="0" anchor="t"/>
          <a:lstStyle/>
          <a:p>
            <a:pPr indent="0" marL="0">
              <a:lnSpc>
                <a:spcPct val="100000"/>
              </a:lnSpc>
              <a:buNone/>
            </a:pPr>
            <a:r>
              <a:rPr lang="en-US" sz="1900" dirty="0">
                <a:solidFill>
                  <a:srgbClr val="1F2430"/>
                </a:solidFill>
                <a:latin typeface="Georgia" pitchFamily="34" charset="0"/>
                <a:ea typeface="Georgia" pitchFamily="34" charset="-122"/>
                <a:cs typeface="Georgia" pitchFamily="34" charset="-120"/>
              </a:rPr>
              <a:t>Un solo corpus</a:t>
            </a:r>
            <a:endParaRPr lang="en-US" sz="1900" dirty="0"/>
          </a:p>
        </p:txBody>
      </p:sp>
      <p:sp>
        <p:nvSpPr>
          <p:cNvPr id="26" name="Text 24"/>
          <p:cNvSpPr txBox="1"/>
          <p:nvPr/>
        </p:nvSpPr>
        <p:spPr>
          <a:xfrm>
            <a:off x="8193024" y="4800600"/>
            <a:ext cx="3474720" cy="868680"/>
          </a:xfrm>
          <a:prstGeom prst="rect">
            <a:avLst/>
          </a:prstGeom>
          <a:noFill/>
          <a:ln/>
        </p:spPr>
        <p:txBody>
          <a:bodyPr wrap="square" lIns="0" tIns="0" rIns="0" bIns="0" rtlCol="0" anchor="t"/>
          <a:lstStyle/>
          <a:p>
            <a:pPr indent="0" marL="0">
              <a:lnSpc>
                <a:spcPct val="100000"/>
              </a:lnSpc>
              <a:buNone/>
            </a:pPr>
            <a:r>
              <a:rPr lang="en-US" sz="1500" dirty="0">
                <a:solidFill>
                  <a:srgbClr val="5A6274"/>
                </a:solidFill>
                <a:latin typeface="Arial" pitchFamily="34" charset="0"/>
                <a:ea typeface="Arial" pitchFamily="34" charset="-122"/>
                <a:cs typeface="Arial" pitchFamily="34" charset="-120"/>
              </a:rPr>
              <a:t>5.574 SMS en inglés, ~305 spams atacados por semilla.</a:t>
            </a:r>
            <a:endParaRPr lang="en-US" sz="1500" dirty="0"/>
          </a:p>
        </p:txBody>
      </p:sp>
      <p:sp>
        <p:nvSpPr>
          <p:cNvPr id="27" name="Text 25"/>
          <p:cNvSpPr txBox="1"/>
          <p:nvPr/>
        </p:nvSpPr>
        <p:spPr>
          <a:xfrm>
            <a:off x="548640" y="6373368"/>
            <a:ext cx="10241280" cy="274320"/>
          </a:xfrm>
          <a:prstGeom prst="rect">
            <a:avLst/>
          </a:prstGeom>
          <a:noFill/>
          <a:ln/>
        </p:spPr>
        <p:txBody>
          <a:bodyPr wrap="square" lIns="0" tIns="0" rIns="0" bIns="0" rtlCol="0" anchor="t"/>
          <a:lstStyle/>
          <a:p>
            <a:pPr indent="0" marL="0">
              <a:lnSpc>
                <a:spcPct val="100000"/>
              </a:lnSpc>
              <a:buNone/>
            </a:pPr>
            <a:r>
              <a:rPr lang="en-US" sz="1000" dirty="0">
                <a:solidFill>
                  <a:srgbClr val="9AA1AE"/>
                </a:solidFill>
                <a:latin typeface="Arial" pitchFamily="34" charset="0"/>
                <a:ea typeface="Arial" pitchFamily="34" charset="-122"/>
                <a:cs typeface="Arial" pitchFamily="34" charset="-120"/>
              </a:rPr>
              <a:t>Detalle en la sección de limitaciones del paper.</a:t>
            </a:r>
            <a:endParaRPr lang="en-US" sz="1000" dirty="0"/>
          </a:p>
        </p:txBody>
      </p:sp>
      <p:sp>
        <p:nvSpPr>
          <p:cNvPr id="25" name="Slide Number Placeholder 0"/>
          <p:cNvSpPr>
            <a:spLocks noGrp="1"/>
          </p:cNvSpPr>
          <p:nvPr>
            <p:ph type="sldNum" sz="quarter" idx="4294967295"/>
          </p:nvPr>
        </p:nvSpPr>
        <p:spPr>
          <a:xfrm>
            <a:off x="11091672" y="63733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1AE"/>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731520" y="1920240"/>
            <a:ext cx="7315200" cy="1097280"/>
          </a:xfrm>
          <a:prstGeom prst="rect">
            <a:avLst/>
          </a:prstGeom>
          <a:noFill/>
          <a:ln/>
        </p:spPr>
        <p:txBody>
          <a:bodyPr wrap="square" lIns="0" tIns="0" rIns="0" bIns="0" rtlCol="0" anchor="t"/>
          <a:lstStyle/>
          <a:p>
            <a:pPr indent="0" marL="0">
              <a:lnSpc>
                <a:spcPct val="100000"/>
              </a:lnSpc>
              <a:buNone/>
            </a:pPr>
            <a:r>
              <a:rPr lang="en-US" sz="6400" dirty="0">
                <a:solidFill>
                  <a:srgbClr val="FFFFFF"/>
                </a:solidFill>
                <a:latin typeface="Georgia" pitchFamily="34" charset="0"/>
                <a:ea typeface="Georgia" pitchFamily="34" charset="-122"/>
                <a:cs typeface="Georgia" pitchFamily="34" charset="-120"/>
              </a:rPr>
              <a:t>¿Preguntas?</a:t>
            </a:r>
            <a:endParaRPr lang="en-US" sz="6400" dirty="0"/>
          </a:p>
        </p:txBody>
      </p:sp>
      <p:sp>
        <p:nvSpPr>
          <p:cNvPr id="3" name="Text 1"/>
          <p:cNvSpPr txBox="1"/>
          <p:nvPr/>
        </p:nvSpPr>
        <p:spPr>
          <a:xfrm>
            <a:off x="731520" y="3200400"/>
            <a:ext cx="8229600" cy="411480"/>
          </a:xfrm>
          <a:prstGeom prst="rect">
            <a:avLst/>
          </a:prstGeom>
          <a:noFill/>
          <a:ln/>
        </p:spPr>
        <p:txBody>
          <a:bodyPr wrap="square" lIns="0" tIns="0" rIns="0" bIns="0" rtlCol="0" anchor="t"/>
          <a:lstStyle/>
          <a:p>
            <a:pPr indent="0" marL="0">
              <a:lnSpc>
                <a:spcPct val="100000"/>
              </a:lnSpc>
              <a:buNone/>
            </a:pPr>
            <a:r>
              <a:rPr lang="en-US" sz="2000" dirty="0">
                <a:solidFill>
                  <a:srgbClr val="C8CEDA"/>
                </a:solidFill>
                <a:latin typeface="Arial" pitchFamily="34" charset="0"/>
                <a:ea typeface="Arial" pitchFamily="34" charset="-122"/>
                <a:cs typeface="Arial" pitchFamily="34" charset="-120"/>
              </a:rPr>
              <a:t>Combinar o reentrenar · Pablo Díaz y Ezequiel Martinez</a:t>
            </a:r>
            <a:endParaRPr lang="en-US" sz="2000" dirty="0"/>
          </a:p>
        </p:txBody>
      </p:sp>
      <p:sp>
        <p:nvSpPr>
          <p:cNvPr id="4" name="Shape 2"/>
          <p:cNvSpPr/>
          <p:nvPr/>
        </p:nvSpPr>
        <p:spPr>
          <a:xfrm>
            <a:off x="731520" y="4480560"/>
            <a:ext cx="5486400" cy="0"/>
          </a:xfrm>
          <a:prstGeom prst="line">
            <a:avLst/>
          </a:prstGeom>
          <a:noFill/>
          <a:ln w="9525">
            <a:solidFill>
              <a:srgbClr val="3A4152"/>
            </a:solidFill>
            <a:prstDash val="solid"/>
          </a:ln>
        </p:spPr>
      </p:sp>
      <p:sp>
        <p:nvSpPr>
          <p:cNvPr id="5" name="Text 3"/>
          <p:cNvSpPr txBox="1"/>
          <p:nvPr/>
        </p:nvSpPr>
        <p:spPr>
          <a:xfrm>
            <a:off x="731520" y="4663440"/>
            <a:ext cx="7315200" cy="274320"/>
          </a:xfrm>
          <a:prstGeom prst="rect">
            <a:avLst/>
          </a:prstGeom>
          <a:noFill/>
          <a:ln/>
        </p:spPr>
        <p:txBody>
          <a:bodyPr wrap="square" lIns="0" tIns="0" rIns="0" bIns="0" rtlCol="0" anchor="t"/>
          <a:lstStyle/>
          <a:p>
            <a:pPr indent="0" marL="0">
              <a:lnSpc>
                <a:spcPct val="100000"/>
              </a:lnSpc>
              <a:buNone/>
            </a:pPr>
            <a:r>
              <a:rPr lang="en-US" sz="1300" dirty="0">
                <a:solidFill>
                  <a:srgbClr val="9AA1AE"/>
                </a:solidFill>
                <a:latin typeface="Arial" pitchFamily="34" charset="0"/>
                <a:ea typeface="Arial" pitchFamily="34" charset="-122"/>
                <a:cs typeface="Arial" pitchFamily="34" charset="-120"/>
              </a:rPr>
              <a:t>Código, datos y paper</a:t>
            </a:r>
            <a:endParaRPr lang="en-US" sz="1300" dirty="0"/>
          </a:p>
        </p:txBody>
      </p:sp>
      <p:sp>
        <p:nvSpPr>
          <p:cNvPr id="6" name="Text 4"/>
          <p:cNvSpPr txBox="1"/>
          <p:nvPr/>
        </p:nvSpPr>
        <p:spPr>
          <a:xfrm>
            <a:off x="731520" y="4983480"/>
            <a:ext cx="8229600" cy="411480"/>
          </a:xfrm>
          <a:prstGeom prst="rect">
            <a:avLst/>
          </a:prstGeom>
          <a:noFill/>
          <a:ln/>
        </p:spPr>
        <p:txBody>
          <a:bodyPr wrap="square" lIns="0" tIns="0" rIns="0" bIns="0" rtlCol="0" anchor="t"/>
          <a:lstStyle/>
          <a:p>
            <a:pPr indent="0" marL="0">
              <a:lnSpc>
                <a:spcPct val="100000"/>
              </a:lnSpc>
              <a:buNone/>
            </a:pPr>
            <a:r>
              <a:rPr lang="en-US" sz="2000" b="1" dirty="0">
                <a:solidFill>
                  <a:srgbClr val="AFCBEE"/>
                </a:solidFill>
                <a:latin typeface="Arial" pitchFamily="34" charset="0"/>
                <a:ea typeface="Arial" pitchFamily="34" charset="-122"/>
                <a:cs typeface="Arial" pitchFamily="34" charset="-120"/>
              </a:rPr>
              <a:t>github.com/pmdiaz/spam-detection-hedge</a:t>
            </a:r>
            <a:endParaRPr lang="en-US" sz="2000" dirty="0"/>
          </a:p>
        </p:txBody>
      </p:sp>
      <p:sp>
        <p:nvSpPr>
          <p:cNvPr id="7" name="experto 1"/>
          <p:cNvSpPr/>
          <p:nvPr/>
        </p:nvSpPr>
        <p:spPr>
          <a:xfrm>
            <a:off x="9418320" y="5029200"/>
            <a:ext cx="329184" cy="329184"/>
          </a:xfrm>
          <a:prstGeom prst="ellipse">
            <a:avLst/>
          </a:prstGeom>
          <a:solidFill>
            <a:srgbClr val="EB6834"/>
          </a:solidFill>
          <a:ln/>
        </p:spPr>
      </p:sp>
      <p:sp>
        <p:nvSpPr>
          <p:cNvPr id="8" name="experto 2"/>
          <p:cNvSpPr/>
          <p:nvPr/>
        </p:nvSpPr>
        <p:spPr>
          <a:xfrm>
            <a:off x="9875520" y="5029200"/>
            <a:ext cx="329184" cy="329184"/>
          </a:xfrm>
          <a:prstGeom prst="ellipse">
            <a:avLst/>
          </a:prstGeom>
          <a:solidFill>
            <a:srgbClr val="008300"/>
          </a:solidFill>
          <a:ln/>
        </p:spPr>
      </p:sp>
      <p:sp>
        <p:nvSpPr>
          <p:cNvPr id="9" name="experto 3"/>
          <p:cNvSpPr/>
          <p:nvPr/>
        </p:nvSpPr>
        <p:spPr>
          <a:xfrm>
            <a:off x="10332720" y="5029200"/>
            <a:ext cx="329184" cy="329184"/>
          </a:xfrm>
          <a:prstGeom prst="ellipse">
            <a:avLst/>
          </a:prstGeom>
          <a:solidFill>
            <a:srgbClr val="008300"/>
          </a:solidFill>
          <a:ln/>
        </p:spPr>
      </p:sp>
      <p:sp>
        <p:nvSpPr>
          <p:cNvPr id="10" name="experto 4"/>
          <p:cNvSpPr/>
          <p:nvPr/>
        </p:nvSpPr>
        <p:spPr>
          <a:xfrm>
            <a:off x="10789920" y="5029200"/>
            <a:ext cx="329184" cy="329184"/>
          </a:xfrm>
          <a:prstGeom prst="ellipse">
            <a:avLst/>
          </a:prstGeom>
          <a:solidFill>
            <a:srgbClr val="008300"/>
          </a:solidFill>
          <a:ln/>
        </p:spPr>
      </p:sp>
      <p:sp>
        <p:nvSpPr>
          <p:cNvPr id="11" name="experto 5"/>
          <p:cNvSpPr/>
          <p:nvPr/>
        </p:nvSpPr>
        <p:spPr>
          <a:xfrm>
            <a:off x="11247120" y="5029200"/>
            <a:ext cx="329184" cy="329184"/>
          </a:xfrm>
          <a:prstGeom prst="ellipse">
            <a:avLst/>
          </a:prstGeom>
          <a:solidFill>
            <a:srgbClr val="4A3AA7"/>
          </a:solidFill>
          <a:ln/>
        </p:spPr>
      </p:sp>
    </p:spTree>
  </p:cSld>
  <p:clrMapOvr>
    <a:masterClrMapping/>
  </p:clrMapOvr>
  <p:transition spd="med">
    <p:fade/>
  </p:transition>
</p:sld>
</file>

<file path=ppt/theme/theme1.xml><?xml version="1.0" encoding="utf-8"?>
<a:theme xmlns:a="http://schemas.openxmlformats.org/drawingml/2006/main" name="Combinar o reentrenar">
  <a:themeElements>
    <a:clrScheme name="Combinar o reentrenar">
      <a:dk1>
        <a:srgbClr val="1F2430"/>
      </a:dk1>
      <a:lt1>
        <a:srgbClr val="FFFFFF"/>
      </a:lt1>
      <a:dk2>
        <a:srgbClr val="5A6274"/>
      </a:dk2>
      <a:lt2>
        <a:srgbClr val="F7F5F0"/>
      </a:lt2>
      <a:accent1>
        <a:srgbClr val="2A78D6"/>
      </a:accent1>
      <a:accent2>
        <a:srgbClr val="EB6834"/>
      </a:accent2>
      <a:accent3>
        <a:srgbClr val="1BAF7A"/>
      </a:accent3>
      <a:accent4>
        <a:srgbClr val="4A3AA7"/>
      </a:accent4>
      <a:accent5>
        <a:srgbClr val="008300"/>
      </a:accent5>
      <a:accent6>
        <a:srgbClr val="E34948"/>
      </a:accent6>
      <a:hlink>
        <a:srgbClr val="2A78D6"/>
      </a:hlink>
      <a:folHlink>
        <a:srgbClr val="4A3AA7"/>
      </a:folHlink>
    </a:clrScheme>
    <a:fontScheme name="Combinar o reentrenar">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Combinar o reentrenar</dc:title>
  <dc:subject>PptxGenJS Presentation</dc:subject>
  <dc:creator>Pablo Díaz y Ezequiel Martinez</dc:creator>
  <cp:lastModifiedBy>Pablo Díaz y Ezequiel Martinez</cp:lastModifiedBy>
  <cp:revision>1</cp:revision>
  <dcterms:created xsi:type="dcterms:W3CDTF">2026-10-12T20:45:57Z</dcterms:created>
  <dcterms:modified xsi:type="dcterms:W3CDTF">2026-10-12T20:45:57Z</dcterms:modified>
</cp:coreProperties>
</file>