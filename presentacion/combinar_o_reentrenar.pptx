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El problema" id="{6de9d2f7-e67b-dfce-6c64-736de6f4e595}">
          <p14:sldIdLst>
            <p14:sldId id="256"/>
            <p14:sldId id="257"/>
            <p14:sldId id="258"/>
            <p14:sldId id="259"/>
            <p14:sldId id="260"/>
            <p14:sldId id="261"/>
          </p14:sldIdLst>
        </p14:section>
        <p14:section name="2 · Hallazgos" id="{16cdc7f7-b2d5-380b-f08e-17083d9e93e9}">
          <p14:sldIdLst>
            <p14:sldId id="262"/>
            <p14:sldId id="263"/>
            <p14:sldId id="264"/>
            <p14:sldId id="265"/>
            <p14:sldId id="266"/>
            <p14:sldId id="267"/>
            <p14:sldId id="268"/>
            <p14:sldId id="269"/>
            <p14:sldId id="270"/>
            <p14:sldId id="271"/>
            <p14:sldId id="272"/>
          </p14:sldIdLst>
        </p14:section>
        <p14:section name="3 · Cierre" id="{94907d10-299f-fe5a-a204-bb153b1b617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Presentarse. Una frase de entrada: cuando el spammer se adapta al filtro, ¿conviene combinar modelos que ya tenemos o reentrenar uno? Las palabras de la derecha son reales: así queda un spam después de nuestro ataque.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Leer el SMS original y después señalar las palabras en naranja: reply pasa a reeply, win a wiin, stop a stoop. La azul, lol, es una palabra típica de mensajes legítimos. El filtro estático pasa de atrapar el 85% del spam al 42%. El mensaje crece una sola palabra: no se lo puede detectar por el largo.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Las dos defensas. Combinar: cinco modelos congelados, Hedge solo decide a cuál creerle; aprende cinco números. Reentrenar: un modelo que aprende de cada etiqueta; tiene un peso por palabra, por eso puede aprender «wiin». La cita de Lowd y Meek es la tesis que ponemos 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0:40. Las dos preguntas ordenan la charla: los hallazgos 1 y 2 las responden. Anticipar que el hallazgo 3 son dos precisiones sobre la teoría, y el 4 lecciones de método. Los puntos de arriba a la derecha marcan en qué hallazgo estamos.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1:20. Recorrer la barra de izquierda a derecha: está a escala. Warm-up del 20% para entrenar; después 4.460 rondas de predecir, ver la etiqueta y actualizar; el ataque arranca en la mitad. Los tres competidores ven exactamente la misma secuencia. Sobre métricas: con 13% de spam, no marcar nada acierta el 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La regla es una línea: cada error multiplica el peso del experto por e a la menos eta. Hedge sortea a qué experto creerle según los pesos. Presentar a los cinco expertos con sus colores: cuatro miran palabras y uno, el estructural en violeta, mira formato. Regret: errores de más contra el mejor experto fijo.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Respuesta a la pregunta 1. Con ataque, el estático comete 190 errores, Hedge 133 y SGD 73. Hedge recorre el 46% de esa distancia sin reentrenar nada. Reentrenar gana, pero combinar hace casi la mitad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0:45. La misma comparación en mensajes concretos. De los 305 spams que llegan atacados, el estático atrapa 128, Hedge 180 y SGD 252. Hedge atrapa 52 más que el estático; SGD, 72 más que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Primero solo el estático: atrapa ~85% del spam; con el ataque cae a ~43% y se queda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Hedge cae con el estático, porque al principio le cree a Naive Bayes, y después se recupera hasta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SGD también cae, menos, y vuelve casi al nivel previo: aprende «wiin» como palabra de spam. Hedge no puede, porque sus expertos están congelados.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(y pasa a B). El porqué. Hedge no había apostado todo al mejor del momento: al llegar el ataque tenía el peso en tercios. Cuando el ataque rompe a Naive Bayes, el peso migra al estructural, que mira formato y no palabras. Pase: «Esto con todas las etiquetas. Ezequiel muestra qué pasa cuando escasean.»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Respuesta a la pregunta 2. Con todas las etiquetas, reentrenar gana claro: 73 contra 133. A medida que el usuario reporta menos, SGD se degrada mucho más rápido. Las curvas se cruzan entre 1 de cada 5 y 1 de cada 20: ahí Hedge gana en 15 de 20 semillas, y SGD termina peor que no adaptarse.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Un revisor nos objetó que SGD perdía por no reponderar como Hedge. Lo probamos: reponderar lo empeora, de 210 a 240 o 323 errores. La razón es de conteo: Hedge aprende 5 pesos; reentrenar necesita un peso por cada palabra nueva. Lo que sí sufre Hedge es la varianza del estimador.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Primera precisión sobre la teoría. Las slides 71 y 73 presentan juntos el voto pesado y la cota, pero la cota es del Hedge randomizado. Construimos un adversario que simula al determinístico y le etiqueta lo contrario: su regret crece lineal, T/2. El randomizado queda en 14, bajo su cota de 37. En el stream real el determinístico anda mejor: la diferencia es de peor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Segunda precisión. Hay dos cotas y cada una vale para su propia tasa de aprendizaje. Las dos se cumplen en las 20 semillas. La small-loss da la mitad de regret, pero requiere saber cuántos errores comete el mejor experto, algo que bajo ataque no sabemos. Notar cómo esa cota cambia de pendiente con el ataque.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Tres cosas que sirven fuera de este trabajo. Accuracy engaña con datos desbalanceados. La validación cruzada sobre datos sin cambio no sirve para elegir hiperparámetros de adaptación: tuvimos que fijar el alfa de SGD. Y combinar solo funciona si algún experto sobrevive: con la primera versión del estructural, Hedge no recuperaba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1:00. La conclusión práctica. Lowd y Meek tenían razón a medias: reentrenar seguido funciona si hay etiquetas seguido. Cuando escasean, combinar es más robusto porque tiene muchos menos parámetros. Cerrar con la pregunta abierta, aclarando que no la probamos.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0:45. Mencionar rápido, sin leer todas. Las dos más importantes: el drift es sintético y el experto robusto lo es para este ataque en particular.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0:15 + preguntas. Agradecer y abrir preguntas. Verificar antes que el repositorio sea público si se muestra el enlace.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7F5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0424160" cy="566928"/>
          </a:xfrm>
          <a:prstGeom prst="rect">
            <a:avLst/>
          </a:prstGeom>
          <a:noFill/>
          <a:ln/>
        </p:spPr>
        <p:txBody>
          <a:bodyPr wrap="square" rtlCol="0"/>
          <a:lstStyle>
            <a:lvl1pPr indent="0" marL="0">
              <a:buNone/>
              <a:defRPr lang="en-US" sz="3000" dirty="0">
                <a:solidFill>
                  <a:srgbClr val="1F2430"/>
                </a:solidFill>
                <a:latin typeface="Georgia" pitchFamily="34" charset="0"/>
                <a:ea typeface="Georgia" pitchFamily="34" charset="-122"/>
                <a:cs typeface="Georgia" pitchFamily="34" charset="-120"/>
              </a:defRPr>
            </a:lvl1pPr>
          </a:lstStyle>
          <a:p>
            <a:pPr indent="0" marL="0">
              <a:buNone/>
            </a:pPr>
            <a:endParaRPr lang="en-US" sz="3000" dirty="0"/>
          </a:p>
        </p:txBody>
      </p:sp>
      <p:sp>
        <p:nvSpPr>
          <p:cNvPr id="3" name="Shape 0"/>
          <p:cNvSpPr/>
          <p:nvPr/>
        </p:nvSpPr>
        <p:spPr>
          <a:xfrm>
            <a:off x="548640" y="6291072"/>
            <a:ext cx="11091672" cy="0"/>
          </a:xfrm>
          <a:prstGeom prst="line">
            <a:avLst/>
          </a:prstGeom>
          <a:noFill/>
          <a:ln w="9525">
            <a:solidFill>
              <a:srgbClr val="D9D6CE"/>
            </a:solidFill>
            <a:prstDash val="solid"/>
          </a:ln>
        </p:spPr>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rgbClr val="1F24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315200" cy="274320"/>
          </a:xfrm>
          <a:prstGeom prst="rect">
            <a:avLst/>
          </a:prstGeom>
          <a:noFill/>
          <a:ln/>
        </p:spPr>
        <p:txBody>
          <a:bodyPr wrap="square" lIns="0" tIns="0" rIns="0" bIns="0" rtlCol="0" anchor="t"/>
          <a:lstStyle/>
          <a:p>
            <a:pPr indent="0" marL="0">
              <a:lnSpc>
                <a:spcPct val="100000"/>
              </a:lnSpc>
              <a:buNone/>
            </a:pPr>
            <a:r>
              <a:rPr lang="en-US" sz="1100" b="1" spc="200" kern="0" dirty="0">
                <a:solidFill>
                  <a:srgbClr val="9AA1AE"/>
                </a:solidFill>
                <a:latin typeface="Arial" pitchFamily="34" charset="0"/>
                <a:ea typeface="Arial" pitchFamily="34" charset="-122"/>
                <a:cs typeface="Arial" pitchFamily="34" charset="-120"/>
              </a:rPr>
              <a:t>TÓPICOS AVANZADOS EN CIENCIA DE DATOS · MCD210 · UDESA</a:t>
            </a:r>
            <a:endParaRPr lang="en-US" sz="1100" dirty="0"/>
          </a:p>
        </p:txBody>
      </p:sp>
      <p:sp>
        <p:nvSpPr>
          <p:cNvPr id="3" name="Text 1"/>
          <p:cNvSpPr txBox="1"/>
          <p:nvPr/>
        </p:nvSpPr>
        <p:spPr>
          <a:xfrm>
            <a:off x="731520" y="1737360"/>
            <a:ext cx="6766560" cy="2103120"/>
          </a:xfrm>
          <a:prstGeom prst="rect">
            <a:avLst/>
          </a:prstGeom>
          <a:noFill/>
          <a:ln/>
        </p:spPr>
        <p:txBody>
          <a:bodyPr wrap="square" lIns="0" tIns="0" rIns="0" bIns="0" rtlCol="0" anchor="t"/>
          <a:lstStyle/>
          <a:p>
            <a:pPr indent="0" marL="0">
              <a:lnSpc>
                <a:spcPct val="92000"/>
              </a:lnSpc>
              <a:buNone/>
            </a:pPr>
            <a:r>
              <a:rPr lang="en-US" sz="6400" dirty="0">
                <a:solidFill>
                  <a:srgbClr val="FFFFFF"/>
                </a:solidFill>
                <a:latin typeface="Georgia" pitchFamily="34" charset="0"/>
                <a:ea typeface="Georgia" pitchFamily="34" charset="-122"/>
                <a:cs typeface="Georgia" pitchFamily="34" charset="-120"/>
              </a:rPr>
              <a:t>Combinar</a:t>
            </a:r>
            <a:endParaRPr lang="en-US" sz="6400" dirty="0"/>
          </a:p>
          <a:p>
            <a:pPr indent="0" marL="0">
              <a:lnSpc>
                <a:spcPct val="92000"/>
              </a:lnSpc>
              <a:buNone/>
            </a:pPr>
            <a:r>
              <a:rPr lang="en-US" sz="6400" dirty="0">
                <a:solidFill>
                  <a:srgbClr val="FFFFFF"/>
                </a:solidFill>
                <a:latin typeface="Georgia" pitchFamily="34" charset="0"/>
                <a:ea typeface="Georgia" pitchFamily="34" charset="-122"/>
                <a:cs typeface="Georgia" pitchFamily="34" charset="-120"/>
              </a:rPr>
              <a:t>o reentrenar</a:t>
            </a:r>
            <a:endParaRPr lang="en-US" sz="6400" dirty="0"/>
          </a:p>
        </p:txBody>
      </p:sp>
      <p:sp>
        <p:nvSpPr>
          <p:cNvPr id="4" name="Text 2"/>
          <p:cNvSpPr txBox="1"/>
          <p:nvPr/>
        </p:nvSpPr>
        <p:spPr>
          <a:xfrm>
            <a:off x="731520" y="4069080"/>
            <a:ext cx="5852160" cy="777240"/>
          </a:xfrm>
          <a:prstGeom prst="rect">
            <a:avLst/>
          </a:prstGeom>
          <a:noFill/>
          <a:ln/>
        </p:spPr>
        <p:txBody>
          <a:bodyPr wrap="square" lIns="0" tIns="0" rIns="0" bIns="0" rtlCol="0" anchor="t"/>
          <a:lstStyle/>
          <a:p>
            <a:pPr indent="0" marL="0">
              <a:lnSpc>
                <a:spcPct val="100000"/>
              </a:lnSpc>
              <a:buNone/>
            </a:pPr>
            <a:r>
              <a:rPr lang="en-US" sz="2000" dirty="0">
                <a:solidFill>
                  <a:srgbClr val="C8CEDA"/>
                </a:solidFill>
                <a:latin typeface="Arial" pitchFamily="34" charset="0"/>
                <a:ea typeface="Arial" pitchFamily="34" charset="-122"/>
                <a:cs typeface="Arial" pitchFamily="34" charset="-120"/>
              </a:rPr>
              <a:t>Hedge contra reentrenamiento online en un filtro de spam bajo ataque</a:t>
            </a:r>
            <a:endParaRPr lang="en-US" sz="2000" dirty="0"/>
          </a:p>
        </p:txBody>
      </p:sp>
      <p:sp>
        <p:nvSpPr>
          <p:cNvPr id="5" name="Text 3"/>
          <p:cNvSpPr txBox="1"/>
          <p:nvPr/>
        </p:nvSpPr>
        <p:spPr>
          <a:xfrm>
            <a:off x="731520" y="5349240"/>
            <a:ext cx="6400800" cy="365760"/>
          </a:xfrm>
          <a:prstGeom prst="rect">
            <a:avLst/>
          </a:prstGeom>
          <a:noFill/>
          <a:ln/>
        </p:spPr>
        <p:txBody>
          <a:bodyPr wrap="square" lIns="0" tIns="0" rIns="0" bIns="0" rtlCol="0" anchor="t"/>
          <a:lstStyle/>
          <a:p>
            <a:pPr indent="0" marL="0">
              <a:lnSpc>
                <a:spcPct val="100000"/>
              </a:lnSpc>
              <a:buNone/>
            </a:pPr>
            <a:r>
              <a:rPr lang="en-US" sz="1600" b="1" dirty="0">
                <a:solidFill>
                  <a:srgbClr val="FFFFFF"/>
                </a:solidFill>
                <a:latin typeface="Arial" pitchFamily="34" charset="0"/>
                <a:ea typeface="Arial" pitchFamily="34" charset="-122"/>
                <a:cs typeface="Arial" pitchFamily="34" charset="-120"/>
              </a:rPr>
              <a:t>Pablo Díaz · Ezequiel Martinez</a:t>
            </a:r>
            <a:endParaRPr lang="en-US" sz="1600" dirty="0"/>
          </a:p>
        </p:txBody>
      </p:sp>
      <p:sp>
        <p:nvSpPr>
          <p:cNvPr id="6" name="Text 4"/>
          <p:cNvSpPr txBox="1"/>
          <p:nvPr/>
        </p:nvSpPr>
        <p:spPr>
          <a:xfrm>
            <a:off x="7955280" y="868680"/>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EB6834"/>
                </a:solidFill>
                <a:latin typeface="Georgia" pitchFamily="34" charset="0"/>
                <a:ea typeface="Georgia" pitchFamily="34" charset="-122"/>
                <a:cs typeface="Georgia" pitchFamily="34" charset="-120"/>
              </a:rPr>
              <a:t>reeply</a:t>
            </a:r>
            <a:endParaRPr lang="en-US" sz="4000" dirty="0"/>
          </a:p>
        </p:txBody>
      </p:sp>
      <p:sp>
        <p:nvSpPr>
          <p:cNvPr id="7" name="Text 5"/>
          <p:cNvSpPr txBox="1"/>
          <p:nvPr/>
        </p:nvSpPr>
        <p:spPr>
          <a:xfrm>
            <a:off x="8732520" y="1655064"/>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CE5E33"/>
                </a:solidFill>
                <a:latin typeface="Georgia" pitchFamily="34" charset="0"/>
                <a:ea typeface="Georgia" pitchFamily="34" charset="-122"/>
                <a:cs typeface="Georgia" pitchFamily="34" charset="-120"/>
              </a:rPr>
              <a:t>wiin</a:t>
            </a:r>
            <a:endParaRPr lang="en-US" sz="4000" dirty="0"/>
          </a:p>
        </p:txBody>
      </p:sp>
      <p:sp>
        <p:nvSpPr>
          <p:cNvPr id="8" name="Text 6"/>
          <p:cNvSpPr txBox="1"/>
          <p:nvPr/>
        </p:nvSpPr>
        <p:spPr>
          <a:xfrm>
            <a:off x="7955280" y="2441448"/>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B25533"/>
                </a:solidFill>
                <a:latin typeface="Georgia" pitchFamily="34" charset="0"/>
                <a:ea typeface="Georgia" pitchFamily="34" charset="-122"/>
                <a:cs typeface="Georgia" pitchFamily="34" charset="-120"/>
              </a:rPr>
              <a:t>weeekly</a:t>
            </a:r>
            <a:endParaRPr lang="en-US" sz="4000" dirty="0"/>
          </a:p>
        </p:txBody>
      </p:sp>
      <p:sp>
        <p:nvSpPr>
          <p:cNvPr id="9" name="Text 7"/>
          <p:cNvSpPr txBox="1"/>
          <p:nvPr/>
        </p:nvSpPr>
        <p:spPr>
          <a:xfrm>
            <a:off x="8732520" y="3227832"/>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954B32"/>
                </a:solidFill>
                <a:latin typeface="Georgia" pitchFamily="34" charset="0"/>
                <a:ea typeface="Georgia" pitchFamily="34" charset="-122"/>
                <a:cs typeface="Georgia" pitchFamily="34" charset="-120"/>
              </a:rPr>
              <a:t>cuup</a:t>
            </a:r>
            <a:endParaRPr lang="en-US" sz="4000" dirty="0"/>
          </a:p>
        </p:txBody>
      </p:sp>
      <p:sp>
        <p:nvSpPr>
          <p:cNvPr id="10" name="Text 8"/>
          <p:cNvSpPr txBox="1"/>
          <p:nvPr/>
        </p:nvSpPr>
        <p:spPr>
          <a:xfrm>
            <a:off x="7955280" y="4014216"/>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794232"/>
                </a:solidFill>
                <a:latin typeface="Georgia" pitchFamily="34" charset="0"/>
                <a:ea typeface="Georgia" pitchFamily="34" charset="-122"/>
                <a:cs typeface="Georgia" pitchFamily="34" charset="-120"/>
              </a:rPr>
              <a:t>stoop</a:t>
            </a:r>
            <a:endParaRPr lang="en-US" sz="4000" dirty="0"/>
          </a:p>
        </p:txBody>
      </p:sp>
      <p:sp>
        <p:nvSpPr>
          <p:cNvPr id="11" name="Text 9"/>
          <p:cNvSpPr txBox="1"/>
          <p:nvPr/>
        </p:nvSpPr>
        <p:spPr>
          <a:xfrm>
            <a:off x="8732520" y="4800600"/>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5C3831"/>
                </a:solidFill>
                <a:latin typeface="Georgia" pitchFamily="34" charset="0"/>
                <a:ea typeface="Georgia" pitchFamily="34" charset="-122"/>
                <a:cs typeface="Georgia" pitchFamily="34" charset="-120"/>
              </a:rPr>
              <a:t>seervice</a:t>
            </a:r>
            <a:endParaRPr lang="en-US" sz="4000" dirty="0"/>
          </a:p>
        </p:txBody>
      </p:sp>
      <p:sp>
        <p:nvSpPr>
          <p:cNvPr id="12" name="Text 10"/>
          <p:cNvSpPr txBox="1"/>
          <p:nvPr/>
        </p:nvSpPr>
        <p:spPr>
          <a:xfrm>
            <a:off x="8732520" y="5586984"/>
            <a:ext cx="1828800" cy="685800"/>
          </a:xfrm>
          <a:prstGeom prst="rect">
            <a:avLst/>
          </a:prstGeom>
          <a:noFill/>
          <a:ln/>
        </p:spPr>
        <p:txBody>
          <a:bodyPr wrap="square" lIns="0" tIns="0" rIns="0" bIns="0" rtlCol="0" anchor="t"/>
          <a:lstStyle/>
          <a:p>
            <a:pPr indent="0" marL="0">
              <a:lnSpc>
                <a:spcPct val="100000"/>
              </a:lnSpc>
              <a:buNone/>
            </a:pPr>
            <a:r>
              <a:rPr lang="en-US" sz="4000" i="1" dirty="0">
                <a:solidFill>
                  <a:srgbClr val="265694"/>
                </a:solidFill>
                <a:latin typeface="Georgia" pitchFamily="34" charset="0"/>
                <a:ea typeface="Georgia" pitchFamily="34" charset="-122"/>
                <a:cs typeface="Georgia" pitchFamily="34" charset="-120"/>
              </a:rPr>
              <a:t>lol</a:t>
            </a:r>
            <a:endParaRPr lang="en-US" sz="4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Un spammer que aprende a esquivar el filtro</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Un SMS real del corpus, atacado por nuestro código: crece una sola palabra.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Dos teléfonos con el mismo SMS de spam, antes y después del ataque. En el atacado, siete palabras tienen una letra duplicada (reeply, wiin, weeekly) y se agrega la palabra lol.">    </p:cNvPr>
          <p:cNvPicPr>
            <a:picLocks noChangeAspect="1"/>
          </p:cNvPicPr>
          <p:nvPr/>
        </p:nvPicPr>
        <p:blipFill>
          <a:blip r:embed="rId1"/>
          <a:stretch>
            <a:fillRect/>
          </a:stretch>
        </p:blipFill>
        <p:spPr>
          <a:xfrm>
            <a:off x="365760" y="2011680"/>
            <a:ext cx="8092440" cy="3382068"/>
          </a:xfrm>
          <a:prstGeom prst="rect">
            <a:avLst/>
          </a:prstGeom>
        </p:spPr>
      </p:pic>
      <p:sp>
        <p:nvSpPr>
          <p:cNvPr id="11" name="Text 8"/>
          <p:cNvSpPr txBox="1"/>
          <p:nvPr/>
        </p:nvSpPr>
        <p:spPr>
          <a:xfrm>
            <a:off x="8641080" y="1965960"/>
            <a:ext cx="301752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SPAM QUE ATRAPA EL FILTRO ESTÁTICO</a:t>
            </a:r>
            <a:endParaRPr lang="en-US" sz="1000" dirty="0"/>
          </a:p>
        </p:txBody>
      </p:sp>
      <p:sp>
        <p:nvSpPr>
          <p:cNvPr id="12" name="Text 9"/>
          <p:cNvSpPr txBox="1"/>
          <p:nvPr/>
        </p:nvSpPr>
        <p:spPr>
          <a:xfrm>
            <a:off x="8641080" y="2286000"/>
            <a:ext cx="3017520" cy="822960"/>
          </a:xfrm>
          <a:prstGeom prst="rect">
            <a:avLst/>
          </a:prstGeom>
          <a:noFill/>
          <a:ln/>
        </p:spPr>
        <p:txBody>
          <a:bodyPr wrap="square" lIns="0" tIns="0" rIns="0" bIns="0" rtlCol="0" anchor="t"/>
          <a:lstStyle/>
          <a:p>
            <a:pPr indent="0" marL="0">
              <a:lnSpc>
                <a:spcPct val="100000"/>
              </a:lnSpc>
              <a:buNone/>
            </a:pPr>
            <a:r>
              <a:rPr lang="en-US" sz="5400" b="1" dirty="0">
                <a:solidFill>
                  <a:srgbClr val="9AA1AE"/>
                </a:solidFill>
                <a:latin typeface="Arial" pitchFamily="34" charset="0"/>
                <a:ea typeface="Arial" pitchFamily="34" charset="-122"/>
                <a:cs typeface="Arial" pitchFamily="34" charset="-120"/>
              </a:rPr>
              <a:t>85%</a:t>
            </a:r>
            <a:endParaRPr lang="en-US" sz="5400" dirty="0"/>
          </a:p>
        </p:txBody>
      </p:sp>
      <p:sp>
        <p:nvSpPr>
          <p:cNvPr id="13" name="Text 10"/>
          <p:cNvSpPr txBox="1"/>
          <p:nvPr/>
        </p:nvSpPr>
        <p:spPr>
          <a:xfrm>
            <a:off x="8641080" y="3108960"/>
            <a:ext cx="301752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sin ataque</a:t>
            </a:r>
            <a:endParaRPr lang="en-US" sz="1400" dirty="0"/>
          </a:p>
        </p:txBody>
      </p:sp>
      <p:sp>
        <p:nvSpPr>
          <p:cNvPr id="14" name="Text 11"/>
          <p:cNvSpPr txBox="1"/>
          <p:nvPr/>
        </p:nvSpPr>
        <p:spPr>
          <a:xfrm>
            <a:off x="8641080" y="3520440"/>
            <a:ext cx="3017520" cy="822960"/>
          </a:xfrm>
          <a:prstGeom prst="rect">
            <a:avLst/>
          </a:prstGeom>
          <a:noFill/>
          <a:ln/>
        </p:spPr>
        <p:txBody>
          <a:bodyPr wrap="square" lIns="0" tIns="0" rIns="0" bIns="0" rtlCol="0" anchor="t"/>
          <a:lstStyle/>
          <a:p>
            <a:pPr indent="0" marL="0">
              <a:lnSpc>
                <a:spcPct val="100000"/>
              </a:lnSpc>
              <a:buNone/>
            </a:pPr>
            <a:r>
              <a:rPr lang="en-US" sz="5400" b="1" dirty="0">
                <a:solidFill>
                  <a:srgbClr val="EB6834"/>
                </a:solidFill>
                <a:latin typeface="Arial" pitchFamily="34" charset="0"/>
                <a:ea typeface="Arial" pitchFamily="34" charset="-122"/>
                <a:cs typeface="Arial" pitchFamily="34" charset="-120"/>
              </a:rPr>
              <a:t>42%</a:t>
            </a:r>
            <a:endParaRPr lang="en-US" sz="5400" dirty="0"/>
          </a:p>
        </p:txBody>
      </p:sp>
      <p:sp>
        <p:nvSpPr>
          <p:cNvPr id="15" name="Text 12"/>
          <p:cNvSpPr txBox="1"/>
          <p:nvPr/>
        </p:nvSpPr>
        <p:spPr>
          <a:xfrm>
            <a:off x="8641080" y="4343400"/>
            <a:ext cx="301752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con ataque</a:t>
            </a:r>
            <a:endParaRPr lang="en-US" sz="1400" dirty="0"/>
          </a:p>
        </p:txBody>
      </p:sp>
      <p:sp>
        <p:nvSpPr>
          <p:cNvPr id="16" name="Shape 13"/>
          <p:cNvSpPr/>
          <p:nvPr/>
        </p:nvSpPr>
        <p:spPr>
          <a:xfrm>
            <a:off x="8641080" y="4846320"/>
            <a:ext cx="2999232" cy="0"/>
          </a:xfrm>
          <a:prstGeom prst="line">
            <a:avLst/>
          </a:prstGeom>
          <a:noFill/>
          <a:ln w="9525">
            <a:solidFill>
              <a:srgbClr val="D9D6CE"/>
            </a:solidFill>
            <a:prstDash val="solid"/>
          </a:ln>
        </p:spPr>
      </p:sp>
      <p:sp>
        <p:nvSpPr>
          <p:cNvPr id="17" name="leyenda alterada"/>
          <p:cNvSpPr/>
          <p:nvPr/>
        </p:nvSpPr>
        <p:spPr>
          <a:xfrm>
            <a:off x="8641080" y="5029200"/>
            <a:ext cx="164592" cy="164592"/>
          </a:xfrm>
          <a:prstGeom prst="ellipse">
            <a:avLst/>
          </a:prstGeom>
          <a:solidFill>
            <a:srgbClr val="EB6834"/>
          </a:solidFill>
          <a:ln/>
        </p:spPr>
      </p:sp>
      <p:sp>
        <p:nvSpPr>
          <p:cNvPr id="18" name="Text 15"/>
          <p:cNvSpPr txBox="1"/>
          <p:nvPr/>
        </p:nvSpPr>
        <p:spPr>
          <a:xfrm>
            <a:off x="8915400" y="4974336"/>
            <a:ext cx="2743200" cy="457200"/>
          </a:xfrm>
          <a:prstGeom prst="rect">
            <a:avLst/>
          </a:prstGeom>
          <a:noFill/>
          <a:ln/>
        </p:spPr>
        <p:txBody>
          <a:bodyPr wrap="square" lIns="0" tIns="0" rIns="0" bIns="0" rtlCol="0" anchor="t"/>
          <a:lstStyle/>
          <a:p>
            <a:pPr indent="0" marL="0">
              <a:lnSpc>
                <a:spcPct val="100000"/>
              </a:lnSpc>
              <a:buNone/>
            </a:pPr>
            <a:r>
              <a:rPr lang="en-US" sz="1200" dirty="0">
                <a:solidFill>
                  <a:srgbClr val="5A6274"/>
                </a:solidFill>
                <a:latin typeface="Arial" pitchFamily="34" charset="0"/>
                <a:ea typeface="Arial" pitchFamily="34" charset="-122"/>
                <a:cs typeface="Arial" pitchFamily="34" charset="-120"/>
              </a:rPr>
              <a:t>vocal duplicada en las palabras que más delatan spam</a:t>
            </a:r>
            <a:endParaRPr lang="en-US" sz="1200" dirty="0"/>
          </a:p>
        </p:txBody>
      </p:sp>
      <p:sp>
        <p:nvSpPr>
          <p:cNvPr id="19" name="leyenda agregada"/>
          <p:cNvSpPr/>
          <p:nvPr/>
        </p:nvSpPr>
        <p:spPr>
          <a:xfrm>
            <a:off x="8641080" y="5559552"/>
            <a:ext cx="164592" cy="164592"/>
          </a:xfrm>
          <a:prstGeom prst="ellipse">
            <a:avLst/>
          </a:prstGeom>
          <a:solidFill>
            <a:srgbClr val="2A78D6"/>
          </a:solidFill>
          <a:ln/>
        </p:spPr>
      </p:sp>
      <p:sp>
        <p:nvSpPr>
          <p:cNvPr id="20" name="Text 17"/>
          <p:cNvSpPr txBox="1"/>
          <p:nvPr/>
        </p:nvSpPr>
        <p:spPr>
          <a:xfrm>
            <a:off x="8915400" y="5504688"/>
            <a:ext cx="2743200" cy="457200"/>
          </a:xfrm>
          <a:prstGeom prst="rect">
            <a:avLst/>
          </a:prstGeom>
          <a:noFill/>
          <a:ln/>
        </p:spPr>
        <p:txBody>
          <a:bodyPr wrap="square" lIns="0" tIns="0" rIns="0" bIns="0" rtlCol="0" anchor="t"/>
          <a:lstStyle/>
          <a:p>
            <a:pPr indent="0" marL="0">
              <a:lnSpc>
                <a:spcPct val="100000"/>
              </a:lnSpc>
              <a:buNone/>
            </a:pPr>
            <a:r>
              <a:rPr lang="en-US" sz="1200" dirty="0">
                <a:solidFill>
                  <a:srgbClr val="5A6274"/>
                </a:solidFill>
                <a:latin typeface="Arial" pitchFamily="34" charset="0"/>
                <a:ea typeface="Arial" pitchFamily="34" charset="-122"/>
                <a:cs typeface="Arial" pitchFamily="34" charset="-120"/>
              </a:rPr>
              <a:t>palabra típica de mensajes legítimos</a:t>
            </a:r>
            <a:endParaRPr lang="en-US" sz="1200" dirty="0"/>
          </a:p>
        </p:txBody>
      </p:sp>
      <p:sp>
        <p:nvSpPr>
          <p:cNvPr id="21" name="Text 1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Ataque «good word» de Lowd &amp; Meek (2005) más ofuscación de las 800 palabras más delatoras.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Dos formas de defenderse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experto 1"/>
          <p:cNvSpPr/>
          <p:nvPr/>
        </p:nvSpPr>
        <p:spPr>
          <a:xfrm>
            <a:off x="548640" y="1783080"/>
            <a:ext cx="329184" cy="329184"/>
          </a:xfrm>
          <a:prstGeom prst="ellipse">
            <a:avLst/>
          </a:prstGeom>
          <a:solidFill>
            <a:srgbClr val="EB6834"/>
          </a:solidFill>
          <a:ln/>
        </p:spPr>
      </p:sp>
      <p:sp>
        <p:nvSpPr>
          <p:cNvPr id="10" name="experto 2"/>
          <p:cNvSpPr/>
          <p:nvPr/>
        </p:nvSpPr>
        <p:spPr>
          <a:xfrm>
            <a:off x="1005840" y="1783080"/>
            <a:ext cx="329184" cy="329184"/>
          </a:xfrm>
          <a:prstGeom prst="ellipse">
            <a:avLst/>
          </a:prstGeom>
          <a:solidFill>
            <a:srgbClr val="008300"/>
          </a:solidFill>
          <a:ln/>
        </p:spPr>
      </p:sp>
      <p:sp>
        <p:nvSpPr>
          <p:cNvPr id="11" name="experto 3"/>
          <p:cNvSpPr/>
          <p:nvPr/>
        </p:nvSpPr>
        <p:spPr>
          <a:xfrm>
            <a:off x="1463040" y="1783080"/>
            <a:ext cx="329184" cy="329184"/>
          </a:xfrm>
          <a:prstGeom prst="ellipse">
            <a:avLst/>
          </a:prstGeom>
          <a:solidFill>
            <a:srgbClr val="008300"/>
          </a:solidFill>
          <a:ln/>
        </p:spPr>
      </p:sp>
      <p:sp>
        <p:nvSpPr>
          <p:cNvPr id="12" name="experto 4"/>
          <p:cNvSpPr/>
          <p:nvPr/>
        </p:nvSpPr>
        <p:spPr>
          <a:xfrm>
            <a:off x="1920240" y="1783080"/>
            <a:ext cx="329184" cy="329184"/>
          </a:xfrm>
          <a:prstGeom prst="ellipse">
            <a:avLst/>
          </a:prstGeom>
          <a:solidFill>
            <a:srgbClr val="008300"/>
          </a:solidFill>
          <a:ln/>
        </p:spPr>
      </p:sp>
      <p:sp>
        <p:nvSpPr>
          <p:cNvPr id="13" name="experto 5"/>
          <p:cNvSpPr/>
          <p:nvPr/>
        </p:nvSpPr>
        <p:spPr>
          <a:xfrm>
            <a:off x="2377440" y="1783080"/>
            <a:ext cx="329184" cy="329184"/>
          </a:xfrm>
          <a:prstGeom prst="ellipse">
            <a:avLst/>
          </a:prstGeom>
          <a:solidFill>
            <a:srgbClr val="4A3AA7"/>
          </a:solidFill>
          <a:ln/>
        </p:spPr>
      </p:sp>
      <p:sp>
        <p:nvSpPr>
          <p:cNvPr id="14" name="Text 12"/>
          <p:cNvSpPr txBox="1"/>
          <p:nvPr/>
        </p:nvSpPr>
        <p:spPr>
          <a:xfrm>
            <a:off x="548640" y="2331720"/>
            <a:ext cx="5120640" cy="548640"/>
          </a:xfrm>
          <a:prstGeom prst="rect">
            <a:avLst/>
          </a:prstGeom>
          <a:noFill/>
          <a:ln/>
        </p:spPr>
        <p:txBody>
          <a:bodyPr wrap="square" lIns="0" tIns="0" rIns="0" bIns="0" rtlCol="0" anchor="t"/>
          <a:lstStyle/>
          <a:p>
            <a:pPr indent="0" marL="0">
              <a:lnSpc>
                <a:spcPct val="100000"/>
              </a:lnSpc>
              <a:buNone/>
            </a:pPr>
            <a:r>
              <a:rPr lang="en-US" sz="3200" dirty="0">
                <a:solidFill>
                  <a:srgbClr val="2A78D6"/>
                </a:solidFill>
                <a:latin typeface="Georgia" pitchFamily="34" charset="0"/>
                <a:ea typeface="Georgia" pitchFamily="34" charset="-122"/>
                <a:cs typeface="Georgia" pitchFamily="34" charset="-120"/>
              </a:rPr>
              <a:t>Combinar</a:t>
            </a:r>
            <a:endParaRPr lang="en-US" sz="3200" dirty="0"/>
          </a:p>
        </p:txBody>
      </p:sp>
      <p:sp>
        <p:nvSpPr>
          <p:cNvPr id="15" name="Text 13"/>
          <p:cNvSpPr txBox="1"/>
          <p:nvPr/>
        </p:nvSpPr>
        <p:spPr>
          <a:xfrm>
            <a:off x="548640" y="2898648"/>
            <a:ext cx="512064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Hedge sobre 5 expertos congelados</a:t>
            </a:r>
            <a:endParaRPr lang="en-US" sz="1400" dirty="0"/>
          </a:p>
        </p:txBody>
      </p:sp>
      <p:sp>
        <p:nvSpPr>
          <p:cNvPr id="16" name="Text 14"/>
          <p:cNvSpPr txBox="1"/>
          <p:nvPr/>
        </p:nvSpPr>
        <p:spPr>
          <a:xfrm>
            <a:off x="548640" y="3291840"/>
            <a:ext cx="5120640" cy="8686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Cinco clasificadores entrenados una vez. Hedge no los toca: reparte la confianza entre ellos y la mueve hacia el que acierta.</a:t>
            </a:r>
            <a:endParaRPr lang="en-US" sz="1600" dirty="0"/>
          </a:p>
        </p:txBody>
      </p:sp>
      <p:sp>
        <p:nvSpPr>
          <p:cNvPr id="17" name="Text 15"/>
          <p:cNvSpPr txBox="1"/>
          <p:nvPr/>
        </p:nvSpPr>
        <p:spPr>
          <a:xfrm>
            <a:off x="548640" y="4206240"/>
            <a:ext cx="5120640" cy="320040"/>
          </a:xfrm>
          <a:prstGeom prst="rect">
            <a:avLst/>
          </a:prstGeom>
          <a:noFill/>
          <a:ln/>
        </p:spPr>
        <p:txBody>
          <a:bodyPr wrap="square" lIns="0" tIns="0" rIns="0" bIns="0" rtlCol="0" anchor="t"/>
          <a:lstStyle/>
          <a:p>
            <a:pPr indent="0" marL="0">
              <a:lnSpc>
                <a:spcPct val="100000"/>
              </a:lnSpc>
              <a:buNone/>
            </a:pPr>
            <a:r>
              <a:rPr lang="en-US" sz="1600" b="1" dirty="0">
                <a:solidFill>
                  <a:srgbClr val="2A78D6"/>
                </a:solidFill>
                <a:latin typeface="Arial" pitchFamily="34" charset="0"/>
                <a:ea typeface="Arial" pitchFamily="34" charset="-122"/>
                <a:cs typeface="Arial" pitchFamily="34" charset="-120"/>
              </a:rPr>
              <a:t>Aprende 5 pesos</a:t>
            </a:r>
            <a:endParaRPr lang="en-US" sz="1600" dirty="0"/>
          </a:p>
        </p:txBody>
      </p:sp>
      <p:sp>
        <p:nvSpPr>
          <p:cNvPr id="18" name="peso 1"/>
          <p:cNvSpPr/>
          <p:nvPr/>
        </p:nvSpPr>
        <p:spPr>
          <a:xfrm>
            <a:off x="6355080" y="1783080"/>
            <a:ext cx="73152" cy="73152"/>
          </a:xfrm>
          <a:prstGeom prst="ellipse">
            <a:avLst/>
          </a:prstGeom>
          <a:solidFill>
            <a:srgbClr val="1BAF7A"/>
          </a:solidFill>
          <a:ln/>
        </p:spPr>
      </p:sp>
      <p:sp>
        <p:nvSpPr>
          <p:cNvPr id="19" name="peso 2"/>
          <p:cNvSpPr/>
          <p:nvPr/>
        </p:nvSpPr>
        <p:spPr>
          <a:xfrm>
            <a:off x="6537960" y="1783080"/>
            <a:ext cx="73152" cy="73152"/>
          </a:xfrm>
          <a:prstGeom prst="ellipse">
            <a:avLst/>
          </a:prstGeom>
          <a:solidFill>
            <a:srgbClr val="1BAF7A"/>
          </a:solidFill>
          <a:ln/>
        </p:spPr>
      </p:sp>
      <p:sp>
        <p:nvSpPr>
          <p:cNvPr id="20" name="peso 3"/>
          <p:cNvSpPr/>
          <p:nvPr/>
        </p:nvSpPr>
        <p:spPr>
          <a:xfrm>
            <a:off x="6720840" y="1783080"/>
            <a:ext cx="73152" cy="73152"/>
          </a:xfrm>
          <a:prstGeom prst="ellipse">
            <a:avLst/>
          </a:prstGeom>
          <a:solidFill>
            <a:srgbClr val="1BAF7A"/>
          </a:solidFill>
          <a:ln/>
        </p:spPr>
      </p:sp>
      <p:sp>
        <p:nvSpPr>
          <p:cNvPr id="21" name="peso 4"/>
          <p:cNvSpPr/>
          <p:nvPr/>
        </p:nvSpPr>
        <p:spPr>
          <a:xfrm>
            <a:off x="6903720" y="1783080"/>
            <a:ext cx="73152" cy="73152"/>
          </a:xfrm>
          <a:prstGeom prst="ellipse">
            <a:avLst/>
          </a:prstGeom>
          <a:solidFill>
            <a:srgbClr val="1BAF7A"/>
          </a:solidFill>
          <a:ln/>
        </p:spPr>
      </p:sp>
      <p:sp>
        <p:nvSpPr>
          <p:cNvPr id="22" name="peso 5"/>
          <p:cNvSpPr/>
          <p:nvPr/>
        </p:nvSpPr>
        <p:spPr>
          <a:xfrm>
            <a:off x="7086600" y="1783080"/>
            <a:ext cx="73152" cy="73152"/>
          </a:xfrm>
          <a:prstGeom prst="ellipse">
            <a:avLst/>
          </a:prstGeom>
          <a:solidFill>
            <a:srgbClr val="1BAF7A"/>
          </a:solidFill>
          <a:ln/>
        </p:spPr>
      </p:sp>
      <p:sp>
        <p:nvSpPr>
          <p:cNvPr id="23" name="peso 6"/>
          <p:cNvSpPr/>
          <p:nvPr/>
        </p:nvSpPr>
        <p:spPr>
          <a:xfrm>
            <a:off x="7269480" y="1783080"/>
            <a:ext cx="73152" cy="73152"/>
          </a:xfrm>
          <a:prstGeom prst="ellipse">
            <a:avLst/>
          </a:prstGeom>
          <a:solidFill>
            <a:srgbClr val="1BAF7A"/>
          </a:solidFill>
          <a:ln/>
        </p:spPr>
      </p:sp>
      <p:sp>
        <p:nvSpPr>
          <p:cNvPr id="24" name="peso 7"/>
          <p:cNvSpPr/>
          <p:nvPr/>
        </p:nvSpPr>
        <p:spPr>
          <a:xfrm>
            <a:off x="7452360" y="1783080"/>
            <a:ext cx="73152" cy="73152"/>
          </a:xfrm>
          <a:prstGeom prst="ellipse">
            <a:avLst/>
          </a:prstGeom>
          <a:solidFill>
            <a:srgbClr val="1BAF7A"/>
          </a:solidFill>
          <a:ln/>
        </p:spPr>
      </p:sp>
      <p:sp>
        <p:nvSpPr>
          <p:cNvPr id="25" name="peso 8"/>
          <p:cNvSpPr/>
          <p:nvPr/>
        </p:nvSpPr>
        <p:spPr>
          <a:xfrm>
            <a:off x="7635240" y="1783080"/>
            <a:ext cx="73152" cy="73152"/>
          </a:xfrm>
          <a:prstGeom prst="ellipse">
            <a:avLst/>
          </a:prstGeom>
          <a:solidFill>
            <a:srgbClr val="1BAF7A"/>
          </a:solidFill>
          <a:ln/>
        </p:spPr>
      </p:sp>
      <p:sp>
        <p:nvSpPr>
          <p:cNvPr id="26" name="peso 9"/>
          <p:cNvSpPr/>
          <p:nvPr/>
        </p:nvSpPr>
        <p:spPr>
          <a:xfrm>
            <a:off x="7818120" y="1783080"/>
            <a:ext cx="73152" cy="73152"/>
          </a:xfrm>
          <a:prstGeom prst="ellipse">
            <a:avLst/>
          </a:prstGeom>
          <a:solidFill>
            <a:srgbClr val="1BAF7A"/>
          </a:solidFill>
          <a:ln/>
        </p:spPr>
      </p:sp>
      <p:sp>
        <p:nvSpPr>
          <p:cNvPr id="27" name="peso 10"/>
          <p:cNvSpPr/>
          <p:nvPr/>
        </p:nvSpPr>
        <p:spPr>
          <a:xfrm>
            <a:off x="8001000" y="1783080"/>
            <a:ext cx="73152" cy="73152"/>
          </a:xfrm>
          <a:prstGeom prst="ellipse">
            <a:avLst/>
          </a:prstGeom>
          <a:solidFill>
            <a:srgbClr val="1BAF7A"/>
          </a:solidFill>
          <a:ln/>
        </p:spPr>
      </p:sp>
      <p:sp>
        <p:nvSpPr>
          <p:cNvPr id="28" name="peso 11"/>
          <p:cNvSpPr/>
          <p:nvPr/>
        </p:nvSpPr>
        <p:spPr>
          <a:xfrm>
            <a:off x="8183880" y="1783080"/>
            <a:ext cx="73152" cy="73152"/>
          </a:xfrm>
          <a:prstGeom prst="ellipse">
            <a:avLst/>
          </a:prstGeom>
          <a:solidFill>
            <a:srgbClr val="1BAF7A"/>
          </a:solidFill>
          <a:ln/>
        </p:spPr>
      </p:sp>
      <p:sp>
        <p:nvSpPr>
          <p:cNvPr id="29" name="peso 12"/>
          <p:cNvSpPr/>
          <p:nvPr/>
        </p:nvSpPr>
        <p:spPr>
          <a:xfrm>
            <a:off x="8366760" y="1783080"/>
            <a:ext cx="73152" cy="73152"/>
          </a:xfrm>
          <a:prstGeom prst="ellipse">
            <a:avLst/>
          </a:prstGeom>
          <a:solidFill>
            <a:srgbClr val="1BAF7A"/>
          </a:solidFill>
          <a:ln/>
        </p:spPr>
      </p:sp>
      <p:sp>
        <p:nvSpPr>
          <p:cNvPr id="30" name="peso 13"/>
          <p:cNvSpPr/>
          <p:nvPr/>
        </p:nvSpPr>
        <p:spPr>
          <a:xfrm>
            <a:off x="8549640" y="1783080"/>
            <a:ext cx="73152" cy="73152"/>
          </a:xfrm>
          <a:prstGeom prst="ellipse">
            <a:avLst/>
          </a:prstGeom>
          <a:solidFill>
            <a:srgbClr val="1BAF7A"/>
          </a:solidFill>
          <a:ln/>
        </p:spPr>
      </p:sp>
      <p:sp>
        <p:nvSpPr>
          <p:cNvPr id="31" name="peso 14"/>
          <p:cNvSpPr/>
          <p:nvPr/>
        </p:nvSpPr>
        <p:spPr>
          <a:xfrm>
            <a:off x="8732520" y="1783080"/>
            <a:ext cx="73152" cy="73152"/>
          </a:xfrm>
          <a:prstGeom prst="ellipse">
            <a:avLst/>
          </a:prstGeom>
          <a:solidFill>
            <a:srgbClr val="1BAF7A"/>
          </a:solidFill>
          <a:ln/>
        </p:spPr>
      </p:sp>
      <p:sp>
        <p:nvSpPr>
          <p:cNvPr id="32" name="peso 15"/>
          <p:cNvSpPr/>
          <p:nvPr/>
        </p:nvSpPr>
        <p:spPr>
          <a:xfrm>
            <a:off x="8915400" y="1783080"/>
            <a:ext cx="73152" cy="73152"/>
          </a:xfrm>
          <a:prstGeom prst="ellipse">
            <a:avLst/>
          </a:prstGeom>
          <a:solidFill>
            <a:srgbClr val="1BAF7A"/>
          </a:solidFill>
          <a:ln/>
        </p:spPr>
      </p:sp>
      <p:sp>
        <p:nvSpPr>
          <p:cNvPr id="33" name="peso 16"/>
          <p:cNvSpPr/>
          <p:nvPr/>
        </p:nvSpPr>
        <p:spPr>
          <a:xfrm>
            <a:off x="9098280" y="1783080"/>
            <a:ext cx="73152" cy="73152"/>
          </a:xfrm>
          <a:prstGeom prst="ellipse">
            <a:avLst/>
          </a:prstGeom>
          <a:solidFill>
            <a:srgbClr val="1BAF7A"/>
          </a:solidFill>
          <a:ln/>
        </p:spPr>
      </p:sp>
      <p:sp>
        <p:nvSpPr>
          <p:cNvPr id="34" name="peso 17"/>
          <p:cNvSpPr/>
          <p:nvPr/>
        </p:nvSpPr>
        <p:spPr>
          <a:xfrm>
            <a:off x="9281160" y="1783080"/>
            <a:ext cx="73152" cy="73152"/>
          </a:xfrm>
          <a:prstGeom prst="ellipse">
            <a:avLst/>
          </a:prstGeom>
          <a:solidFill>
            <a:srgbClr val="1BAF7A"/>
          </a:solidFill>
          <a:ln/>
        </p:spPr>
      </p:sp>
      <p:sp>
        <p:nvSpPr>
          <p:cNvPr id="35" name="peso 18"/>
          <p:cNvSpPr/>
          <p:nvPr/>
        </p:nvSpPr>
        <p:spPr>
          <a:xfrm>
            <a:off x="9464040" y="1783080"/>
            <a:ext cx="73152" cy="73152"/>
          </a:xfrm>
          <a:prstGeom prst="ellipse">
            <a:avLst/>
          </a:prstGeom>
          <a:solidFill>
            <a:srgbClr val="1BAF7A"/>
          </a:solidFill>
          <a:ln/>
        </p:spPr>
      </p:sp>
      <p:sp>
        <p:nvSpPr>
          <p:cNvPr id="36" name="peso 19"/>
          <p:cNvSpPr/>
          <p:nvPr/>
        </p:nvSpPr>
        <p:spPr>
          <a:xfrm>
            <a:off x="9646920" y="1783080"/>
            <a:ext cx="73152" cy="73152"/>
          </a:xfrm>
          <a:prstGeom prst="ellipse">
            <a:avLst/>
          </a:prstGeom>
          <a:solidFill>
            <a:srgbClr val="1BAF7A"/>
          </a:solidFill>
          <a:ln/>
        </p:spPr>
      </p:sp>
      <p:sp>
        <p:nvSpPr>
          <p:cNvPr id="37" name="peso 20"/>
          <p:cNvSpPr/>
          <p:nvPr/>
        </p:nvSpPr>
        <p:spPr>
          <a:xfrm>
            <a:off x="9829800" y="1783080"/>
            <a:ext cx="73152" cy="73152"/>
          </a:xfrm>
          <a:prstGeom prst="ellipse">
            <a:avLst/>
          </a:prstGeom>
          <a:solidFill>
            <a:srgbClr val="1BAF7A"/>
          </a:solidFill>
          <a:ln/>
        </p:spPr>
      </p:sp>
      <p:sp>
        <p:nvSpPr>
          <p:cNvPr id="38" name="peso 21"/>
          <p:cNvSpPr/>
          <p:nvPr/>
        </p:nvSpPr>
        <p:spPr>
          <a:xfrm>
            <a:off x="10012680" y="1783080"/>
            <a:ext cx="73152" cy="73152"/>
          </a:xfrm>
          <a:prstGeom prst="ellipse">
            <a:avLst/>
          </a:prstGeom>
          <a:solidFill>
            <a:srgbClr val="1BAF7A"/>
          </a:solidFill>
          <a:ln/>
        </p:spPr>
      </p:sp>
      <p:sp>
        <p:nvSpPr>
          <p:cNvPr id="39" name="peso 22"/>
          <p:cNvSpPr/>
          <p:nvPr/>
        </p:nvSpPr>
        <p:spPr>
          <a:xfrm>
            <a:off x="10195560" y="1783080"/>
            <a:ext cx="73152" cy="73152"/>
          </a:xfrm>
          <a:prstGeom prst="ellipse">
            <a:avLst/>
          </a:prstGeom>
          <a:solidFill>
            <a:srgbClr val="1BAF7A"/>
          </a:solidFill>
          <a:ln/>
        </p:spPr>
      </p:sp>
      <p:sp>
        <p:nvSpPr>
          <p:cNvPr id="40" name="peso 23"/>
          <p:cNvSpPr/>
          <p:nvPr/>
        </p:nvSpPr>
        <p:spPr>
          <a:xfrm>
            <a:off x="6355080" y="1911096"/>
            <a:ext cx="73152" cy="73152"/>
          </a:xfrm>
          <a:prstGeom prst="ellipse">
            <a:avLst/>
          </a:prstGeom>
          <a:solidFill>
            <a:srgbClr val="1BAF7A"/>
          </a:solidFill>
          <a:ln/>
        </p:spPr>
      </p:sp>
      <p:sp>
        <p:nvSpPr>
          <p:cNvPr id="41" name="peso 24"/>
          <p:cNvSpPr/>
          <p:nvPr/>
        </p:nvSpPr>
        <p:spPr>
          <a:xfrm>
            <a:off x="6537960" y="1911096"/>
            <a:ext cx="73152" cy="73152"/>
          </a:xfrm>
          <a:prstGeom prst="ellipse">
            <a:avLst/>
          </a:prstGeom>
          <a:solidFill>
            <a:srgbClr val="1BAF7A"/>
          </a:solidFill>
          <a:ln/>
        </p:spPr>
      </p:sp>
      <p:sp>
        <p:nvSpPr>
          <p:cNvPr id="42" name="peso 25"/>
          <p:cNvSpPr/>
          <p:nvPr/>
        </p:nvSpPr>
        <p:spPr>
          <a:xfrm>
            <a:off x="6720840" y="1911096"/>
            <a:ext cx="73152" cy="73152"/>
          </a:xfrm>
          <a:prstGeom prst="ellipse">
            <a:avLst/>
          </a:prstGeom>
          <a:solidFill>
            <a:srgbClr val="1BAF7A"/>
          </a:solidFill>
          <a:ln/>
        </p:spPr>
      </p:sp>
      <p:sp>
        <p:nvSpPr>
          <p:cNvPr id="43" name="peso 26"/>
          <p:cNvSpPr/>
          <p:nvPr/>
        </p:nvSpPr>
        <p:spPr>
          <a:xfrm>
            <a:off x="6903720" y="1911096"/>
            <a:ext cx="73152" cy="73152"/>
          </a:xfrm>
          <a:prstGeom prst="ellipse">
            <a:avLst/>
          </a:prstGeom>
          <a:solidFill>
            <a:srgbClr val="1BAF7A"/>
          </a:solidFill>
          <a:ln/>
        </p:spPr>
      </p:sp>
      <p:sp>
        <p:nvSpPr>
          <p:cNvPr id="44" name="peso 27"/>
          <p:cNvSpPr/>
          <p:nvPr/>
        </p:nvSpPr>
        <p:spPr>
          <a:xfrm>
            <a:off x="7086600" y="1911096"/>
            <a:ext cx="73152" cy="73152"/>
          </a:xfrm>
          <a:prstGeom prst="ellipse">
            <a:avLst/>
          </a:prstGeom>
          <a:solidFill>
            <a:srgbClr val="1BAF7A"/>
          </a:solidFill>
          <a:ln/>
        </p:spPr>
      </p:sp>
      <p:sp>
        <p:nvSpPr>
          <p:cNvPr id="45" name="peso 28"/>
          <p:cNvSpPr/>
          <p:nvPr/>
        </p:nvSpPr>
        <p:spPr>
          <a:xfrm>
            <a:off x="7269480" y="1911096"/>
            <a:ext cx="73152" cy="73152"/>
          </a:xfrm>
          <a:prstGeom prst="ellipse">
            <a:avLst/>
          </a:prstGeom>
          <a:solidFill>
            <a:srgbClr val="1BAF7A"/>
          </a:solidFill>
          <a:ln/>
        </p:spPr>
      </p:sp>
      <p:sp>
        <p:nvSpPr>
          <p:cNvPr id="46" name="peso 29"/>
          <p:cNvSpPr/>
          <p:nvPr/>
        </p:nvSpPr>
        <p:spPr>
          <a:xfrm>
            <a:off x="7452360" y="1911096"/>
            <a:ext cx="73152" cy="73152"/>
          </a:xfrm>
          <a:prstGeom prst="ellipse">
            <a:avLst/>
          </a:prstGeom>
          <a:solidFill>
            <a:srgbClr val="1BAF7A"/>
          </a:solidFill>
          <a:ln/>
        </p:spPr>
      </p:sp>
      <p:sp>
        <p:nvSpPr>
          <p:cNvPr id="47" name="peso 30"/>
          <p:cNvSpPr/>
          <p:nvPr/>
        </p:nvSpPr>
        <p:spPr>
          <a:xfrm>
            <a:off x="7635240" y="1911096"/>
            <a:ext cx="73152" cy="73152"/>
          </a:xfrm>
          <a:prstGeom prst="ellipse">
            <a:avLst/>
          </a:prstGeom>
          <a:solidFill>
            <a:srgbClr val="1BAF7A"/>
          </a:solidFill>
          <a:ln/>
        </p:spPr>
      </p:sp>
      <p:sp>
        <p:nvSpPr>
          <p:cNvPr id="48" name="peso 31"/>
          <p:cNvSpPr/>
          <p:nvPr/>
        </p:nvSpPr>
        <p:spPr>
          <a:xfrm>
            <a:off x="7818120" y="1911096"/>
            <a:ext cx="73152" cy="73152"/>
          </a:xfrm>
          <a:prstGeom prst="ellipse">
            <a:avLst/>
          </a:prstGeom>
          <a:solidFill>
            <a:srgbClr val="1BAF7A"/>
          </a:solidFill>
          <a:ln/>
        </p:spPr>
      </p:sp>
      <p:sp>
        <p:nvSpPr>
          <p:cNvPr id="49" name="peso 32"/>
          <p:cNvSpPr/>
          <p:nvPr/>
        </p:nvSpPr>
        <p:spPr>
          <a:xfrm>
            <a:off x="8001000" y="1911096"/>
            <a:ext cx="73152" cy="73152"/>
          </a:xfrm>
          <a:prstGeom prst="ellipse">
            <a:avLst/>
          </a:prstGeom>
          <a:solidFill>
            <a:srgbClr val="1BAF7A"/>
          </a:solidFill>
          <a:ln/>
        </p:spPr>
      </p:sp>
      <p:sp>
        <p:nvSpPr>
          <p:cNvPr id="50" name="peso 33"/>
          <p:cNvSpPr/>
          <p:nvPr/>
        </p:nvSpPr>
        <p:spPr>
          <a:xfrm>
            <a:off x="8183880" y="1911096"/>
            <a:ext cx="73152" cy="73152"/>
          </a:xfrm>
          <a:prstGeom prst="ellipse">
            <a:avLst/>
          </a:prstGeom>
          <a:solidFill>
            <a:srgbClr val="1BAF7A"/>
          </a:solidFill>
          <a:ln/>
        </p:spPr>
      </p:sp>
      <p:sp>
        <p:nvSpPr>
          <p:cNvPr id="51" name="peso 34"/>
          <p:cNvSpPr/>
          <p:nvPr/>
        </p:nvSpPr>
        <p:spPr>
          <a:xfrm>
            <a:off x="8366760" y="1911096"/>
            <a:ext cx="73152" cy="73152"/>
          </a:xfrm>
          <a:prstGeom prst="ellipse">
            <a:avLst/>
          </a:prstGeom>
          <a:solidFill>
            <a:srgbClr val="1BAF7A"/>
          </a:solidFill>
          <a:ln/>
        </p:spPr>
      </p:sp>
      <p:sp>
        <p:nvSpPr>
          <p:cNvPr id="52" name="peso 35"/>
          <p:cNvSpPr/>
          <p:nvPr/>
        </p:nvSpPr>
        <p:spPr>
          <a:xfrm>
            <a:off x="8549640" y="1911096"/>
            <a:ext cx="73152" cy="73152"/>
          </a:xfrm>
          <a:prstGeom prst="ellipse">
            <a:avLst/>
          </a:prstGeom>
          <a:solidFill>
            <a:srgbClr val="1BAF7A"/>
          </a:solidFill>
          <a:ln/>
        </p:spPr>
      </p:sp>
      <p:sp>
        <p:nvSpPr>
          <p:cNvPr id="53" name="peso 36"/>
          <p:cNvSpPr/>
          <p:nvPr/>
        </p:nvSpPr>
        <p:spPr>
          <a:xfrm>
            <a:off x="8732520" y="1911096"/>
            <a:ext cx="73152" cy="73152"/>
          </a:xfrm>
          <a:prstGeom prst="ellipse">
            <a:avLst/>
          </a:prstGeom>
          <a:solidFill>
            <a:srgbClr val="1BAF7A"/>
          </a:solidFill>
          <a:ln/>
        </p:spPr>
      </p:sp>
      <p:sp>
        <p:nvSpPr>
          <p:cNvPr id="54" name="peso 37"/>
          <p:cNvSpPr/>
          <p:nvPr/>
        </p:nvSpPr>
        <p:spPr>
          <a:xfrm>
            <a:off x="8915400" y="1911096"/>
            <a:ext cx="73152" cy="73152"/>
          </a:xfrm>
          <a:prstGeom prst="ellipse">
            <a:avLst/>
          </a:prstGeom>
          <a:solidFill>
            <a:srgbClr val="1BAF7A"/>
          </a:solidFill>
          <a:ln/>
        </p:spPr>
      </p:sp>
      <p:sp>
        <p:nvSpPr>
          <p:cNvPr id="55" name="peso 38"/>
          <p:cNvSpPr/>
          <p:nvPr/>
        </p:nvSpPr>
        <p:spPr>
          <a:xfrm>
            <a:off x="9098280" y="1911096"/>
            <a:ext cx="73152" cy="73152"/>
          </a:xfrm>
          <a:prstGeom prst="ellipse">
            <a:avLst/>
          </a:prstGeom>
          <a:solidFill>
            <a:srgbClr val="1BAF7A"/>
          </a:solidFill>
          <a:ln/>
        </p:spPr>
      </p:sp>
      <p:sp>
        <p:nvSpPr>
          <p:cNvPr id="56" name="peso 39"/>
          <p:cNvSpPr/>
          <p:nvPr/>
        </p:nvSpPr>
        <p:spPr>
          <a:xfrm>
            <a:off x="9281160" y="1911096"/>
            <a:ext cx="73152" cy="73152"/>
          </a:xfrm>
          <a:prstGeom prst="ellipse">
            <a:avLst/>
          </a:prstGeom>
          <a:solidFill>
            <a:srgbClr val="1BAF7A"/>
          </a:solidFill>
          <a:ln/>
        </p:spPr>
      </p:sp>
      <p:sp>
        <p:nvSpPr>
          <p:cNvPr id="57" name="peso 40"/>
          <p:cNvSpPr/>
          <p:nvPr/>
        </p:nvSpPr>
        <p:spPr>
          <a:xfrm>
            <a:off x="9464040" y="1911096"/>
            <a:ext cx="73152" cy="73152"/>
          </a:xfrm>
          <a:prstGeom prst="ellipse">
            <a:avLst/>
          </a:prstGeom>
          <a:solidFill>
            <a:srgbClr val="1BAF7A"/>
          </a:solidFill>
          <a:ln/>
        </p:spPr>
      </p:sp>
      <p:sp>
        <p:nvSpPr>
          <p:cNvPr id="58" name="peso 41"/>
          <p:cNvSpPr/>
          <p:nvPr/>
        </p:nvSpPr>
        <p:spPr>
          <a:xfrm>
            <a:off x="9646920" y="1911096"/>
            <a:ext cx="73152" cy="73152"/>
          </a:xfrm>
          <a:prstGeom prst="ellipse">
            <a:avLst/>
          </a:prstGeom>
          <a:solidFill>
            <a:srgbClr val="1BAF7A"/>
          </a:solidFill>
          <a:ln/>
        </p:spPr>
      </p:sp>
      <p:sp>
        <p:nvSpPr>
          <p:cNvPr id="59" name="peso 42"/>
          <p:cNvSpPr/>
          <p:nvPr/>
        </p:nvSpPr>
        <p:spPr>
          <a:xfrm>
            <a:off x="9829800" y="1911096"/>
            <a:ext cx="73152" cy="73152"/>
          </a:xfrm>
          <a:prstGeom prst="ellipse">
            <a:avLst/>
          </a:prstGeom>
          <a:solidFill>
            <a:srgbClr val="1BAF7A"/>
          </a:solidFill>
          <a:ln/>
        </p:spPr>
      </p:sp>
      <p:sp>
        <p:nvSpPr>
          <p:cNvPr id="60" name="peso 43"/>
          <p:cNvSpPr/>
          <p:nvPr/>
        </p:nvSpPr>
        <p:spPr>
          <a:xfrm>
            <a:off x="10012680" y="1911096"/>
            <a:ext cx="73152" cy="73152"/>
          </a:xfrm>
          <a:prstGeom prst="ellipse">
            <a:avLst/>
          </a:prstGeom>
          <a:solidFill>
            <a:srgbClr val="1BAF7A"/>
          </a:solidFill>
          <a:ln/>
        </p:spPr>
      </p:sp>
      <p:sp>
        <p:nvSpPr>
          <p:cNvPr id="61" name="peso 44"/>
          <p:cNvSpPr/>
          <p:nvPr/>
        </p:nvSpPr>
        <p:spPr>
          <a:xfrm>
            <a:off x="10195560" y="1911096"/>
            <a:ext cx="73152" cy="73152"/>
          </a:xfrm>
          <a:prstGeom prst="ellipse">
            <a:avLst/>
          </a:prstGeom>
          <a:solidFill>
            <a:srgbClr val="1BAF7A"/>
          </a:solidFill>
          <a:ln/>
        </p:spPr>
      </p:sp>
      <p:sp>
        <p:nvSpPr>
          <p:cNvPr id="62" name="peso 45"/>
          <p:cNvSpPr/>
          <p:nvPr/>
        </p:nvSpPr>
        <p:spPr>
          <a:xfrm>
            <a:off x="6355080" y="2039112"/>
            <a:ext cx="73152" cy="73152"/>
          </a:xfrm>
          <a:prstGeom prst="ellipse">
            <a:avLst/>
          </a:prstGeom>
          <a:solidFill>
            <a:srgbClr val="1BAF7A"/>
          </a:solidFill>
          <a:ln/>
        </p:spPr>
      </p:sp>
      <p:sp>
        <p:nvSpPr>
          <p:cNvPr id="63" name="peso 46"/>
          <p:cNvSpPr/>
          <p:nvPr/>
        </p:nvSpPr>
        <p:spPr>
          <a:xfrm>
            <a:off x="6537960" y="2039112"/>
            <a:ext cx="73152" cy="73152"/>
          </a:xfrm>
          <a:prstGeom prst="ellipse">
            <a:avLst/>
          </a:prstGeom>
          <a:solidFill>
            <a:srgbClr val="1BAF7A"/>
          </a:solidFill>
          <a:ln/>
        </p:spPr>
      </p:sp>
      <p:sp>
        <p:nvSpPr>
          <p:cNvPr id="64" name="peso 47"/>
          <p:cNvSpPr/>
          <p:nvPr/>
        </p:nvSpPr>
        <p:spPr>
          <a:xfrm>
            <a:off x="6720840" y="2039112"/>
            <a:ext cx="73152" cy="73152"/>
          </a:xfrm>
          <a:prstGeom prst="ellipse">
            <a:avLst/>
          </a:prstGeom>
          <a:solidFill>
            <a:srgbClr val="1BAF7A"/>
          </a:solidFill>
          <a:ln/>
        </p:spPr>
      </p:sp>
      <p:sp>
        <p:nvSpPr>
          <p:cNvPr id="65" name="peso 48"/>
          <p:cNvSpPr/>
          <p:nvPr/>
        </p:nvSpPr>
        <p:spPr>
          <a:xfrm>
            <a:off x="6903720" y="2039112"/>
            <a:ext cx="73152" cy="73152"/>
          </a:xfrm>
          <a:prstGeom prst="ellipse">
            <a:avLst/>
          </a:prstGeom>
          <a:solidFill>
            <a:srgbClr val="1BAF7A"/>
          </a:solidFill>
          <a:ln/>
        </p:spPr>
      </p:sp>
      <p:sp>
        <p:nvSpPr>
          <p:cNvPr id="66" name="peso 49"/>
          <p:cNvSpPr/>
          <p:nvPr/>
        </p:nvSpPr>
        <p:spPr>
          <a:xfrm>
            <a:off x="7086600" y="2039112"/>
            <a:ext cx="73152" cy="73152"/>
          </a:xfrm>
          <a:prstGeom prst="ellipse">
            <a:avLst/>
          </a:prstGeom>
          <a:solidFill>
            <a:srgbClr val="1BAF7A"/>
          </a:solidFill>
          <a:ln/>
        </p:spPr>
      </p:sp>
      <p:sp>
        <p:nvSpPr>
          <p:cNvPr id="67" name="peso 50"/>
          <p:cNvSpPr/>
          <p:nvPr/>
        </p:nvSpPr>
        <p:spPr>
          <a:xfrm>
            <a:off x="7269480" y="2039112"/>
            <a:ext cx="73152" cy="73152"/>
          </a:xfrm>
          <a:prstGeom prst="ellipse">
            <a:avLst/>
          </a:prstGeom>
          <a:solidFill>
            <a:srgbClr val="1BAF7A"/>
          </a:solidFill>
          <a:ln/>
        </p:spPr>
      </p:sp>
      <p:sp>
        <p:nvSpPr>
          <p:cNvPr id="68" name="peso 51"/>
          <p:cNvSpPr/>
          <p:nvPr/>
        </p:nvSpPr>
        <p:spPr>
          <a:xfrm>
            <a:off x="7452360" y="2039112"/>
            <a:ext cx="73152" cy="73152"/>
          </a:xfrm>
          <a:prstGeom prst="ellipse">
            <a:avLst/>
          </a:prstGeom>
          <a:solidFill>
            <a:srgbClr val="1BAF7A"/>
          </a:solidFill>
          <a:ln/>
        </p:spPr>
      </p:sp>
      <p:sp>
        <p:nvSpPr>
          <p:cNvPr id="69" name="peso 52"/>
          <p:cNvSpPr/>
          <p:nvPr/>
        </p:nvSpPr>
        <p:spPr>
          <a:xfrm>
            <a:off x="7635240" y="2039112"/>
            <a:ext cx="73152" cy="73152"/>
          </a:xfrm>
          <a:prstGeom prst="ellipse">
            <a:avLst/>
          </a:prstGeom>
          <a:solidFill>
            <a:srgbClr val="1BAF7A"/>
          </a:solidFill>
          <a:ln/>
        </p:spPr>
      </p:sp>
      <p:sp>
        <p:nvSpPr>
          <p:cNvPr id="70" name="peso 53"/>
          <p:cNvSpPr/>
          <p:nvPr/>
        </p:nvSpPr>
        <p:spPr>
          <a:xfrm>
            <a:off x="7818120" y="2039112"/>
            <a:ext cx="73152" cy="73152"/>
          </a:xfrm>
          <a:prstGeom prst="ellipse">
            <a:avLst/>
          </a:prstGeom>
          <a:solidFill>
            <a:srgbClr val="1BAF7A"/>
          </a:solidFill>
          <a:ln/>
        </p:spPr>
      </p:sp>
      <p:sp>
        <p:nvSpPr>
          <p:cNvPr id="71" name="peso 54"/>
          <p:cNvSpPr/>
          <p:nvPr/>
        </p:nvSpPr>
        <p:spPr>
          <a:xfrm>
            <a:off x="8001000" y="2039112"/>
            <a:ext cx="73152" cy="73152"/>
          </a:xfrm>
          <a:prstGeom prst="ellipse">
            <a:avLst/>
          </a:prstGeom>
          <a:solidFill>
            <a:srgbClr val="1BAF7A"/>
          </a:solidFill>
          <a:ln/>
        </p:spPr>
      </p:sp>
      <p:sp>
        <p:nvSpPr>
          <p:cNvPr id="72" name="peso 55"/>
          <p:cNvSpPr/>
          <p:nvPr/>
        </p:nvSpPr>
        <p:spPr>
          <a:xfrm>
            <a:off x="8183880" y="2039112"/>
            <a:ext cx="73152" cy="73152"/>
          </a:xfrm>
          <a:prstGeom prst="ellipse">
            <a:avLst/>
          </a:prstGeom>
          <a:solidFill>
            <a:srgbClr val="1BAF7A"/>
          </a:solidFill>
          <a:ln/>
        </p:spPr>
      </p:sp>
      <p:sp>
        <p:nvSpPr>
          <p:cNvPr id="73" name="peso 56"/>
          <p:cNvSpPr/>
          <p:nvPr/>
        </p:nvSpPr>
        <p:spPr>
          <a:xfrm>
            <a:off x="8366760" y="2039112"/>
            <a:ext cx="73152" cy="73152"/>
          </a:xfrm>
          <a:prstGeom prst="ellipse">
            <a:avLst/>
          </a:prstGeom>
          <a:solidFill>
            <a:srgbClr val="1BAF7A"/>
          </a:solidFill>
          <a:ln/>
        </p:spPr>
      </p:sp>
      <p:sp>
        <p:nvSpPr>
          <p:cNvPr id="74" name="peso 57"/>
          <p:cNvSpPr/>
          <p:nvPr/>
        </p:nvSpPr>
        <p:spPr>
          <a:xfrm>
            <a:off x="8549640" y="2039112"/>
            <a:ext cx="73152" cy="73152"/>
          </a:xfrm>
          <a:prstGeom prst="ellipse">
            <a:avLst/>
          </a:prstGeom>
          <a:solidFill>
            <a:srgbClr val="1BAF7A"/>
          </a:solidFill>
          <a:ln/>
        </p:spPr>
      </p:sp>
      <p:sp>
        <p:nvSpPr>
          <p:cNvPr id="75" name="peso 58"/>
          <p:cNvSpPr/>
          <p:nvPr/>
        </p:nvSpPr>
        <p:spPr>
          <a:xfrm>
            <a:off x="8732520" y="2039112"/>
            <a:ext cx="73152" cy="73152"/>
          </a:xfrm>
          <a:prstGeom prst="ellipse">
            <a:avLst/>
          </a:prstGeom>
          <a:solidFill>
            <a:srgbClr val="1BAF7A"/>
          </a:solidFill>
          <a:ln/>
        </p:spPr>
      </p:sp>
      <p:sp>
        <p:nvSpPr>
          <p:cNvPr id="76" name="peso 59"/>
          <p:cNvSpPr/>
          <p:nvPr/>
        </p:nvSpPr>
        <p:spPr>
          <a:xfrm>
            <a:off x="8915400" y="2039112"/>
            <a:ext cx="73152" cy="73152"/>
          </a:xfrm>
          <a:prstGeom prst="ellipse">
            <a:avLst/>
          </a:prstGeom>
          <a:solidFill>
            <a:srgbClr val="1BAF7A"/>
          </a:solidFill>
          <a:ln/>
        </p:spPr>
      </p:sp>
      <p:sp>
        <p:nvSpPr>
          <p:cNvPr id="77" name="peso 60"/>
          <p:cNvSpPr/>
          <p:nvPr/>
        </p:nvSpPr>
        <p:spPr>
          <a:xfrm>
            <a:off x="9098280" y="2039112"/>
            <a:ext cx="73152" cy="73152"/>
          </a:xfrm>
          <a:prstGeom prst="ellipse">
            <a:avLst/>
          </a:prstGeom>
          <a:solidFill>
            <a:srgbClr val="1BAF7A"/>
          </a:solidFill>
          <a:ln/>
        </p:spPr>
      </p:sp>
      <p:sp>
        <p:nvSpPr>
          <p:cNvPr id="78" name="peso 61"/>
          <p:cNvSpPr/>
          <p:nvPr/>
        </p:nvSpPr>
        <p:spPr>
          <a:xfrm>
            <a:off x="9281160" y="2039112"/>
            <a:ext cx="73152" cy="73152"/>
          </a:xfrm>
          <a:prstGeom prst="ellipse">
            <a:avLst/>
          </a:prstGeom>
          <a:solidFill>
            <a:srgbClr val="1BAF7A"/>
          </a:solidFill>
          <a:ln/>
        </p:spPr>
      </p:sp>
      <p:sp>
        <p:nvSpPr>
          <p:cNvPr id="79" name="peso 62"/>
          <p:cNvSpPr/>
          <p:nvPr/>
        </p:nvSpPr>
        <p:spPr>
          <a:xfrm>
            <a:off x="9464040" y="2039112"/>
            <a:ext cx="73152" cy="73152"/>
          </a:xfrm>
          <a:prstGeom prst="ellipse">
            <a:avLst/>
          </a:prstGeom>
          <a:solidFill>
            <a:srgbClr val="1BAF7A"/>
          </a:solidFill>
          <a:ln/>
        </p:spPr>
      </p:sp>
      <p:sp>
        <p:nvSpPr>
          <p:cNvPr id="80" name="peso 63"/>
          <p:cNvSpPr/>
          <p:nvPr/>
        </p:nvSpPr>
        <p:spPr>
          <a:xfrm>
            <a:off x="9646920" y="2039112"/>
            <a:ext cx="73152" cy="73152"/>
          </a:xfrm>
          <a:prstGeom prst="ellipse">
            <a:avLst/>
          </a:prstGeom>
          <a:solidFill>
            <a:srgbClr val="1BAF7A"/>
          </a:solidFill>
          <a:ln/>
        </p:spPr>
      </p:sp>
      <p:sp>
        <p:nvSpPr>
          <p:cNvPr id="81" name="peso 64"/>
          <p:cNvSpPr/>
          <p:nvPr/>
        </p:nvSpPr>
        <p:spPr>
          <a:xfrm>
            <a:off x="9829800" y="2039112"/>
            <a:ext cx="73152" cy="73152"/>
          </a:xfrm>
          <a:prstGeom prst="ellipse">
            <a:avLst/>
          </a:prstGeom>
          <a:solidFill>
            <a:srgbClr val="1BAF7A"/>
          </a:solidFill>
          <a:ln/>
        </p:spPr>
      </p:sp>
      <p:sp>
        <p:nvSpPr>
          <p:cNvPr id="82" name="peso 65"/>
          <p:cNvSpPr/>
          <p:nvPr/>
        </p:nvSpPr>
        <p:spPr>
          <a:xfrm>
            <a:off x="10012680" y="2039112"/>
            <a:ext cx="73152" cy="73152"/>
          </a:xfrm>
          <a:prstGeom prst="ellipse">
            <a:avLst/>
          </a:prstGeom>
          <a:solidFill>
            <a:srgbClr val="1BAF7A"/>
          </a:solidFill>
          <a:ln/>
        </p:spPr>
      </p:sp>
      <p:sp>
        <p:nvSpPr>
          <p:cNvPr id="83" name="peso 66"/>
          <p:cNvSpPr/>
          <p:nvPr/>
        </p:nvSpPr>
        <p:spPr>
          <a:xfrm>
            <a:off x="10195560" y="2039112"/>
            <a:ext cx="73152" cy="73152"/>
          </a:xfrm>
          <a:prstGeom prst="ellipse">
            <a:avLst/>
          </a:prstGeom>
          <a:solidFill>
            <a:srgbClr val="1BAF7A"/>
          </a:solidFill>
          <a:ln/>
        </p:spPr>
      </p:sp>
      <p:sp>
        <p:nvSpPr>
          <p:cNvPr id="84" name="Text 82"/>
          <p:cNvSpPr txBox="1"/>
          <p:nvPr/>
        </p:nvSpPr>
        <p:spPr>
          <a:xfrm>
            <a:off x="6355080" y="2331720"/>
            <a:ext cx="5120640" cy="548640"/>
          </a:xfrm>
          <a:prstGeom prst="rect">
            <a:avLst/>
          </a:prstGeom>
          <a:noFill/>
          <a:ln/>
        </p:spPr>
        <p:txBody>
          <a:bodyPr wrap="square" lIns="0" tIns="0" rIns="0" bIns="0" rtlCol="0" anchor="t"/>
          <a:lstStyle/>
          <a:p>
            <a:pPr indent="0" marL="0">
              <a:lnSpc>
                <a:spcPct val="100000"/>
              </a:lnSpc>
              <a:buNone/>
            </a:pPr>
            <a:r>
              <a:rPr lang="en-US" sz="3200" dirty="0">
                <a:solidFill>
                  <a:srgbClr val="1BAF7A"/>
                </a:solidFill>
                <a:latin typeface="Georgia" pitchFamily="34" charset="0"/>
                <a:ea typeface="Georgia" pitchFamily="34" charset="-122"/>
                <a:cs typeface="Georgia" pitchFamily="34" charset="-120"/>
              </a:rPr>
              <a:t>Reentrenar</a:t>
            </a:r>
            <a:endParaRPr lang="en-US" sz="3200" dirty="0"/>
          </a:p>
        </p:txBody>
      </p:sp>
      <p:sp>
        <p:nvSpPr>
          <p:cNvPr id="85" name="Text 83"/>
          <p:cNvSpPr txBox="1"/>
          <p:nvPr/>
        </p:nvSpPr>
        <p:spPr>
          <a:xfrm>
            <a:off x="6355080" y="2898648"/>
            <a:ext cx="512064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SGD online, un solo modelo</a:t>
            </a:r>
            <a:endParaRPr lang="en-US" sz="1400" dirty="0"/>
          </a:p>
        </p:txBody>
      </p:sp>
      <p:sp>
        <p:nvSpPr>
          <p:cNvPr id="86" name="Text 84"/>
          <p:cNvSpPr txBox="1"/>
          <p:nvPr/>
        </p:nvSpPr>
        <p:spPr>
          <a:xfrm>
            <a:off x="6355080" y="3291840"/>
            <a:ext cx="5120640" cy="8686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Un modelo que se actualiza con cada mensaje etiquetado. Puede aprender palabras que nunca vio, como «wiin».</a:t>
            </a:r>
            <a:endParaRPr lang="en-US" sz="1600" dirty="0"/>
          </a:p>
        </p:txBody>
      </p:sp>
      <p:sp>
        <p:nvSpPr>
          <p:cNvPr id="87" name="Text 85"/>
          <p:cNvSpPr txBox="1"/>
          <p:nvPr/>
        </p:nvSpPr>
        <p:spPr>
          <a:xfrm>
            <a:off x="6355080" y="4206240"/>
            <a:ext cx="5120640" cy="320040"/>
          </a:xfrm>
          <a:prstGeom prst="rect">
            <a:avLst/>
          </a:prstGeom>
          <a:noFill/>
          <a:ln/>
        </p:spPr>
        <p:txBody>
          <a:bodyPr wrap="square" lIns="0" tIns="0" rIns="0" bIns="0" rtlCol="0" anchor="t"/>
          <a:lstStyle/>
          <a:p>
            <a:pPr indent="0" marL="0">
              <a:lnSpc>
                <a:spcPct val="100000"/>
              </a:lnSpc>
              <a:buNone/>
            </a:pPr>
            <a:r>
              <a:rPr lang="en-US" sz="1600" b="1" dirty="0">
                <a:solidFill>
                  <a:srgbClr val="1BAF7A"/>
                </a:solidFill>
                <a:latin typeface="Arial" pitchFamily="34" charset="0"/>
                <a:ea typeface="Arial" pitchFamily="34" charset="-122"/>
                <a:cs typeface="Arial" pitchFamily="34" charset="-120"/>
              </a:rPr>
              <a:t>Aprende un peso por palabra</a:t>
            </a:r>
            <a:endParaRPr lang="en-US" sz="1600" dirty="0"/>
          </a:p>
        </p:txBody>
      </p:sp>
      <p:sp>
        <p:nvSpPr>
          <p:cNvPr id="88" name="Shape 86"/>
          <p:cNvSpPr/>
          <p:nvPr/>
        </p:nvSpPr>
        <p:spPr>
          <a:xfrm>
            <a:off x="6080760" y="1828800"/>
            <a:ext cx="0" cy="2697480"/>
          </a:xfrm>
          <a:prstGeom prst="line">
            <a:avLst/>
          </a:prstGeom>
          <a:noFill/>
          <a:ln w="9525">
            <a:solidFill>
              <a:srgbClr val="D9D6CE"/>
            </a:solidFill>
            <a:prstDash val="solid"/>
          </a:ln>
        </p:spPr>
      </p:sp>
      <p:sp>
        <p:nvSpPr>
          <p:cNvPr id="89" name="Shape 87"/>
          <p:cNvSpPr/>
          <p:nvPr/>
        </p:nvSpPr>
        <p:spPr>
          <a:xfrm>
            <a:off x="548640" y="4846320"/>
            <a:ext cx="11091672" cy="0"/>
          </a:xfrm>
          <a:prstGeom prst="line">
            <a:avLst/>
          </a:prstGeom>
          <a:noFill/>
          <a:ln w="9525">
            <a:solidFill>
              <a:srgbClr val="D9D6CE"/>
            </a:solidFill>
            <a:prstDash val="solid"/>
          </a:ln>
        </p:spPr>
      </p:sp>
      <p:sp>
        <p:nvSpPr>
          <p:cNvPr id="90" name="Text 88"/>
          <p:cNvSpPr txBox="1"/>
          <p:nvPr/>
        </p:nvSpPr>
        <p:spPr>
          <a:xfrm>
            <a:off x="548640" y="5029200"/>
            <a:ext cx="11064240" cy="502920"/>
          </a:xfrm>
          <a:prstGeom prst="rect">
            <a:avLst/>
          </a:prstGeom>
          <a:noFill/>
          <a:ln/>
        </p:spPr>
        <p:txBody>
          <a:bodyPr wrap="square" lIns="0" tIns="0" rIns="0" bIns="0" rtlCol="0" anchor="t"/>
          <a:lstStyle/>
          <a:p>
            <a:pPr indent="0" marL="0">
              <a:lnSpc>
                <a:spcPct val="100000"/>
              </a:lnSpc>
              <a:buNone/>
            </a:pPr>
            <a:r>
              <a:rPr lang="en-US" sz="2600" i="1" dirty="0">
                <a:solidFill>
                  <a:srgbClr val="1F2430"/>
                </a:solidFill>
                <a:latin typeface="Georgia" pitchFamily="34" charset="0"/>
                <a:ea typeface="Georgia" pitchFamily="34" charset="-122"/>
                <a:cs typeface="Georgia" pitchFamily="34" charset="-120"/>
              </a:rPr>
              <a:t>“The only remedy we know of is frequent retraining.”</a:t>
            </a:r>
            <a:endParaRPr lang="en-US" sz="2600" dirty="0"/>
          </a:p>
        </p:txBody>
      </p:sp>
      <p:sp>
        <p:nvSpPr>
          <p:cNvPr id="91" name="Text 89"/>
          <p:cNvSpPr txBox="1"/>
          <p:nvPr/>
        </p:nvSpPr>
        <p:spPr>
          <a:xfrm>
            <a:off x="548640" y="5623560"/>
            <a:ext cx="11064240" cy="27432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Lowd &amp; Meek (2005), sobre ataques a filtros de spam. Es la tesis que ponemos a prueba.</a:t>
            </a:r>
            <a:endParaRPr lang="en-US" sz="1300" dirty="0"/>
          </a:p>
        </p:txBody>
      </p:sp>
      <p:sp>
        <p:nvSpPr>
          <p:cNvPr id="92" name="Text 90"/>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Expertos: Naive Bayes, regresión logística, árbol, reglas y uno estructural que mira el formato.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Dos preguntas</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Text 7"/>
          <p:cNvSpPr txBox="1"/>
          <p:nvPr/>
        </p:nvSpPr>
        <p:spPr>
          <a:xfrm>
            <a:off x="548640" y="1463040"/>
            <a:ext cx="1371600" cy="1691640"/>
          </a:xfrm>
          <a:prstGeom prst="rect">
            <a:avLst/>
          </a:prstGeom>
          <a:noFill/>
          <a:ln/>
        </p:spPr>
        <p:txBody>
          <a:bodyPr wrap="square" lIns="0" tIns="0" rIns="0" bIns="0" rtlCol="0" anchor="t"/>
          <a:lstStyle/>
          <a:p>
            <a:pPr indent="0" marL="0">
              <a:lnSpc>
                <a:spcPct val="100000"/>
              </a:lnSpc>
              <a:buNone/>
            </a:pPr>
            <a:r>
              <a:rPr lang="en-US" sz="11000" dirty="0">
                <a:solidFill>
                  <a:srgbClr val="2A78D6"/>
                </a:solidFill>
                <a:latin typeface="Georgia" pitchFamily="34" charset="0"/>
                <a:ea typeface="Georgia" pitchFamily="34" charset="-122"/>
                <a:cs typeface="Georgia" pitchFamily="34" charset="-120"/>
              </a:rPr>
              <a:t>1</a:t>
            </a:r>
            <a:endParaRPr lang="en-US" sz="11000" dirty="0"/>
          </a:p>
        </p:txBody>
      </p:sp>
      <p:sp>
        <p:nvSpPr>
          <p:cNvPr id="10" name="Text 8"/>
          <p:cNvSpPr txBox="1"/>
          <p:nvPr/>
        </p:nvSpPr>
        <p:spPr>
          <a:xfrm>
            <a:off x="548640" y="3200400"/>
            <a:ext cx="5212080" cy="1143000"/>
          </a:xfrm>
          <a:prstGeom prst="rect">
            <a:avLst/>
          </a:prstGeom>
          <a:noFill/>
          <a:ln/>
        </p:spPr>
        <p:txBody>
          <a:bodyPr wrap="square" lIns="0" tIns="0" rIns="0" bIns="0" rtlCol="0" anchor="t"/>
          <a:lstStyle/>
          <a:p>
            <a:pPr indent="0" marL="0">
              <a:lnSpc>
                <a:spcPct val="100000"/>
              </a:lnSpc>
              <a:buNone/>
            </a:pPr>
            <a:r>
              <a:rPr lang="en-US" sz="2400" dirty="0">
                <a:solidFill>
                  <a:srgbClr val="1F2430"/>
                </a:solidFill>
                <a:latin typeface="Georgia" pitchFamily="34" charset="0"/>
                <a:ea typeface="Georgia" pitchFamily="34" charset="-122"/>
                <a:cs typeface="Georgia" pitchFamily="34" charset="-120"/>
              </a:rPr>
              <a:t>¿Cuánto se recupera combinando expertos congelados, sin reentrenar nada?</a:t>
            </a:r>
            <a:endParaRPr lang="en-US" sz="2400" dirty="0"/>
          </a:p>
        </p:txBody>
      </p:sp>
      <p:sp>
        <p:nvSpPr>
          <p:cNvPr id="11" name="Text 9"/>
          <p:cNvSpPr txBox="1"/>
          <p:nvPr/>
        </p:nvSpPr>
        <p:spPr>
          <a:xfrm>
            <a:off x="548640" y="4434840"/>
            <a:ext cx="5212080" cy="274320"/>
          </a:xfrm>
          <a:prstGeom prst="rect">
            <a:avLst/>
          </a:prstGeom>
          <a:noFill/>
          <a:ln/>
        </p:spPr>
        <p:txBody>
          <a:bodyPr wrap="square" lIns="0" tIns="0" rIns="0" bIns="0" rtlCol="0" anchor="t"/>
          <a:lstStyle/>
          <a:p>
            <a:pPr indent="0" marL="0">
              <a:lnSpc>
                <a:spcPct val="100000"/>
              </a:lnSpc>
              <a:buNone/>
            </a:pPr>
            <a:r>
              <a:rPr lang="en-US" sz="1300" b="1" dirty="0">
                <a:solidFill>
                  <a:srgbClr val="5A6274"/>
                </a:solidFill>
                <a:latin typeface="Arial" pitchFamily="34" charset="0"/>
                <a:ea typeface="Arial" pitchFamily="34" charset="-122"/>
                <a:cs typeface="Arial" pitchFamily="34" charset="-120"/>
              </a:rPr>
              <a:t>Lo responde el hallazgo 1</a:t>
            </a:r>
            <a:endParaRPr lang="en-US" sz="1300" dirty="0"/>
          </a:p>
        </p:txBody>
      </p:sp>
      <p:sp>
        <p:nvSpPr>
          <p:cNvPr id="12" name="Text 10"/>
          <p:cNvSpPr txBox="1"/>
          <p:nvPr/>
        </p:nvSpPr>
        <p:spPr>
          <a:xfrm>
            <a:off x="6355080" y="1463040"/>
            <a:ext cx="1371600" cy="1691640"/>
          </a:xfrm>
          <a:prstGeom prst="rect">
            <a:avLst/>
          </a:prstGeom>
          <a:noFill/>
          <a:ln/>
        </p:spPr>
        <p:txBody>
          <a:bodyPr wrap="square" lIns="0" tIns="0" rIns="0" bIns="0" rtlCol="0" anchor="t"/>
          <a:lstStyle/>
          <a:p>
            <a:pPr indent="0" marL="0">
              <a:lnSpc>
                <a:spcPct val="100000"/>
              </a:lnSpc>
              <a:buNone/>
            </a:pPr>
            <a:r>
              <a:rPr lang="en-US" sz="11000" dirty="0">
                <a:solidFill>
                  <a:srgbClr val="2A78D6"/>
                </a:solidFill>
                <a:latin typeface="Georgia" pitchFamily="34" charset="0"/>
                <a:ea typeface="Georgia" pitchFamily="34" charset="-122"/>
                <a:cs typeface="Georgia" pitchFamily="34" charset="-120"/>
              </a:rPr>
              <a:t>2</a:t>
            </a:r>
            <a:endParaRPr lang="en-US" sz="11000" dirty="0"/>
          </a:p>
        </p:txBody>
      </p:sp>
      <p:sp>
        <p:nvSpPr>
          <p:cNvPr id="13" name="Text 11"/>
          <p:cNvSpPr txBox="1"/>
          <p:nvPr/>
        </p:nvSpPr>
        <p:spPr>
          <a:xfrm>
            <a:off x="6355080" y="3200400"/>
            <a:ext cx="5212080" cy="1143000"/>
          </a:xfrm>
          <a:prstGeom prst="rect">
            <a:avLst/>
          </a:prstGeom>
          <a:noFill/>
          <a:ln/>
        </p:spPr>
        <p:txBody>
          <a:bodyPr wrap="square" lIns="0" tIns="0" rIns="0" bIns="0" rtlCol="0" anchor="t"/>
          <a:lstStyle/>
          <a:p>
            <a:pPr indent="0" marL="0">
              <a:lnSpc>
                <a:spcPct val="100000"/>
              </a:lnSpc>
              <a:buNone/>
            </a:pPr>
            <a:r>
              <a:rPr lang="en-US" sz="2400" dirty="0">
                <a:solidFill>
                  <a:srgbClr val="1F2430"/>
                </a:solidFill>
                <a:latin typeface="Georgia" pitchFamily="34" charset="0"/>
                <a:ea typeface="Georgia" pitchFamily="34" charset="-122"/>
                <a:cs typeface="Georgia" pitchFamily="34" charset="-120"/>
              </a:rPr>
              <a:t>¿Cuánta etiqueta hace falta? En la práctica, el usuario reporta pocos mensajes.</a:t>
            </a:r>
            <a:endParaRPr lang="en-US" sz="2400" dirty="0"/>
          </a:p>
        </p:txBody>
      </p:sp>
      <p:sp>
        <p:nvSpPr>
          <p:cNvPr id="14" name="Text 12"/>
          <p:cNvSpPr txBox="1"/>
          <p:nvPr/>
        </p:nvSpPr>
        <p:spPr>
          <a:xfrm>
            <a:off x="6355080" y="4434840"/>
            <a:ext cx="5212080" cy="274320"/>
          </a:xfrm>
          <a:prstGeom prst="rect">
            <a:avLst/>
          </a:prstGeom>
          <a:noFill/>
          <a:ln/>
        </p:spPr>
        <p:txBody>
          <a:bodyPr wrap="square" lIns="0" tIns="0" rIns="0" bIns="0" rtlCol="0" anchor="t"/>
          <a:lstStyle/>
          <a:p>
            <a:pPr indent="0" marL="0">
              <a:lnSpc>
                <a:spcPct val="100000"/>
              </a:lnSpc>
              <a:buNone/>
            </a:pPr>
            <a:r>
              <a:rPr lang="en-US" sz="1300" b="1" dirty="0">
                <a:solidFill>
                  <a:srgbClr val="5A6274"/>
                </a:solidFill>
                <a:latin typeface="Arial" pitchFamily="34" charset="0"/>
                <a:ea typeface="Arial" pitchFamily="34" charset="-122"/>
                <a:cs typeface="Arial" pitchFamily="34" charset="-120"/>
              </a:rPr>
              <a:t>Lo responde el hallazgo 2</a:t>
            </a:r>
            <a:endParaRPr lang="en-US" sz="1300" dirty="0"/>
          </a:p>
        </p:txBody>
      </p:sp>
      <p:sp>
        <p:nvSpPr>
          <p:cNvPr id="15" name="Shape 13"/>
          <p:cNvSpPr/>
          <p:nvPr/>
        </p:nvSpPr>
        <p:spPr>
          <a:xfrm>
            <a:off x="548640" y="4983480"/>
            <a:ext cx="11091672" cy="0"/>
          </a:xfrm>
          <a:prstGeom prst="line">
            <a:avLst/>
          </a:prstGeom>
          <a:noFill/>
          <a:ln w="9525">
            <a:solidFill>
              <a:srgbClr val="D9D6CE"/>
            </a:solidFill>
            <a:prstDash val="solid"/>
          </a:ln>
        </p:spPr>
      </p:sp>
      <p:sp>
        <p:nvSpPr>
          <p:cNvPr id="16" name="Text 14"/>
          <p:cNvSpPr txBox="1"/>
          <p:nvPr/>
        </p:nvSpPr>
        <p:spPr>
          <a:xfrm>
            <a:off x="548640" y="5166360"/>
            <a:ext cx="11064240" cy="685800"/>
          </a:xfrm>
          <a:prstGeom prst="rect">
            <a:avLst/>
          </a:prstGeom>
          <a:noFill/>
          <a:ln/>
        </p:spPr>
        <p:txBody>
          <a:bodyPr wrap="square" lIns="0" tIns="0" rIns="0" bIns="0" rtlCol="0" anchor="t"/>
          <a:lstStyle/>
          <a:p>
            <a:pPr indent="0" marL="0">
              <a:lnSpc>
                <a:spcPct val="100000"/>
              </a:lnSpc>
              <a:buNone/>
            </a:pPr>
            <a:r>
              <a:rPr lang="en-US" sz="1600" dirty="0">
                <a:solidFill>
                  <a:srgbClr val="5A6274"/>
                </a:solidFill>
                <a:latin typeface="Arial" pitchFamily="34" charset="0"/>
                <a:ea typeface="Arial" pitchFamily="34" charset="-122"/>
                <a:cs typeface="Arial" pitchFamily="34" charset="-120"/>
              </a:rPr>
              <a:t>Y dos precisiones sobre la teoría vista en clase: qué algoritmo garantiza la cota, y para qué tasa de aprendizaje vale (hallazgo 3). Al final, lecciones de método (hallazgo 4).</a:t>
            </a:r>
            <a:endParaRPr lang="en-US" sz="16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DISEÑO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Cómo lo medimos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Cada mensaje del stream es una ronda: predecir, ver la etiqueta, actualizar.</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sp>
        <p:nvSpPr>
          <p:cNvPr id="10" name="tramo 1"/>
          <p:cNvSpPr/>
          <p:nvPr/>
        </p:nvSpPr>
        <p:spPr>
          <a:xfrm>
            <a:off x="548640" y="2606040"/>
            <a:ext cx="2216742" cy="502920"/>
          </a:xfrm>
          <a:prstGeom prst="rect">
            <a:avLst/>
          </a:prstGeom>
          <a:solidFill>
            <a:srgbClr val="D9D6CE"/>
          </a:solidFill>
          <a:ln/>
        </p:spPr>
      </p:sp>
      <p:sp>
        <p:nvSpPr>
          <p:cNvPr id="11" name="Text 9"/>
          <p:cNvSpPr txBox="1"/>
          <p:nvPr/>
        </p:nvSpPr>
        <p:spPr>
          <a:xfrm>
            <a:off x="685800" y="2606040"/>
            <a:ext cx="1942422"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1F2430"/>
                </a:solidFill>
                <a:latin typeface="Arial" pitchFamily="34" charset="0"/>
                <a:ea typeface="Arial" pitchFamily="34" charset="-122"/>
                <a:cs typeface="Arial" pitchFamily="34" charset="-120"/>
              </a:rPr>
              <a:t>WARM-UP</a:t>
            </a:r>
            <a:endParaRPr lang="en-US" sz="1100" dirty="0"/>
          </a:p>
        </p:txBody>
      </p:sp>
      <p:sp>
        <p:nvSpPr>
          <p:cNvPr id="12" name="Text 10"/>
          <p:cNvSpPr txBox="1"/>
          <p:nvPr/>
        </p:nvSpPr>
        <p:spPr>
          <a:xfrm>
            <a:off x="548640" y="2103120"/>
            <a:ext cx="2216742"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1.114 SMS</a:t>
            </a:r>
            <a:endParaRPr lang="en-US" sz="2000" dirty="0"/>
          </a:p>
        </p:txBody>
      </p:sp>
      <p:sp>
        <p:nvSpPr>
          <p:cNvPr id="13" name="Text 11"/>
          <p:cNvSpPr txBox="1"/>
          <p:nvPr/>
        </p:nvSpPr>
        <p:spPr>
          <a:xfrm>
            <a:off x="548640" y="3246120"/>
            <a:ext cx="1988142"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Se entrenan los modelos; los 5 expertos quedan congelados.</a:t>
            </a:r>
            <a:endParaRPr lang="en-US" sz="1300" dirty="0"/>
          </a:p>
        </p:txBody>
      </p:sp>
      <p:sp>
        <p:nvSpPr>
          <p:cNvPr id="14" name="tramo 2"/>
          <p:cNvSpPr/>
          <p:nvPr/>
        </p:nvSpPr>
        <p:spPr>
          <a:xfrm>
            <a:off x="2765382" y="2606040"/>
            <a:ext cx="4437465" cy="502920"/>
          </a:xfrm>
          <a:prstGeom prst="rect">
            <a:avLst/>
          </a:prstGeom>
          <a:solidFill>
            <a:srgbClr val="ECE9E2"/>
          </a:solidFill>
          <a:ln/>
        </p:spPr>
      </p:sp>
      <p:sp>
        <p:nvSpPr>
          <p:cNvPr id="15" name="Text 13"/>
          <p:cNvSpPr txBox="1"/>
          <p:nvPr/>
        </p:nvSpPr>
        <p:spPr>
          <a:xfrm>
            <a:off x="2902542" y="2606040"/>
            <a:ext cx="4163145"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1F2430"/>
                </a:solidFill>
                <a:latin typeface="Arial" pitchFamily="34" charset="0"/>
                <a:ea typeface="Arial" pitchFamily="34" charset="-122"/>
                <a:cs typeface="Arial" pitchFamily="34" charset="-120"/>
              </a:rPr>
              <a:t>STREAM SIN ATAQUE</a:t>
            </a:r>
            <a:endParaRPr lang="en-US" sz="1100" dirty="0"/>
          </a:p>
        </p:txBody>
      </p:sp>
      <p:sp>
        <p:nvSpPr>
          <p:cNvPr id="16" name="Text 14"/>
          <p:cNvSpPr txBox="1"/>
          <p:nvPr/>
        </p:nvSpPr>
        <p:spPr>
          <a:xfrm>
            <a:off x="2765382" y="2103120"/>
            <a:ext cx="4437465"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17" name="Text 15"/>
          <p:cNvSpPr txBox="1"/>
          <p:nvPr/>
        </p:nvSpPr>
        <p:spPr>
          <a:xfrm>
            <a:off x="2765382" y="3246120"/>
            <a:ext cx="4208865"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Los tres competidores ven la misma secuencia de mensajes.</a:t>
            </a:r>
            <a:endParaRPr lang="en-US" sz="1300" dirty="0"/>
          </a:p>
        </p:txBody>
      </p:sp>
      <p:sp>
        <p:nvSpPr>
          <p:cNvPr id="18" name="tramo 3"/>
          <p:cNvSpPr/>
          <p:nvPr/>
        </p:nvSpPr>
        <p:spPr>
          <a:xfrm>
            <a:off x="7202847" y="2606040"/>
            <a:ext cx="4437465" cy="502920"/>
          </a:xfrm>
          <a:prstGeom prst="rect">
            <a:avLst/>
          </a:prstGeom>
          <a:solidFill>
            <a:srgbClr val="1F2430"/>
          </a:solidFill>
          <a:ln/>
        </p:spPr>
      </p:sp>
      <p:sp>
        <p:nvSpPr>
          <p:cNvPr id="19" name="Text 17"/>
          <p:cNvSpPr txBox="1"/>
          <p:nvPr/>
        </p:nvSpPr>
        <p:spPr>
          <a:xfrm>
            <a:off x="7340007" y="2606040"/>
            <a:ext cx="4163145"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FFFFFF"/>
                </a:solidFill>
                <a:latin typeface="Arial" pitchFamily="34" charset="0"/>
                <a:ea typeface="Arial" pitchFamily="34" charset="-122"/>
                <a:cs typeface="Arial" pitchFamily="34" charset="-120"/>
              </a:rPr>
              <a:t>STREAM CON ATAQUE</a:t>
            </a:r>
            <a:endParaRPr lang="en-US" sz="1100" dirty="0"/>
          </a:p>
        </p:txBody>
      </p:sp>
      <p:sp>
        <p:nvSpPr>
          <p:cNvPr id="20" name="Text 18"/>
          <p:cNvSpPr txBox="1"/>
          <p:nvPr/>
        </p:nvSpPr>
        <p:spPr>
          <a:xfrm>
            <a:off x="7202847" y="2103120"/>
            <a:ext cx="4437465"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21" name="Text 19"/>
          <p:cNvSpPr txBox="1"/>
          <p:nvPr/>
        </p:nvSpPr>
        <p:spPr>
          <a:xfrm>
            <a:off x="7202847" y="3246120"/>
            <a:ext cx="4208865"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Todo spam llega ofuscado. Acá se mide quién se recupera.</a:t>
            </a:r>
            <a:endParaRPr lang="en-US" sz="1300" dirty="0"/>
          </a:p>
        </p:txBody>
      </p:sp>
      <p:sp>
        <p:nvSpPr>
          <p:cNvPr id="22" name="Shape 20"/>
          <p:cNvSpPr/>
          <p:nvPr/>
        </p:nvSpPr>
        <p:spPr>
          <a:xfrm>
            <a:off x="548640" y="4160520"/>
            <a:ext cx="11091672" cy="0"/>
          </a:xfrm>
          <a:prstGeom prst="line">
            <a:avLst/>
          </a:prstGeom>
          <a:noFill/>
          <a:ln w="9525">
            <a:solidFill>
              <a:srgbClr val="D9D6CE"/>
            </a:solidFill>
            <a:prstDash val="solid"/>
          </a:ln>
        </p:spPr>
      </p:sp>
      <p:sp>
        <p:nvSpPr>
          <p:cNvPr id="23" name="Text 21"/>
          <p:cNvSpPr txBox="1"/>
          <p:nvPr/>
        </p:nvSpPr>
        <p:spPr>
          <a:xfrm>
            <a:off x="548640" y="4343400"/>
            <a:ext cx="548640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QUÉ MEDIMOS</a:t>
            </a:r>
            <a:endParaRPr lang="en-US" sz="1000" dirty="0"/>
          </a:p>
        </p:txBody>
      </p:sp>
      <p:sp>
        <p:nvSpPr>
          <p:cNvPr id="24" name="Text 22"/>
          <p:cNvSpPr txBox="1"/>
          <p:nvPr/>
        </p:nvSpPr>
        <p:spPr>
          <a:xfrm>
            <a:off x="548640" y="4663440"/>
            <a:ext cx="6766560" cy="1463040"/>
          </a:xfrm>
          <a:prstGeom prst="rect">
            <a:avLst/>
          </a:prstGeom>
          <a:noFill/>
          <a:ln/>
        </p:spPr>
        <p:txBody>
          <a:bodyPr wrap="square" lIns="0" tIns="0" rIns="0" bIns="0" rtlCol="0" anchor="t"/>
          <a:lstStyle/>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Spam atrapado (SC):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qué parte del spam se detecta</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Legítimo bloqueado (BH):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qué parte del correo bueno se pierde</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MCC: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un resumen robusto al desbalance</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Errores en la mitad atacada: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la cifra que comparamos</a:t>
            </a:r>
            <a:endParaRPr lang="en-US" sz="1500" dirty="0"/>
          </a:p>
        </p:txBody>
      </p:sp>
      <p:sp>
        <p:nvSpPr>
          <p:cNvPr id="25" name="Text 23"/>
          <p:cNvSpPr txBox="1"/>
          <p:nvPr/>
        </p:nvSpPr>
        <p:spPr>
          <a:xfrm>
            <a:off x="8138160" y="4343400"/>
            <a:ext cx="3474720" cy="822960"/>
          </a:xfrm>
          <a:prstGeom prst="rect">
            <a:avLst/>
          </a:prstGeom>
          <a:noFill/>
          <a:ln/>
        </p:spPr>
        <p:txBody>
          <a:bodyPr wrap="square" lIns="0" tIns="0" rIns="0" bIns="0" rtlCol="0" anchor="t"/>
          <a:lstStyle/>
          <a:p>
            <a:pPr indent="0" marL="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26" name="Text 24"/>
          <p:cNvSpPr txBox="1"/>
          <p:nvPr/>
        </p:nvSpPr>
        <p:spPr>
          <a:xfrm>
            <a:off x="8138160" y="5239512"/>
            <a:ext cx="34747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de acierto sin marcar nada como spam: por eso no usamos accuracy.</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SMS Spam Collection (Almeida et al., 2011): 5.574 SMS, 13,4% spam. 20 permutaciones del orden: media ± desvío.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MÉTODO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Hedge en un minuto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Shape 7"/>
          <p:cNvSpPr/>
          <p:nvPr/>
        </p:nvSpPr>
        <p:spPr>
          <a:xfrm>
            <a:off x="548640" y="1600200"/>
            <a:ext cx="5943600" cy="0"/>
          </a:xfrm>
          <a:prstGeom prst="line">
            <a:avLst/>
          </a:prstGeom>
          <a:noFill/>
          <a:ln w="9525">
            <a:solidFill>
              <a:srgbClr val="D9D6CE"/>
            </a:solidFill>
            <a:prstDash val="solid"/>
          </a:ln>
        </p:spPr>
      </p:sp>
      <p:sp>
        <p:nvSpPr>
          <p:cNvPr id="10" name="Text 8"/>
          <p:cNvSpPr txBox="1"/>
          <p:nvPr/>
        </p:nvSpPr>
        <p:spPr>
          <a:xfrm>
            <a:off x="548640" y="1783080"/>
            <a:ext cx="5943600" cy="685800"/>
          </a:xfrm>
          <a:prstGeom prst="rect">
            <a:avLst/>
          </a:prstGeom>
          <a:noFill/>
          <a:ln/>
        </p:spPr>
        <p:txBody>
          <a:bodyPr wrap="square" lIns="0" tIns="0" rIns="0" bIns="0" rtlCol="0" anchor="t"/>
          <a:lstStyle/>
          <a:p>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peso</a:t>
            </a:r>
            <a:pPr indent="0" marL="0">
              <a:lnSpc>
                <a:spcPct val="100000"/>
              </a:lnSpc>
              <a:buNone/>
            </a:pPr>
            <a:r>
              <a:rPr lang="en-US" sz="3200" baseline="-40000" dirty="0">
                <a:solidFill>
                  <a:srgbClr val="1F2430"/>
                </a:solidFill>
                <a:latin typeface="Georgia" pitchFamily="34" charset="0"/>
                <a:ea typeface="Georgia" pitchFamily="34" charset="-122"/>
                <a:cs typeface="Georgia" pitchFamily="34" charset="-120"/>
              </a:rPr>
              <a:t>i</a:t>
            </a:r>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  ←  peso</a:t>
            </a:r>
            <a:pPr indent="0" marL="0">
              <a:lnSpc>
                <a:spcPct val="100000"/>
              </a:lnSpc>
              <a:buNone/>
            </a:pPr>
            <a:r>
              <a:rPr lang="en-US" sz="3200" baseline="-40000" dirty="0">
                <a:solidFill>
                  <a:srgbClr val="1F2430"/>
                </a:solidFill>
                <a:latin typeface="Georgia" pitchFamily="34" charset="0"/>
                <a:ea typeface="Georgia" pitchFamily="34" charset="-122"/>
                <a:cs typeface="Georgia" pitchFamily="34" charset="-120"/>
              </a:rPr>
              <a:t>i</a:t>
            </a:r>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 · e</a:t>
            </a:r>
            <a:pPr indent="0" marL="0">
              <a:lnSpc>
                <a:spcPct val="100000"/>
              </a:lnSpc>
              <a:buNone/>
            </a:pPr>
            <a:r>
              <a:rPr lang="en-US" sz="3200" baseline="30000" dirty="0">
                <a:solidFill>
                  <a:srgbClr val="1F2430"/>
                </a:solidFill>
                <a:latin typeface="Georgia" pitchFamily="34" charset="0"/>
                <a:ea typeface="Georgia" pitchFamily="34" charset="-122"/>
                <a:cs typeface="Georgia" pitchFamily="34" charset="-120"/>
              </a:rPr>
              <a:t>−η · error</a:t>
            </a:r>
            <a:endParaRPr lang="en-US" sz="3200" dirty="0"/>
          </a:p>
        </p:txBody>
      </p:sp>
      <p:sp>
        <p:nvSpPr>
          <p:cNvPr id="11" name="Shape 9"/>
          <p:cNvSpPr/>
          <p:nvPr/>
        </p:nvSpPr>
        <p:spPr>
          <a:xfrm>
            <a:off x="548640" y="2651760"/>
            <a:ext cx="5943600" cy="0"/>
          </a:xfrm>
          <a:prstGeom prst="line">
            <a:avLst/>
          </a:prstGeom>
          <a:noFill/>
          <a:ln w="9525">
            <a:solidFill>
              <a:srgbClr val="D9D6CE"/>
            </a:solidFill>
            <a:prstDash val="solid"/>
          </a:ln>
        </p:spPr>
      </p:sp>
      <p:sp>
        <p:nvSpPr>
          <p:cNvPr id="12" name="Text 10"/>
          <p:cNvSpPr txBox="1"/>
          <p:nvPr/>
        </p:nvSpPr>
        <p:spPr>
          <a:xfrm>
            <a:off x="548640" y="288036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1</a:t>
            </a:r>
            <a:endParaRPr lang="en-US" sz="2200" dirty="0"/>
          </a:p>
        </p:txBody>
      </p:sp>
      <p:sp>
        <p:nvSpPr>
          <p:cNvPr id="13" name="Text 11"/>
          <p:cNvSpPr txBox="1"/>
          <p:nvPr/>
        </p:nvSpPr>
        <p:spPr>
          <a:xfrm>
            <a:off x="1005840" y="292608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Los cinco expertos arrancan con el mismo peso: 1/5.</a:t>
            </a:r>
            <a:endParaRPr lang="en-US" sz="1600" dirty="0"/>
          </a:p>
        </p:txBody>
      </p:sp>
      <p:sp>
        <p:nvSpPr>
          <p:cNvPr id="14" name="Text 12"/>
          <p:cNvSpPr txBox="1"/>
          <p:nvPr/>
        </p:nvSpPr>
        <p:spPr>
          <a:xfrm>
            <a:off x="548640" y="342900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2</a:t>
            </a:r>
            <a:endParaRPr lang="en-US" sz="2200" dirty="0"/>
          </a:p>
        </p:txBody>
      </p:sp>
      <p:sp>
        <p:nvSpPr>
          <p:cNvPr id="15" name="Text 13"/>
          <p:cNvSpPr txBox="1"/>
          <p:nvPr/>
        </p:nvSpPr>
        <p:spPr>
          <a:xfrm>
            <a:off x="1005840" y="347472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Cada error achica el peso del experto que se equivocó.</a:t>
            </a:r>
            <a:endParaRPr lang="en-US" sz="1600" dirty="0"/>
          </a:p>
        </p:txBody>
      </p:sp>
      <p:sp>
        <p:nvSpPr>
          <p:cNvPr id="16" name="Text 14"/>
          <p:cNvSpPr txBox="1"/>
          <p:nvPr/>
        </p:nvSpPr>
        <p:spPr>
          <a:xfrm>
            <a:off x="548640" y="397764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3</a:t>
            </a:r>
            <a:endParaRPr lang="en-US" sz="2200" dirty="0"/>
          </a:p>
        </p:txBody>
      </p:sp>
      <p:sp>
        <p:nvSpPr>
          <p:cNvPr id="17" name="Text 15"/>
          <p:cNvSpPr txBox="1"/>
          <p:nvPr/>
        </p:nvSpPr>
        <p:spPr>
          <a:xfrm>
            <a:off x="1005840" y="402336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En cada mensaje se sortea un experto según los pesos.</a:t>
            </a:r>
            <a:endParaRPr lang="en-US" sz="1600" dirty="0"/>
          </a:p>
        </p:txBody>
      </p:sp>
      <p:sp>
        <p:nvSpPr>
          <p:cNvPr id="18" name="Text 16"/>
          <p:cNvSpPr txBox="1"/>
          <p:nvPr/>
        </p:nvSpPr>
        <p:spPr>
          <a:xfrm>
            <a:off x="548640" y="4800600"/>
            <a:ext cx="5943600" cy="822960"/>
          </a:xfrm>
          <a:prstGeom prst="rect">
            <a:avLst/>
          </a:prstGeom>
          <a:noFill/>
          <a:ln/>
        </p:spPr>
        <p:txBody>
          <a:bodyPr wrap="square" lIns="0" tIns="0" rIns="0" bIns="0" rtlCol="0" anchor="t"/>
          <a:lstStyle/>
          <a:p>
            <a:pPr indent="0" marL="0">
              <a:lnSpc>
                <a:spcPct val="100000"/>
              </a:lnSpc>
              <a:buNone/>
            </a:pPr>
            <a:r>
              <a:rPr lang="en-US" sz="1500" b="1" dirty="0">
                <a:solidFill>
                  <a:srgbClr val="5A6274"/>
                </a:solidFill>
                <a:latin typeface="Arial" pitchFamily="34" charset="0"/>
                <a:ea typeface="Arial" pitchFamily="34" charset="-122"/>
                <a:cs typeface="Arial" pitchFamily="34" charset="-120"/>
              </a:rPr>
              <a:t>Regret: </a:t>
            </a:r>
            <a:pPr indent="0" marL="0">
              <a:lnSpc>
                <a:spcPct val="100000"/>
              </a:lnSpc>
              <a:buNone/>
            </a:pPr>
            <a:r>
              <a:rPr lang="en-US" sz="1500" dirty="0">
                <a:solidFill>
                  <a:srgbClr val="5A6274"/>
                </a:solidFill>
                <a:latin typeface="Arial" pitchFamily="34" charset="0"/>
                <a:ea typeface="Arial" pitchFamily="34" charset="-122"/>
                <a:cs typeface="Arial" pitchFamily="34" charset="-120"/>
              </a:rPr>
              <a:t>cuántos errores de más comete Hedge frente al mejor experto fijo. La teoría garantiza que crece como √T, no como T.</a:t>
            </a:r>
            <a:endParaRPr lang="en-US" sz="1500" dirty="0"/>
          </a:p>
        </p:txBody>
      </p:sp>
      <p:sp>
        <p:nvSpPr>
          <p:cNvPr id="19" name="Text 17"/>
          <p:cNvSpPr txBox="1"/>
          <p:nvPr/>
        </p:nvSpPr>
        <p:spPr>
          <a:xfrm>
            <a:off x="7269480" y="1691640"/>
            <a:ext cx="438912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LOS CINCO EXPERTOS</a:t>
            </a:r>
            <a:endParaRPr lang="en-US" sz="1000" dirty="0"/>
          </a:p>
        </p:txBody>
      </p:sp>
      <p:sp>
        <p:nvSpPr>
          <p:cNvPr id="20" name="punto Naive Bayes"/>
          <p:cNvSpPr/>
          <p:nvPr/>
        </p:nvSpPr>
        <p:spPr>
          <a:xfrm>
            <a:off x="7269480" y="2157984"/>
            <a:ext cx="219456" cy="219456"/>
          </a:xfrm>
          <a:prstGeom prst="ellipse">
            <a:avLst/>
          </a:prstGeom>
          <a:solidFill>
            <a:srgbClr val="EB6834"/>
          </a:solidFill>
          <a:ln/>
        </p:spPr>
      </p:sp>
      <p:sp>
        <p:nvSpPr>
          <p:cNvPr id="21" name="Text 19"/>
          <p:cNvSpPr txBox="1"/>
          <p:nvPr/>
        </p:nvSpPr>
        <p:spPr>
          <a:xfrm>
            <a:off x="7653528" y="210312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Naive Bayes</a:t>
            </a:r>
            <a:endParaRPr lang="en-US" sz="1600" dirty="0"/>
          </a:p>
        </p:txBody>
      </p:sp>
      <p:sp>
        <p:nvSpPr>
          <p:cNvPr id="22" name="Text 20"/>
          <p:cNvSpPr txBox="1"/>
          <p:nvPr/>
        </p:nvSpPr>
        <p:spPr>
          <a:xfrm>
            <a:off x="7653528" y="243230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 también es el modelo estático</a:t>
            </a:r>
            <a:endParaRPr lang="en-US" sz="1300" dirty="0"/>
          </a:p>
        </p:txBody>
      </p:sp>
      <p:sp>
        <p:nvSpPr>
          <p:cNvPr id="23" name="punto Regresión logística"/>
          <p:cNvSpPr/>
          <p:nvPr/>
        </p:nvSpPr>
        <p:spPr>
          <a:xfrm>
            <a:off x="7269480" y="2935224"/>
            <a:ext cx="219456" cy="219456"/>
          </a:xfrm>
          <a:prstGeom prst="ellipse">
            <a:avLst/>
          </a:prstGeom>
          <a:solidFill>
            <a:srgbClr val="008300"/>
          </a:solidFill>
          <a:ln/>
        </p:spPr>
      </p:sp>
      <p:sp>
        <p:nvSpPr>
          <p:cNvPr id="24" name="Text 22"/>
          <p:cNvSpPr txBox="1"/>
          <p:nvPr/>
        </p:nvSpPr>
        <p:spPr>
          <a:xfrm>
            <a:off x="7653528" y="288036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Regresión logística</a:t>
            </a:r>
            <a:endParaRPr lang="en-US" sz="1600" dirty="0"/>
          </a:p>
        </p:txBody>
      </p:sp>
      <p:sp>
        <p:nvSpPr>
          <p:cNvPr id="25" name="Text 23"/>
          <p:cNvSpPr txBox="1"/>
          <p:nvPr/>
        </p:nvSpPr>
        <p:spPr>
          <a:xfrm>
            <a:off x="7653528" y="320954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léxica</a:t>
            </a:r>
            <a:endParaRPr lang="en-US" sz="1300" dirty="0"/>
          </a:p>
        </p:txBody>
      </p:sp>
      <p:sp>
        <p:nvSpPr>
          <p:cNvPr id="26" name="punto Árbol de decisión"/>
          <p:cNvSpPr/>
          <p:nvPr/>
        </p:nvSpPr>
        <p:spPr>
          <a:xfrm>
            <a:off x="7269480" y="3712464"/>
            <a:ext cx="219456" cy="219456"/>
          </a:xfrm>
          <a:prstGeom prst="ellipse">
            <a:avLst/>
          </a:prstGeom>
          <a:solidFill>
            <a:srgbClr val="008300"/>
          </a:solidFill>
          <a:ln/>
        </p:spPr>
      </p:sp>
      <p:sp>
        <p:nvSpPr>
          <p:cNvPr id="27" name="Text 25"/>
          <p:cNvSpPr txBox="1"/>
          <p:nvPr/>
        </p:nvSpPr>
        <p:spPr>
          <a:xfrm>
            <a:off x="7653528" y="365760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Árbol de decisión</a:t>
            </a:r>
            <a:endParaRPr lang="en-US" sz="1600" dirty="0"/>
          </a:p>
        </p:txBody>
      </p:sp>
      <p:sp>
        <p:nvSpPr>
          <p:cNvPr id="28" name="Text 26"/>
          <p:cNvSpPr txBox="1"/>
          <p:nvPr/>
        </p:nvSpPr>
        <p:spPr>
          <a:xfrm>
            <a:off x="7653528" y="398678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a:t>
            </a:r>
            <a:endParaRPr lang="en-US" sz="1300" dirty="0"/>
          </a:p>
        </p:txBody>
      </p:sp>
      <p:sp>
        <p:nvSpPr>
          <p:cNvPr id="29" name="punto Reglas"/>
          <p:cNvSpPr/>
          <p:nvPr/>
        </p:nvSpPr>
        <p:spPr>
          <a:xfrm>
            <a:off x="7269480" y="4489704"/>
            <a:ext cx="219456" cy="219456"/>
          </a:xfrm>
          <a:prstGeom prst="ellipse">
            <a:avLst/>
          </a:prstGeom>
          <a:solidFill>
            <a:srgbClr val="008300"/>
          </a:solidFill>
          <a:ln/>
        </p:spPr>
      </p:sp>
      <p:sp>
        <p:nvSpPr>
          <p:cNvPr id="30" name="Text 28"/>
          <p:cNvSpPr txBox="1"/>
          <p:nvPr/>
        </p:nvSpPr>
        <p:spPr>
          <a:xfrm>
            <a:off x="7653528" y="443484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Reglas</a:t>
            </a:r>
            <a:endParaRPr lang="en-US" sz="1600" dirty="0"/>
          </a:p>
        </p:txBody>
      </p:sp>
      <p:sp>
        <p:nvSpPr>
          <p:cNvPr id="31" name="Text 29"/>
          <p:cNvSpPr txBox="1"/>
          <p:nvPr/>
        </p:nvSpPr>
        <p:spPr>
          <a:xfrm>
            <a:off x="7653528" y="476402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a:t>
            </a:r>
            <a:endParaRPr lang="en-US" sz="1300" dirty="0"/>
          </a:p>
        </p:txBody>
      </p:sp>
      <p:sp>
        <p:nvSpPr>
          <p:cNvPr id="32" name="punto Estructural"/>
          <p:cNvSpPr/>
          <p:nvPr/>
        </p:nvSpPr>
        <p:spPr>
          <a:xfrm>
            <a:off x="7269480" y="5266944"/>
            <a:ext cx="219456" cy="219456"/>
          </a:xfrm>
          <a:prstGeom prst="ellipse">
            <a:avLst/>
          </a:prstGeom>
          <a:solidFill>
            <a:srgbClr val="4A3AA7"/>
          </a:solidFill>
          <a:ln/>
        </p:spPr>
      </p:sp>
      <p:sp>
        <p:nvSpPr>
          <p:cNvPr id="33" name="Text 31"/>
          <p:cNvSpPr txBox="1"/>
          <p:nvPr/>
        </p:nvSpPr>
        <p:spPr>
          <a:xfrm>
            <a:off x="7653528" y="521208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Estructural</a:t>
            </a:r>
            <a:endParaRPr lang="en-US" sz="1600" dirty="0"/>
          </a:p>
        </p:txBody>
      </p:sp>
      <p:sp>
        <p:nvSpPr>
          <p:cNvPr id="34" name="Text 32"/>
          <p:cNvSpPr txBox="1"/>
          <p:nvPr/>
        </p:nvSpPr>
        <p:spPr>
          <a:xfrm>
            <a:off x="7653528" y="554126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9 rasgos de formato: largo, dígitos, teléfonos, £, mayúsculas…</a:t>
            </a:r>
            <a:endParaRPr lang="en-US" sz="1300" dirty="0"/>
          </a:p>
        </p:txBody>
      </p:sp>
      <p:sp>
        <p:nvSpPr>
          <p:cNvPr id="35" name="Text 3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Freund &amp; Schapire (1997). Los colores de los expertos se mantienen en todos los gráficos.</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 · ¿CUÁNTO SE RECUPERA SIN REENTRENAR?</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Combinar recupera casi la mitad, sin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Hedge recorre el 46% del camino entre no adaptarse y reentrenar.</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Recta de errores en la mitad atacada: el estático comete 190, Hedge 133 y SGD online 73. Hedge cubre el 46% de la brecha.">    </p:cNvPr>
          <p:cNvPicPr>
            <a:picLocks noChangeAspect="1"/>
          </p:cNvPicPr>
          <p:nvPr/>
        </p:nvPicPr>
        <p:blipFill>
          <a:blip r:embed="rId1"/>
          <a:stretch>
            <a:fillRect/>
          </a:stretch>
        </p:blipFill>
        <p:spPr>
          <a:xfrm>
            <a:off x="685800" y="2011680"/>
            <a:ext cx="10789920" cy="3506100"/>
          </a:xfrm>
          <a:prstGeom prst="rect">
            <a:avLst/>
          </a:prstGeom>
        </p:spPr>
      </p:pic>
      <p:sp>
        <p:nvSpPr>
          <p:cNvPr id="11" name="Shape 8"/>
          <p:cNvSpPr/>
          <p:nvPr/>
        </p:nvSpPr>
        <p:spPr>
          <a:xfrm>
            <a:off x="548640" y="5577840"/>
            <a:ext cx="11091672" cy="0"/>
          </a:xfrm>
          <a:prstGeom prst="line">
            <a:avLst/>
          </a:prstGeom>
          <a:noFill/>
          <a:ln w="9525">
            <a:solidFill>
              <a:srgbClr val="D9D6CE"/>
            </a:solidFill>
            <a:prstDash val="solid"/>
          </a:ln>
        </p:spPr>
      </p:sp>
      <p:sp>
        <p:nvSpPr>
          <p:cNvPr id="12" name="Text 9"/>
          <p:cNvSpPr txBox="1"/>
          <p:nvPr/>
        </p:nvSpPr>
        <p:spPr>
          <a:xfrm>
            <a:off x="548640" y="5669280"/>
            <a:ext cx="11064240" cy="54864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46% ± 13 entre semillas. Reentrenar sigue siendo lo mejor con todas las etiquetas, como dicen Lowd &amp; Meek; combinar hace casi la mitad del trabajo sin tocar ningún modelo.</a:t>
            </a:r>
            <a:endParaRPr lang="en-US" sz="1400" dirty="0"/>
          </a:p>
        </p:txBody>
      </p:sp>
      <p:sp>
        <p:nvSpPr>
          <p:cNvPr id="13" name="Text 10"/>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De 305 spams atacados, Hedge atrapa 52 más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Cada punto es un spam de la mitad atacada; en color, los que el filtro detecta.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Tres grillas de 305 puntos. El estático atrapa 128 (42%), Hedge 180 (59%) y SGD online 252 (83%).">    </p:cNvPr>
          <p:cNvPicPr>
            <a:picLocks noChangeAspect="1"/>
          </p:cNvPicPr>
          <p:nvPr/>
        </p:nvPicPr>
        <p:blipFill>
          <a:blip r:embed="rId1"/>
          <a:stretch>
            <a:fillRect/>
          </a:stretch>
        </p:blipFill>
        <p:spPr>
          <a:xfrm>
            <a:off x="548640" y="1828800"/>
            <a:ext cx="10424160" cy="434340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Con el ataque, el estático cae y no se recupera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Spam atrapado en una ventana móvil de 300 mensajes.</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Spam atrapado por el estático: ~85% antes del ataque, cae a 43% y no se recupera.">    </p:cNvPr>
          <p:cNvPicPr>
            <a:picLocks noChangeAspect="1"/>
          </p:cNvPicPr>
          <p:nvPr/>
        </p:nvPicPr>
        <p:blipFill>
          <a:blip r:embed="rId1"/>
          <a:stretch>
            <a:fillRect/>
          </a:stretch>
        </p:blipFill>
        <p:spPr>
          <a:xfrm>
            <a:off x="411480" y="1783080"/>
            <a:ext cx="9856468" cy="443484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 Es la figura 1 del paper.</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Hedge cae con él, pero se recupera a medias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Spam atrapado en una ventana móvil de 300 mensajes.</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Se suma Hedge: cae junto con el estático y se recupera hasta 62%.">    </p:cNvPr>
          <p:cNvPicPr>
            <a:picLocks noChangeAspect="1"/>
          </p:cNvPicPr>
          <p:nvPr/>
        </p:nvPicPr>
        <p:blipFill>
          <a:blip r:embed="rId1"/>
          <a:stretch>
            <a:fillRect/>
          </a:stretch>
        </p:blipFill>
        <p:spPr>
          <a:xfrm>
            <a:off x="411480" y="1783080"/>
            <a:ext cx="9856468" cy="443484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 Es la figura 1 del paper.</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Reentrenar aprende las palabras nuevas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Spam atrapado en una ventana móvil de 300 mensajes.</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Se suma SGD online: cae menos y vuelve a 89%, casi el nivel previo al ataque.">    </p:cNvPr>
          <p:cNvPicPr>
            <a:picLocks noChangeAspect="1"/>
          </p:cNvPicPr>
          <p:nvPr/>
        </p:nvPicPr>
        <p:blipFill>
          <a:blip r:embed="rId1"/>
          <a:stretch>
            <a:fillRect/>
          </a:stretch>
        </p:blipFill>
        <p:spPr>
          <a:xfrm>
            <a:off x="411480" y="1783080"/>
            <a:ext cx="9856468" cy="443484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 Es la figura 1 del paper.</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Por qué funciona: la apuesta ya estaba cubierta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Peso de cada experto en Hedge a lo largo del stream.</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Área apilada con el peso de cada experto. Al llegar el ataque el peso está repartido en tercios; después migra al estructural, que termina con 0,96.">    </p:cNvPr>
          <p:cNvPicPr>
            <a:picLocks noChangeAspect="1"/>
          </p:cNvPicPr>
          <p:nvPr/>
        </p:nvPicPr>
        <p:blipFill>
          <a:blip r:embed="rId1"/>
          <a:stretch>
            <a:fillRect/>
          </a:stretch>
        </p:blipFill>
        <p:spPr>
          <a:xfrm>
            <a:off x="411480" y="1828800"/>
            <a:ext cx="8001000" cy="3599987"/>
          </a:xfrm>
          <a:prstGeom prst="rect">
            <a:avLst/>
          </a:prstGeom>
        </p:spPr>
      </p:pic>
      <p:sp>
        <p:nvSpPr>
          <p:cNvPr id="11" name="llamada 1"/>
          <p:cNvSpPr/>
          <p:nvPr/>
        </p:nvSpPr>
        <p:spPr>
          <a:xfrm>
            <a:off x="8641080" y="2011680"/>
            <a:ext cx="384048" cy="384048"/>
          </a:xfrm>
          <a:prstGeom prst="ellipse">
            <a:avLst/>
          </a:prstGeom>
          <a:solidFill>
            <a:srgbClr val="1F2430"/>
          </a:solidFill>
          <a:ln/>
        </p:spPr>
      </p:sp>
      <p:sp>
        <p:nvSpPr>
          <p:cNvPr id="12" name="Text 9"/>
          <p:cNvSpPr txBox="1"/>
          <p:nvPr/>
        </p:nvSpPr>
        <p:spPr>
          <a:xfrm>
            <a:off x="8641080" y="201168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txBox="1"/>
          <p:nvPr/>
        </p:nvSpPr>
        <p:spPr>
          <a:xfrm>
            <a:off x="9208008" y="1993392"/>
            <a:ext cx="2450592" cy="118872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Al llegar el ataque, el peso estaba repartido en tercios: Naive Bayes 0,36, estructural 0,33, el resto 0,31.</a:t>
            </a:r>
            <a:endParaRPr lang="en-US" sz="1500" dirty="0"/>
          </a:p>
        </p:txBody>
      </p:sp>
      <p:sp>
        <p:nvSpPr>
          <p:cNvPr id="14" name="llamada 2"/>
          <p:cNvSpPr/>
          <p:nvPr/>
        </p:nvSpPr>
        <p:spPr>
          <a:xfrm>
            <a:off x="8641080" y="3429000"/>
            <a:ext cx="384048" cy="384048"/>
          </a:xfrm>
          <a:prstGeom prst="ellipse">
            <a:avLst/>
          </a:prstGeom>
          <a:solidFill>
            <a:srgbClr val="1F2430"/>
          </a:solidFill>
          <a:ln/>
        </p:spPr>
      </p:sp>
      <p:sp>
        <p:nvSpPr>
          <p:cNvPr id="15" name="Text 12"/>
          <p:cNvSpPr txBox="1"/>
          <p:nvPr/>
        </p:nvSpPr>
        <p:spPr>
          <a:xfrm>
            <a:off x="8641080" y="34290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9208008" y="3410712"/>
            <a:ext cx="2450592" cy="118872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El ataque rompe a los léxicos y el peso migra al estructural en unos 1.000 mensajes: termina con 0,96.</a:t>
            </a:r>
            <a:endParaRPr lang="en-US" sz="1500" dirty="0"/>
          </a:p>
        </p:txBody>
      </p:sp>
      <p:sp>
        <p:nvSpPr>
          <p:cNvPr id="17" name="Shape 14"/>
          <p:cNvSpPr/>
          <p:nvPr/>
        </p:nvSpPr>
        <p:spPr>
          <a:xfrm>
            <a:off x="8641080" y="4846320"/>
            <a:ext cx="2999232" cy="0"/>
          </a:xfrm>
          <a:prstGeom prst="line">
            <a:avLst/>
          </a:prstGeom>
          <a:noFill/>
          <a:ln w="9525">
            <a:solidFill>
              <a:srgbClr val="D9D6CE"/>
            </a:solidFill>
            <a:prstDash val="solid"/>
          </a:ln>
        </p:spPr>
      </p:sp>
      <p:sp>
        <p:nvSpPr>
          <p:cNvPr id="18" name="Text 15"/>
          <p:cNvSpPr txBox="1"/>
          <p:nvPr/>
        </p:nvSpPr>
        <p:spPr>
          <a:xfrm>
            <a:off x="8641080" y="4983480"/>
            <a:ext cx="3017520" cy="731520"/>
          </a:xfrm>
          <a:prstGeom prst="rect">
            <a:avLst/>
          </a:prstGeom>
          <a:noFill/>
          <a:ln/>
        </p:spPr>
        <p:txBody>
          <a:bodyPr wrap="square" lIns="0" tIns="0" rIns="0" bIns="0" rtlCol="0" anchor="t"/>
          <a:lstStyle/>
          <a:p>
            <a:pPr indent="0" marL="0">
              <a:lnSpc>
                <a:spcPct val="100000"/>
              </a:lnSpc>
              <a:buNone/>
            </a:pPr>
            <a:r>
              <a:rPr lang="en-US" sz="1500" b="1" dirty="0">
                <a:solidFill>
                  <a:srgbClr val="4A3AA7"/>
                </a:solidFill>
                <a:latin typeface="Arial" pitchFamily="34" charset="0"/>
                <a:ea typeface="Arial" pitchFamily="34" charset="-122"/>
                <a:cs typeface="Arial" pitchFamily="34" charset="-120"/>
              </a:rPr>
              <a:t>El estructural mira formato, no palabras: este ataque no lo toca.</a:t>
            </a:r>
            <a:endParaRPr lang="en-US" sz="1500" dirty="0"/>
          </a:p>
        </p:txBody>
      </p:sp>
      <p:sp>
        <p:nvSpPr>
          <p:cNvPr id="19" name="Text 16"/>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2 · ¿CUÁNTA ETIQUETA HACE FALTA?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Con pocas etiquetas, combinar le gana a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según cuántos mensajes reporta el usuario.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actual)"/>
          <p:cNvSpPr/>
          <p:nvPr/>
        </p:nvSpPr>
        <p:spPr>
          <a:xfrm>
            <a:off x="11100816" y="457200"/>
            <a:ext cx="137160" cy="137160"/>
          </a:xfrm>
          <a:prstGeom prst="ellipse">
            <a:avLst/>
          </a:prstGeom>
          <a:solidFill>
            <a:srgbClr val="1F2430"/>
          </a:solidFill>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Errores según la fracción de mensajes etiquetados. Con todas las etiquetas SGD comete 73 y Hedge 133; con 1 de cada 20, SGD 210 y Hedge 189, frente a 190 del estático.">    </p:cNvPr>
          <p:cNvPicPr>
            <a:picLocks noChangeAspect="1"/>
          </p:cNvPicPr>
          <p:nvPr/>
        </p:nvPicPr>
        <p:blipFill>
          <a:blip r:embed="rId1"/>
          <a:stretch>
            <a:fillRect/>
          </a:stretch>
        </p:blipFill>
        <p:spPr>
          <a:xfrm>
            <a:off x="411480" y="1783080"/>
            <a:ext cx="6495445" cy="4434840"/>
          </a:xfrm>
          <a:prstGeom prst="rect">
            <a:avLst/>
          </a:prstGeom>
        </p:spPr>
      </p:pic>
      <p:sp>
        <p:nvSpPr>
          <p:cNvPr id="11" name="Text 8"/>
          <p:cNvSpPr txBox="1"/>
          <p:nvPr/>
        </p:nvSpPr>
        <p:spPr>
          <a:xfrm>
            <a:off x="7726680" y="1920240"/>
            <a:ext cx="3931920" cy="822960"/>
          </a:xfrm>
          <a:prstGeom prst="rect">
            <a:avLst/>
          </a:prstGeom>
          <a:noFill/>
          <a:ln/>
        </p:spPr>
        <p:txBody>
          <a:bodyPr wrap="square" lIns="0" tIns="0" rIns="0" bIns="0" rtlCol="0" anchor="t"/>
          <a:lstStyle/>
          <a:p>
            <a:pPr indent="0" marL="0">
              <a:lnSpc>
                <a:spcPct val="100000"/>
              </a:lnSpc>
              <a:buNone/>
            </a:pPr>
            <a:r>
              <a:rPr lang="en-US" sz="5400" b="1" dirty="0">
                <a:solidFill>
                  <a:srgbClr val="2A78D6"/>
                </a:solidFill>
                <a:latin typeface="Arial" pitchFamily="34" charset="0"/>
                <a:ea typeface="Arial" pitchFamily="34" charset="-122"/>
                <a:cs typeface="Arial" pitchFamily="34" charset="-120"/>
              </a:rPr>
              <a:t>15 de 20</a:t>
            </a:r>
            <a:endParaRPr lang="en-US" sz="5400" dirty="0"/>
          </a:p>
        </p:txBody>
      </p:sp>
      <p:sp>
        <p:nvSpPr>
          <p:cNvPr id="12" name="Text 9"/>
          <p:cNvSpPr txBox="1"/>
          <p:nvPr/>
        </p:nvSpPr>
        <p:spPr>
          <a:xfrm>
            <a:off x="7726680" y="2816352"/>
            <a:ext cx="39319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semillas en las que gana Hedge cuando el usuario reporta 1 de cada 20 mensajes</a:t>
            </a:r>
            <a:endParaRPr lang="en-US" sz="1500" dirty="0"/>
          </a:p>
        </p:txBody>
      </p:sp>
      <p:sp>
        <p:nvSpPr>
          <p:cNvPr id="13" name="Text 10"/>
          <p:cNvSpPr txBox="1"/>
          <p:nvPr/>
        </p:nvSpPr>
        <p:spPr>
          <a:xfrm>
            <a:off x="7726680" y="3657600"/>
            <a:ext cx="3931920" cy="670560"/>
          </a:xfrm>
          <a:prstGeom prst="rect">
            <a:avLst/>
          </a:prstGeom>
          <a:noFill/>
          <a:ln/>
        </p:spPr>
        <p:txBody>
          <a:bodyPr wrap="square" lIns="0" tIns="0" rIns="0" bIns="0" rtlCol="0" anchor="t"/>
          <a:lstStyle/>
          <a:p>
            <a:pPr indent="0" marL="0">
              <a:lnSpc>
                <a:spcPct val="100000"/>
              </a:lnSpc>
              <a:buNone/>
            </a:pPr>
            <a:r>
              <a:rPr lang="en-US" sz="4400" b="1" dirty="0">
                <a:solidFill>
                  <a:srgbClr val="1BAF7A"/>
                </a:solidFill>
                <a:latin typeface="Arial" pitchFamily="34" charset="0"/>
                <a:ea typeface="Arial" pitchFamily="34" charset="-122"/>
                <a:cs typeface="Arial" pitchFamily="34" charset="-120"/>
              </a:rPr>
              <a:t>210 &gt; 190</a:t>
            </a:r>
            <a:endParaRPr lang="en-US" sz="4400" dirty="0"/>
          </a:p>
        </p:txBody>
      </p:sp>
      <p:sp>
        <p:nvSpPr>
          <p:cNvPr id="14" name="Text 11"/>
          <p:cNvSpPr txBox="1"/>
          <p:nvPr/>
        </p:nvSpPr>
        <p:spPr>
          <a:xfrm>
            <a:off x="7726680" y="4401312"/>
            <a:ext cx="39319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errores: con tan pocas etiquetas, SGD termina peor que no adaptarse</a:t>
            </a:r>
            <a:endParaRPr lang="en-US" sz="1500" dirty="0"/>
          </a:p>
        </p:txBody>
      </p:sp>
      <p:sp>
        <p:nvSpPr>
          <p:cNvPr id="15" name="Text 12"/>
          <p:cNvSpPr txBox="1"/>
          <p:nvPr/>
        </p:nvSpPr>
        <p:spPr>
          <a:xfrm>
            <a:off x="7726680" y="5440680"/>
            <a:ext cx="393192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Con 1 de cada 5 o más, reentrenar gana en al menos 18 de 20 semillas.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Barrido de ρ, la probabilidad de ver la etiqueta. Hedge usa el estimador ℓ/ρ con η_ρ = √ρ · η_T.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2</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No es un artefacto de cómo se pondera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con 1 de cada 20 mensajes etiquetado.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actual)"/>
          <p:cNvSpPr/>
          <p:nvPr/>
        </p:nvSpPr>
        <p:spPr>
          <a:xfrm>
            <a:off x="11100816" y="457200"/>
            <a:ext cx="137160" cy="137160"/>
          </a:xfrm>
          <a:prstGeom prst="ellipse">
            <a:avLst/>
          </a:prstGeom>
          <a:solidFill>
            <a:srgbClr val="1F2430"/>
          </a:solidFill>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SGD online sin reponderar comete 210 errores; reponderado por 1 sobre raíz de rho, 240; por 1 sobre rho, 323. Hedge comete 189.">    </p:cNvPr>
          <p:cNvPicPr>
            <a:picLocks noChangeAspect="1"/>
          </p:cNvPicPr>
          <p:nvPr/>
        </p:nvPicPr>
        <p:blipFill>
          <a:blip r:embed="rId1"/>
          <a:stretch>
            <a:fillRect/>
          </a:stretch>
        </p:blipFill>
        <p:spPr>
          <a:xfrm>
            <a:off x="411480" y="1828800"/>
            <a:ext cx="6949440" cy="3897102"/>
          </a:xfrm>
          <a:prstGeom prst="rect">
            <a:avLst/>
          </a:prstGeom>
        </p:spPr>
      </p:pic>
      <p:sp>
        <p:nvSpPr>
          <p:cNvPr id="11" name="Text 8"/>
          <p:cNvSpPr txBox="1"/>
          <p:nvPr/>
        </p:nvSpPr>
        <p:spPr>
          <a:xfrm>
            <a:off x="7726680" y="1920240"/>
            <a:ext cx="3931920" cy="109728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¿Y si SGD compensa las etiquetas que faltan pesando más cada ejemplo, como hace Hedge?</a:t>
            </a:r>
            <a:endParaRPr lang="en-US" sz="2000" dirty="0"/>
          </a:p>
        </p:txBody>
      </p:sp>
      <p:sp>
        <p:nvSpPr>
          <p:cNvPr id="12" name="Text 9"/>
          <p:cNvSpPr txBox="1"/>
          <p:nvPr/>
        </p:nvSpPr>
        <p:spPr>
          <a:xfrm>
            <a:off x="7726680" y="3108960"/>
            <a:ext cx="3931920" cy="5486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Empeora: con pocos ejemplos, pasos más grandes sobreajustan a cada uno.</a:t>
            </a:r>
            <a:endParaRPr lang="en-US" sz="1500" dirty="0"/>
          </a:p>
        </p:txBody>
      </p:sp>
      <p:sp>
        <p:nvSpPr>
          <p:cNvPr id="13" name="Shape 10"/>
          <p:cNvSpPr/>
          <p:nvPr/>
        </p:nvSpPr>
        <p:spPr>
          <a:xfrm>
            <a:off x="7726680" y="3931920"/>
            <a:ext cx="3913632" cy="0"/>
          </a:xfrm>
          <a:prstGeom prst="line">
            <a:avLst/>
          </a:prstGeom>
          <a:noFill/>
          <a:ln w="9525">
            <a:solidFill>
              <a:srgbClr val="D9D6CE"/>
            </a:solidFill>
            <a:prstDash val="solid"/>
          </a:ln>
        </p:spPr>
      </p:sp>
      <p:sp>
        <p:nvSpPr>
          <p:cNvPr id="14" name="Text 11"/>
          <p:cNvSpPr txBox="1"/>
          <p:nvPr/>
        </p:nvSpPr>
        <p:spPr>
          <a:xfrm>
            <a:off x="7726680" y="4114800"/>
            <a:ext cx="3931920" cy="105156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Hedge aprende 5 pesos. Reentrenar, uno por cada palabra nueva.</a:t>
            </a:r>
            <a:endParaRPr lang="en-US" sz="2200" dirty="0"/>
          </a:p>
        </p:txBody>
      </p:sp>
      <p:sp>
        <p:nvSpPr>
          <p:cNvPr id="15" name="Text 12"/>
          <p:cNvSpPr txBox="1"/>
          <p:nvPr/>
        </p:nvSpPr>
        <p:spPr>
          <a:xfrm>
            <a:off x="7726680" y="5303520"/>
            <a:ext cx="393192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 que sí paga Hedge es varianza: con ρ = 0,05 cada observación pesa ≈ 4,5 veces más.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3 · LA TEORÍA, CON PRECISIÓN</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La cota de la teoría no es la del voto pesado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actual)"/>
          <p:cNvSpPr/>
          <p:nvPr/>
        </p:nvSpPr>
        <p:spPr>
          <a:xfrm>
            <a:off x="11301984" y="457200"/>
            <a:ext cx="137160" cy="137160"/>
          </a:xfrm>
          <a:prstGeom prst="ellipse">
            <a:avLst/>
          </a:prstGeom>
          <a:solidFill>
            <a:srgbClr val="1F2430"/>
          </a:solidFill>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Text 7"/>
          <p:cNvSpPr txBox="1"/>
          <p:nvPr/>
        </p:nvSpPr>
        <p:spPr>
          <a:xfrm>
            <a:off x="548640" y="1783080"/>
            <a:ext cx="4572000" cy="27432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En clase se presentan juntos:</a:t>
            </a:r>
            <a:endParaRPr lang="en-US" sz="1500" dirty="0"/>
          </a:p>
        </p:txBody>
      </p:sp>
      <p:sp>
        <p:nvSpPr>
          <p:cNvPr id="10" name="punto Voto pesado determinístico"/>
          <p:cNvSpPr/>
          <p:nvPr/>
        </p:nvSpPr>
        <p:spPr>
          <a:xfrm>
            <a:off x="548640" y="2295144"/>
            <a:ext cx="219456" cy="219456"/>
          </a:xfrm>
          <a:prstGeom prst="ellipse">
            <a:avLst/>
          </a:prstGeom>
          <a:solidFill>
            <a:srgbClr val="E34948"/>
          </a:solidFill>
          <a:ln/>
        </p:spPr>
      </p:sp>
      <p:sp>
        <p:nvSpPr>
          <p:cNvPr id="11" name="Text 9"/>
          <p:cNvSpPr txBox="1"/>
          <p:nvPr/>
        </p:nvSpPr>
        <p:spPr>
          <a:xfrm>
            <a:off x="932688" y="2240280"/>
            <a:ext cx="418795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Voto pesado determinístico</a:t>
            </a:r>
            <a:endParaRPr lang="en-US" sz="1600" dirty="0"/>
          </a:p>
        </p:txBody>
      </p:sp>
      <p:sp>
        <p:nvSpPr>
          <p:cNvPr id="12" name="Text 10"/>
          <p:cNvSpPr txBox="1"/>
          <p:nvPr/>
        </p:nvSpPr>
        <p:spPr>
          <a:xfrm>
            <a:off x="932688" y="2569464"/>
            <a:ext cx="418795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predice lo que dice la mayoría ponderada</a:t>
            </a:r>
            <a:endParaRPr lang="en-US" sz="1300" dirty="0"/>
          </a:p>
        </p:txBody>
      </p:sp>
      <p:sp>
        <p:nvSpPr>
          <p:cNvPr id="13" name="punto Hedge randomizado"/>
          <p:cNvSpPr/>
          <p:nvPr/>
        </p:nvSpPr>
        <p:spPr>
          <a:xfrm>
            <a:off x="548640" y="3118104"/>
            <a:ext cx="219456" cy="219456"/>
          </a:xfrm>
          <a:prstGeom prst="ellipse">
            <a:avLst/>
          </a:prstGeom>
          <a:solidFill>
            <a:srgbClr val="2A78D6"/>
          </a:solidFill>
          <a:ln/>
        </p:spPr>
      </p:sp>
      <p:sp>
        <p:nvSpPr>
          <p:cNvPr id="14" name="Text 12"/>
          <p:cNvSpPr txBox="1"/>
          <p:nvPr/>
        </p:nvSpPr>
        <p:spPr>
          <a:xfrm>
            <a:off x="932688" y="3063240"/>
            <a:ext cx="418795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Hedge randomizado</a:t>
            </a:r>
            <a:endParaRPr lang="en-US" sz="1600" dirty="0"/>
          </a:p>
        </p:txBody>
      </p:sp>
      <p:sp>
        <p:nvSpPr>
          <p:cNvPr id="15" name="Text 13"/>
          <p:cNvSpPr txBox="1"/>
          <p:nvPr/>
        </p:nvSpPr>
        <p:spPr>
          <a:xfrm>
            <a:off x="932688" y="3392424"/>
            <a:ext cx="418795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sortea un experto según los pesos: para este vale la cota</a:t>
            </a:r>
            <a:endParaRPr lang="en-US" sz="1300" dirty="0"/>
          </a:p>
        </p:txBody>
      </p:sp>
      <p:sp>
        <p:nvSpPr>
          <p:cNvPr id="16" name="Shape 14"/>
          <p:cNvSpPr/>
          <p:nvPr/>
        </p:nvSpPr>
        <p:spPr>
          <a:xfrm>
            <a:off x="548640" y="3977640"/>
            <a:ext cx="4572000" cy="0"/>
          </a:xfrm>
          <a:prstGeom prst="line">
            <a:avLst/>
          </a:prstGeom>
          <a:noFill/>
          <a:ln w="9525">
            <a:solidFill>
              <a:srgbClr val="D9D6CE"/>
            </a:solidFill>
            <a:prstDash val="solid"/>
          </a:ln>
        </p:spPr>
      </p:sp>
      <p:sp>
        <p:nvSpPr>
          <p:cNvPr id="17" name="Text 15"/>
          <p:cNvSpPr txBox="1"/>
          <p:nvPr/>
        </p:nvSpPr>
        <p:spPr>
          <a:xfrm>
            <a:off x="548640" y="4160520"/>
            <a:ext cx="4572000" cy="100584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Si el jugador es predecible, un adversario lo simula y etiqueta lo contrario: lo hace errar siempre.</a:t>
            </a:r>
            <a:endParaRPr lang="en-US" sz="2000" dirty="0"/>
          </a:p>
        </p:txBody>
      </p:sp>
      <p:sp>
        <p:nvSpPr>
          <p:cNvPr id="18" name="Text 16"/>
          <p:cNvSpPr txBox="1"/>
          <p:nvPr/>
        </p:nvSpPr>
        <p:spPr>
          <a:xfrm>
            <a:off x="548640" y="5349240"/>
            <a:ext cx="457200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En nuestro stream de spam, que es benigno, el determinístico incluso anda mejor (regret −2,6).</a:t>
            </a:r>
            <a:endParaRPr lang="en-US" sz="1300" dirty="0"/>
          </a:p>
        </p:txBody>
      </p:sp>
      <p:pic>
        <p:nvPicPr>
          <p:cNvPr id="19" name="Image 0" descr="Regret frente a un adversario que simula al jugador. El voto pesado determinístico llega a 2.000, T sobre 2; Hedge randomizado queda en 14, bajo su cota de 37.">    </p:cNvPr>
          <p:cNvPicPr>
            <a:picLocks noChangeAspect="1"/>
          </p:cNvPicPr>
          <p:nvPr/>
        </p:nvPicPr>
        <p:blipFill>
          <a:blip r:embed="rId1"/>
          <a:stretch>
            <a:fillRect/>
          </a:stretch>
        </p:blipFill>
        <p:spPr>
          <a:xfrm>
            <a:off x="5440680" y="1737360"/>
            <a:ext cx="6263640" cy="4276573"/>
          </a:xfrm>
          <a:prstGeom prst="rect">
            <a:avLst/>
          </a:prstGeom>
        </p:spPr>
      </p:pic>
      <p:sp>
        <p:nvSpPr>
          <p:cNvPr id="20" name="Text 17"/>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Secuencia sintética de 4.000 rondas con 2 expertos. Slides 71 y 73 de la clase 2.</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3</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Cada cota vale para su tasa de aprendizaje</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Regret de Hedge en el stream atacado, con dos formas de elegir η.</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actual)"/>
          <p:cNvSpPr/>
          <p:nvPr/>
        </p:nvSpPr>
        <p:spPr>
          <a:xfrm>
            <a:off x="11301984" y="457200"/>
            <a:ext cx="137160" cy="137160"/>
          </a:xfrm>
          <a:prstGeom prst="ellipse">
            <a:avLst/>
          </a:prstGeom>
          <a:solidFill>
            <a:srgbClr val="1F2430"/>
          </a:solidFill>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Regret de Hedge con eta de peor caso: 31, bajo su cota de 60. Con eta small-loss: 15, bajo su cota de 25.">    </p:cNvPr>
          <p:cNvPicPr>
            <a:picLocks noChangeAspect="1"/>
          </p:cNvPicPr>
          <p:nvPr/>
        </p:nvPicPr>
        <p:blipFill>
          <a:blip r:embed="rId1"/>
          <a:stretch>
            <a:fillRect/>
          </a:stretch>
        </p:blipFill>
        <p:spPr>
          <a:xfrm>
            <a:off x="411480" y="1783080"/>
            <a:ext cx="6495445" cy="4434840"/>
          </a:xfrm>
          <a:prstGeom prst="rect">
            <a:avLst/>
          </a:prstGeom>
        </p:spPr>
      </p:pic>
      <p:sp>
        <p:nvSpPr>
          <p:cNvPr id="11" name="Text 8"/>
          <p:cNvSpPr txBox="1"/>
          <p:nvPr/>
        </p:nvSpPr>
        <p:spPr>
          <a:xfrm>
            <a:off x="7726680" y="1920240"/>
            <a:ext cx="3931920" cy="86868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Las dos cotas se cumplen en las 20 semillas, cada una con su propio η.</a:t>
            </a:r>
            <a:endParaRPr lang="en-US" sz="2000" dirty="0"/>
          </a:p>
        </p:txBody>
      </p:sp>
      <p:sp>
        <p:nvSpPr>
          <p:cNvPr id="12" name="punto η de peor caso"/>
          <p:cNvSpPr/>
          <p:nvPr/>
        </p:nvSpPr>
        <p:spPr>
          <a:xfrm>
            <a:off x="7726680" y="3072384"/>
            <a:ext cx="219456" cy="219456"/>
          </a:xfrm>
          <a:prstGeom prst="ellipse">
            <a:avLst/>
          </a:prstGeom>
          <a:solidFill>
            <a:srgbClr val="2A78D6"/>
          </a:solidFill>
          <a:ln/>
        </p:spPr>
      </p:sp>
      <p:sp>
        <p:nvSpPr>
          <p:cNvPr id="13" name="Text 10"/>
          <p:cNvSpPr txBox="1"/>
          <p:nvPr/>
        </p:nvSpPr>
        <p:spPr>
          <a:xfrm>
            <a:off x="8110728" y="3017520"/>
            <a:ext cx="35478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η de peor caso</a:t>
            </a:r>
            <a:endParaRPr lang="en-US" sz="1600" dirty="0"/>
          </a:p>
        </p:txBody>
      </p:sp>
      <p:sp>
        <p:nvSpPr>
          <p:cNvPr id="14" name="Text 11"/>
          <p:cNvSpPr txBox="1"/>
          <p:nvPr/>
        </p:nvSpPr>
        <p:spPr>
          <a:xfrm>
            <a:off x="8110728" y="3346704"/>
            <a:ext cx="35478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sintonizado por T: regret 31, cota 60</a:t>
            </a:r>
            <a:endParaRPr lang="en-US" sz="1300" dirty="0"/>
          </a:p>
        </p:txBody>
      </p:sp>
      <p:sp>
        <p:nvSpPr>
          <p:cNvPr id="15" name="punto η small-loss"/>
          <p:cNvSpPr/>
          <p:nvPr/>
        </p:nvSpPr>
        <p:spPr>
          <a:xfrm>
            <a:off x="7726680" y="3895344"/>
            <a:ext cx="219456" cy="219456"/>
          </a:xfrm>
          <a:prstGeom prst="ellipse">
            <a:avLst/>
          </a:prstGeom>
          <a:solidFill>
            <a:srgbClr val="E87BA4"/>
          </a:solidFill>
          <a:ln/>
        </p:spPr>
      </p:sp>
      <p:sp>
        <p:nvSpPr>
          <p:cNvPr id="16" name="Text 13"/>
          <p:cNvSpPr txBox="1"/>
          <p:nvPr/>
        </p:nvSpPr>
        <p:spPr>
          <a:xfrm>
            <a:off x="8110728" y="3840480"/>
            <a:ext cx="35478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η small-loss</a:t>
            </a:r>
            <a:endParaRPr lang="en-US" sz="1600" dirty="0"/>
          </a:p>
        </p:txBody>
      </p:sp>
      <p:sp>
        <p:nvSpPr>
          <p:cNvPr id="17" name="Text 14"/>
          <p:cNvSpPr txBox="1"/>
          <p:nvPr/>
        </p:nvSpPr>
        <p:spPr>
          <a:xfrm>
            <a:off x="8110728" y="4169664"/>
            <a:ext cx="35478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sintonizado por la pérdida del mejor: regret 15, cota 25</a:t>
            </a:r>
            <a:endParaRPr lang="en-US" sz="1300" dirty="0"/>
          </a:p>
        </p:txBody>
      </p:sp>
      <p:sp>
        <p:nvSpPr>
          <p:cNvPr id="18" name="Shape 15"/>
          <p:cNvSpPr/>
          <p:nvPr/>
        </p:nvSpPr>
        <p:spPr>
          <a:xfrm>
            <a:off x="7726680" y="4709160"/>
            <a:ext cx="3913632" cy="0"/>
          </a:xfrm>
          <a:prstGeom prst="line">
            <a:avLst/>
          </a:prstGeom>
          <a:noFill/>
          <a:ln w="9525">
            <a:solidFill>
              <a:srgbClr val="D9D6CE"/>
            </a:solidFill>
            <a:prstDash val="solid"/>
          </a:ln>
        </p:spPr>
      </p:sp>
      <p:sp>
        <p:nvSpPr>
          <p:cNvPr id="19" name="Text 16"/>
          <p:cNvSpPr txBox="1"/>
          <p:nvPr/>
        </p:nvSpPr>
        <p:spPr>
          <a:xfrm>
            <a:off x="7726680" y="4846320"/>
            <a:ext cx="3931920" cy="91440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La small-loss es mejor algoritmo, pero necesita saber de antemano cuántos errores comete el mejor experto: información de oráculo.</a:t>
            </a:r>
            <a:endParaRPr lang="en-US" sz="1400" dirty="0"/>
          </a:p>
        </p:txBody>
      </p:sp>
      <p:sp>
        <p:nvSpPr>
          <p:cNvPr id="20" name="Text 17"/>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La √(2T ln K) de la clase vale 120: correcta, pero el doble de lo necesario.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4 · LECCIONES DE MÉTODO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Tres cosas que sirven fuera de este trabajo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actual)"/>
          <p:cNvSpPr/>
          <p:nvPr/>
        </p:nvSpPr>
        <p:spPr>
          <a:xfrm>
            <a:off x="11503152" y="457200"/>
            <a:ext cx="137160" cy="137160"/>
          </a:xfrm>
          <a:prstGeom prst="ellipse">
            <a:avLst/>
          </a:prstGeom>
          <a:solidFill>
            <a:srgbClr val="1F2430"/>
          </a:solidFill>
          <a:ln/>
        </p:spPr>
      </p:sp>
      <p:sp>
        <p:nvSpPr>
          <p:cNvPr id="9" name="Text 7"/>
          <p:cNvSpPr txBox="1"/>
          <p:nvPr/>
        </p:nvSpPr>
        <p:spPr>
          <a:xfrm>
            <a:off x="548640"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10" name="Text 8"/>
          <p:cNvSpPr txBox="1"/>
          <p:nvPr/>
        </p:nvSpPr>
        <p:spPr>
          <a:xfrm>
            <a:off x="548640"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La accuracy engaña</a:t>
            </a:r>
            <a:endParaRPr lang="en-US" sz="1900" dirty="0"/>
          </a:p>
        </p:txBody>
      </p:sp>
      <p:sp>
        <p:nvSpPr>
          <p:cNvPr id="11" name="Text 9"/>
          <p:cNvSpPr txBox="1"/>
          <p:nvPr/>
        </p:nvSpPr>
        <p:spPr>
          <a:xfrm>
            <a:off x="548640"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Con 13% de spam, no marcar nada acierta el 87%. Medimos spam atrapado, legítimo bloqueado y MCC.</a:t>
            </a:r>
            <a:endParaRPr lang="en-US" sz="1500" dirty="0"/>
          </a:p>
        </p:txBody>
      </p:sp>
      <p:sp>
        <p:nvSpPr>
          <p:cNvPr id="12" name="Shape 10"/>
          <p:cNvSpPr/>
          <p:nvPr/>
        </p:nvSpPr>
        <p:spPr>
          <a:xfrm>
            <a:off x="4142232" y="1828800"/>
            <a:ext cx="0" cy="4023360"/>
          </a:xfrm>
          <a:prstGeom prst="line">
            <a:avLst/>
          </a:prstGeom>
          <a:noFill/>
          <a:ln w="9525">
            <a:solidFill>
              <a:srgbClr val="D9D6CE"/>
            </a:solidFill>
            <a:prstDash val="solid"/>
          </a:ln>
        </p:spPr>
      </p:sp>
      <p:sp>
        <p:nvSpPr>
          <p:cNvPr id="13" name="Text 11"/>
          <p:cNvSpPr txBox="1"/>
          <p:nvPr/>
        </p:nvSpPr>
        <p:spPr>
          <a:xfrm>
            <a:off x="4370832"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1BAF7A"/>
                </a:solidFill>
                <a:latin typeface="Arial" pitchFamily="34" charset="0"/>
                <a:ea typeface="Arial" pitchFamily="34" charset="-122"/>
                <a:cs typeface="Arial" pitchFamily="34" charset="-120"/>
              </a:rPr>
              <a:t>8 de 20</a:t>
            </a:r>
            <a:endParaRPr lang="en-US" sz="5400" dirty="0"/>
          </a:p>
        </p:txBody>
      </p:sp>
      <p:sp>
        <p:nvSpPr>
          <p:cNvPr id="14" name="Text 12"/>
          <p:cNvSpPr txBox="1"/>
          <p:nvPr/>
        </p:nvSpPr>
        <p:spPr>
          <a:xfrm>
            <a:off x="4370832"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La validación cruzada no mide adaptación</a:t>
            </a:r>
            <a:endParaRPr lang="en-US" sz="1900" dirty="0"/>
          </a:p>
        </p:txBody>
      </p:sp>
      <p:sp>
        <p:nvSpPr>
          <p:cNvPr id="15" name="Text 13"/>
          <p:cNvSpPr txBox="1"/>
          <p:nvPr/>
        </p:nvSpPr>
        <p:spPr>
          <a:xfrm>
            <a:off x="4370832"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Sin ataque en el warm-up, eligió mal la regularización de SGD en 8 de 20 semillas: 125 a 153 errores, contra 65 a 83.</a:t>
            </a:r>
            <a:endParaRPr lang="en-US" sz="1500" dirty="0"/>
          </a:p>
        </p:txBody>
      </p:sp>
      <p:sp>
        <p:nvSpPr>
          <p:cNvPr id="16" name="Shape 14"/>
          <p:cNvSpPr/>
          <p:nvPr/>
        </p:nvSpPr>
        <p:spPr>
          <a:xfrm>
            <a:off x="7964424" y="1828800"/>
            <a:ext cx="0" cy="4023360"/>
          </a:xfrm>
          <a:prstGeom prst="line">
            <a:avLst/>
          </a:prstGeom>
          <a:noFill/>
          <a:ln w="9525">
            <a:solidFill>
              <a:srgbClr val="D9D6CE"/>
            </a:solidFill>
            <a:prstDash val="solid"/>
          </a:ln>
        </p:spPr>
      </p:sp>
      <p:sp>
        <p:nvSpPr>
          <p:cNvPr id="17" name="Text 15"/>
          <p:cNvSpPr txBox="1"/>
          <p:nvPr/>
        </p:nvSpPr>
        <p:spPr>
          <a:xfrm>
            <a:off x="8193024"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EB6834"/>
                </a:solidFill>
                <a:latin typeface="Arial" pitchFamily="34" charset="0"/>
                <a:ea typeface="Arial" pitchFamily="34" charset="-122"/>
                <a:cs typeface="Arial" pitchFamily="34" charset="-120"/>
              </a:rPr>
              <a:t>0,995</a:t>
            </a:r>
            <a:endParaRPr lang="en-US" sz="5400" dirty="0"/>
          </a:p>
        </p:txBody>
      </p:sp>
      <p:sp>
        <p:nvSpPr>
          <p:cNvPr id="18" name="Text 16"/>
          <p:cNvSpPr txBox="1"/>
          <p:nvPr/>
        </p:nvSpPr>
        <p:spPr>
          <a:xfrm>
            <a:off x="8193024"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Combinar necesita un experto que sobreviva</a:t>
            </a:r>
            <a:endParaRPr lang="en-US" sz="1900" dirty="0"/>
          </a:p>
        </p:txBody>
      </p:sp>
      <p:sp>
        <p:nvSpPr>
          <p:cNvPr id="19" name="Text 17"/>
          <p:cNvSpPr txBox="1"/>
          <p:nvPr/>
        </p:nvSpPr>
        <p:spPr>
          <a:xfrm>
            <a:off x="8193024"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Si ningún experto resiste el ataque, Hedge deja 0,995 del peso en el modelo dañado y no recupera nada.</a:t>
            </a:r>
            <a:endParaRPr lang="en-US" sz="1500" dirty="0"/>
          </a:p>
        </p:txBody>
      </p:sp>
      <p:sp>
        <p:nvSpPr>
          <p:cNvPr id="20" name="Text 1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El 0,995 es de la primera versión del experto estructural, con 5 rasgos, en la semilla de desarrollo.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9AA1AE"/>
                </a:solidFill>
                <a:latin typeface="Arial" pitchFamily="34" charset="0"/>
                <a:ea typeface="Arial" pitchFamily="34" charset="-122"/>
                <a:cs typeface="Arial" pitchFamily="34" charset="-120"/>
              </a:rPr>
              <a:t>EN RESUMEN</a:t>
            </a:r>
            <a:endParaRPr lang="en-US" sz="1100" dirty="0"/>
          </a:p>
        </p:txBody>
      </p:sp>
      <p:sp>
        <p:nvSpPr>
          <p:cNvPr id="3" name="Text 1"/>
          <p:cNvSpPr txBox="1"/>
          <p:nvPr/>
        </p:nvSpPr>
        <p:spPr>
          <a:xfrm>
            <a:off x="548640" y="731520"/>
            <a:ext cx="10972800" cy="640080"/>
          </a:xfrm>
          <a:prstGeom prst="rect">
            <a:avLst/>
          </a:prstGeom>
          <a:noFill/>
          <a:ln/>
        </p:spPr>
        <p:txBody>
          <a:bodyPr wrap="square" lIns="0" tIns="0" rIns="0" bIns="0" rtlCol="0" anchor="t"/>
          <a:lstStyle/>
          <a:p>
            <a:pPr indent="0" marL="0">
              <a:lnSpc>
                <a:spcPct val="100000"/>
              </a:lnSpc>
              <a:buNone/>
            </a:pPr>
            <a:r>
              <a:rPr lang="en-US" sz="3400" dirty="0">
                <a:solidFill>
                  <a:srgbClr val="FFFFFF"/>
                </a:solidFill>
                <a:latin typeface="Georgia" pitchFamily="34" charset="0"/>
                <a:ea typeface="Georgia" pitchFamily="34" charset="-122"/>
                <a:cs typeface="Georgia" pitchFamily="34" charset="-120"/>
              </a:rPr>
              <a:t>Cuándo combinar y cuándo reentrenar</a:t>
            </a:r>
            <a:endParaRPr lang="en-US" sz="3400" dirty="0"/>
          </a:p>
        </p:txBody>
      </p:sp>
      <p:sp>
        <p:nvSpPr>
          <p:cNvPr id="4" name="Shape 2"/>
          <p:cNvSpPr/>
          <p:nvPr/>
        </p:nvSpPr>
        <p:spPr>
          <a:xfrm>
            <a:off x="548640" y="1645920"/>
            <a:ext cx="11091672" cy="0"/>
          </a:xfrm>
          <a:prstGeom prst="line">
            <a:avLst/>
          </a:prstGeom>
          <a:noFill/>
          <a:ln w="9525">
            <a:solidFill>
              <a:srgbClr val="3A4152"/>
            </a:solidFill>
            <a:prstDash val="solid"/>
          </a:ln>
        </p:spPr>
      </p:sp>
      <p:sp>
        <p:nvSpPr>
          <p:cNvPr id="5" name="fila 1"/>
          <p:cNvSpPr/>
          <p:nvPr/>
        </p:nvSpPr>
        <p:spPr>
          <a:xfrm>
            <a:off x="548640" y="1901952"/>
            <a:ext cx="274320" cy="274320"/>
          </a:xfrm>
          <a:prstGeom prst="ellipse">
            <a:avLst/>
          </a:prstGeom>
          <a:solidFill>
            <a:srgbClr val="1BAF7A"/>
          </a:solidFill>
          <a:ln/>
        </p:spPr>
      </p:sp>
      <p:sp>
        <p:nvSpPr>
          <p:cNvPr id="6" name="Text 4"/>
          <p:cNvSpPr txBox="1"/>
          <p:nvPr/>
        </p:nvSpPr>
        <p:spPr>
          <a:xfrm>
            <a:off x="1051560" y="182880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Etiquetas abundantes</a:t>
            </a:r>
            <a:endParaRPr lang="en-US" sz="2400" dirty="0"/>
          </a:p>
        </p:txBody>
      </p:sp>
      <p:sp>
        <p:nvSpPr>
          <p:cNvPr id="7" name="Text 5"/>
          <p:cNvSpPr txBox="1"/>
          <p:nvPr/>
        </p:nvSpPr>
        <p:spPr>
          <a:xfrm>
            <a:off x="5029200" y="187452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Reentrenar: SGD online comete 73 errores, contra 133 de Hedge.</a:t>
            </a:r>
            <a:endParaRPr lang="en-US" sz="1800" dirty="0"/>
          </a:p>
        </p:txBody>
      </p:sp>
      <p:sp>
        <p:nvSpPr>
          <p:cNvPr id="8" name="Shape 6"/>
          <p:cNvSpPr/>
          <p:nvPr/>
        </p:nvSpPr>
        <p:spPr>
          <a:xfrm>
            <a:off x="548640" y="2697480"/>
            <a:ext cx="11091672" cy="0"/>
          </a:xfrm>
          <a:prstGeom prst="line">
            <a:avLst/>
          </a:prstGeom>
          <a:noFill/>
          <a:ln w="9525">
            <a:solidFill>
              <a:srgbClr val="3A4152"/>
            </a:solidFill>
            <a:prstDash val="solid"/>
          </a:ln>
        </p:spPr>
      </p:sp>
      <p:sp>
        <p:nvSpPr>
          <p:cNvPr id="9" name="fila 2"/>
          <p:cNvSpPr/>
          <p:nvPr/>
        </p:nvSpPr>
        <p:spPr>
          <a:xfrm>
            <a:off x="548640" y="2953512"/>
            <a:ext cx="274320" cy="274320"/>
          </a:xfrm>
          <a:prstGeom prst="ellipse">
            <a:avLst/>
          </a:prstGeom>
          <a:solidFill>
            <a:srgbClr val="2A78D6"/>
          </a:solidFill>
          <a:ln/>
        </p:spPr>
      </p:sp>
      <p:sp>
        <p:nvSpPr>
          <p:cNvPr id="10" name="Text 8"/>
          <p:cNvSpPr txBox="1"/>
          <p:nvPr/>
        </p:nvSpPr>
        <p:spPr>
          <a:xfrm>
            <a:off x="1051560" y="288036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Etiquetas escasas</a:t>
            </a:r>
            <a:endParaRPr lang="en-US" sz="2400" dirty="0"/>
          </a:p>
        </p:txBody>
      </p:sp>
      <p:sp>
        <p:nvSpPr>
          <p:cNvPr id="11" name="Text 9"/>
          <p:cNvSpPr txBox="1"/>
          <p:nvPr/>
        </p:nvSpPr>
        <p:spPr>
          <a:xfrm>
            <a:off x="5029200" y="292608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Combinar expertos diversos, con al menos uno robusto al ataque.</a:t>
            </a:r>
            <a:endParaRPr lang="en-US" sz="1800" dirty="0"/>
          </a:p>
        </p:txBody>
      </p:sp>
      <p:sp>
        <p:nvSpPr>
          <p:cNvPr id="12" name="Shape 10"/>
          <p:cNvSpPr/>
          <p:nvPr/>
        </p:nvSpPr>
        <p:spPr>
          <a:xfrm>
            <a:off x="548640" y="3749040"/>
            <a:ext cx="11091672" cy="0"/>
          </a:xfrm>
          <a:prstGeom prst="line">
            <a:avLst/>
          </a:prstGeom>
          <a:noFill/>
          <a:ln w="9525">
            <a:solidFill>
              <a:srgbClr val="3A4152"/>
            </a:solidFill>
            <a:prstDash val="solid"/>
          </a:ln>
        </p:spPr>
      </p:sp>
      <p:sp>
        <p:nvSpPr>
          <p:cNvPr id="13" name="fila 3"/>
          <p:cNvSpPr/>
          <p:nvPr/>
        </p:nvSpPr>
        <p:spPr>
          <a:xfrm>
            <a:off x="548640" y="4005072"/>
            <a:ext cx="274320" cy="274320"/>
          </a:xfrm>
          <a:prstGeom prst="ellipse">
            <a:avLst/>
          </a:prstGeom>
          <a:solidFill>
            <a:srgbClr val="C8CEDA"/>
          </a:solidFill>
          <a:ln/>
        </p:spPr>
      </p:sp>
      <p:sp>
        <p:nvSpPr>
          <p:cNvPr id="14" name="Text 12"/>
          <p:cNvSpPr txBox="1"/>
          <p:nvPr/>
        </p:nvSpPr>
        <p:spPr>
          <a:xfrm>
            <a:off x="1051560" y="393192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Siempre</a:t>
            </a:r>
            <a:endParaRPr lang="en-US" sz="2400" dirty="0"/>
          </a:p>
        </p:txBody>
      </p:sp>
      <p:sp>
        <p:nvSpPr>
          <p:cNvPr id="15" name="Text 13"/>
          <p:cNvSpPr txBox="1"/>
          <p:nvPr/>
        </p:nvSpPr>
        <p:spPr>
          <a:xfrm>
            <a:off x="5029200" y="397764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Medir spam atrapado y legítimo bloqueado por separado, no accuracy.</a:t>
            </a:r>
            <a:endParaRPr lang="en-US" sz="1800" dirty="0"/>
          </a:p>
        </p:txBody>
      </p:sp>
      <p:sp>
        <p:nvSpPr>
          <p:cNvPr id="16" name="Shape 14"/>
          <p:cNvSpPr/>
          <p:nvPr/>
        </p:nvSpPr>
        <p:spPr>
          <a:xfrm>
            <a:off x="548640" y="4800600"/>
            <a:ext cx="11091672" cy="0"/>
          </a:xfrm>
          <a:prstGeom prst="line">
            <a:avLst/>
          </a:prstGeom>
          <a:noFill/>
          <a:ln w="9525">
            <a:solidFill>
              <a:srgbClr val="3A4152"/>
            </a:solidFill>
            <a:prstDash val="solid"/>
          </a:ln>
        </p:spPr>
      </p:sp>
      <p:sp>
        <p:nvSpPr>
          <p:cNvPr id="17" name="Text 15"/>
          <p:cNvSpPr txBox="1"/>
          <p:nvPr/>
        </p:nvSpPr>
        <p:spPr>
          <a:xfrm>
            <a:off x="548640" y="5257800"/>
            <a:ext cx="11064240" cy="640080"/>
          </a:xfrm>
          <a:prstGeom prst="rect">
            <a:avLst/>
          </a:prstGeom>
          <a:noFill/>
          <a:ln/>
        </p:spPr>
        <p:txBody>
          <a:bodyPr wrap="square" lIns="0" tIns="0" rIns="0" bIns="0" rtlCol="0" anchor="t"/>
          <a:lstStyle/>
          <a:p>
            <a:pPr indent="0" marL="0">
              <a:lnSpc>
                <a:spcPct val="100000"/>
              </a:lnSpc>
              <a:buNone/>
            </a:pPr>
            <a:r>
              <a:rPr lang="en-US" sz="2000" i="1" dirty="0">
                <a:solidFill>
                  <a:srgbClr val="AFCBEE"/>
                </a:solidFill>
                <a:latin typeface="Georgia" pitchFamily="34" charset="0"/>
                <a:ea typeface="Georgia" pitchFamily="34" charset="-122"/>
                <a:cs typeface="Georgia" pitchFamily="34" charset="-120"/>
              </a:rPr>
              <a:t>Pregunta abierta: ¿y si el modelo que reentrena fuera uno más de los expertos de Hedge? No lo probamos.</a:t>
            </a:r>
            <a:endParaRPr lang="en-US" sz="2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LIMITACIONES</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Lo que este trabajo no muestra</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Shape 7"/>
          <p:cNvSpPr/>
          <p:nvPr/>
        </p:nvSpPr>
        <p:spPr>
          <a:xfrm>
            <a:off x="548640" y="1828800"/>
            <a:ext cx="3520440" cy="0"/>
          </a:xfrm>
          <a:prstGeom prst="line">
            <a:avLst/>
          </a:prstGeom>
          <a:noFill/>
          <a:ln w="9525">
            <a:solidFill>
              <a:srgbClr val="1F2430"/>
            </a:solidFill>
            <a:prstDash val="solid"/>
          </a:ln>
        </p:spPr>
      </p:sp>
      <p:sp>
        <p:nvSpPr>
          <p:cNvPr id="10" name="Text 8"/>
          <p:cNvSpPr txBox="1"/>
          <p:nvPr/>
        </p:nvSpPr>
        <p:spPr>
          <a:xfrm>
            <a:off x="548640"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Drift sintético</a:t>
            </a:r>
            <a:endParaRPr lang="en-US" sz="1900" dirty="0"/>
          </a:p>
        </p:txBody>
      </p:sp>
      <p:sp>
        <p:nvSpPr>
          <p:cNvPr id="11" name="Text 9"/>
          <p:cNvSpPr txBox="1"/>
          <p:nvPr/>
        </p:nvSpPr>
        <p:spPr>
          <a:xfrm>
            <a:off x="548640"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El corpus no tiene fechas: el orden y el ataque son nuestros.</a:t>
            </a:r>
            <a:endParaRPr lang="en-US" sz="1500" dirty="0"/>
          </a:p>
        </p:txBody>
      </p:sp>
      <p:sp>
        <p:nvSpPr>
          <p:cNvPr id="12" name="Shape 10"/>
          <p:cNvSpPr/>
          <p:nvPr/>
        </p:nvSpPr>
        <p:spPr>
          <a:xfrm>
            <a:off x="4370832" y="1828800"/>
            <a:ext cx="3520440" cy="0"/>
          </a:xfrm>
          <a:prstGeom prst="line">
            <a:avLst/>
          </a:prstGeom>
          <a:noFill/>
          <a:ln w="9525">
            <a:solidFill>
              <a:srgbClr val="1F2430"/>
            </a:solidFill>
            <a:prstDash val="solid"/>
          </a:ln>
        </p:spPr>
      </p:sp>
      <p:sp>
        <p:nvSpPr>
          <p:cNvPr id="13" name="Text 11"/>
          <p:cNvSpPr txBox="1"/>
          <p:nvPr/>
        </p:nvSpPr>
        <p:spPr>
          <a:xfrm>
            <a:off x="4370832"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Adversario que no reacciona</a:t>
            </a:r>
            <a:endParaRPr lang="en-US" sz="1900" dirty="0"/>
          </a:p>
        </p:txBody>
      </p:sp>
      <p:sp>
        <p:nvSpPr>
          <p:cNvPr id="14" name="Text 12"/>
          <p:cNvSpPr txBox="1"/>
          <p:nvPr/>
        </p:nvSpPr>
        <p:spPr>
          <a:xfrm>
            <a:off x="4370832"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Uno adaptativo degradaría las tasas de √T a T^(2/3).</a:t>
            </a:r>
            <a:endParaRPr lang="en-US" sz="1500" dirty="0"/>
          </a:p>
        </p:txBody>
      </p:sp>
      <p:sp>
        <p:nvSpPr>
          <p:cNvPr id="15" name="Shape 13"/>
          <p:cNvSpPr/>
          <p:nvPr/>
        </p:nvSpPr>
        <p:spPr>
          <a:xfrm>
            <a:off x="8193024" y="1828800"/>
            <a:ext cx="3520440" cy="0"/>
          </a:xfrm>
          <a:prstGeom prst="line">
            <a:avLst/>
          </a:prstGeom>
          <a:noFill/>
          <a:ln w="9525">
            <a:solidFill>
              <a:srgbClr val="1F2430"/>
            </a:solidFill>
            <a:prstDash val="solid"/>
          </a:ln>
        </p:spPr>
      </p:sp>
      <p:sp>
        <p:nvSpPr>
          <p:cNvPr id="16" name="Text 14"/>
          <p:cNvSpPr txBox="1"/>
          <p:nvPr/>
        </p:nvSpPr>
        <p:spPr>
          <a:xfrm>
            <a:off x="8193024"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Experto robusto por construcción</a:t>
            </a:r>
            <a:endParaRPr lang="en-US" sz="1900" dirty="0"/>
          </a:p>
        </p:txBody>
      </p:sp>
      <p:sp>
        <p:nvSpPr>
          <p:cNvPr id="17" name="Text 15"/>
          <p:cNvSpPr txBox="1"/>
          <p:nvPr/>
        </p:nvSpPr>
        <p:spPr>
          <a:xfrm>
            <a:off x="8193024"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El ataque no toca dígitos ni símbolos; uno que lo hiciera lo rompería.</a:t>
            </a:r>
            <a:endParaRPr lang="en-US" sz="1500" dirty="0"/>
          </a:p>
        </p:txBody>
      </p:sp>
      <p:sp>
        <p:nvSpPr>
          <p:cNvPr id="18" name="Shape 16"/>
          <p:cNvSpPr/>
          <p:nvPr/>
        </p:nvSpPr>
        <p:spPr>
          <a:xfrm>
            <a:off x="548640" y="3931920"/>
            <a:ext cx="3520440" cy="0"/>
          </a:xfrm>
          <a:prstGeom prst="line">
            <a:avLst/>
          </a:prstGeom>
          <a:noFill/>
          <a:ln w="9525">
            <a:solidFill>
              <a:srgbClr val="1F2430"/>
            </a:solidFill>
            <a:prstDash val="solid"/>
          </a:ln>
        </p:spPr>
      </p:sp>
      <p:sp>
        <p:nvSpPr>
          <p:cNvPr id="19" name="Text 17"/>
          <p:cNvSpPr txBox="1"/>
          <p:nvPr/>
        </p:nvSpPr>
        <p:spPr>
          <a:xfrm>
            <a:off x="548640"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Pérdida 0-1 simétrica</a:t>
            </a:r>
            <a:endParaRPr lang="en-US" sz="1900" dirty="0"/>
          </a:p>
        </p:txBody>
      </p:sp>
      <p:sp>
        <p:nvSpPr>
          <p:cNvPr id="20" name="Text 18"/>
          <p:cNvSpPr txBox="1"/>
          <p:nvPr/>
        </p:nvSpPr>
        <p:spPr>
          <a:xfrm>
            <a:off x="548640"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Bloquear un mensaje legítimo cuesta más que dejar pasar spam.</a:t>
            </a:r>
            <a:endParaRPr lang="en-US" sz="1500" dirty="0"/>
          </a:p>
        </p:txBody>
      </p:sp>
      <p:sp>
        <p:nvSpPr>
          <p:cNvPr id="21" name="Shape 19"/>
          <p:cNvSpPr/>
          <p:nvPr/>
        </p:nvSpPr>
        <p:spPr>
          <a:xfrm>
            <a:off x="4370832" y="3931920"/>
            <a:ext cx="3520440" cy="0"/>
          </a:xfrm>
          <a:prstGeom prst="line">
            <a:avLst/>
          </a:prstGeom>
          <a:noFill/>
          <a:ln w="9525">
            <a:solidFill>
              <a:srgbClr val="1F2430"/>
            </a:solidFill>
            <a:prstDash val="solid"/>
          </a:ln>
        </p:spPr>
      </p:sp>
      <p:sp>
        <p:nvSpPr>
          <p:cNvPr id="22" name="Text 20"/>
          <p:cNvSpPr txBox="1"/>
          <p:nvPr/>
        </p:nvSpPr>
        <p:spPr>
          <a:xfrm>
            <a:off x="4370832"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Etiqueta de dos lados</a:t>
            </a:r>
            <a:endParaRPr lang="en-US" sz="1900" dirty="0"/>
          </a:p>
        </p:txBody>
      </p:sp>
      <p:sp>
        <p:nvSpPr>
          <p:cNvPr id="23" name="Text 21"/>
          <p:cNvSpPr txBox="1"/>
          <p:nvPr/>
        </p:nvSpPr>
        <p:spPr>
          <a:xfrm>
            <a:off x="4370832"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En la práctica solo se ven los errores de lo que se entrega.</a:t>
            </a:r>
            <a:endParaRPr lang="en-US" sz="1500" dirty="0"/>
          </a:p>
        </p:txBody>
      </p:sp>
      <p:sp>
        <p:nvSpPr>
          <p:cNvPr id="24" name="Shape 22"/>
          <p:cNvSpPr/>
          <p:nvPr/>
        </p:nvSpPr>
        <p:spPr>
          <a:xfrm>
            <a:off x="8193024" y="3931920"/>
            <a:ext cx="3520440" cy="0"/>
          </a:xfrm>
          <a:prstGeom prst="line">
            <a:avLst/>
          </a:prstGeom>
          <a:noFill/>
          <a:ln w="9525">
            <a:solidFill>
              <a:srgbClr val="1F2430"/>
            </a:solidFill>
            <a:prstDash val="solid"/>
          </a:ln>
        </p:spPr>
      </p:sp>
      <p:sp>
        <p:nvSpPr>
          <p:cNvPr id="25" name="Text 23"/>
          <p:cNvSpPr txBox="1"/>
          <p:nvPr/>
        </p:nvSpPr>
        <p:spPr>
          <a:xfrm>
            <a:off x="8193024"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Un solo corpus</a:t>
            </a:r>
            <a:endParaRPr lang="en-US" sz="1900" dirty="0"/>
          </a:p>
        </p:txBody>
      </p:sp>
      <p:sp>
        <p:nvSpPr>
          <p:cNvPr id="26" name="Text 24"/>
          <p:cNvSpPr txBox="1"/>
          <p:nvPr/>
        </p:nvSpPr>
        <p:spPr>
          <a:xfrm>
            <a:off x="8193024"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5.574 SMS en inglés, ~305 spams atacados por semilla.</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Detalle en la sección de limitaciones del paper.</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920240"/>
            <a:ext cx="7315200" cy="1097280"/>
          </a:xfrm>
          <a:prstGeom prst="rect">
            <a:avLst/>
          </a:prstGeom>
          <a:noFill/>
          <a:ln/>
        </p:spPr>
        <p:txBody>
          <a:bodyPr wrap="square" lIns="0" tIns="0" rIns="0" bIns="0" rtlCol="0" anchor="t"/>
          <a:lstStyle/>
          <a:p>
            <a:pPr indent="0" marL="0">
              <a:lnSpc>
                <a:spcPct val="100000"/>
              </a:lnSpc>
              <a:buNone/>
            </a:pPr>
            <a:r>
              <a:rPr lang="en-US" sz="6400" dirty="0">
                <a:solidFill>
                  <a:srgbClr val="FFFFFF"/>
                </a:solidFill>
                <a:latin typeface="Georgia" pitchFamily="34" charset="0"/>
                <a:ea typeface="Georgia" pitchFamily="34" charset="-122"/>
                <a:cs typeface="Georgia" pitchFamily="34" charset="-120"/>
              </a:rPr>
              <a:t>¿Preguntas?</a:t>
            </a:r>
            <a:endParaRPr lang="en-US" sz="6400" dirty="0"/>
          </a:p>
        </p:txBody>
      </p:sp>
      <p:sp>
        <p:nvSpPr>
          <p:cNvPr id="3" name="Text 1"/>
          <p:cNvSpPr txBox="1"/>
          <p:nvPr/>
        </p:nvSpPr>
        <p:spPr>
          <a:xfrm>
            <a:off x="731520" y="3200400"/>
            <a:ext cx="8229600" cy="411480"/>
          </a:xfrm>
          <a:prstGeom prst="rect">
            <a:avLst/>
          </a:prstGeom>
          <a:noFill/>
          <a:ln/>
        </p:spPr>
        <p:txBody>
          <a:bodyPr wrap="square" lIns="0" tIns="0" rIns="0" bIns="0" rtlCol="0" anchor="t"/>
          <a:lstStyle/>
          <a:p>
            <a:pPr indent="0" marL="0">
              <a:lnSpc>
                <a:spcPct val="100000"/>
              </a:lnSpc>
              <a:buNone/>
            </a:pPr>
            <a:r>
              <a:rPr lang="en-US" sz="2000" dirty="0">
                <a:solidFill>
                  <a:srgbClr val="C8CEDA"/>
                </a:solidFill>
                <a:latin typeface="Arial" pitchFamily="34" charset="0"/>
                <a:ea typeface="Arial" pitchFamily="34" charset="-122"/>
                <a:cs typeface="Arial" pitchFamily="34" charset="-120"/>
              </a:rPr>
              <a:t>Combinar o reentrenar · Pablo Díaz y Ezequiel Martinez</a:t>
            </a:r>
            <a:endParaRPr lang="en-US" sz="2000" dirty="0"/>
          </a:p>
        </p:txBody>
      </p:sp>
      <p:sp>
        <p:nvSpPr>
          <p:cNvPr id="4" name="Shape 2"/>
          <p:cNvSpPr/>
          <p:nvPr/>
        </p:nvSpPr>
        <p:spPr>
          <a:xfrm>
            <a:off x="731520" y="4480560"/>
            <a:ext cx="5486400" cy="0"/>
          </a:xfrm>
          <a:prstGeom prst="line">
            <a:avLst/>
          </a:prstGeom>
          <a:noFill/>
          <a:ln w="9525">
            <a:solidFill>
              <a:srgbClr val="3A4152"/>
            </a:solidFill>
            <a:prstDash val="solid"/>
          </a:ln>
        </p:spPr>
      </p:sp>
      <p:sp>
        <p:nvSpPr>
          <p:cNvPr id="5" name="Text 3"/>
          <p:cNvSpPr txBox="1"/>
          <p:nvPr/>
        </p:nvSpPr>
        <p:spPr>
          <a:xfrm>
            <a:off x="731520" y="4663440"/>
            <a:ext cx="7315200" cy="274320"/>
          </a:xfrm>
          <a:prstGeom prst="rect">
            <a:avLst/>
          </a:prstGeom>
          <a:noFill/>
          <a:ln/>
        </p:spPr>
        <p:txBody>
          <a:bodyPr wrap="square" lIns="0" tIns="0" rIns="0" bIns="0" rtlCol="0" anchor="t"/>
          <a:lstStyle/>
          <a:p>
            <a:pPr indent="0" marL="0">
              <a:lnSpc>
                <a:spcPct val="100000"/>
              </a:lnSpc>
              <a:buNone/>
            </a:pPr>
            <a:r>
              <a:rPr lang="en-US" sz="1300" dirty="0">
                <a:solidFill>
                  <a:srgbClr val="9AA1AE"/>
                </a:solidFill>
                <a:latin typeface="Arial" pitchFamily="34" charset="0"/>
                <a:ea typeface="Arial" pitchFamily="34" charset="-122"/>
                <a:cs typeface="Arial" pitchFamily="34" charset="-120"/>
              </a:rPr>
              <a:t>Código, datos y paper</a:t>
            </a:r>
            <a:endParaRPr lang="en-US" sz="1300" dirty="0"/>
          </a:p>
        </p:txBody>
      </p:sp>
      <p:sp>
        <p:nvSpPr>
          <p:cNvPr id="6" name="Text 4"/>
          <p:cNvSpPr txBox="1"/>
          <p:nvPr/>
        </p:nvSpPr>
        <p:spPr>
          <a:xfrm>
            <a:off x="731520" y="4983480"/>
            <a:ext cx="8229600" cy="411480"/>
          </a:xfrm>
          <a:prstGeom prst="rect">
            <a:avLst/>
          </a:prstGeom>
          <a:noFill/>
          <a:ln/>
        </p:spPr>
        <p:txBody>
          <a:bodyPr wrap="square" lIns="0" tIns="0" rIns="0" bIns="0" rtlCol="0" anchor="t"/>
          <a:lstStyle/>
          <a:p>
            <a:pPr indent="0" marL="0">
              <a:lnSpc>
                <a:spcPct val="100000"/>
              </a:lnSpc>
              <a:buNone/>
            </a:pPr>
            <a:r>
              <a:rPr lang="en-US" sz="2000" b="1" dirty="0">
                <a:solidFill>
                  <a:srgbClr val="AFCBEE"/>
                </a:solidFill>
                <a:latin typeface="Arial" pitchFamily="34" charset="0"/>
                <a:ea typeface="Arial" pitchFamily="34" charset="-122"/>
                <a:cs typeface="Arial" pitchFamily="34" charset="-120"/>
              </a:rPr>
              <a:t>github.com/pmdiaz/spam-detection-hedge</a:t>
            </a:r>
            <a:endParaRPr lang="en-US" sz="2000" dirty="0"/>
          </a:p>
        </p:txBody>
      </p:sp>
      <p:sp>
        <p:nvSpPr>
          <p:cNvPr id="7" name="experto 1"/>
          <p:cNvSpPr/>
          <p:nvPr/>
        </p:nvSpPr>
        <p:spPr>
          <a:xfrm>
            <a:off x="9418320" y="5029200"/>
            <a:ext cx="329184" cy="329184"/>
          </a:xfrm>
          <a:prstGeom prst="ellipse">
            <a:avLst/>
          </a:prstGeom>
          <a:solidFill>
            <a:srgbClr val="EB6834"/>
          </a:solidFill>
          <a:ln/>
        </p:spPr>
      </p:sp>
      <p:sp>
        <p:nvSpPr>
          <p:cNvPr id="8" name="experto 2"/>
          <p:cNvSpPr/>
          <p:nvPr/>
        </p:nvSpPr>
        <p:spPr>
          <a:xfrm>
            <a:off x="9875520" y="5029200"/>
            <a:ext cx="329184" cy="329184"/>
          </a:xfrm>
          <a:prstGeom prst="ellipse">
            <a:avLst/>
          </a:prstGeom>
          <a:solidFill>
            <a:srgbClr val="008300"/>
          </a:solidFill>
          <a:ln/>
        </p:spPr>
      </p:sp>
      <p:sp>
        <p:nvSpPr>
          <p:cNvPr id="9" name="experto 3"/>
          <p:cNvSpPr/>
          <p:nvPr/>
        </p:nvSpPr>
        <p:spPr>
          <a:xfrm>
            <a:off x="10332720" y="5029200"/>
            <a:ext cx="329184" cy="329184"/>
          </a:xfrm>
          <a:prstGeom prst="ellipse">
            <a:avLst/>
          </a:prstGeom>
          <a:solidFill>
            <a:srgbClr val="008300"/>
          </a:solidFill>
          <a:ln/>
        </p:spPr>
      </p:sp>
      <p:sp>
        <p:nvSpPr>
          <p:cNvPr id="10" name="experto 4"/>
          <p:cNvSpPr/>
          <p:nvPr/>
        </p:nvSpPr>
        <p:spPr>
          <a:xfrm>
            <a:off x="10789920" y="5029200"/>
            <a:ext cx="329184" cy="329184"/>
          </a:xfrm>
          <a:prstGeom prst="ellipse">
            <a:avLst/>
          </a:prstGeom>
          <a:solidFill>
            <a:srgbClr val="008300"/>
          </a:solidFill>
          <a:ln/>
        </p:spPr>
      </p:sp>
      <p:sp>
        <p:nvSpPr>
          <p:cNvPr id="11" name="experto 5"/>
          <p:cNvSpPr/>
          <p:nvPr/>
        </p:nvSpPr>
        <p:spPr>
          <a:xfrm>
            <a:off x="11247120" y="5029200"/>
            <a:ext cx="329184" cy="329184"/>
          </a:xfrm>
          <a:prstGeom prst="ellipse">
            <a:avLst/>
          </a:prstGeom>
          <a:solidFill>
            <a:srgbClr val="4A3AA7"/>
          </a:solidFill>
          <a:ln/>
        </p:spPr>
      </p:sp>
    </p:spTree>
  </p:cSld>
  <p:clrMapOvr>
    <a:masterClrMapping/>
  </p:clrMapOvr>
  <p:transition spd="med">
    <p:fade/>
  </p:transition>
</p:sld>
</file>

<file path=ppt/theme/theme1.xml><?xml version="1.0" encoding="utf-8"?>
<a:theme xmlns:a="http://schemas.openxmlformats.org/drawingml/2006/main" name="Combinar o reentrenar">
  <a:themeElements>
    <a:clrScheme name="Combinar o reentrenar">
      <a:dk1>
        <a:srgbClr val="1F2430"/>
      </a:dk1>
      <a:lt1>
        <a:srgbClr val="FFFFFF"/>
      </a:lt1>
      <a:dk2>
        <a:srgbClr val="5A6274"/>
      </a:dk2>
      <a:lt2>
        <a:srgbClr val="F7F5F0"/>
      </a:lt2>
      <a:accent1>
        <a:srgbClr val="2A78D6"/>
      </a:accent1>
      <a:accent2>
        <a:srgbClr val="EB6834"/>
      </a:accent2>
      <a:accent3>
        <a:srgbClr val="1BAF7A"/>
      </a:accent3>
      <a:accent4>
        <a:srgbClr val="4A3AA7"/>
      </a:accent4>
      <a:accent5>
        <a:srgbClr val="008300"/>
      </a:accent5>
      <a:accent6>
        <a:srgbClr val="E34948"/>
      </a:accent6>
      <a:hlink>
        <a:srgbClr val="2A78D6"/>
      </a:hlink>
      <a:folHlink>
        <a:srgbClr val="4A3AA7"/>
      </a:folHlink>
    </a:clrScheme>
    <a:fontScheme name="Combinar o reentrena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Combinar o reentrenar</dc:title>
  <dc:subject>PptxGenJS Presentation</dc:subject>
  <dc:creator>Pablo Díaz y Ezequiel Martinez</dc:creator>
  <cp:lastModifiedBy>Pablo Díaz y Ezequiel Martinez</cp:lastModifiedBy>
  <cp:revision>1</cp:revision>
  <dcterms:created xsi:type="dcterms:W3CDTF">2026-10-02T14:56:14Z</dcterms:created>
  <dcterms:modified xsi:type="dcterms:W3CDTF">2026-10-02T14:56:14Z</dcterms:modified>
</cp:coreProperties>
</file>