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jBvelm6ct0W171/bhjEOsYHFxDF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7"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 name="Shape 13"/>
        <p:cNvGrpSpPr/>
        <p:nvPr/>
      </p:nvGrpSpPr>
      <p:grpSpPr>
        <a:xfrm>
          <a:off x="0" y="0"/>
          <a:ext cx="0" cy="0"/>
          <a:chOff x="0" y="0"/>
          <a:chExt cx="0" cy="0"/>
        </a:xfrm>
      </p:grpSpPr>
      <p:sp>
        <p:nvSpPr>
          <p:cNvPr id="14" name="Google Shape;14;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 name="Google Shape;15;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A · 0:30. Presentarse. Una frase de entrada: cuando el spammer se adapta al filtro, ¿conviene combinar modelos que ya tenemos o reentrenar uno? Las palabras de la derecha son reales: así queda un spam después de nuestro ataque.</a:t>
            </a:r>
            <a:endParaRPr/>
          </a:p>
        </p:txBody>
      </p:sp>
      <p:sp>
        <p:nvSpPr>
          <p:cNvPr id="16" name="Google Shape;16;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 name="Google Shape;3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 1:15. Leer el SMS original y después señalar las palabras en naranja: reply pasa a reeply, win a wiin, stop a stoop. La azul, lol, es una palabra típica de mensajes legítimos. El filtro estático pasa de atrapar el 85% del spam al 42%. El mensaje crece una sola palabra: no se lo puede detectar por el largo.</a:t>
            </a:r>
            <a:endParaRPr/>
          </a:p>
        </p:txBody>
      </p:sp>
      <p:sp>
        <p:nvSpPr>
          <p:cNvPr id="32" name="Google Shape;32;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 name="Google Shape;53;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 1:00. Las dos defensas. Combinar: cinco modelos congelados, Hedge solo decide a cuál creerle; aprende cinco números. Reentrenar: un modelo que aprende de cada etiqueta; tiene un peso por palabra, por eso puede aprender «wiin». La cita de Lowd y Meek es la tesis que ponemos a prueba.</a:t>
            </a:r>
            <a:endParaRPr/>
          </a:p>
        </p:txBody>
      </p:sp>
      <p:sp>
        <p:nvSpPr>
          <p:cNvPr id="54" name="Google Shape;54;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 name="Google Shape;7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 0:40. Las dos preguntas ordenan la charla: los resultados 1 y 2 las responden. Anticipar que el resultado 3 son dos precisiones sobre la teoría, y el 4 lecciones de método. Los puntos de arriba a la derecha marcan en qué resultado estamos.</a:t>
            </a:r>
            <a:endParaRPr/>
          </a:p>
        </p:txBody>
      </p:sp>
      <p:sp>
        <p:nvSpPr>
          <p:cNvPr id="77" name="Google Shape;77;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 name="Google Shape;94;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 1:15. Combinar. Cada mensaje es una ronda. Los cinco expertos arrancan con el mismo peso; en cada mensaje Hedge sortea a cuál creerle según los pesos. Después se revela la etiqueta y cada experto que se equivocó multiplica su peso por e a la menos eta. Se ven los cinco, no solo el sorteado: por eso no es un bandit. A la derecha, la garantía: con nuestros números, como mucho unos 60 errores de más que el mejor experto en todo el stream, sin supuestos estadísticos, contra un adversario que fija la secuencia de antemano. La variante determinística vota con los pesos en lugar de sortear y no tiene garantía; lo mostramos en el resultado 3.</a:t>
            </a:r>
            <a:endParaRPr/>
          </a:p>
        </p:txBody>
      </p:sp>
      <p:sp>
        <p:nvSpPr>
          <p:cNvPr id="95" name="Google Shape;95;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8" name="Google Shape;138;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 1:00. Reentrenar: una regresión logística que arranca entrenada en el warm-up y en cada ronda predice primero y se actualiza después. La tabla es la clave para leer los resultados: Hedge aprende cinco números; SGD aprende un peso por componente, unos 262 mil. Por eso SGD puede aprender «wiin» y Hedge no. La última fila anticipa la pregunta 2: qué hace cada uno cuando falta la etiqueta.</a:t>
            </a:r>
            <a:endParaRPr/>
          </a:p>
        </p:txBody>
      </p:sp>
      <p:sp>
        <p:nvSpPr>
          <p:cNvPr id="139" name="Google Shape;139;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 name="Google Shape;183;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 0:50. Pregunta 2. El usuario reporta cada mensaje con probabilidad rho: arriba, con rho igual a 1 se etiqueta todo; con 0,2, uno de cada cinco. En las rondas sin etiqueta nadie aprende. Hedge compensa con el estimador ℓ/ρ y achica eta; SGD aprende solo de lo que tiene, sin reponderar. Los dos ven exactamente las mismas rondas etiquetadas. Barremos rho de 1 a 0,05; la teoría dice que el regret de Hedge crece como 1/√ρ.</a:t>
            </a:r>
            <a:endParaRPr/>
          </a:p>
        </p:txBody>
      </p:sp>
      <p:sp>
        <p:nvSpPr>
          <p:cNvPr id="184" name="Google Shape;184;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 1:20. Recorrer la barra de izquierda a derecha: está a escala. Warm-up del 20% para entrenar; después 4.460 rondas de predecir, ver la etiqueta y actualizar; el ataque arranca en la mitad. Los tres competidores ven exactamente la misma secuencia. Sobre métricas: con 13% de spam, no marcar nada acierta el 87%. Todo se repite con 20 semillas, cada una una permutación distinta del corpus.</a:t>
            </a:r>
            <a:endParaRPr/>
          </a:p>
        </p:txBody>
      </p:sp>
      <p:sp>
        <p:nvSpPr>
          <p:cNvPr id="274" name="Google Shape;274;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5" name="Google Shape;30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 1:00. Los cinco expertos con sus colores: Naive Bayes en naranja, que además es el modelo estático; los otros tres léxicos en verde; el estructural en violeta, que no mira palabras sino formato. Sin ataque los cinco andan parecido, entre 77 y 85% del spam: arrancan parejos y el ataque es lo que los separa. El estructural es robusto por construcción, porque el ataque no toca dígitos.</a:t>
            </a:r>
            <a:endParaRPr/>
          </a:p>
        </p:txBody>
      </p:sp>
      <p:sp>
        <p:nvSpPr>
          <p:cNvPr id="306" name="Google Shape;306;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2" name="Google Shape;332;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 1:00. El ataque ya lo vimos en el ejemplo: vocal duplicada en las 800 palabras más delatoras más una palabra legítima. Lo calibramos para bajar a la mitad la detección del Naive Bayes sin alargar el mensaje; descartamos el leetspeak porque los dígitos ayudaban al experto estructural. Competidores: el estático, Hedge en sus dos variantes y SGD online. Todo con 20 semillas.</a:t>
            </a:r>
            <a:endParaRPr/>
          </a:p>
        </p:txBody>
      </p:sp>
      <p:sp>
        <p:nvSpPr>
          <p:cNvPr id="333" name="Google Shape;333;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8" name="Google Shape;358;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 1:00. Respuesta a la pregunta 1. Con ataque, el estático comete 190 errores, Hedge 133 y SGD 73. Hedge recorre el 46% de esa distancia sin reentrenar nada. Reentrenar gana, pero combinar hace casi la mitad del trabajo.</a:t>
            </a:r>
            <a:endParaRPr/>
          </a:p>
        </p:txBody>
      </p:sp>
      <p:sp>
        <p:nvSpPr>
          <p:cNvPr id="359" name="Google Shape;359;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6" name="Google Shape;376;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 0:45. La misma comparación en mensajes concretos. De los 305 spams que llegan atacados, el estático atrapa 128, Hedge 180 y SGD 252. Hedge atrapa 52 más que el estático; SGD, 72 más que Hedge.</a:t>
            </a:r>
            <a:endParaRPr/>
          </a:p>
        </p:txBody>
      </p:sp>
      <p:sp>
        <p:nvSpPr>
          <p:cNvPr id="377" name="Google Shape;377;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2" name="Google Shape;392;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 1:30. Dejar correr la animación y narrar sobre ella; se puede pausar con un clic. Fase 1: sin ataque, los tres atrapan parecido. Fase 2: llega el ataque y los tres caen; el estático se queda en ~43%. Fase 3: abajo, el peso de Hedge pasa al experto estructural (violeta) y Hedge se recupera hasta ~60%. Fase 4: SGD aprendió las palabras nuevas y vuelve casi al nivel previo. Al final, los contadores: 190, 133 y 73 errores en la mitad atacada.</a:t>
            </a:r>
            <a:endParaRPr/>
          </a:p>
        </p:txBody>
      </p:sp>
      <p:sp>
        <p:nvSpPr>
          <p:cNvPr id="393" name="Google Shape;393;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9" name="Google Shape;399;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 1:15 (y pasa a B). El porqué. Hedge no había apostado todo al mejor del momento: al llegar el ataque tenía el peso en tercios. Cuando el ataque rompe a Naive Bayes, el peso migra al estructural, que mira formato y no palabras. Pase: «Esto con todas las etiquetas. Ezequiel muestra qué pasa cuando escasean.»</a:t>
            </a:r>
            <a:endParaRPr/>
          </a:p>
        </p:txBody>
      </p:sp>
      <p:sp>
        <p:nvSpPr>
          <p:cNvPr id="400" name="Google Shape;400;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h6e04de18195e4762_0_2: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h6e04de18195e4762_0_2: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6" name="Google Shape;536;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B · 1:30. Respuesta a la pregunta 2. Con todas las etiquetas, reentrenar gana claro: 73 contra 133. A medida que el usuario reporta menos, SGD se degrada mucho más rápido. Las curvas se cruzan entre 1 de cada 5 y 1 de cada 20: ahí Hedge gana en 15 de 20 semillas, y SGD termina peor que no adaptarse.</a:t>
            </a:r>
            <a:endParaRPr/>
          </a:p>
        </p:txBody>
      </p:sp>
      <p:sp>
        <p:nvSpPr>
          <p:cNvPr id="537" name="Google Shape;537;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7" name="Google Shape;557;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B · 1:15. Un revisor nos objetó que SGD perdía por no reponderar como Hedge. Lo probamos: reponderar lo empeora, de 210 a 240 o 323 errores. La razón es de conteo: Hedge aprende 5 pesos; reentrenar necesita un peso por cada palabra nueva. Lo que sí sufre Hedge es la varianza del estimador.</a:t>
            </a:r>
            <a:endParaRPr/>
          </a:p>
        </p:txBody>
      </p:sp>
      <p:sp>
        <p:nvSpPr>
          <p:cNvPr id="558" name="Google Shape;558;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8" name="Google Shape;578;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B · 1:30. Primera precisión sobre la teoría. Las slides 71 y 73 presentan juntos el voto pesado y la cota, pero la cota es del Hedge randomizado. Construimos un adversario que simula al determinístico y le etiqueta lo contrario: su regret crece lineal, T/2. El randomizado queda en 14, bajo su cota de 37. En el stream real el determinístico anda mejor: la diferencia es de peor caso.</a:t>
            </a:r>
            <a:endParaRPr/>
          </a:p>
        </p:txBody>
      </p:sp>
      <p:sp>
        <p:nvSpPr>
          <p:cNvPr id="579" name="Google Shape;579;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2" name="Google Shape;602;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B · 1:15. Segunda precisión. Hay dos cotas y cada una vale para su propia tasa de aprendizaje. Las dos se cumplen en las 20 semillas. La small-loss da la mitad de regret, pero requiere saber cuántos errores comete el mejor experto, algo que bajo ataque no sabemos. Notar cómo esa cota cambia de pendiente con el ataque.</a:t>
            </a:r>
            <a:endParaRPr/>
          </a:p>
        </p:txBody>
      </p:sp>
      <p:sp>
        <p:nvSpPr>
          <p:cNvPr id="603" name="Google Shape;603;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7" name="Google Shape;627;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B · 1:30. Tres cosas que sirven fuera de este trabajo. Accuracy engaña con datos desbalanceados. La validación cruzada sobre datos sin cambio no sirve para elegir hiperparámetros de adaptación: tuvimos que fijar el alfa de SGD. Y combinar solo funciona si algún experto sobrevive: con la primera versión del estructural, Hedge no recuperaba nada.</a:t>
            </a:r>
            <a:endParaRPr/>
          </a:p>
        </p:txBody>
      </p:sp>
      <p:sp>
        <p:nvSpPr>
          <p:cNvPr id="628" name="Google Shape;628;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2" name="Google Shape;652;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B · 1:00. La conclusión práctica. Lowd y Meek tenían razón a medias: reentrenar seguido funciona si hay etiquetas seguido. Cuando escasean, combinar es más robusto porque tiene muchos menos parámetros. Cerrar con la pregunta abierta, aclarando que no la probamos.</a:t>
            </a:r>
            <a:endParaRPr/>
          </a:p>
        </p:txBody>
      </p:sp>
      <p:sp>
        <p:nvSpPr>
          <p:cNvPr id="653" name="Google Shape;653;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3" name="Google Shape;673;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B · 0:45. Mencionar rápido, sin leer todas. Las dos más importantes: el drift es sintético y el experto robusto lo es para este ataque en particular.</a:t>
            </a:r>
            <a:endParaRPr/>
          </a:p>
        </p:txBody>
      </p:sp>
      <p:sp>
        <p:nvSpPr>
          <p:cNvPr id="674" name="Google Shape;674;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SCURA">
  <p:cSld name="OSCURA">
    <p:bg>
      <p:bgPr>
        <a:solidFill>
          <a:srgbClr val="1F2430"/>
        </a:solidFill>
      </p:bgPr>
    </p:bg>
    <p:spTree>
      <p:nvGrpSpPr>
        <p:cNvPr id="7" name="Shape 7"/>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p:cSld name="CONTENIDO">
    <p:bg>
      <p:bgPr>
        <a:solidFill>
          <a:srgbClr val="F7F5F0"/>
        </a:solidFill>
      </p:bgPr>
    </p:bg>
    <p:spTree>
      <p:nvGrpSpPr>
        <p:cNvPr id="8" name="Shape 8"/>
        <p:cNvGrpSpPr/>
        <p:nvPr/>
      </p:nvGrpSpPr>
      <p:grpSpPr>
        <a:xfrm>
          <a:off x="0" y="0"/>
          <a:ext cx="0" cy="0"/>
          <a:chOff x="0" y="0"/>
          <a:chExt cx="0" cy="0"/>
        </a:xfrm>
      </p:grpSpPr>
      <p:sp>
        <p:nvSpPr>
          <p:cNvPr id="9" name="Google Shape;9;p24"/>
          <p:cNvSpPr txBox="1"/>
          <p:nvPr>
            <p:ph type="title"/>
          </p:nvPr>
        </p:nvSpPr>
        <p:spPr>
          <a:xfrm>
            <a:off x="548640" y="731520"/>
            <a:ext cx="10424160" cy="566928"/>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rgbClr val="1F2430"/>
              </a:buClr>
              <a:buSzPts val="3000"/>
              <a:buFont typeface="Georgia"/>
              <a:buNone/>
              <a:defRPr b="0" i="0" sz="3000" u="none" cap="none" strike="noStrike">
                <a:solidFill>
                  <a:srgbClr val="1F2430"/>
                </a:solidFill>
                <a:latin typeface="Georgia"/>
                <a:ea typeface="Georgia"/>
                <a:cs typeface="Georgia"/>
                <a:sym typeface="Georg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cxnSp>
        <p:nvCxnSpPr>
          <p:cNvPr id="10" name="Google Shape;10;p24"/>
          <p:cNvCxnSpPr/>
          <p:nvPr/>
        </p:nvCxnSpPr>
        <p:spPr>
          <a:xfrm>
            <a:off x="548640" y="6291072"/>
            <a:ext cx="11091672" cy="0"/>
          </a:xfrm>
          <a:prstGeom prst="straightConnector1">
            <a:avLst/>
          </a:prstGeom>
          <a:noFill/>
          <a:ln cap="flat" cmpd="sng" w="9525">
            <a:solidFill>
              <a:srgbClr val="D9D6CE"/>
            </a:solidFill>
            <a:prstDash val="solid"/>
            <a:round/>
            <a:headEnd len="sm" w="sm" type="none"/>
            <a:tailEnd len="sm" w="sm" type="none"/>
          </a:ln>
        </p:spPr>
      </p:cxnSp>
      <p:sp>
        <p:nvSpPr>
          <p:cNvPr id="11" name="Google Shape;11;p24"/>
          <p:cNvSpPr txBox="1"/>
          <p:nvPr>
            <p:ph idx="12" type="sldNum"/>
          </p:nvPr>
        </p:nvSpPr>
        <p:spPr>
          <a:xfrm>
            <a:off x="11091672" y="6373368"/>
            <a:ext cx="548640" cy="27432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sz="1000">
                <a:solidFill>
                  <a:srgbClr val="9AA1AE"/>
                </a:solidFill>
                <a:latin typeface="Arial"/>
                <a:ea typeface="Arial"/>
                <a:cs typeface="Arial"/>
                <a:sym typeface="Arial"/>
              </a:defRPr>
            </a:lvl1pPr>
            <a:lvl2pPr indent="0" lvl="1" marL="0" marR="0" algn="r">
              <a:spcBef>
                <a:spcPts val="0"/>
              </a:spcBef>
              <a:buNone/>
              <a:defRPr b="0" sz="1000">
                <a:solidFill>
                  <a:srgbClr val="9AA1AE"/>
                </a:solidFill>
                <a:latin typeface="Arial"/>
                <a:ea typeface="Arial"/>
                <a:cs typeface="Arial"/>
                <a:sym typeface="Arial"/>
              </a:defRPr>
            </a:lvl2pPr>
            <a:lvl3pPr indent="0" lvl="2" marL="0" marR="0" algn="r">
              <a:spcBef>
                <a:spcPts val="0"/>
              </a:spcBef>
              <a:buNone/>
              <a:defRPr b="0" sz="1000">
                <a:solidFill>
                  <a:srgbClr val="9AA1AE"/>
                </a:solidFill>
                <a:latin typeface="Arial"/>
                <a:ea typeface="Arial"/>
                <a:cs typeface="Arial"/>
                <a:sym typeface="Arial"/>
              </a:defRPr>
            </a:lvl3pPr>
            <a:lvl4pPr indent="0" lvl="3" marL="0" marR="0" algn="r">
              <a:spcBef>
                <a:spcPts val="0"/>
              </a:spcBef>
              <a:buNone/>
              <a:defRPr b="0" sz="1000">
                <a:solidFill>
                  <a:srgbClr val="9AA1AE"/>
                </a:solidFill>
                <a:latin typeface="Arial"/>
                <a:ea typeface="Arial"/>
                <a:cs typeface="Arial"/>
                <a:sym typeface="Arial"/>
              </a:defRPr>
            </a:lvl4pPr>
            <a:lvl5pPr indent="0" lvl="4" marL="0" marR="0" algn="r">
              <a:spcBef>
                <a:spcPts val="0"/>
              </a:spcBef>
              <a:buNone/>
              <a:defRPr b="0" sz="1000">
                <a:solidFill>
                  <a:srgbClr val="9AA1AE"/>
                </a:solidFill>
                <a:latin typeface="Arial"/>
                <a:ea typeface="Arial"/>
                <a:cs typeface="Arial"/>
                <a:sym typeface="Arial"/>
              </a:defRPr>
            </a:lvl5pPr>
            <a:lvl6pPr indent="0" lvl="5" marL="0" marR="0" algn="r">
              <a:spcBef>
                <a:spcPts val="0"/>
              </a:spcBef>
              <a:buNone/>
              <a:defRPr b="0" sz="1000">
                <a:solidFill>
                  <a:srgbClr val="9AA1AE"/>
                </a:solidFill>
                <a:latin typeface="Arial"/>
                <a:ea typeface="Arial"/>
                <a:cs typeface="Arial"/>
                <a:sym typeface="Arial"/>
              </a:defRPr>
            </a:lvl6pPr>
            <a:lvl7pPr indent="0" lvl="6" marL="0" marR="0" algn="r">
              <a:spcBef>
                <a:spcPts val="0"/>
              </a:spcBef>
              <a:buNone/>
              <a:defRPr b="0" sz="1000">
                <a:solidFill>
                  <a:srgbClr val="9AA1AE"/>
                </a:solidFill>
                <a:latin typeface="Arial"/>
                <a:ea typeface="Arial"/>
                <a:cs typeface="Arial"/>
                <a:sym typeface="Arial"/>
              </a:defRPr>
            </a:lvl7pPr>
            <a:lvl8pPr indent="0" lvl="7" marL="0" marR="0" algn="r">
              <a:spcBef>
                <a:spcPts val="0"/>
              </a:spcBef>
              <a:buNone/>
              <a:defRPr b="0" sz="1000">
                <a:solidFill>
                  <a:srgbClr val="9AA1AE"/>
                </a:solidFill>
                <a:latin typeface="Arial"/>
                <a:ea typeface="Arial"/>
                <a:cs typeface="Arial"/>
                <a:sym typeface="Arial"/>
              </a:defRPr>
            </a:lvl8pPr>
            <a:lvl9pPr indent="0" lvl="8" marL="0" marR="0" algn="r">
              <a:spcBef>
                <a:spcPts val="0"/>
              </a:spcBef>
              <a:buNone/>
              <a:defRPr b="0" sz="1000">
                <a:solidFill>
                  <a:srgbClr val="9AA1A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2" name="Shape 1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2"/>
          <p:cNvSpPr txBox="1"/>
          <p:nvPr>
            <p:ph idx="12" type="sldNum"/>
          </p:nvPr>
        </p:nvSpPr>
        <p:spPr>
          <a:xfrm>
            <a:off x="11091672" y="6373368"/>
            <a:ext cx="548640" cy="27432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000" u="none" cap="none" strike="noStrike">
                <a:solidFill>
                  <a:srgbClr val="9AA1AE"/>
                </a:solidFill>
                <a:latin typeface="Arial"/>
                <a:ea typeface="Arial"/>
                <a:cs typeface="Arial"/>
                <a:sym typeface="Arial"/>
              </a:defRPr>
            </a:lvl1pPr>
            <a:lvl2pPr indent="0" lvl="1" marL="0" marR="0" rtl="0" algn="r">
              <a:spcBef>
                <a:spcPts val="0"/>
              </a:spcBef>
              <a:buNone/>
              <a:defRPr b="0" i="0" sz="1000" u="none" cap="none" strike="noStrike">
                <a:solidFill>
                  <a:srgbClr val="9AA1AE"/>
                </a:solidFill>
                <a:latin typeface="Arial"/>
                <a:ea typeface="Arial"/>
                <a:cs typeface="Arial"/>
                <a:sym typeface="Arial"/>
              </a:defRPr>
            </a:lvl2pPr>
            <a:lvl3pPr indent="0" lvl="2" marL="0" marR="0" rtl="0" algn="r">
              <a:spcBef>
                <a:spcPts val="0"/>
              </a:spcBef>
              <a:buNone/>
              <a:defRPr b="0" i="0" sz="1000" u="none" cap="none" strike="noStrike">
                <a:solidFill>
                  <a:srgbClr val="9AA1AE"/>
                </a:solidFill>
                <a:latin typeface="Arial"/>
                <a:ea typeface="Arial"/>
                <a:cs typeface="Arial"/>
                <a:sym typeface="Arial"/>
              </a:defRPr>
            </a:lvl3pPr>
            <a:lvl4pPr indent="0" lvl="3" marL="0" marR="0" rtl="0" algn="r">
              <a:spcBef>
                <a:spcPts val="0"/>
              </a:spcBef>
              <a:buNone/>
              <a:defRPr b="0" i="0" sz="1000" u="none" cap="none" strike="noStrike">
                <a:solidFill>
                  <a:srgbClr val="9AA1AE"/>
                </a:solidFill>
                <a:latin typeface="Arial"/>
                <a:ea typeface="Arial"/>
                <a:cs typeface="Arial"/>
                <a:sym typeface="Arial"/>
              </a:defRPr>
            </a:lvl4pPr>
            <a:lvl5pPr indent="0" lvl="4" marL="0" marR="0" rtl="0" algn="r">
              <a:spcBef>
                <a:spcPts val="0"/>
              </a:spcBef>
              <a:buNone/>
              <a:defRPr b="0" i="0" sz="1000" u="none" cap="none" strike="noStrike">
                <a:solidFill>
                  <a:srgbClr val="9AA1AE"/>
                </a:solidFill>
                <a:latin typeface="Arial"/>
                <a:ea typeface="Arial"/>
                <a:cs typeface="Arial"/>
                <a:sym typeface="Arial"/>
              </a:defRPr>
            </a:lvl5pPr>
            <a:lvl6pPr indent="0" lvl="5" marL="0" marR="0" rtl="0" algn="r">
              <a:spcBef>
                <a:spcPts val="0"/>
              </a:spcBef>
              <a:buNone/>
              <a:defRPr b="0" i="0" sz="1000" u="none" cap="none" strike="noStrike">
                <a:solidFill>
                  <a:srgbClr val="9AA1AE"/>
                </a:solidFill>
                <a:latin typeface="Arial"/>
                <a:ea typeface="Arial"/>
                <a:cs typeface="Arial"/>
                <a:sym typeface="Arial"/>
              </a:defRPr>
            </a:lvl6pPr>
            <a:lvl7pPr indent="0" lvl="6" marL="0" marR="0" rtl="0" algn="r">
              <a:spcBef>
                <a:spcPts val="0"/>
              </a:spcBef>
              <a:buNone/>
              <a:defRPr b="0" i="0" sz="1000" u="none" cap="none" strike="noStrike">
                <a:solidFill>
                  <a:srgbClr val="9AA1AE"/>
                </a:solidFill>
                <a:latin typeface="Arial"/>
                <a:ea typeface="Arial"/>
                <a:cs typeface="Arial"/>
                <a:sym typeface="Arial"/>
              </a:defRPr>
            </a:lvl7pPr>
            <a:lvl8pPr indent="0" lvl="7" marL="0" marR="0" rtl="0" algn="r">
              <a:spcBef>
                <a:spcPts val="0"/>
              </a:spcBef>
              <a:buNone/>
              <a:defRPr b="0" i="0" sz="1000" u="none" cap="none" strike="noStrike">
                <a:solidFill>
                  <a:srgbClr val="9AA1AE"/>
                </a:solidFill>
                <a:latin typeface="Arial"/>
                <a:ea typeface="Arial"/>
                <a:cs typeface="Arial"/>
                <a:sym typeface="Arial"/>
              </a:defRPr>
            </a:lvl8pPr>
            <a:lvl9pPr indent="0" lvl="8" marL="0" marR="0" rtl="0" algn="r">
              <a:spcBef>
                <a:spcPts val="0"/>
              </a:spcBef>
              <a:buNone/>
              <a:defRPr b="0" i="0" sz="1000" u="none" cap="none" strike="noStrike">
                <a:solidFill>
                  <a:srgbClr val="9AA1A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drive.google.com/file/d/1Mj0VXXDgOtp8D-dQG0dtJ8rq0Lq3xSUk/view" TargetMode="Externa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 name="Shape 17"/>
        <p:cNvGrpSpPr/>
        <p:nvPr/>
      </p:nvGrpSpPr>
      <p:grpSpPr>
        <a:xfrm>
          <a:off x="0" y="0"/>
          <a:ext cx="0" cy="0"/>
          <a:chOff x="0" y="0"/>
          <a:chExt cx="0" cy="0"/>
        </a:xfrm>
      </p:grpSpPr>
      <p:sp>
        <p:nvSpPr>
          <p:cNvPr id="18" name="Google Shape;18;p1"/>
          <p:cNvSpPr txBox="1"/>
          <p:nvPr/>
        </p:nvSpPr>
        <p:spPr>
          <a:xfrm>
            <a:off x="731520" y="1051560"/>
            <a:ext cx="73152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A1AE"/>
              </a:buClr>
              <a:buSzPts val="1100"/>
              <a:buFont typeface="Arial"/>
              <a:buNone/>
            </a:pPr>
            <a:r>
              <a:rPr b="1" i="0" lang="en-US" sz="1100" u="none" cap="none" strike="noStrike">
                <a:solidFill>
                  <a:srgbClr val="9AA1AE"/>
                </a:solidFill>
                <a:latin typeface="Arial"/>
                <a:ea typeface="Arial"/>
                <a:cs typeface="Arial"/>
                <a:sym typeface="Arial"/>
              </a:rPr>
              <a:t>TÓPICOS AVANZADOS EN CIENCIA DE DATOS · MCD210 · UDESA</a:t>
            </a:r>
            <a:endParaRPr b="0" i="0" sz="1100" u="none" cap="none" strike="noStrike">
              <a:solidFill>
                <a:schemeClr val="dk1"/>
              </a:solidFill>
              <a:latin typeface="Arial"/>
              <a:ea typeface="Arial"/>
              <a:cs typeface="Arial"/>
              <a:sym typeface="Arial"/>
            </a:endParaRPr>
          </a:p>
        </p:txBody>
      </p:sp>
      <p:sp>
        <p:nvSpPr>
          <p:cNvPr id="19" name="Google Shape;19;p1"/>
          <p:cNvSpPr txBox="1"/>
          <p:nvPr/>
        </p:nvSpPr>
        <p:spPr>
          <a:xfrm>
            <a:off x="731520" y="1737360"/>
            <a:ext cx="6766560" cy="2103120"/>
          </a:xfrm>
          <a:prstGeom prst="rect">
            <a:avLst/>
          </a:prstGeom>
          <a:noFill/>
          <a:ln>
            <a:noFill/>
          </a:ln>
        </p:spPr>
        <p:txBody>
          <a:bodyPr anchorCtr="0" anchor="t" bIns="0" lIns="0" spcFirstLastPara="1" rIns="0" wrap="square" tIns="0">
            <a:noAutofit/>
          </a:bodyPr>
          <a:lstStyle/>
          <a:p>
            <a:pPr indent="0" lvl="0" marL="0" marR="0" rtl="0" algn="l">
              <a:lnSpc>
                <a:spcPct val="92000"/>
              </a:lnSpc>
              <a:spcBef>
                <a:spcPts val="0"/>
              </a:spcBef>
              <a:spcAft>
                <a:spcPts val="0"/>
              </a:spcAft>
              <a:buClr>
                <a:srgbClr val="FFFFFF"/>
              </a:buClr>
              <a:buSzPts val="6400"/>
              <a:buFont typeface="Georgia"/>
              <a:buNone/>
            </a:pPr>
            <a:r>
              <a:rPr b="0" i="0" lang="en-US" sz="6400" u="none" cap="none" strike="noStrike">
                <a:solidFill>
                  <a:srgbClr val="FFFFFF"/>
                </a:solidFill>
                <a:latin typeface="Georgia"/>
                <a:ea typeface="Georgia"/>
                <a:cs typeface="Georgia"/>
                <a:sym typeface="Georgia"/>
              </a:rPr>
              <a:t>Combinar</a:t>
            </a:r>
            <a:endParaRPr b="0" i="0" sz="6400" u="none" cap="none" strike="noStrike">
              <a:solidFill>
                <a:schemeClr val="dk1"/>
              </a:solidFill>
              <a:latin typeface="Arial"/>
              <a:ea typeface="Arial"/>
              <a:cs typeface="Arial"/>
              <a:sym typeface="Arial"/>
            </a:endParaRPr>
          </a:p>
          <a:p>
            <a:pPr indent="0" lvl="0" marL="0" marR="0" rtl="0" algn="l">
              <a:lnSpc>
                <a:spcPct val="92000"/>
              </a:lnSpc>
              <a:spcBef>
                <a:spcPts val="0"/>
              </a:spcBef>
              <a:spcAft>
                <a:spcPts val="0"/>
              </a:spcAft>
              <a:buClr>
                <a:srgbClr val="FFFFFF"/>
              </a:buClr>
              <a:buSzPts val="6400"/>
              <a:buFont typeface="Georgia"/>
              <a:buNone/>
            </a:pPr>
            <a:r>
              <a:rPr b="0" i="0" lang="en-US" sz="6400" u="none" cap="none" strike="noStrike">
                <a:solidFill>
                  <a:srgbClr val="FFFFFF"/>
                </a:solidFill>
                <a:latin typeface="Georgia"/>
                <a:ea typeface="Georgia"/>
                <a:cs typeface="Georgia"/>
                <a:sym typeface="Georgia"/>
              </a:rPr>
              <a:t>o reentrenar</a:t>
            </a:r>
            <a:endParaRPr b="0" i="0" sz="6400" u="none" cap="none" strike="noStrike">
              <a:solidFill>
                <a:schemeClr val="dk1"/>
              </a:solidFill>
              <a:latin typeface="Arial"/>
              <a:ea typeface="Arial"/>
              <a:cs typeface="Arial"/>
              <a:sym typeface="Arial"/>
            </a:endParaRPr>
          </a:p>
        </p:txBody>
      </p:sp>
      <p:sp>
        <p:nvSpPr>
          <p:cNvPr id="20" name="Google Shape;20;p1"/>
          <p:cNvSpPr txBox="1"/>
          <p:nvPr/>
        </p:nvSpPr>
        <p:spPr>
          <a:xfrm>
            <a:off x="731520" y="4069080"/>
            <a:ext cx="5852160" cy="777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8CEDA"/>
              </a:buClr>
              <a:buSzPts val="2000"/>
              <a:buFont typeface="Arial"/>
              <a:buNone/>
            </a:pPr>
            <a:r>
              <a:rPr b="0" i="0" lang="en-US" sz="2000" u="none" cap="none" strike="noStrike">
                <a:solidFill>
                  <a:srgbClr val="C8CEDA"/>
                </a:solidFill>
                <a:latin typeface="Arial"/>
                <a:ea typeface="Arial"/>
                <a:cs typeface="Arial"/>
                <a:sym typeface="Arial"/>
              </a:rPr>
              <a:t>Hedge contra reentrenamiento online en un filtro de spam bajo ataque</a:t>
            </a:r>
            <a:endParaRPr b="0" i="0" sz="2000" u="none" cap="none" strike="noStrike">
              <a:solidFill>
                <a:schemeClr val="dk1"/>
              </a:solidFill>
              <a:latin typeface="Arial"/>
              <a:ea typeface="Arial"/>
              <a:cs typeface="Arial"/>
              <a:sym typeface="Arial"/>
            </a:endParaRPr>
          </a:p>
        </p:txBody>
      </p:sp>
      <p:sp>
        <p:nvSpPr>
          <p:cNvPr id="21" name="Google Shape;21;p1"/>
          <p:cNvSpPr txBox="1"/>
          <p:nvPr/>
        </p:nvSpPr>
        <p:spPr>
          <a:xfrm>
            <a:off x="731520" y="5349240"/>
            <a:ext cx="640080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Pablo Díaz · Ezequiel Martinez</a:t>
            </a:r>
            <a:endParaRPr b="0" i="0" sz="1600" u="none" cap="none" strike="noStrike">
              <a:solidFill>
                <a:schemeClr val="dk1"/>
              </a:solidFill>
              <a:latin typeface="Arial"/>
              <a:ea typeface="Arial"/>
              <a:cs typeface="Arial"/>
              <a:sym typeface="Arial"/>
            </a:endParaRPr>
          </a:p>
        </p:txBody>
      </p:sp>
      <p:sp>
        <p:nvSpPr>
          <p:cNvPr id="22" name="Google Shape;22;p1"/>
          <p:cNvSpPr txBox="1"/>
          <p:nvPr/>
        </p:nvSpPr>
        <p:spPr>
          <a:xfrm>
            <a:off x="7955280" y="868680"/>
            <a:ext cx="329184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B6834"/>
              </a:buClr>
              <a:buSzPts val="4000"/>
              <a:buFont typeface="Georgia"/>
              <a:buNone/>
            </a:pPr>
            <a:r>
              <a:rPr b="0" i="1" lang="en-US" sz="4000" u="none" cap="none" strike="noStrike">
                <a:solidFill>
                  <a:srgbClr val="EB6834"/>
                </a:solidFill>
                <a:latin typeface="Georgia"/>
                <a:ea typeface="Georgia"/>
                <a:cs typeface="Georgia"/>
                <a:sym typeface="Georgia"/>
              </a:rPr>
              <a:t>reeply</a:t>
            </a:r>
            <a:endParaRPr b="0" i="0" sz="4000" u="none" cap="none" strike="noStrike">
              <a:solidFill>
                <a:schemeClr val="dk1"/>
              </a:solidFill>
              <a:latin typeface="Arial"/>
              <a:ea typeface="Arial"/>
              <a:cs typeface="Arial"/>
              <a:sym typeface="Arial"/>
            </a:endParaRPr>
          </a:p>
        </p:txBody>
      </p:sp>
      <p:sp>
        <p:nvSpPr>
          <p:cNvPr id="23" name="Google Shape;23;p1"/>
          <p:cNvSpPr txBox="1"/>
          <p:nvPr/>
        </p:nvSpPr>
        <p:spPr>
          <a:xfrm>
            <a:off x="8732520" y="1655064"/>
            <a:ext cx="329184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E5E33"/>
              </a:buClr>
              <a:buSzPts val="4000"/>
              <a:buFont typeface="Georgia"/>
              <a:buNone/>
            </a:pPr>
            <a:r>
              <a:rPr b="0" i="1" lang="en-US" sz="4000" u="none" cap="none" strike="noStrike">
                <a:solidFill>
                  <a:srgbClr val="CE5E33"/>
                </a:solidFill>
                <a:latin typeface="Georgia"/>
                <a:ea typeface="Georgia"/>
                <a:cs typeface="Georgia"/>
                <a:sym typeface="Georgia"/>
              </a:rPr>
              <a:t>wiin</a:t>
            </a:r>
            <a:endParaRPr b="0" i="0" sz="4000" u="none" cap="none" strike="noStrike">
              <a:solidFill>
                <a:schemeClr val="dk1"/>
              </a:solidFill>
              <a:latin typeface="Arial"/>
              <a:ea typeface="Arial"/>
              <a:cs typeface="Arial"/>
              <a:sym typeface="Arial"/>
            </a:endParaRPr>
          </a:p>
        </p:txBody>
      </p:sp>
      <p:sp>
        <p:nvSpPr>
          <p:cNvPr id="24" name="Google Shape;24;p1"/>
          <p:cNvSpPr txBox="1"/>
          <p:nvPr/>
        </p:nvSpPr>
        <p:spPr>
          <a:xfrm>
            <a:off x="7955280" y="2441448"/>
            <a:ext cx="329184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25533"/>
              </a:buClr>
              <a:buSzPts val="4000"/>
              <a:buFont typeface="Georgia"/>
              <a:buNone/>
            </a:pPr>
            <a:r>
              <a:rPr b="0" i="1" lang="en-US" sz="4000" u="none" cap="none" strike="noStrike">
                <a:solidFill>
                  <a:srgbClr val="B25533"/>
                </a:solidFill>
                <a:latin typeface="Georgia"/>
                <a:ea typeface="Georgia"/>
                <a:cs typeface="Georgia"/>
                <a:sym typeface="Georgia"/>
              </a:rPr>
              <a:t>weeekly</a:t>
            </a:r>
            <a:endParaRPr b="0" i="0" sz="4000" u="none" cap="none" strike="noStrike">
              <a:solidFill>
                <a:schemeClr val="dk1"/>
              </a:solidFill>
              <a:latin typeface="Arial"/>
              <a:ea typeface="Arial"/>
              <a:cs typeface="Arial"/>
              <a:sym typeface="Arial"/>
            </a:endParaRPr>
          </a:p>
        </p:txBody>
      </p:sp>
      <p:sp>
        <p:nvSpPr>
          <p:cNvPr id="25" name="Google Shape;25;p1"/>
          <p:cNvSpPr txBox="1"/>
          <p:nvPr/>
        </p:nvSpPr>
        <p:spPr>
          <a:xfrm>
            <a:off x="8732520" y="3227832"/>
            <a:ext cx="329184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54B32"/>
              </a:buClr>
              <a:buSzPts val="4000"/>
              <a:buFont typeface="Georgia"/>
              <a:buNone/>
            </a:pPr>
            <a:r>
              <a:rPr b="0" i="1" lang="en-US" sz="4000" u="none" cap="none" strike="noStrike">
                <a:solidFill>
                  <a:srgbClr val="954B32"/>
                </a:solidFill>
                <a:latin typeface="Georgia"/>
                <a:ea typeface="Georgia"/>
                <a:cs typeface="Georgia"/>
                <a:sym typeface="Georgia"/>
              </a:rPr>
              <a:t>cuup</a:t>
            </a:r>
            <a:endParaRPr b="0" i="0" sz="4000" u="none" cap="none" strike="noStrike">
              <a:solidFill>
                <a:schemeClr val="dk1"/>
              </a:solidFill>
              <a:latin typeface="Arial"/>
              <a:ea typeface="Arial"/>
              <a:cs typeface="Arial"/>
              <a:sym typeface="Arial"/>
            </a:endParaRPr>
          </a:p>
        </p:txBody>
      </p:sp>
      <p:sp>
        <p:nvSpPr>
          <p:cNvPr id="26" name="Google Shape;26;p1"/>
          <p:cNvSpPr txBox="1"/>
          <p:nvPr/>
        </p:nvSpPr>
        <p:spPr>
          <a:xfrm>
            <a:off x="7955280" y="4014216"/>
            <a:ext cx="329184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794232"/>
              </a:buClr>
              <a:buSzPts val="4000"/>
              <a:buFont typeface="Georgia"/>
              <a:buNone/>
            </a:pPr>
            <a:r>
              <a:rPr b="0" i="1" lang="en-US" sz="4000" u="none" cap="none" strike="noStrike">
                <a:solidFill>
                  <a:srgbClr val="794232"/>
                </a:solidFill>
                <a:latin typeface="Georgia"/>
                <a:ea typeface="Georgia"/>
                <a:cs typeface="Georgia"/>
                <a:sym typeface="Georgia"/>
              </a:rPr>
              <a:t>stoop</a:t>
            </a:r>
            <a:endParaRPr b="0" i="0" sz="4000" u="none" cap="none" strike="noStrike">
              <a:solidFill>
                <a:schemeClr val="dk1"/>
              </a:solidFill>
              <a:latin typeface="Arial"/>
              <a:ea typeface="Arial"/>
              <a:cs typeface="Arial"/>
              <a:sym typeface="Arial"/>
            </a:endParaRPr>
          </a:p>
        </p:txBody>
      </p:sp>
      <p:sp>
        <p:nvSpPr>
          <p:cNvPr id="27" name="Google Shape;27;p1"/>
          <p:cNvSpPr txBox="1"/>
          <p:nvPr/>
        </p:nvSpPr>
        <p:spPr>
          <a:xfrm>
            <a:off x="8732520" y="4800600"/>
            <a:ext cx="329184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C3831"/>
              </a:buClr>
              <a:buSzPts val="4000"/>
              <a:buFont typeface="Georgia"/>
              <a:buNone/>
            </a:pPr>
            <a:r>
              <a:rPr b="0" i="1" lang="en-US" sz="4000" u="none" cap="none" strike="noStrike">
                <a:solidFill>
                  <a:srgbClr val="5C3831"/>
                </a:solidFill>
                <a:latin typeface="Georgia"/>
                <a:ea typeface="Georgia"/>
                <a:cs typeface="Georgia"/>
                <a:sym typeface="Georgia"/>
              </a:rPr>
              <a:t>seervice</a:t>
            </a:r>
            <a:endParaRPr b="0" i="0" sz="4000" u="none" cap="none" strike="noStrike">
              <a:solidFill>
                <a:schemeClr val="dk1"/>
              </a:solidFill>
              <a:latin typeface="Arial"/>
              <a:ea typeface="Arial"/>
              <a:cs typeface="Arial"/>
              <a:sym typeface="Arial"/>
            </a:endParaRPr>
          </a:p>
        </p:txBody>
      </p:sp>
      <p:sp>
        <p:nvSpPr>
          <p:cNvPr id="28" name="Google Shape;28;p1"/>
          <p:cNvSpPr txBox="1"/>
          <p:nvPr/>
        </p:nvSpPr>
        <p:spPr>
          <a:xfrm>
            <a:off x="8732520" y="5586984"/>
            <a:ext cx="18288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65694"/>
              </a:buClr>
              <a:buSzPts val="4000"/>
              <a:buFont typeface="Georgia"/>
              <a:buNone/>
            </a:pPr>
            <a:r>
              <a:rPr b="0" i="1" lang="en-US" sz="4000" u="none" cap="none" strike="noStrike">
                <a:solidFill>
                  <a:srgbClr val="265694"/>
                </a:solidFill>
                <a:latin typeface="Georgia"/>
                <a:ea typeface="Georgia"/>
                <a:cs typeface="Georgia"/>
                <a:sym typeface="Georgia"/>
              </a:rPr>
              <a:t>lol</a:t>
            </a:r>
            <a:endParaRPr b="0" i="0" sz="4000" u="none" cap="none" strike="noStrike">
              <a:solidFill>
                <a:schemeClr val="dk1"/>
              </a:solidFill>
              <a:latin typeface="Arial"/>
              <a:ea typeface="Arial"/>
              <a:cs typeface="Arial"/>
              <a:sym typeface="Arial"/>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 name="Shape 33"/>
        <p:cNvGrpSpPr/>
        <p:nvPr/>
      </p:nvGrpSpPr>
      <p:grpSpPr>
        <a:xfrm>
          <a:off x="0" y="0"/>
          <a:ext cx="0" cy="0"/>
          <a:chOff x="0" y="0"/>
          <a:chExt cx="0" cy="0"/>
        </a:xfrm>
      </p:grpSpPr>
      <p:sp>
        <p:nvSpPr>
          <p:cNvPr id="34" name="Google Shape;34;p2"/>
          <p:cNvSpPr txBox="1"/>
          <p:nvPr/>
        </p:nvSpPr>
        <p:spPr>
          <a:xfrm>
            <a:off x="548640" y="411480"/>
            <a:ext cx="73152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100"/>
              <a:buFont typeface="Arial"/>
              <a:buNone/>
            </a:pPr>
            <a:r>
              <a:rPr b="1" lang="en-US" sz="1100">
                <a:solidFill>
                  <a:srgbClr val="5A6274"/>
                </a:solidFill>
                <a:latin typeface="Arial"/>
                <a:ea typeface="Arial"/>
                <a:cs typeface="Arial"/>
                <a:sym typeface="Arial"/>
              </a:rPr>
              <a:t>EL PROBLEMA</a:t>
            </a:r>
            <a:endParaRPr sz="1100">
              <a:solidFill>
                <a:schemeClr val="dk1"/>
              </a:solidFill>
              <a:latin typeface="Arial"/>
              <a:ea typeface="Arial"/>
              <a:cs typeface="Arial"/>
              <a:sym typeface="Arial"/>
            </a:endParaRPr>
          </a:p>
        </p:txBody>
      </p:sp>
      <p:sp>
        <p:nvSpPr>
          <p:cNvPr id="35" name="Google Shape;35;p2"/>
          <p:cNvSpPr txBox="1"/>
          <p:nvPr>
            <p:ph type="title"/>
          </p:nvPr>
        </p:nvSpPr>
        <p:spPr>
          <a:xfrm>
            <a:off x="548640" y="731520"/>
            <a:ext cx="10424160" cy="566928"/>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1F2430"/>
              </a:buClr>
              <a:buSzPts val="3000"/>
              <a:buFont typeface="Georgia"/>
              <a:buNone/>
            </a:pPr>
            <a:r>
              <a:rPr lang="en-US"/>
              <a:t>Un spammer que sabe qué palabras lo delatan</a:t>
            </a:r>
            <a:endParaRPr sz="3000"/>
          </a:p>
        </p:txBody>
      </p:sp>
      <p:sp>
        <p:nvSpPr>
          <p:cNvPr id="36" name="Google Shape;36;p2"/>
          <p:cNvSpPr txBox="1"/>
          <p:nvPr/>
        </p:nvSpPr>
        <p:spPr>
          <a:xfrm>
            <a:off x="548640" y="1307592"/>
            <a:ext cx="1042416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500"/>
              <a:buFont typeface="Arial"/>
              <a:buNone/>
            </a:pPr>
            <a:r>
              <a:rPr lang="en-US" sz="1500">
                <a:solidFill>
                  <a:srgbClr val="5A6274"/>
                </a:solidFill>
                <a:latin typeface="Arial"/>
                <a:ea typeface="Arial"/>
                <a:cs typeface="Arial"/>
                <a:sym typeface="Arial"/>
              </a:rPr>
              <a:t>Un SMS real del corpus, atacado por nuestro código: crece una sola palabra.</a:t>
            </a:r>
            <a:endParaRPr sz="1500">
              <a:solidFill>
                <a:schemeClr val="dk1"/>
              </a:solidFill>
              <a:latin typeface="Arial"/>
              <a:ea typeface="Arial"/>
              <a:cs typeface="Arial"/>
              <a:sym typeface="Arial"/>
            </a:endParaRPr>
          </a:p>
        </p:txBody>
      </p:sp>
      <p:sp>
        <p:nvSpPr>
          <p:cNvPr id="37" name="Google Shape;37;p2"/>
          <p:cNvSpPr txBox="1"/>
          <p:nvPr/>
        </p:nvSpPr>
        <p:spPr>
          <a:xfrm>
            <a:off x="9235440" y="429768"/>
            <a:ext cx="155448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AA1AE"/>
              </a:buClr>
              <a:buSzPts val="900"/>
              <a:buFont typeface="Arial"/>
              <a:buNone/>
            </a:pPr>
            <a:r>
              <a:rPr b="1" lang="en-US" sz="900">
                <a:solidFill>
                  <a:srgbClr val="9AA1AE"/>
                </a:solidFill>
                <a:latin typeface="Arial"/>
                <a:ea typeface="Arial"/>
                <a:cs typeface="Arial"/>
                <a:sym typeface="Arial"/>
              </a:rPr>
              <a:t>RESULTADOS</a:t>
            </a:r>
            <a:endParaRPr sz="900">
              <a:solidFill>
                <a:schemeClr val="dk1"/>
              </a:solidFill>
              <a:latin typeface="Arial"/>
              <a:ea typeface="Arial"/>
              <a:cs typeface="Arial"/>
              <a:sym typeface="Arial"/>
            </a:endParaRPr>
          </a:p>
        </p:txBody>
      </p:sp>
      <p:sp>
        <p:nvSpPr>
          <p:cNvPr id="38" name="Google Shape;38;p2"/>
          <p:cNvSpPr/>
          <p:nvPr/>
        </p:nvSpPr>
        <p:spPr>
          <a:xfrm>
            <a:off x="10899648"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 name="Google Shape;39;p2"/>
          <p:cNvSpPr/>
          <p:nvPr/>
        </p:nvSpPr>
        <p:spPr>
          <a:xfrm>
            <a:off x="11100816"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 name="Google Shape;40;p2"/>
          <p:cNvSpPr/>
          <p:nvPr/>
        </p:nvSpPr>
        <p:spPr>
          <a:xfrm>
            <a:off x="11301984"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1" name="Google Shape;41;p2"/>
          <p:cNvSpPr/>
          <p:nvPr/>
        </p:nvSpPr>
        <p:spPr>
          <a:xfrm>
            <a:off x="11503152"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Dos teléfonos con el mismo SMS de spam, antes y después del ataque. En el atacado, siete palabras tienen una letra duplicada (reeply, wiin, weeekly) y se agrega la palabra lol." id="42" name="Google Shape;42;p2"/>
          <p:cNvPicPr preferRelativeResize="0"/>
          <p:nvPr/>
        </p:nvPicPr>
        <p:blipFill rotWithShape="1">
          <a:blip r:embed="rId3">
            <a:alphaModFix/>
          </a:blip>
          <a:srcRect b="0" l="0" r="0" t="0"/>
          <a:stretch/>
        </p:blipFill>
        <p:spPr>
          <a:xfrm>
            <a:off x="365760" y="2011680"/>
            <a:ext cx="8092440" cy="3382068"/>
          </a:xfrm>
          <a:prstGeom prst="rect">
            <a:avLst/>
          </a:prstGeom>
          <a:noFill/>
          <a:ln>
            <a:noFill/>
          </a:ln>
        </p:spPr>
      </p:pic>
      <p:sp>
        <p:nvSpPr>
          <p:cNvPr id="43" name="Google Shape;43;p2"/>
          <p:cNvSpPr/>
          <p:nvPr/>
        </p:nvSpPr>
        <p:spPr>
          <a:xfrm>
            <a:off x="8531352" y="2695962"/>
            <a:ext cx="164592" cy="164592"/>
          </a:xfrm>
          <a:prstGeom prst="ellipse">
            <a:avLst/>
          </a:prstGeom>
          <a:solidFill>
            <a:srgbClr val="EB68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 name="Google Shape;44;p2"/>
          <p:cNvSpPr txBox="1"/>
          <p:nvPr/>
        </p:nvSpPr>
        <p:spPr>
          <a:xfrm>
            <a:off x="8805672" y="2641098"/>
            <a:ext cx="27432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200"/>
              <a:buFont typeface="Arial"/>
              <a:buNone/>
            </a:pPr>
            <a:r>
              <a:rPr lang="en-US" sz="1200">
                <a:solidFill>
                  <a:srgbClr val="5A6274"/>
                </a:solidFill>
                <a:latin typeface="Arial"/>
                <a:ea typeface="Arial"/>
                <a:cs typeface="Arial"/>
                <a:sym typeface="Arial"/>
              </a:rPr>
              <a:t>vocal duplicada en las palabras que más delatan spam</a:t>
            </a:r>
            <a:endParaRPr sz="1200">
              <a:solidFill>
                <a:schemeClr val="dk1"/>
              </a:solidFill>
              <a:latin typeface="Arial"/>
              <a:ea typeface="Arial"/>
              <a:cs typeface="Arial"/>
              <a:sym typeface="Arial"/>
            </a:endParaRPr>
          </a:p>
        </p:txBody>
      </p:sp>
      <p:sp>
        <p:nvSpPr>
          <p:cNvPr id="45" name="Google Shape;45;p2"/>
          <p:cNvSpPr/>
          <p:nvPr/>
        </p:nvSpPr>
        <p:spPr>
          <a:xfrm>
            <a:off x="8531352" y="3226314"/>
            <a:ext cx="164592" cy="164592"/>
          </a:xfrm>
          <a:prstGeom prst="ellipse">
            <a:avLst/>
          </a:prstGeom>
          <a:solidFill>
            <a:srgbClr val="2A78D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 name="Google Shape;46;p2"/>
          <p:cNvSpPr txBox="1"/>
          <p:nvPr/>
        </p:nvSpPr>
        <p:spPr>
          <a:xfrm>
            <a:off x="8805672" y="3171450"/>
            <a:ext cx="27432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200"/>
              <a:buFont typeface="Arial"/>
              <a:buNone/>
            </a:pPr>
            <a:r>
              <a:rPr lang="en-US" sz="1200">
                <a:solidFill>
                  <a:srgbClr val="5A6274"/>
                </a:solidFill>
                <a:latin typeface="Arial"/>
                <a:ea typeface="Arial"/>
                <a:cs typeface="Arial"/>
                <a:sym typeface="Arial"/>
              </a:rPr>
              <a:t>palabra típica de mensajes legítimos</a:t>
            </a:r>
            <a:endParaRPr sz="1200">
              <a:solidFill>
                <a:schemeClr val="dk1"/>
              </a:solidFill>
              <a:latin typeface="Arial"/>
              <a:ea typeface="Arial"/>
              <a:cs typeface="Arial"/>
              <a:sym typeface="Arial"/>
            </a:endParaRPr>
          </a:p>
        </p:txBody>
      </p:sp>
      <p:sp>
        <p:nvSpPr>
          <p:cNvPr id="47" name="Google Shape;47;p2"/>
          <p:cNvSpPr txBox="1"/>
          <p:nvPr/>
        </p:nvSpPr>
        <p:spPr>
          <a:xfrm>
            <a:off x="548640" y="6373368"/>
            <a:ext cx="1024128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A1AE"/>
              </a:buClr>
              <a:buSzPts val="1000"/>
              <a:buFont typeface="Arial"/>
              <a:buNone/>
            </a:pPr>
            <a:r>
              <a:rPr lang="en-US" sz="1000">
                <a:solidFill>
                  <a:srgbClr val="9AA1AE"/>
                </a:solidFill>
                <a:latin typeface="Arial"/>
                <a:ea typeface="Arial"/>
                <a:cs typeface="Arial"/>
                <a:sym typeface="Arial"/>
              </a:rPr>
              <a:t>Ataque «good word» de Lowd &amp; Meek (2005) más ofuscación de las 800 palabras más delatoras. Media de 20 permutaciones (semillas) del SMS Spam Collection.</a:t>
            </a:r>
            <a:endParaRPr sz="1000">
              <a:solidFill>
                <a:schemeClr val="dk1"/>
              </a:solidFill>
              <a:latin typeface="Arial"/>
              <a:ea typeface="Arial"/>
              <a:cs typeface="Arial"/>
              <a:sym typeface="Arial"/>
            </a:endParaRPr>
          </a:p>
        </p:txBody>
      </p:sp>
      <p:sp>
        <p:nvSpPr>
          <p:cNvPr id="48" name="Google Shape;48;p2"/>
          <p:cNvSpPr txBox="1"/>
          <p:nvPr>
            <p:ph idx="4294967295" type="sldNum"/>
          </p:nvPr>
        </p:nvSpPr>
        <p:spPr>
          <a:xfrm>
            <a:off x="11091672" y="637336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AA1AE"/>
                </a:solidFill>
                <a:latin typeface="Arial"/>
                <a:ea typeface="Arial"/>
                <a:cs typeface="Arial"/>
                <a:sym typeface="Arial"/>
              </a:rPr>
              <a:t>‹#›</a:t>
            </a:fld>
            <a:endParaRPr sz="1000">
              <a:solidFill>
                <a:srgbClr val="9AA1AE"/>
              </a:solidFill>
              <a:latin typeface="Arial"/>
              <a:ea typeface="Arial"/>
              <a:cs typeface="Arial"/>
              <a:sym typeface="Arial"/>
            </a:endParaRPr>
          </a:p>
        </p:txBody>
      </p:sp>
      <p:sp>
        <p:nvSpPr>
          <p:cNvPr id="49" name="Google Shape;49;p2"/>
          <p:cNvSpPr txBox="1"/>
          <p:nvPr/>
        </p:nvSpPr>
        <p:spPr>
          <a:xfrm>
            <a:off x="8531352" y="3977639"/>
            <a:ext cx="3108960" cy="6400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lang="en-US" sz="4000">
                <a:solidFill>
                  <a:srgbClr val="1F2430"/>
                </a:solidFill>
                <a:latin typeface="Arial"/>
                <a:ea typeface="Arial"/>
                <a:cs typeface="Arial"/>
                <a:sym typeface="Arial"/>
              </a:rPr>
              <a:t>85%</a:t>
            </a:r>
            <a:r>
              <a:rPr b="0" lang="en-US" sz="3200">
                <a:solidFill>
                  <a:srgbClr val="9AA1AE"/>
                </a:solidFill>
                <a:latin typeface="Arial"/>
                <a:ea typeface="Arial"/>
                <a:cs typeface="Arial"/>
                <a:sym typeface="Arial"/>
              </a:rPr>
              <a:t> → </a:t>
            </a:r>
            <a:r>
              <a:rPr b="1" lang="en-US" sz="4000">
                <a:solidFill>
                  <a:srgbClr val="EB6834"/>
                </a:solidFill>
                <a:latin typeface="Arial"/>
                <a:ea typeface="Arial"/>
                <a:cs typeface="Arial"/>
                <a:sym typeface="Arial"/>
              </a:rPr>
              <a:t>42%</a:t>
            </a:r>
            <a:endParaRPr/>
          </a:p>
        </p:txBody>
      </p:sp>
      <p:sp>
        <p:nvSpPr>
          <p:cNvPr id="50" name="Google Shape;50;p2"/>
          <p:cNvSpPr txBox="1"/>
          <p:nvPr/>
        </p:nvSpPr>
        <p:spPr>
          <a:xfrm>
            <a:off x="8531352" y="4709160"/>
            <a:ext cx="3017520" cy="9144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1200">
                <a:solidFill>
                  <a:srgbClr val="5A6274"/>
                </a:solidFill>
                <a:latin typeface="Arial"/>
                <a:ea typeface="Arial"/>
                <a:cs typeface="Arial"/>
                <a:sym typeface="Arial"/>
              </a:rPr>
              <a:t>del spam atrapado por el filtro estático (Naive Bayes), antes y después del ataque.</a:t>
            </a:r>
            <a:endParaRP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3"/>
          <p:cNvSpPr txBox="1"/>
          <p:nvPr/>
        </p:nvSpPr>
        <p:spPr>
          <a:xfrm>
            <a:off x="548640" y="411480"/>
            <a:ext cx="73152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100"/>
              <a:buFont typeface="Arial"/>
              <a:buNone/>
            </a:pPr>
            <a:r>
              <a:rPr b="1" lang="en-US" sz="1100">
                <a:solidFill>
                  <a:srgbClr val="5A6274"/>
                </a:solidFill>
                <a:latin typeface="Arial"/>
                <a:ea typeface="Arial"/>
                <a:cs typeface="Arial"/>
                <a:sym typeface="Arial"/>
              </a:rPr>
              <a:t>EL PROBLEMA</a:t>
            </a:r>
            <a:endParaRPr sz="1100">
              <a:solidFill>
                <a:schemeClr val="dk1"/>
              </a:solidFill>
              <a:latin typeface="Arial"/>
              <a:ea typeface="Arial"/>
              <a:cs typeface="Arial"/>
              <a:sym typeface="Arial"/>
            </a:endParaRPr>
          </a:p>
        </p:txBody>
      </p:sp>
      <p:sp>
        <p:nvSpPr>
          <p:cNvPr id="57" name="Google Shape;57;p3"/>
          <p:cNvSpPr txBox="1"/>
          <p:nvPr>
            <p:ph type="title"/>
          </p:nvPr>
        </p:nvSpPr>
        <p:spPr>
          <a:xfrm>
            <a:off x="548640" y="731520"/>
            <a:ext cx="10424160" cy="566928"/>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1F2430"/>
              </a:buClr>
              <a:buSzPts val="3000"/>
              <a:buFont typeface="Georgia"/>
              <a:buNone/>
            </a:pPr>
            <a:r>
              <a:rPr lang="en-US" sz="3000">
                <a:solidFill>
                  <a:srgbClr val="1F2430"/>
                </a:solidFill>
                <a:latin typeface="Georgia"/>
                <a:ea typeface="Georgia"/>
                <a:cs typeface="Georgia"/>
                <a:sym typeface="Georgia"/>
              </a:rPr>
              <a:t>Dos formas de defenderse</a:t>
            </a:r>
            <a:endParaRPr sz="3000"/>
          </a:p>
        </p:txBody>
      </p:sp>
      <p:sp>
        <p:nvSpPr>
          <p:cNvPr id="58" name="Google Shape;58;p3"/>
          <p:cNvSpPr txBox="1"/>
          <p:nvPr/>
        </p:nvSpPr>
        <p:spPr>
          <a:xfrm>
            <a:off x="9235440" y="429768"/>
            <a:ext cx="155448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AA1AE"/>
              </a:buClr>
              <a:buSzPts val="900"/>
              <a:buFont typeface="Arial"/>
              <a:buNone/>
            </a:pPr>
            <a:r>
              <a:rPr b="1" lang="en-US" sz="900">
                <a:solidFill>
                  <a:srgbClr val="9AA1AE"/>
                </a:solidFill>
                <a:latin typeface="Arial"/>
                <a:ea typeface="Arial"/>
                <a:cs typeface="Arial"/>
                <a:sym typeface="Arial"/>
              </a:rPr>
              <a:t>RESULTADOS</a:t>
            </a:r>
            <a:endParaRPr sz="900">
              <a:solidFill>
                <a:schemeClr val="dk1"/>
              </a:solidFill>
              <a:latin typeface="Arial"/>
              <a:ea typeface="Arial"/>
              <a:cs typeface="Arial"/>
              <a:sym typeface="Arial"/>
            </a:endParaRPr>
          </a:p>
        </p:txBody>
      </p:sp>
      <p:sp>
        <p:nvSpPr>
          <p:cNvPr id="59" name="Google Shape;59;p3"/>
          <p:cNvSpPr/>
          <p:nvPr/>
        </p:nvSpPr>
        <p:spPr>
          <a:xfrm>
            <a:off x="10899648"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0" name="Google Shape;60;p3"/>
          <p:cNvSpPr/>
          <p:nvPr/>
        </p:nvSpPr>
        <p:spPr>
          <a:xfrm>
            <a:off x="11100816"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1" name="Google Shape;61;p3"/>
          <p:cNvSpPr/>
          <p:nvPr/>
        </p:nvSpPr>
        <p:spPr>
          <a:xfrm>
            <a:off x="11301984"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2" name="Google Shape;62;p3"/>
          <p:cNvSpPr/>
          <p:nvPr/>
        </p:nvSpPr>
        <p:spPr>
          <a:xfrm>
            <a:off x="11503152"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3" name="Google Shape;63;p3"/>
          <p:cNvSpPr txBox="1"/>
          <p:nvPr/>
        </p:nvSpPr>
        <p:spPr>
          <a:xfrm>
            <a:off x="713232" y="1865376"/>
            <a:ext cx="512064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A78D6"/>
              </a:buClr>
              <a:buSzPts val="3200"/>
              <a:buFont typeface="Georgia"/>
              <a:buNone/>
            </a:pPr>
            <a:r>
              <a:rPr lang="en-US" sz="3200">
                <a:solidFill>
                  <a:srgbClr val="2A78D6"/>
                </a:solidFill>
                <a:latin typeface="Georgia"/>
                <a:ea typeface="Georgia"/>
                <a:cs typeface="Georgia"/>
                <a:sym typeface="Georgia"/>
              </a:rPr>
              <a:t>Combinar expertos</a:t>
            </a:r>
            <a:endParaRPr sz="3200">
              <a:solidFill>
                <a:schemeClr val="dk1"/>
              </a:solidFill>
              <a:latin typeface="Arial"/>
              <a:ea typeface="Arial"/>
              <a:cs typeface="Arial"/>
              <a:sym typeface="Arial"/>
            </a:endParaRPr>
          </a:p>
        </p:txBody>
      </p:sp>
      <p:sp>
        <p:nvSpPr>
          <p:cNvPr id="64" name="Google Shape;64;p3"/>
          <p:cNvSpPr txBox="1"/>
          <p:nvPr/>
        </p:nvSpPr>
        <p:spPr>
          <a:xfrm>
            <a:off x="713232" y="2825496"/>
            <a:ext cx="512064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1600"/>
              <a:buFont typeface="Arial"/>
              <a:buNone/>
            </a:pPr>
            <a:r>
              <a:rPr lang="en-US" sz="1600">
                <a:solidFill>
                  <a:srgbClr val="1F2430"/>
                </a:solidFill>
                <a:latin typeface="Arial"/>
                <a:ea typeface="Arial"/>
                <a:cs typeface="Arial"/>
                <a:sym typeface="Arial"/>
              </a:rPr>
              <a:t>Clasificadores (“expertos”) entrenados una vez. El algoritmo Hedge no los toca, sino que reparte la confianza entre ellos y la mueve hacia el que acierta.</a:t>
            </a:r>
            <a:endParaRPr sz="1600">
              <a:solidFill>
                <a:schemeClr val="dk1"/>
              </a:solidFill>
              <a:latin typeface="Arial"/>
              <a:ea typeface="Arial"/>
              <a:cs typeface="Arial"/>
              <a:sym typeface="Arial"/>
            </a:endParaRPr>
          </a:p>
        </p:txBody>
      </p:sp>
      <p:sp>
        <p:nvSpPr>
          <p:cNvPr id="65" name="Google Shape;65;p3"/>
          <p:cNvSpPr txBox="1"/>
          <p:nvPr/>
        </p:nvSpPr>
        <p:spPr>
          <a:xfrm>
            <a:off x="6519672" y="1865376"/>
            <a:ext cx="512064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AF7A"/>
              </a:buClr>
              <a:buSzPts val="3200"/>
              <a:buFont typeface="Georgia"/>
              <a:buNone/>
            </a:pPr>
            <a:r>
              <a:rPr lang="en-US" sz="3200">
                <a:solidFill>
                  <a:srgbClr val="1BAF7A"/>
                </a:solidFill>
                <a:latin typeface="Georgia"/>
                <a:ea typeface="Georgia"/>
                <a:cs typeface="Georgia"/>
                <a:sym typeface="Georgia"/>
              </a:rPr>
              <a:t>Reentrenar</a:t>
            </a:r>
            <a:endParaRPr sz="3200">
              <a:solidFill>
                <a:schemeClr val="dk1"/>
              </a:solidFill>
              <a:latin typeface="Arial"/>
              <a:ea typeface="Arial"/>
              <a:cs typeface="Arial"/>
              <a:sym typeface="Arial"/>
            </a:endParaRPr>
          </a:p>
        </p:txBody>
      </p:sp>
      <p:sp>
        <p:nvSpPr>
          <p:cNvPr id="66" name="Google Shape;66;p3"/>
          <p:cNvSpPr txBox="1"/>
          <p:nvPr/>
        </p:nvSpPr>
        <p:spPr>
          <a:xfrm>
            <a:off x="6519672" y="2825496"/>
            <a:ext cx="512064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1600"/>
              <a:buFont typeface="Arial"/>
              <a:buNone/>
            </a:pPr>
            <a:r>
              <a:rPr lang="en-US" sz="1600">
                <a:solidFill>
                  <a:srgbClr val="1F2430"/>
                </a:solidFill>
                <a:latin typeface="Arial"/>
                <a:ea typeface="Arial"/>
                <a:cs typeface="Arial"/>
                <a:sym typeface="Arial"/>
              </a:rPr>
              <a:t>El modelo se actualiza con cada mensaje etiquetado. Puede aprender palabras que nunca vio, como “wiin".</a:t>
            </a:r>
            <a:endParaRPr sz="1600">
              <a:solidFill>
                <a:schemeClr val="dk1"/>
              </a:solidFill>
              <a:latin typeface="Arial"/>
              <a:ea typeface="Arial"/>
              <a:cs typeface="Arial"/>
              <a:sym typeface="Arial"/>
            </a:endParaRPr>
          </a:p>
        </p:txBody>
      </p:sp>
      <p:sp>
        <p:nvSpPr>
          <p:cNvPr id="67" name="Google Shape;67;p3"/>
          <p:cNvSpPr txBox="1"/>
          <p:nvPr/>
        </p:nvSpPr>
        <p:spPr>
          <a:xfrm>
            <a:off x="6519672" y="3739896"/>
            <a:ext cx="512064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AF7A"/>
              </a:buClr>
              <a:buSzPts val="1600"/>
              <a:buFont typeface="Arial"/>
              <a:buNone/>
            </a:pPr>
            <a:r>
              <a:rPr b="1" lang="en-US" sz="1600">
                <a:solidFill>
                  <a:srgbClr val="1BAF7A"/>
                </a:solidFill>
                <a:latin typeface="Arial"/>
                <a:ea typeface="Arial"/>
                <a:cs typeface="Arial"/>
                <a:sym typeface="Arial"/>
              </a:rPr>
              <a:t>Aprende un peso por palabra</a:t>
            </a:r>
            <a:endParaRPr sz="1600">
              <a:solidFill>
                <a:schemeClr val="dk1"/>
              </a:solidFill>
              <a:latin typeface="Arial"/>
              <a:ea typeface="Arial"/>
              <a:cs typeface="Arial"/>
              <a:sym typeface="Arial"/>
            </a:endParaRPr>
          </a:p>
        </p:txBody>
      </p:sp>
      <p:cxnSp>
        <p:nvCxnSpPr>
          <p:cNvPr id="68" name="Google Shape;68;p3"/>
          <p:cNvCxnSpPr/>
          <p:nvPr/>
        </p:nvCxnSpPr>
        <p:spPr>
          <a:xfrm>
            <a:off x="5842197" y="1635411"/>
            <a:ext cx="0" cy="2697480"/>
          </a:xfrm>
          <a:prstGeom prst="straightConnector1">
            <a:avLst/>
          </a:prstGeom>
          <a:noFill/>
          <a:ln cap="flat" cmpd="sng" w="9525">
            <a:solidFill>
              <a:srgbClr val="D9D6CE"/>
            </a:solidFill>
            <a:prstDash val="solid"/>
            <a:round/>
            <a:headEnd len="sm" w="sm" type="none"/>
            <a:tailEnd len="sm" w="sm" type="none"/>
          </a:ln>
        </p:spPr>
      </p:cxnSp>
      <p:cxnSp>
        <p:nvCxnSpPr>
          <p:cNvPr id="69" name="Google Shape;69;p3"/>
          <p:cNvCxnSpPr/>
          <p:nvPr/>
        </p:nvCxnSpPr>
        <p:spPr>
          <a:xfrm>
            <a:off x="548640" y="4846320"/>
            <a:ext cx="11091672" cy="0"/>
          </a:xfrm>
          <a:prstGeom prst="straightConnector1">
            <a:avLst/>
          </a:prstGeom>
          <a:noFill/>
          <a:ln cap="flat" cmpd="sng" w="9525">
            <a:solidFill>
              <a:srgbClr val="D9D6CE"/>
            </a:solidFill>
            <a:prstDash val="solid"/>
            <a:round/>
            <a:headEnd len="sm" w="sm" type="none"/>
            <a:tailEnd len="sm" w="sm" type="none"/>
          </a:ln>
        </p:spPr>
      </p:cxnSp>
      <p:sp>
        <p:nvSpPr>
          <p:cNvPr id="70" name="Google Shape;70;p3"/>
          <p:cNvSpPr txBox="1"/>
          <p:nvPr/>
        </p:nvSpPr>
        <p:spPr>
          <a:xfrm>
            <a:off x="548640" y="5029200"/>
            <a:ext cx="11064240"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2600"/>
              <a:buFont typeface="Georgia"/>
              <a:buNone/>
            </a:pPr>
            <a:r>
              <a:rPr i="1" lang="en-US" sz="2600">
                <a:solidFill>
                  <a:srgbClr val="1F2430"/>
                </a:solidFill>
                <a:latin typeface="Georgia"/>
                <a:ea typeface="Georgia"/>
                <a:cs typeface="Georgia"/>
                <a:sym typeface="Georgia"/>
              </a:rPr>
              <a:t>“The only remedy we know of is frequent retraining.”</a:t>
            </a:r>
            <a:endParaRPr sz="2600">
              <a:solidFill>
                <a:schemeClr val="dk1"/>
              </a:solidFill>
              <a:latin typeface="Arial"/>
              <a:ea typeface="Arial"/>
              <a:cs typeface="Arial"/>
              <a:sym typeface="Arial"/>
            </a:endParaRPr>
          </a:p>
        </p:txBody>
      </p:sp>
      <p:sp>
        <p:nvSpPr>
          <p:cNvPr id="71" name="Google Shape;71;p3"/>
          <p:cNvSpPr txBox="1"/>
          <p:nvPr/>
        </p:nvSpPr>
        <p:spPr>
          <a:xfrm>
            <a:off x="548640" y="5623560"/>
            <a:ext cx="110642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300"/>
              <a:buFont typeface="Arial"/>
              <a:buNone/>
            </a:pPr>
            <a:r>
              <a:rPr lang="en-US" sz="1300">
                <a:solidFill>
                  <a:srgbClr val="5A6274"/>
                </a:solidFill>
                <a:latin typeface="Arial"/>
                <a:ea typeface="Arial"/>
                <a:cs typeface="Arial"/>
                <a:sym typeface="Arial"/>
              </a:rPr>
              <a:t>Lowd &amp; Meek (2005), sobre ataques a filtros de spam.</a:t>
            </a:r>
            <a:endParaRPr sz="1300">
              <a:solidFill>
                <a:schemeClr val="dk1"/>
              </a:solidFill>
              <a:latin typeface="Arial"/>
              <a:ea typeface="Arial"/>
              <a:cs typeface="Arial"/>
              <a:sym typeface="Arial"/>
            </a:endParaRPr>
          </a:p>
        </p:txBody>
      </p:sp>
      <p:sp>
        <p:nvSpPr>
          <p:cNvPr id="72" name="Google Shape;72;p3"/>
          <p:cNvSpPr txBox="1"/>
          <p:nvPr>
            <p:ph idx="4294967295" type="sldNum"/>
          </p:nvPr>
        </p:nvSpPr>
        <p:spPr>
          <a:xfrm>
            <a:off x="11091672" y="637336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AA1AE"/>
                </a:solidFill>
                <a:latin typeface="Arial"/>
                <a:ea typeface="Arial"/>
                <a:cs typeface="Arial"/>
                <a:sym typeface="Arial"/>
              </a:rPr>
              <a:t>‹#›</a:t>
            </a:fld>
            <a:endParaRPr sz="1000">
              <a:solidFill>
                <a:srgbClr val="9AA1AE"/>
              </a:solidFill>
              <a:latin typeface="Arial"/>
              <a:ea typeface="Arial"/>
              <a:cs typeface="Arial"/>
              <a:sym typeface="Arial"/>
            </a:endParaRPr>
          </a:p>
        </p:txBody>
      </p:sp>
      <p:sp>
        <p:nvSpPr>
          <p:cNvPr id="73" name="Google Shape;73;p3"/>
          <p:cNvSpPr txBox="1"/>
          <p:nvPr/>
        </p:nvSpPr>
        <p:spPr>
          <a:xfrm>
            <a:off x="713232" y="3739896"/>
            <a:ext cx="5120640" cy="3200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lang="en-US" sz="1600">
                <a:solidFill>
                  <a:srgbClr val="2A78D6"/>
                </a:solidFill>
                <a:latin typeface="Arial"/>
                <a:ea typeface="Arial"/>
                <a:cs typeface="Arial"/>
                <a:sym typeface="Arial"/>
              </a:rPr>
              <a:t>Aprende 5 números (uno por experto)</a:t>
            </a:r>
            <a:endParaRP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4"/>
          <p:cNvSpPr txBox="1"/>
          <p:nvPr/>
        </p:nvSpPr>
        <p:spPr>
          <a:xfrm>
            <a:off x="548640" y="411480"/>
            <a:ext cx="73152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100"/>
              <a:buFont typeface="Arial"/>
              <a:buNone/>
            </a:pPr>
            <a:r>
              <a:rPr b="1" lang="en-US" sz="1100">
                <a:solidFill>
                  <a:srgbClr val="5A6274"/>
                </a:solidFill>
                <a:latin typeface="Arial"/>
                <a:ea typeface="Arial"/>
                <a:cs typeface="Arial"/>
                <a:sym typeface="Arial"/>
              </a:rPr>
              <a:t>EL PROBLEMA</a:t>
            </a:r>
            <a:endParaRPr sz="1100">
              <a:solidFill>
                <a:schemeClr val="dk1"/>
              </a:solidFill>
              <a:latin typeface="Arial"/>
              <a:ea typeface="Arial"/>
              <a:cs typeface="Arial"/>
              <a:sym typeface="Arial"/>
            </a:endParaRPr>
          </a:p>
        </p:txBody>
      </p:sp>
      <p:sp>
        <p:nvSpPr>
          <p:cNvPr id="80" name="Google Shape;80;p4"/>
          <p:cNvSpPr txBox="1"/>
          <p:nvPr>
            <p:ph type="title"/>
          </p:nvPr>
        </p:nvSpPr>
        <p:spPr>
          <a:xfrm>
            <a:off x="548640" y="731520"/>
            <a:ext cx="10424160" cy="566928"/>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1F2430"/>
              </a:buClr>
              <a:buSzPts val="3000"/>
              <a:buFont typeface="Georgia"/>
              <a:buNone/>
            </a:pPr>
            <a:r>
              <a:rPr lang="en-US" sz="3000">
                <a:solidFill>
                  <a:srgbClr val="1F2430"/>
                </a:solidFill>
                <a:latin typeface="Georgia"/>
                <a:ea typeface="Georgia"/>
                <a:cs typeface="Georgia"/>
                <a:sym typeface="Georgia"/>
              </a:rPr>
              <a:t>Dos preguntas principales</a:t>
            </a:r>
            <a:endParaRPr sz="3000"/>
          </a:p>
        </p:txBody>
      </p:sp>
      <p:sp>
        <p:nvSpPr>
          <p:cNvPr id="81" name="Google Shape;81;p4"/>
          <p:cNvSpPr txBox="1"/>
          <p:nvPr/>
        </p:nvSpPr>
        <p:spPr>
          <a:xfrm>
            <a:off x="9235440" y="429768"/>
            <a:ext cx="155448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AA1AE"/>
              </a:buClr>
              <a:buSzPts val="900"/>
              <a:buFont typeface="Arial"/>
              <a:buNone/>
            </a:pPr>
            <a:r>
              <a:rPr b="1" lang="en-US" sz="900">
                <a:solidFill>
                  <a:srgbClr val="9AA1AE"/>
                </a:solidFill>
                <a:latin typeface="Arial"/>
                <a:ea typeface="Arial"/>
                <a:cs typeface="Arial"/>
                <a:sym typeface="Arial"/>
              </a:rPr>
              <a:t>RESULTADOS</a:t>
            </a:r>
            <a:endParaRPr sz="900">
              <a:solidFill>
                <a:schemeClr val="dk1"/>
              </a:solidFill>
              <a:latin typeface="Arial"/>
              <a:ea typeface="Arial"/>
              <a:cs typeface="Arial"/>
              <a:sym typeface="Arial"/>
            </a:endParaRPr>
          </a:p>
        </p:txBody>
      </p:sp>
      <p:sp>
        <p:nvSpPr>
          <p:cNvPr id="82" name="Google Shape;82;p4"/>
          <p:cNvSpPr/>
          <p:nvPr/>
        </p:nvSpPr>
        <p:spPr>
          <a:xfrm>
            <a:off x="10899648"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3" name="Google Shape;83;p4"/>
          <p:cNvSpPr/>
          <p:nvPr/>
        </p:nvSpPr>
        <p:spPr>
          <a:xfrm>
            <a:off x="11100816"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4" name="Google Shape;84;p4"/>
          <p:cNvSpPr/>
          <p:nvPr/>
        </p:nvSpPr>
        <p:spPr>
          <a:xfrm>
            <a:off x="11301984"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5" name="Google Shape;85;p4"/>
          <p:cNvSpPr/>
          <p:nvPr/>
        </p:nvSpPr>
        <p:spPr>
          <a:xfrm>
            <a:off x="11503152"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6" name="Google Shape;86;p4"/>
          <p:cNvSpPr txBox="1"/>
          <p:nvPr/>
        </p:nvSpPr>
        <p:spPr>
          <a:xfrm>
            <a:off x="548640" y="1463040"/>
            <a:ext cx="1371600" cy="1691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A78D6"/>
              </a:buClr>
              <a:buSzPts val="11000"/>
              <a:buFont typeface="Georgia"/>
              <a:buNone/>
            </a:pPr>
            <a:r>
              <a:rPr lang="en-US" sz="11000">
                <a:solidFill>
                  <a:srgbClr val="2A78D6"/>
                </a:solidFill>
                <a:latin typeface="Georgia"/>
                <a:ea typeface="Georgia"/>
                <a:cs typeface="Georgia"/>
                <a:sym typeface="Georgia"/>
              </a:rPr>
              <a:t>1</a:t>
            </a:r>
            <a:endParaRPr sz="11000">
              <a:solidFill>
                <a:schemeClr val="dk1"/>
              </a:solidFill>
              <a:latin typeface="Arial"/>
              <a:ea typeface="Arial"/>
              <a:cs typeface="Arial"/>
              <a:sym typeface="Arial"/>
            </a:endParaRPr>
          </a:p>
        </p:txBody>
      </p:sp>
      <p:sp>
        <p:nvSpPr>
          <p:cNvPr id="87" name="Google Shape;87;p4"/>
          <p:cNvSpPr txBox="1"/>
          <p:nvPr/>
        </p:nvSpPr>
        <p:spPr>
          <a:xfrm>
            <a:off x="548640" y="3200400"/>
            <a:ext cx="5212080" cy="114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2400"/>
              <a:buFont typeface="Georgia"/>
              <a:buNone/>
            </a:pPr>
            <a:r>
              <a:rPr lang="en-US" sz="2400">
                <a:solidFill>
                  <a:srgbClr val="1F2430"/>
                </a:solidFill>
                <a:latin typeface="Georgia"/>
                <a:ea typeface="Georgia"/>
                <a:cs typeface="Georgia"/>
                <a:sym typeface="Georgia"/>
              </a:rPr>
              <a:t>¿Cuánto se recupera combinando expertos congelados, sin reentrenar nada?</a:t>
            </a:r>
            <a:endParaRPr sz="2400">
              <a:solidFill>
                <a:schemeClr val="dk1"/>
              </a:solidFill>
              <a:latin typeface="Arial"/>
              <a:ea typeface="Arial"/>
              <a:cs typeface="Arial"/>
              <a:sym typeface="Arial"/>
            </a:endParaRPr>
          </a:p>
        </p:txBody>
      </p:sp>
      <p:sp>
        <p:nvSpPr>
          <p:cNvPr id="88" name="Google Shape;88;p4"/>
          <p:cNvSpPr txBox="1"/>
          <p:nvPr/>
        </p:nvSpPr>
        <p:spPr>
          <a:xfrm>
            <a:off x="6355080" y="1463040"/>
            <a:ext cx="1371600" cy="1691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A78D6"/>
              </a:buClr>
              <a:buSzPts val="11000"/>
              <a:buFont typeface="Georgia"/>
              <a:buNone/>
            </a:pPr>
            <a:r>
              <a:rPr lang="en-US" sz="11000">
                <a:solidFill>
                  <a:srgbClr val="2A78D6"/>
                </a:solidFill>
                <a:latin typeface="Georgia"/>
                <a:ea typeface="Georgia"/>
                <a:cs typeface="Georgia"/>
                <a:sym typeface="Georgia"/>
              </a:rPr>
              <a:t>2</a:t>
            </a:r>
            <a:endParaRPr sz="11000">
              <a:solidFill>
                <a:schemeClr val="dk1"/>
              </a:solidFill>
              <a:latin typeface="Arial"/>
              <a:ea typeface="Arial"/>
              <a:cs typeface="Arial"/>
              <a:sym typeface="Arial"/>
            </a:endParaRPr>
          </a:p>
        </p:txBody>
      </p:sp>
      <p:sp>
        <p:nvSpPr>
          <p:cNvPr id="89" name="Google Shape;89;p4"/>
          <p:cNvSpPr txBox="1"/>
          <p:nvPr/>
        </p:nvSpPr>
        <p:spPr>
          <a:xfrm>
            <a:off x="6355080" y="3200400"/>
            <a:ext cx="5212080" cy="114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2400"/>
              <a:buFont typeface="Georgia"/>
              <a:buNone/>
            </a:pPr>
            <a:r>
              <a:rPr lang="en-US" sz="2400">
                <a:solidFill>
                  <a:srgbClr val="1F2430"/>
                </a:solidFill>
                <a:latin typeface="Georgia"/>
                <a:ea typeface="Georgia"/>
                <a:cs typeface="Georgia"/>
                <a:sym typeface="Georgia"/>
              </a:rPr>
              <a:t>¿Cuánta etiqueta hace falta? En la práctica, el usuario reporta pocos mensajes.</a:t>
            </a:r>
            <a:endParaRPr sz="2400">
              <a:solidFill>
                <a:schemeClr val="dk1"/>
              </a:solidFill>
              <a:latin typeface="Arial"/>
              <a:ea typeface="Arial"/>
              <a:cs typeface="Arial"/>
              <a:sym typeface="Arial"/>
            </a:endParaRPr>
          </a:p>
        </p:txBody>
      </p:sp>
      <p:cxnSp>
        <p:nvCxnSpPr>
          <p:cNvPr id="90" name="Google Shape;90;p4"/>
          <p:cNvCxnSpPr/>
          <p:nvPr/>
        </p:nvCxnSpPr>
        <p:spPr>
          <a:xfrm>
            <a:off x="548640" y="4983480"/>
            <a:ext cx="11091672" cy="0"/>
          </a:xfrm>
          <a:prstGeom prst="straightConnector1">
            <a:avLst/>
          </a:prstGeom>
          <a:noFill/>
          <a:ln cap="flat" cmpd="sng" w="9525">
            <a:solidFill>
              <a:srgbClr val="D9D6CE"/>
            </a:solidFill>
            <a:prstDash val="solid"/>
            <a:round/>
            <a:headEnd len="sm" w="sm" type="none"/>
            <a:tailEnd len="sm" w="sm" type="none"/>
          </a:ln>
        </p:spPr>
      </p:cxnSp>
      <p:sp>
        <p:nvSpPr>
          <p:cNvPr id="91" name="Google Shape;91;p4"/>
          <p:cNvSpPr txBox="1"/>
          <p:nvPr>
            <p:ph idx="4294967295" type="sldNum"/>
          </p:nvPr>
        </p:nvSpPr>
        <p:spPr>
          <a:xfrm>
            <a:off x="11091672" y="637336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AA1AE"/>
                </a:solidFill>
                <a:latin typeface="Arial"/>
                <a:ea typeface="Arial"/>
                <a:cs typeface="Arial"/>
                <a:sym typeface="Arial"/>
              </a:rPr>
              <a:t>‹#›</a:t>
            </a:fld>
            <a:endParaRPr sz="1000">
              <a:solidFill>
                <a:srgbClr val="9AA1AE"/>
              </a:solidFill>
              <a:latin typeface="Arial"/>
              <a:ea typeface="Arial"/>
              <a:cs typeface="Arial"/>
              <a:sym typeface="Arial"/>
            </a:endParaRP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5"/>
          <p:cNvSpPr txBox="1"/>
          <p:nvPr/>
        </p:nvSpPr>
        <p:spPr>
          <a:xfrm>
            <a:off x="548640" y="411480"/>
            <a:ext cx="73152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100"/>
              <a:buFont typeface="Arial"/>
              <a:buNone/>
            </a:pPr>
            <a:r>
              <a:rPr b="1" lang="en-US" sz="1100">
                <a:solidFill>
                  <a:srgbClr val="5A6274"/>
                </a:solidFill>
                <a:latin typeface="Arial"/>
                <a:ea typeface="Arial"/>
                <a:cs typeface="Arial"/>
                <a:sym typeface="Arial"/>
              </a:rPr>
              <a:t>MÉTODO</a:t>
            </a:r>
            <a:endParaRPr sz="1100">
              <a:solidFill>
                <a:schemeClr val="dk1"/>
              </a:solidFill>
              <a:latin typeface="Arial"/>
              <a:ea typeface="Arial"/>
              <a:cs typeface="Arial"/>
              <a:sym typeface="Arial"/>
            </a:endParaRPr>
          </a:p>
        </p:txBody>
      </p:sp>
      <p:sp>
        <p:nvSpPr>
          <p:cNvPr id="98" name="Google Shape;98;p5"/>
          <p:cNvSpPr txBox="1"/>
          <p:nvPr>
            <p:ph type="title"/>
          </p:nvPr>
        </p:nvSpPr>
        <p:spPr>
          <a:xfrm>
            <a:off x="548640" y="731520"/>
            <a:ext cx="10424160" cy="566928"/>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1F2430"/>
              </a:buClr>
              <a:buSzPts val="3000"/>
              <a:buFont typeface="Georgia"/>
              <a:buNone/>
            </a:pPr>
            <a:r>
              <a:rPr lang="en-US" sz="3000">
                <a:solidFill>
                  <a:srgbClr val="1F2430"/>
                </a:solidFill>
                <a:latin typeface="Georgia"/>
                <a:ea typeface="Georgia"/>
                <a:cs typeface="Georgia"/>
                <a:sym typeface="Georgia"/>
              </a:rPr>
              <a:t>Combinar: algoritmo </a:t>
            </a:r>
            <a:r>
              <a:rPr i="1" lang="en-US" sz="3000">
                <a:solidFill>
                  <a:srgbClr val="1F2430"/>
                </a:solidFill>
                <a:latin typeface="Georgia"/>
                <a:ea typeface="Georgia"/>
                <a:cs typeface="Georgia"/>
                <a:sym typeface="Georgia"/>
              </a:rPr>
              <a:t>Hedge</a:t>
            </a:r>
            <a:endParaRPr sz="3000"/>
          </a:p>
        </p:txBody>
      </p:sp>
      <p:sp>
        <p:nvSpPr>
          <p:cNvPr id="99" name="Google Shape;99;p5"/>
          <p:cNvSpPr txBox="1"/>
          <p:nvPr/>
        </p:nvSpPr>
        <p:spPr>
          <a:xfrm>
            <a:off x="9235440" y="429768"/>
            <a:ext cx="155448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AA1AE"/>
              </a:buClr>
              <a:buSzPts val="900"/>
              <a:buFont typeface="Arial"/>
              <a:buNone/>
            </a:pPr>
            <a:r>
              <a:rPr b="1" lang="en-US" sz="900">
                <a:solidFill>
                  <a:srgbClr val="9AA1AE"/>
                </a:solidFill>
                <a:latin typeface="Arial"/>
                <a:ea typeface="Arial"/>
                <a:cs typeface="Arial"/>
                <a:sym typeface="Arial"/>
              </a:rPr>
              <a:t>RESULTADOS</a:t>
            </a:r>
            <a:endParaRPr sz="900">
              <a:solidFill>
                <a:schemeClr val="dk1"/>
              </a:solidFill>
              <a:latin typeface="Arial"/>
              <a:ea typeface="Arial"/>
              <a:cs typeface="Arial"/>
              <a:sym typeface="Arial"/>
            </a:endParaRPr>
          </a:p>
        </p:txBody>
      </p:sp>
      <p:sp>
        <p:nvSpPr>
          <p:cNvPr id="100" name="Google Shape;100;p5"/>
          <p:cNvSpPr/>
          <p:nvPr/>
        </p:nvSpPr>
        <p:spPr>
          <a:xfrm>
            <a:off x="10899648"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 name="Google Shape;101;p5"/>
          <p:cNvSpPr/>
          <p:nvPr/>
        </p:nvSpPr>
        <p:spPr>
          <a:xfrm>
            <a:off x="11100816"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2" name="Google Shape;102;p5"/>
          <p:cNvSpPr/>
          <p:nvPr/>
        </p:nvSpPr>
        <p:spPr>
          <a:xfrm>
            <a:off x="11301984"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3" name="Google Shape;103;p5"/>
          <p:cNvSpPr/>
          <p:nvPr/>
        </p:nvSpPr>
        <p:spPr>
          <a:xfrm>
            <a:off x="11503152"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04" name="Google Shape;104;p5"/>
          <p:cNvCxnSpPr/>
          <p:nvPr/>
        </p:nvCxnSpPr>
        <p:spPr>
          <a:xfrm>
            <a:off x="548640" y="1874519"/>
            <a:ext cx="5943600" cy="0"/>
          </a:xfrm>
          <a:prstGeom prst="straightConnector1">
            <a:avLst/>
          </a:prstGeom>
          <a:noFill/>
          <a:ln cap="flat" cmpd="sng" w="9525">
            <a:solidFill>
              <a:srgbClr val="D9D6CE"/>
            </a:solidFill>
            <a:prstDash val="solid"/>
            <a:round/>
            <a:headEnd len="sm" w="sm" type="none"/>
            <a:tailEnd len="sm" w="sm" type="none"/>
          </a:ln>
        </p:spPr>
      </p:cxnSp>
      <p:sp>
        <p:nvSpPr>
          <p:cNvPr id="105" name="Google Shape;105;p5"/>
          <p:cNvSpPr txBox="1"/>
          <p:nvPr/>
        </p:nvSpPr>
        <p:spPr>
          <a:xfrm>
            <a:off x="548640" y="2057400"/>
            <a:ext cx="59436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3200"/>
              <a:buFont typeface="Georgia"/>
              <a:buNone/>
            </a:pPr>
            <a:r>
              <a:rPr lang="en-US" sz="3200">
                <a:solidFill>
                  <a:srgbClr val="1F2430"/>
                </a:solidFill>
                <a:latin typeface="Georgia"/>
                <a:ea typeface="Georgia"/>
                <a:cs typeface="Georgia"/>
                <a:sym typeface="Georgia"/>
              </a:rPr>
              <a:t>peso</a:t>
            </a:r>
            <a:r>
              <a:rPr baseline="-25000" lang="en-US" sz="3200">
                <a:solidFill>
                  <a:srgbClr val="1F2430"/>
                </a:solidFill>
                <a:latin typeface="Georgia"/>
                <a:ea typeface="Georgia"/>
                <a:cs typeface="Georgia"/>
                <a:sym typeface="Georgia"/>
              </a:rPr>
              <a:t>i</a:t>
            </a:r>
            <a:r>
              <a:rPr lang="en-US" sz="3200">
                <a:solidFill>
                  <a:srgbClr val="1F2430"/>
                </a:solidFill>
                <a:latin typeface="Georgia"/>
                <a:ea typeface="Georgia"/>
                <a:cs typeface="Georgia"/>
                <a:sym typeface="Georgia"/>
              </a:rPr>
              <a:t>  ←  peso</a:t>
            </a:r>
            <a:r>
              <a:rPr baseline="-25000" lang="en-US" sz="3200">
                <a:solidFill>
                  <a:srgbClr val="1F2430"/>
                </a:solidFill>
                <a:latin typeface="Georgia"/>
                <a:ea typeface="Georgia"/>
                <a:cs typeface="Georgia"/>
                <a:sym typeface="Georgia"/>
              </a:rPr>
              <a:t>i</a:t>
            </a:r>
            <a:r>
              <a:rPr lang="en-US" sz="3200">
                <a:solidFill>
                  <a:srgbClr val="1F2430"/>
                </a:solidFill>
                <a:latin typeface="Georgia"/>
                <a:ea typeface="Georgia"/>
                <a:cs typeface="Georgia"/>
                <a:sym typeface="Georgia"/>
              </a:rPr>
              <a:t> · e</a:t>
            </a:r>
            <a:r>
              <a:rPr baseline="30000" lang="en-US" sz="3200">
                <a:solidFill>
                  <a:srgbClr val="1F2430"/>
                </a:solidFill>
                <a:latin typeface="Georgia"/>
                <a:ea typeface="Georgia"/>
                <a:cs typeface="Georgia"/>
                <a:sym typeface="Georgia"/>
              </a:rPr>
              <a:t>−η · error</a:t>
            </a:r>
            <a:endParaRPr sz="3200">
              <a:solidFill>
                <a:schemeClr val="dk1"/>
              </a:solidFill>
              <a:latin typeface="Arial"/>
              <a:ea typeface="Arial"/>
              <a:cs typeface="Arial"/>
              <a:sym typeface="Arial"/>
            </a:endParaRPr>
          </a:p>
        </p:txBody>
      </p:sp>
      <p:cxnSp>
        <p:nvCxnSpPr>
          <p:cNvPr id="106" name="Google Shape;106;p5"/>
          <p:cNvCxnSpPr/>
          <p:nvPr/>
        </p:nvCxnSpPr>
        <p:spPr>
          <a:xfrm>
            <a:off x="548640" y="2926080"/>
            <a:ext cx="5943600" cy="0"/>
          </a:xfrm>
          <a:prstGeom prst="straightConnector1">
            <a:avLst/>
          </a:prstGeom>
          <a:noFill/>
          <a:ln cap="flat" cmpd="sng" w="9525">
            <a:solidFill>
              <a:srgbClr val="D9D6CE"/>
            </a:solidFill>
            <a:prstDash val="solid"/>
            <a:round/>
            <a:headEnd len="sm" w="sm" type="none"/>
            <a:tailEnd len="sm" w="sm" type="none"/>
          </a:ln>
        </p:spPr>
      </p:cxnSp>
      <p:sp>
        <p:nvSpPr>
          <p:cNvPr id="107" name="Google Shape;107;p5"/>
          <p:cNvSpPr txBox="1"/>
          <p:nvPr>
            <p:ph idx="4294967295" type="sldNum"/>
          </p:nvPr>
        </p:nvSpPr>
        <p:spPr>
          <a:xfrm>
            <a:off x="11091672" y="637336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AA1AE"/>
                </a:solidFill>
                <a:latin typeface="Arial"/>
                <a:ea typeface="Arial"/>
                <a:cs typeface="Arial"/>
                <a:sym typeface="Arial"/>
              </a:rPr>
              <a:t>‹#›</a:t>
            </a:fld>
            <a:endParaRPr sz="1000">
              <a:solidFill>
                <a:srgbClr val="9AA1AE"/>
              </a:solidFill>
              <a:latin typeface="Arial"/>
              <a:ea typeface="Arial"/>
              <a:cs typeface="Arial"/>
              <a:sym typeface="Arial"/>
            </a:endParaRPr>
          </a:p>
        </p:txBody>
      </p:sp>
      <p:sp>
        <p:nvSpPr>
          <p:cNvPr id="108" name="Google Shape;108;p5"/>
          <p:cNvSpPr txBox="1"/>
          <p:nvPr/>
        </p:nvSpPr>
        <p:spPr>
          <a:xfrm>
            <a:off x="548640" y="1307592"/>
            <a:ext cx="10424160" cy="3200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1500">
                <a:solidFill>
                  <a:srgbClr val="5A6274"/>
                </a:solidFill>
                <a:latin typeface="Arial"/>
                <a:ea typeface="Arial"/>
                <a:cs typeface="Arial"/>
                <a:sym typeface="Arial"/>
              </a:rPr>
              <a:t>Cada mensaje es una ronda: predecir, ver la etiqueta, actualizar.</a:t>
            </a:r>
            <a:endParaRPr/>
          </a:p>
        </p:txBody>
      </p:sp>
      <p:sp>
        <p:nvSpPr>
          <p:cNvPr id="109" name="Google Shape;109;p5"/>
          <p:cNvSpPr txBox="1"/>
          <p:nvPr/>
        </p:nvSpPr>
        <p:spPr>
          <a:xfrm>
            <a:off x="548640" y="3108960"/>
            <a:ext cx="365760" cy="4114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2200">
                <a:solidFill>
                  <a:srgbClr val="2A78D6"/>
                </a:solidFill>
                <a:latin typeface="Georgia"/>
                <a:ea typeface="Georgia"/>
                <a:cs typeface="Georgia"/>
                <a:sym typeface="Georgia"/>
              </a:rPr>
              <a:t>1</a:t>
            </a:r>
            <a:endParaRPr/>
          </a:p>
        </p:txBody>
      </p:sp>
      <p:sp>
        <p:nvSpPr>
          <p:cNvPr id="110" name="Google Shape;110;p5"/>
          <p:cNvSpPr txBox="1"/>
          <p:nvPr/>
        </p:nvSpPr>
        <p:spPr>
          <a:xfrm>
            <a:off x="1005840" y="3154680"/>
            <a:ext cx="5486400" cy="6400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1600">
                <a:solidFill>
                  <a:srgbClr val="1F2430"/>
                </a:solidFill>
                <a:latin typeface="Arial"/>
                <a:ea typeface="Arial"/>
                <a:cs typeface="Arial"/>
                <a:sym typeface="Arial"/>
              </a:rPr>
              <a:t>Los cinco expertos arrancan con el mismo peso: 1/5.</a:t>
            </a:r>
            <a:endParaRPr/>
          </a:p>
        </p:txBody>
      </p:sp>
      <p:sp>
        <p:nvSpPr>
          <p:cNvPr id="111" name="Google Shape;111;p5"/>
          <p:cNvSpPr txBox="1"/>
          <p:nvPr/>
        </p:nvSpPr>
        <p:spPr>
          <a:xfrm>
            <a:off x="548640" y="3611880"/>
            <a:ext cx="365760" cy="4114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2200">
                <a:solidFill>
                  <a:srgbClr val="2A78D6"/>
                </a:solidFill>
                <a:latin typeface="Georgia"/>
                <a:ea typeface="Georgia"/>
                <a:cs typeface="Georgia"/>
                <a:sym typeface="Georgia"/>
              </a:rPr>
              <a:t>2</a:t>
            </a:r>
            <a:endParaRPr/>
          </a:p>
        </p:txBody>
      </p:sp>
      <p:sp>
        <p:nvSpPr>
          <p:cNvPr id="112" name="Google Shape;112;p5"/>
          <p:cNvSpPr txBox="1"/>
          <p:nvPr/>
        </p:nvSpPr>
        <p:spPr>
          <a:xfrm>
            <a:off x="1005840" y="3657600"/>
            <a:ext cx="5486400" cy="6400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1600">
                <a:solidFill>
                  <a:srgbClr val="1F2430"/>
                </a:solidFill>
                <a:latin typeface="Arial"/>
                <a:ea typeface="Arial"/>
                <a:cs typeface="Arial"/>
                <a:sym typeface="Arial"/>
              </a:rPr>
              <a:t>En cada mensaje se sortea un experto según los pesos y se juega su predicción.</a:t>
            </a:r>
            <a:endParaRPr/>
          </a:p>
        </p:txBody>
      </p:sp>
      <p:sp>
        <p:nvSpPr>
          <p:cNvPr id="113" name="Google Shape;113;p5"/>
          <p:cNvSpPr txBox="1"/>
          <p:nvPr/>
        </p:nvSpPr>
        <p:spPr>
          <a:xfrm>
            <a:off x="548640" y="4343400"/>
            <a:ext cx="365760" cy="4114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2200">
                <a:solidFill>
                  <a:srgbClr val="2A78D6"/>
                </a:solidFill>
                <a:latin typeface="Georgia"/>
                <a:ea typeface="Georgia"/>
                <a:cs typeface="Georgia"/>
                <a:sym typeface="Georgia"/>
              </a:rPr>
              <a:t>3</a:t>
            </a:r>
            <a:endParaRPr/>
          </a:p>
        </p:txBody>
      </p:sp>
      <p:sp>
        <p:nvSpPr>
          <p:cNvPr id="114" name="Google Shape;114;p5"/>
          <p:cNvSpPr txBox="1"/>
          <p:nvPr/>
        </p:nvSpPr>
        <p:spPr>
          <a:xfrm>
            <a:off x="1005840" y="4389120"/>
            <a:ext cx="5486400" cy="6400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1600">
                <a:solidFill>
                  <a:srgbClr val="1F2430"/>
                </a:solidFill>
                <a:latin typeface="Arial"/>
                <a:ea typeface="Arial"/>
                <a:cs typeface="Arial"/>
                <a:sym typeface="Arial"/>
              </a:rPr>
              <a:t>Se revela la etiqueta y baja el peso de cada experto que erró: se ven los cinco, no solo el sorteado.</a:t>
            </a:r>
            <a:endParaRPr/>
          </a:p>
        </p:txBody>
      </p:sp>
      <p:sp>
        <p:nvSpPr>
          <p:cNvPr id="115" name="Google Shape;115;p5"/>
          <p:cNvSpPr txBox="1"/>
          <p:nvPr/>
        </p:nvSpPr>
        <p:spPr>
          <a:xfrm>
            <a:off x="548640" y="5230368"/>
            <a:ext cx="5943600" cy="2286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lang="en-US" sz="1000">
                <a:solidFill>
                  <a:srgbClr val="5A6274"/>
                </a:solidFill>
                <a:latin typeface="Arial"/>
                <a:ea typeface="Arial"/>
                <a:cs typeface="Arial"/>
                <a:sym typeface="Arial"/>
              </a:rPr>
              <a:t>LOS CINCO EXPERTOS</a:t>
            </a:r>
            <a:endParaRPr/>
          </a:p>
        </p:txBody>
      </p:sp>
      <p:sp>
        <p:nvSpPr>
          <p:cNvPr id="116" name="Google Shape;116;p5"/>
          <p:cNvSpPr/>
          <p:nvPr/>
        </p:nvSpPr>
        <p:spPr>
          <a:xfrm>
            <a:off x="548640" y="5550408"/>
            <a:ext cx="182880" cy="182880"/>
          </a:xfrm>
          <a:prstGeom prst="ellipse">
            <a:avLst/>
          </a:prstGeom>
          <a:solidFill>
            <a:srgbClr val="EB68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7" name="Google Shape;117;p5"/>
          <p:cNvSpPr txBox="1"/>
          <p:nvPr/>
        </p:nvSpPr>
        <p:spPr>
          <a:xfrm>
            <a:off x="804672" y="5522976"/>
            <a:ext cx="960120" cy="2560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1200">
                <a:solidFill>
                  <a:srgbClr val="5A6274"/>
                </a:solidFill>
                <a:latin typeface="Arial"/>
                <a:ea typeface="Arial"/>
                <a:cs typeface="Arial"/>
                <a:sym typeface="Arial"/>
              </a:rPr>
              <a:t>Naive Bayes</a:t>
            </a:r>
            <a:endParaRPr/>
          </a:p>
        </p:txBody>
      </p:sp>
      <p:sp>
        <p:nvSpPr>
          <p:cNvPr id="118" name="Google Shape;118;p5"/>
          <p:cNvSpPr/>
          <p:nvPr/>
        </p:nvSpPr>
        <p:spPr>
          <a:xfrm>
            <a:off x="1947672" y="5550408"/>
            <a:ext cx="182880" cy="182880"/>
          </a:xfrm>
          <a:prstGeom prst="ellipse">
            <a:avLst/>
          </a:prstGeom>
          <a:solidFill>
            <a:srgbClr val="008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9" name="Google Shape;119;p5"/>
          <p:cNvSpPr txBox="1"/>
          <p:nvPr/>
        </p:nvSpPr>
        <p:spPr>
          <a:xfrm>
            <a:off x="2203704" y="5522976"/>
            <a:ext cx="1115568" cy="2560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1200">
                <a:solidFill>
                  <a:srgbClr val="5A6274"/>
                </a:solidFill>
                <a:latin typeface="Arial"/>
                <a:ea typeface="Arial"/>
                <a:cs typeface="Arial"/>
                <a:sym typeface="Arial"/>
              </a:rPr>
              <a:t>Reg. logística</a:t>
            </a:r>
            <a:endParaRPr/>
          </a:p>
        </p:txBody>
      </p:sp>
      <p:sp>
        <p:nvSpPr>
          <p:cNvPr id="120" name="Google Shape;120;p5"/>
          <p:cNvSpPr/>
          <p:nvPr/>
        </p:nvSpPr>
        <p:spPr>
          <a:xfrm>
            <a:off x="3502152" y="5550408"/>
            <a:ext cx="182880" cy="182880"/>
          </a:xfrm>
          <a:prstGeom prst="ellipse">
            <a:avLst/>
          </a:prstGeom>
          <a:solidFill>
            <a:srgbClr val="008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1" name="Google Shape;121;p5"/>
          <p:cNvSpPr txBox="1"/>
          <p:nvPr/>
        </p:nvSpPr>
        <p:spPr>
          <a:xfrm>
            <a:off x="3758184" y="5522976"/>
            <a:ext cx="548640" cy="2560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1200">
                <a:solidFill>
                  <a:srgbClr val="5A6274"/>
                </a:solidFill>
                <a:latin typeface="Arial"/>
                <a:ea typeface="Arial"/>
                <a:cs typeface="Arial"/>
                <a:sym typeface="Arial"/>
              </a:rPr>
              <a:t>Árbol</a:t>
            </a:r>
            <a:endParaRPr/>
          </a:p>
        </p:txBody>
      </p:sp>
      <p:sp>
        <p:nvSpPr>
          <p:cNvPr id="122" name="Google Shape;122;p5"/>
          <p:cNvSpPr/>
          <p:nvPr/>
        </p:nvSpPr>
        <p:spPr>
          <a:xfrm>
            <a:off x="4489704" y="5550408"/>
            <a:ext cx="182880" cy="182880"/>
          </a:xfrm>
          <a:prstGeom prst="ellipse">
            <a:avLst/>
          </a:prstGeom>
          <a:solidFill>
            <a:srgbClr val="008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3" name="Google Shape;123;p5"/>
          <p:cNvSpPr txBox="1"/>
          <p:nvPr/>
        </p:nvSpPr>
        <p:spPr>
          <a:xfrm>
            <a:off x="4745736" y="5522976"/>
            <a:ext cx="621792" cy="2560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1200">
                <a:solidFill>
                  <a:srgbClr val="5A6274"/>
                </a:solidFill>
                <a:latin typeface="Arial"/>
                <a:ea typeface="Arial"/>
                <a:cs typeface="Arial"/>
                <a:sym typeface="Arial"/>
              </a:rPr>
              <a:t>Reglas</a:t>
            </a:r>
            <a:endParaRPr/>
          </a:p>
        </p:txBody>
      </p:sp>
      <p:sp>
        <p:nvSpPr>
          <p:cNvPr id="124" name="Google Shape;124;p5"/>
          <p:cNvSpPr/>
          <p:nvPr/>
        </p:nvSpPr>
        <p:spPr>
          <a:xfrm>
            <a:off x="5550408" y="5550408"/>
            <a:ext cx="182880" cy="182880"/>
          </a:xfrm>
          <a:prstGeom prst="ellipse">
            <a:avLst/>
          </a:prstGeom>
          <a:solidFill>
            <a:srgbClr val="4A3AA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5" name="Google Shape;125;p5"/>
          <p:cNvSpPr txBox="1"/>
          <p:nvPr/>
        </p:nvSpPr>
        <p:spPr>
          <a:xfrm>
            <a:off x="5806440" y="5522976"/>
            <a:ext cx="960120" cy="2560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1200">
                <a:solidFill>
                  <a:srgbClr val="5A6274"/>
                </a:solidFill>
                <a:latin typeface="Arial"/>
                <a:ea typeface="Arial"/>
                <a:cs typeface="Arial"/>
                <a:sym typeface="Arial"/>
              </a:rPr>
              <a:t>Estructural</a:t>
            </a:r>
            <a:endParaRPr/>
          </a:p>
        </p:txBody>
      </p:sp>
      <p:sp>
        <p:nvSpPr>
          <p:cNvPr id="126" name="Google Shape;126;p5"/>
          <p:cNvSpPr/>
          <p:nvPr/>
        </p:nvSpPr>
        <p:spPr>
          <a:xfrm>
            <a:off x="7086600" y="1874519"/>
            <a:ext cx="4553712" cy="4206240"/>
          </a:xfrm>
          <a:prstGeom prst="rect">
            <a:avLst/>
          </a:prstGeom>
          <a:solidFill>
            <a:srgbClr val="ECE9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7" name="Google Shape;127;p5"/>
          <p:cNvSpPr txBox="1"/>
          <p:nvPr/>
        </p:nvSpPr>
        <p:spPr>
          <a:xfrm>
            <a:off x="7406640" y="2130552"/>
            <a:ext cx="3913632" cy="2286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lang="en-US" sz="1000">
                <a:solidFill>
                  <a:srgbClr val="5A6274"/>
                </a:solidFill>
                <a:latin typeface="Arial"/>
                <a:ea typeface="Arial"/>
                <a:cs typeface="Arial"/>
                <a:sym typeface="Arial"/>
              </a:rPr>
              <a:t>GARANTÍA</a:t>
            </a:r>
            <a:endParaRPr/>
          </a:p>
        </p:txBody>
      </p:sp>
      <p:sp>
        <p:nvSpPr>
          <p:cNvPr id="128" name="Google Shape;128;p5"/>
          <p:cNvSpPr txBox="1"/>
          <p:nvPr/>
        </p:nvSpPr>
        <p:spPr>
          <a:xfrm>
            <a:off x="7406640" y="2423160"/>
            <a:ext cx="3913632" cy="5029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lang="en-US" sz="1400">
                <a:solidFill>
                  <a:srgbClr val="1F2430"/>
                </a:solidFill>
                <a:latin typeface="Arial"/>
                <a:ea typeface="Arial"/>
                <a:cs typeface="Arial"/>
                <a:sym typeface="Arial"/>
              </a:rPr>
              <a:t>Regret: </a:t>
            </a:r>
            <a:r>
              <a:rPr b="0" lang="en-US" sz="1400">
                <a:solidFill>
                  <a:srgbClr val="1F2430"/>
                </a:solidFill>
                <a:latin typeface="Arial"/>
                <a:ea typeface="Arial"/>
                <a:cs typeface="Arial"/>
                <a:sym typeface="Arial"/>
              </a:rPr>
              <a:t>errores de más frente al mejor experto fijo en retrospectiva.</a:t>
            </a:r>
            <a:endParaRPr/>
          </a:p>
        </p:txBody>
      </p:sp>
      <p:sp>
        <p:nvSpPr>
          <p:cNvPr id="129" name="Google Shape;129;p5"/>
          <p:cNvSpPr txBox="1"/>
          <p:nvPr/>
        </p:nvSpPr>
        <p:spPr>
          <a:xfrm>
            <a:off x="7406640" y="3017520"/>
            <a:ext cx="3913632" cy="7315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4800">
                <a:solidFill>
                  <a:srgbClr val="2A78D6"/>
                </a:solidFill>
                <a:latin typeface="Georgia"/>
                <a:ea typeface="Georgia"/>
                <a:cs typeface="Georgia"/>
                <a:sym typeface="Georgia"/>
              </a:rPr>
              <a:t>≤ 59,9</a:t>
            </a:r>
            <a:endParaRPr/>
          </a:p>
        </p:txBody>
      </p:sp>
      <p:sp>
        <p:nvSpPr>
          <p:cNvPr id="130" name="Google Shape;130;p5"/>
          <p:cNvSpPr txBox="1"/>
          <p:nvPr/>
        </p:nvSpPr>
        <p:spPr>
          <a:xfrm>
            <a:off x="7406640" y="3794760"/>
            <a:ext cx="3913632" cy="7315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1200">
                <a:solidFill>
                  <a:srgbClr val="5A6274"/>
                </a:solidFill>
                <a:latin typeface="Arial"/>
                <a:ea typeface="Arial"/>
                <a:cs typeface="Arial"/>
                <a:sym typeface="Arial"/>
              </a:rPr>
              <a:t>errores de más en T = 4.460 rondas, con K = 5 y η</a:t>
            </a:r>
            <a:r>
              <a:rPr b="0" baseline="-25000" lang="en-US" sz="1200">
                <a:solidFill>
                  <a:srgbClr val="5A6274"/>
                </a:solidFill>
                <a:latin typeface="Arial"/>
                <a:ea typeface="Arial"/>
                <a:cs typeface="Arial"/>
                <a:sym typeface="Arial"/>
              </a:rPr>
              <a:t>T</a:t>
            </a:r>
            <a:r>
              <a:rPr b="0" lang="en-US" sz="1200">
                <a:solidFill>
                  <a:srgbClr val="5A6274"/>
                </a:solidFill>
                <a:latin typeface="Arial"/>
                <a:ea typeface="Arial"/>
                <a:cs typeface="Arial"/>
                <a:sym typeface="Arial"/>
              </a:rPr>
              <a:t> = √(8 ln K / T). Crece como √T y no como T.</a:t>
            </a:r>
            <a:endParaRPr b="0" sz="1200">
              <a:solidFill>
                <a:srgbClr val="5A6274"/>
              </a:solidFill>
              <a:latin typeface="Arial"/>
              <a:ea typeface="Arial"/>
              <a:cs typeface="Arial"/>
              <a:sym typeface="Arial"/>
            </a:endParaRPr>
          </a:p>
        </p:txBody>
      </p:sp>
      <p:sp>
        <p:nvSpPr>
          <p:cNvPr id="131" name="Google Shape;131;p5"/>
          <p:cNvSpPr txBox="1"/>
          <p:nvPr/>
        </p:nvSpPr>
        <p:spPr>
          <a:xfrm>
            <a:off x="7406640" y="4572000"/>
            <a:ext cx="3913632" cy="4114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1200">
                <a:solidFill>
                  <a:srgbClr val="5A6274"/>
                </a:solidFill>
                <a:latin typeface="Arial"/>
                <a:ea typeface="Arial"/>
                <a:cs typeface="Arial"/>
                <a:sym typeface="Arial"/>
              </a:rPr>
              <a:t>Sin supuestos estadísticos, contra un adversario oblivious que fija la secuencia de antemano.</a:t>
            </a:r>
            <a:endParaRPr/>
          </a:p>
        </p:txBody>
      </p:sp>
      <p:cxnSp>
        <p:nvCxnSpPr>
          <p:cNvPr id="132" name="Google Shape;132;p5"/>
          <p:cNvCxnSpPr/>
          <p:nvPr/>
        </p:nvCxnSpPr>
        <p:spPr>
          <a:xfrm>
            <a:off x="7406640" y="5093208"/>
            <a:ext cx="3913632" cy="0"/>
          </a:xfrm>
          <a:prstGeom prst="straightConnector1">
            <a:avLst/>
          </a:prstGeom>
          <a:noFill/>
          <a:ln cap="flat" cmpd="sng" w="9525">
            <a:solidFill>
              <a:srgbClr val="D9D6CE"/>
            </a:solidFill>
            <a:prstDash val="solid"/>
            <a:miter lim="8000"/>
            <a:headEnd len="sm" w="sm" type="none"/>
            <a:tailEnd len="sm" w="sm" type="none"/>
          </a:ln>
        </p:spPr>
      </p:cxnSp>
      <p:sp>
        <p:nvSpPr>
          <p:cNvPr id="133" name="Google Shape;133;p5"/>
          <p:cNvSpPr txBox="1"/>
          <p:nvPr/>
        </p:nvSpPr>
        <p:spPr>
          <a:xfrm>
            <a:off x="7406640" y="5230368"/>
            <a:ext cx="3913632" cy="2286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lang="en-US" sz="1000">
                <a:solidFill>
                  <a:srgbClr val="5A6274"/>
                </a:solidFill>
                <a:latin typeface="Arial"/>
                <a:ea typeface="Arial"/>
                <a:cs typeface="Arial"/>
                <a:sym typeface="Arial"/>
              </a:rPr>
              <a:t>VARIANTE DETERMINÍSTICA</a:t>
            </a:r>
            <a:endParaRPr/>
          </a:p>
        </p:txBody>
      </p:sp>
      <p:sp>
        <p:nvSpPr>
          <p:cNvPr id="134" name="Google Shape;134;p5"/>
          <p:cNvSpPr txBox="1"/>
          <p:nvPr/>
        </p:nvSpPr>
        <p:spPr>
          <a:xfrm>
            <a:off x="7406640" y="5486400"/>
            <a:ext cx="3913632"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lang="en-US" sz="1200">
                <a:solidFill>
                  <a:srgbClr val="5A6274"/>
                </a:solidFill>
                <a:latin typeface="Arial"/>
                <a:ea typeface="Arial"/>
                <a:cs typeface="Arial"/>
                <a:sym typeface="Arial"/>
              </a:rPr>
              <a:t>Voto pesado: ŷ = 1 si Σ w·f &gt; ½. Sin sorteo no hay garantía (resultado 3).</a:t>
            </a:r>
            <a:endParaRPr/>
          </a:p>
        </p:txBody>
      </p:sp>
      <p:sp>
        <p:nvSpPr>
          <p:cNvPr id="135" name="Google Shape;135;p5"/>
          <p:cNvSpPr txBox="1"/>
          <p:nvPr/>
        </p:nvSpPr>
        <p:spPr>
          <a:xfrm>
            <a:off x="548640" y="6373368"/>
            <a:ext cx="10241280" cy="2743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1000">
                <a:solidFill>
                  <a:srgbClr val="9AA1AE"/>
                </a:solidFill>
                <a:latin typeface="Arial"/>
                <a:ea typeface="Arial"/>
                <a:cs typeface="Arial"/>
                <a:sym typeface="Arial"/>
              </a:rPr>
              <a:t>También se evalúa η</a:t>
            </a:r>
            <a:r>
              <a:rPr b="0" baseline="-25000" lang="en-US" sz="1000">
                <a:solidFill>
                  <a:srgbClr val="9AA1AE"/>
                </a:solidFill>
                <a:latin typeface="Arial"/>
                <a:ea typeface="Arial"/>
                <a:cs typeface="Arial"/>
                <a:sym typeface="Arial"/>
              </a:rPr>
              <a:t>L</a:t>
            </a:r>
            <a:r>
              <a:rPr b="0" lang="en-US" sz="1000">
                <a:solidFill>
                  <a:srgbClr val="9AA1AE"/>
                </a:solidFill>
                <a:latin typeface="Arial"/>
                <a:ea typeface="Arial"/>
                <a:cs typeface="Arial"/>
                <a:sym typeface="Arial"/>
              </a:rPr>
              <a:t>, cuya cota (small-loss) exige conocer de antemano la pérdida del mejor experto (resultado 3).</a:t>
            </a:r>
            <a:endParaRP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6"/>
          <p:cNvSpPr txBox="1"/>
          <p:nvPr/>
        </p:nvSpPr>
        <p:spPr>
          <a:xfrm>
            <a:off x="548640" y="411480"/>
            <a:ext cx="73152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100"/>
              <a:buFont typeface="Arial"/>
              <a:buNone/>
            </a:pPr>
            <a:r>
              <a:rPr b="1" lang="en-US" sz="1100">
                <a:solidFill>
                  <a:srgbClr val="5A6274"/>
                </a:solidFill>
                <a:latin typeface="Arial"/>
                <a:ea typeface="Arial"/>
                <a:cs typeface="Arial"/>
                <a:sym typeface="Arial"/>
              </a:rPr>
              <a:t>MÉTODO</a:t>
            </a:r>
            <a:endParaRPr sz="1100">
              <a:solidFill>
                <a:schemeClr val="dk1"/>
              </a:solidFill>
              <a:latin typeface="Arial"/>
              <a:ea typeface="Arial"/>
              <a:cs typeface="Arial"/>
              <a:sym typeface="Arial"/>
            </a:endParaRPr>
          </a:p>
        </p:txBody>
      </p:sp>
      <p:sp>
        <p:nvSpPr>
          <p:cNvPr id="142" name="Google Shape;142;p6"/>
          <p:cNvSpPr txBox="1"/>
          <p:nvPr>
            <p:ph type="title"/>
          </p:nvPr>
        </p:nvSpPr>
        <p:spPr>
          <a:xfrm>
            <a:off x="548640" y="731520"/>
            <a:ext cx="10424160" cy="566928"/>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1F2430"/>
              </a:buClr>
              <a:buSzPts val="3000"/>
              <a:buFont typeface="Georgia"/>
              <a:buNone/>
            </a:pPr>
            <a:r>
              <a:rPr lang="en-US" sz="3000">
                <a:solidFill>
                  <a:srgbClr val="1F2430"/>
                </a:solidFill>
                <a:latin typeface="Georgia"/>
                <a:ea typeface="Georgia"/>
                <a:cs typeface="Georgia"/>
                <a:sym typeface="Georgia"/>
              </a:rPr>
              <a:t>Reentrenar: SGD online</a:t>
            </a:r>
            <a:endParaRPr sz="3000"/>
          </a:p>
        </p:txBody>
      </p:sp>
      <p:sp>
        <p:nvSpPr>
          <p:cNvPr id="143" name="Google Shape;143;p6"/>
          <p:cNvSpPr txBox="1"/>
          <p:nvPr/>
        </p:nvSpPr>
        <p:spPr>
          <a:xfrm>
            <a:off x="9235440" y="429768"/>
            <a:ext cx="155448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AA1AE"/>
              </a:buClr>
              <a:buSzPts val="900"/>
              <a:buFont typeface="Arial"/>
              <a:buNone/>
            </a:pPr>
            <a:r>
              <a:rPr b="1" lang="en-US" sz="900">
                <a:solidFill>
                  <a:srgbClr val="9AA1AE"/>
                </a:solidFill>
                <a:latin typeface="Arial"/>
                <a:ea typeface="Arial"/>
                <a:cs typeface="Arial"/>
                <a:sym typeface="Arial"/>
              </a:rPr>
              <a:t>RESULTADOS</a:t>
            </a:r>
            <a:endParaRPr sz="900">
              <a:solidFill>
                <a:schemeClr val="dk1"/>
              </a:solidFill>
              <a:latin typeface="Arial"/>
              <a:ea typeface="Arial"/>
              <a:cs typeface="Arial"/>
              <a:sym typeface="Arial"/>
            </a:endParaRPr>
          </a:p>
        </p:txBody>
      </p:sp>
      <p:sp>
        <p:nvSpPr>
          <p:cNvPr id="144" name="Google Shape;144;p6"/>
          <p:cNvSpPr/>
          <p:nvPr/>
        </p:nvSpPr>
        <p:spPr>
          <a:xfrm>
            <a:off x="10899648"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5" name="Google Shape;145;p6"/>
          <p:cNvSpPr/>
          <p:nvPr/>
        </p:nvSpPr>
        <p:spPr>
          <a:xfrm>
            <a:off x="11100816"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6" name="Google Shape;146;p6"/>
          <p:cNvSpPr/>
          <p:nvPr/>
        </p:nvSpPr>
        <p:spPr>
          <a:xfrm>
            <a:off x="11301984"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7" name="Google Shape;147;p6"/>
          <p:cNvSpPr/>
          <p:nvPr/>
        </p:nvSpPr>
        <p:spPr>
          <a:xfrm>
            <a:off x="11503152"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8" name="Google Shape;148;p6"/>
          <p:cNvSpPr txBox="1"/>
          <p:nvPr>
            <p:ph idx="4294967295" type="sldNum"/>
          </p:nvPr>
        </p:nvSpPr>
        <p:spPr>
          <a:xfrm>
            <a:off x="11091672" y="637336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AA1AE"/>
                </a:solidFill>
                <a:latin typeface="Arial"/>
                <a:ea typeface="Arial"/>
                <a:cs typeface="Arial"/>
                <a:sym typeface="Arial"/>
              </a:rPr>
              <a:t>‹#›</a:t>
            </a:fld>
            <a:endParaRPr sz="1000">
              <a:solidFill>
                <a:srgbClr val="9AA1AE"/>
              </a:solidFill>
              <a:latin typeface="Arial"/>
              <a:ea typeface="Arial"/>
              <a:cs typeface="Arial"/>
              <a:sym typeface="Arial"/>
            </a:endParaRPr>
          </a:p>
        </p:txBody>
      </p:sp>
      <p:sp>
        <p:nvSpPr>
          <p:cNvPr id="149" name="Google Shape;149;p6"/>
          <p:cNvSpPr txBox="1"/>
          <p:nvPr/>
        </p:nvSpPr>
        <p:spPr>
          <a:xfrm>
            <a:off x="548640" y="1307592"/>
            <a:ext cx="10424160" cy="3200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1500">
                <a:solidFill>
                  <a:srgbClr val="5A6274"/>
                </a:solidFill>
                <a:latin typeface="Arial"/>
                <a:ea typeface="Arial"/>
                <a:cs typeface="Arial"/>
                <a:sym typeface="Arial"/>
              </a:rPr>
              <a:t>Regresión logística sobre lo mismos mensajes que los expertos léxicos, actualizada mensaje a mensaje.</a:t>
            </a:r>
            <a:endParaRPr/>
          </a:p>
        </p:txBody>
      </p:sp>
      <p:sp>
        <p:nvSpPr>
          <p:cNvPr id="150" name="Google Shape;150;p6"/>
          <p:cNvSpPr/>
          <p:nvPr/>
        </p:nvSpPr>
        <p:spPr>
          <a:xfrm>
            <a:off x="548640" y="1920240"/>
            <a:ext cx="2377440" cy="777240"/>
          </a:xfrm>
          <a:prstGeom prst="rect">
            <a:avLst/>
          </a:prstGeom>
          <a:solidFill>
            <a:srgbClr val="D9D6C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1" name="Google Shape;151;p6"/>
          <p:cNvSpPr txBox="1"/>
          <p:nvPr/>
        </p:nvSpPr>
        <p:spPr>
          <a:xfrm>
            <a:off x="685800" y="1920240"/>
            <a:ext cx="2103120" cy="77724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1" lang="en-US" sz="1400">
                <a:solidFill>
                  <a:srgbClr val="1F2430"/>
                </a:solidFill>
                <a:latin typeface="Arial"/>
                <a:ea typeface="Arial"/>
                <a:cs typeface="Arial"/>
                <a:sym typeface="Arial"/>
              </a:rPr>
              <a:t>Arranca entrenado</a:t>
            </a:r>
            <a:endParaRPr b="1" sz="1400">
              <a:solidFill>
                <a:srgbClr val="1F2430"/>
              </a:solidFill>
              <a:latin typeface="Arial"/>
              <a:ea typeface="Arial"/>
              <a:cs typeface="Arial"/>
              <a:sym typeface="Arial"/>
            </a:endParaRPr>
          </a:p>
          <a:p>
            <a:pPr indent="0" lvl="0" marL="0" marR="0" rtl="0" algn="ctr">
              <a:lnSpc>
                <a:spcPct val="110000"/>
              </a:lnSpc>
              <a:spcBef>
                <a:spcPts val="0"/>
              </a:spcBef>
              <a:spcAft>
                <a:spcPts val="0"/>
              </a:spcAft>
              <a:buNone/>
            </a:pPr>
            <a:r>
              <a:rPr b="0" lang="en-US" sz="1400">
                <a:solidFill>
                  <a:srgbClr val="1F2430"/>
                </a:solidFill>
                <a:latin typeface="Arial"/>
                <a:ea typeface="Arial"/>
                <a:cs typeface="Arial"/>
                <a:sym typeface="Arial"/>
              </a:rPr>
              <a:t>en el </a:t>
            </a:r>
            <a:r>
              <a:rPr b="0" i="1" lang="en-US" sz="1400">
                <a:solidFill>
                  <a:srgbClr val="1F2430"/>
                </a:solidFill>
                <a:latin typeface="Arial"/>
                <a:ea typeface="Arial"/>
                <a:cs typeface="Arial"/>
                <a:sym typeface="Arial"/>
              </a:rPr>
              <a:t>warm-up</a:t>
            </a:r>
            <a:endParaRPr/>
          </a:p>
        </p:txBody>
      </p:sp>
      <p:sp>
        <p:nvSpPr>
          <p:cNvPr id="152" name="Google Shape;152;p6"/>
          <p:cNvSpPr/>
          <p:nvPr/>
        </p:nvSpPr>
        <p:spPr>
          <a:xfrm>
            <a:off x="3034284" y="2208276"/>
            <a:ext cx="310896" cy="201168"/>
          </a:xfrm>
          <a:prstGeom prst="rightArrow">
            <a:avLst>
              <a:gd fmla="val 50000" name="adj1"/>
              <a:gd fmla="val 50000" name="adj2"/>
            </a:avLst>
          </a:prstGeom>
          <a:solidFill>
            <a:srgbClr val="9AA1A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3" name="Google Shape;153;p6"/>
          <p:cNvSpPr/>
          <p:nvPr/>
        </p:nvSpPr>
        <p:spPr>
          <a:xfrm>
            <a:off x="3453384" y="1920240"/>
            <a:ext cx="2377440" cy="777240"/>
          </a:xfrm>
          <a:prstGeom prst="rect">
            <a:avLst/>
          </a:prstGeom>
          <a:solidFill>
            <a:srgbClr val="ECE9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4" name="Google Shape;154;p6"/>
          <p:cNvSpPr txBox="1"/>
          <p:nvPr/>
        </p:nvSpPr>
        <p:spPr>
          <a:xfrm>
            <a:off x="3590544" y="1920240"/>
            <a:ext cx="2103120" cy="77724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1" lang="en-US" sz="1400">
                <a:solidFill>
                  <a:srgbClr val="1F2430"/>
                </a:solidFill>
                <a:latin typeface="Arial"/>
                <a:ea typeface="Arial"/>
                <a:cs typeface="Arial"/>
                <a:sym typeface="Arial"/>
              </a:rPr>
              <a:t>Predice</a:t>
            </a:r>
            <a:endParaRPr/>
          </a:p>
          <a:p>
            <a:pPr indent="0" lvl="0" marL="0" marR="0" rtl="0" algn="ctr">
              <a:lnSpc>
                <a:spcPct val="110000"/>
              </a:lnSpc>
              <a:spcBef>
                <a:spcPts val="0"/>
              </a:spcBef>
              <a:spcAft>
                <a:spcPts val="0"/>
              </a:spcAft>
              <a:buNone/>
            </a:pPr>
            <a:r>
              <a:rPr b="0" lang="en-US" sz="1400">
                <a:solidFill>
                  <a:srgbClr val="1F2430"/>
                </a:solidFill>
                <a:latin typeface="Arial"/>
                <a:ea typeface="Arial"/>
                <a:cs typeface="Arial"/>
                <a:sym typeface="Arial"/>
              </a:rPr>
              <a:t>el mensaje</a:t>
            </a:r>
            <a:endParaRPr/>
          </a:p>
        </p:txBody>
      </p:sp>
      <p:sp>
        <p:nvSpPr>
          <p:cNvPr id="155" name="Google Shape;155;p6"/>
          <p:cNvSpPr/>
          <p:nvPr/>
        </p:nvSpPr>
        <p:spPr>
          <a:xfrm>
            <a:off x="5939028" y="2208276"/>
            <a:ext cx="310896" cy="201168"/>
          </a:xfrm>
          <a:prstGeom prst="rightArrow">
            <a:avLst>
              <a:gd fmla="val 50000" name="adj1"/>
              <a:gd fmla="val 50000" name="adj2"/>
            </a:avLst>
          </a:prstGeom>
          <a:solidFill>
            <a:srgbClr val="9AA1A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6" name="Google Shape;156;p6"/>
          <p:cNvSpPr/>
          <p:nvPr/>
        </p:nvSpPr>
        <p:spPr>
          <a:xfrm>
            <a:off x="6358128" y="1920240"/>
            <a:ext cx="2377440" cy="777240"/>
          </a:xfrm>
          <a:prstGeom prst="rect">
            <a:avLst/>
          </a:prstGeom>
          <a:solidFill>
            <a:srgbClr val="ECE9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7" name="Google Shape;157;p6"/>
          <p:cNvSpPr txBox="1"/>
          <p:nvPr/>
        </p:nvSpPr>
        <p:spPr>
          <a:xfrm>
            <a:off x="6495288" y="1920240"/>
            <a:ext cx="2103120" cy="77724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1" lang="en-US" sz="1400">
                <a:solidFill>
                  <a:srgbClr val="1F2430"/>
                </a:solidFill>
                <a:latin typeface="Arial"/>
                <a:ea typeface="Arial"/>
                <a:cs typeface="Arial"/>
                <a:sym typeface="Arial"/>
              </a:rPr>
              <a:t>Ve la etiqueta</a:t>
            </a:r>
            <a:endParaRPr/>
          </a:p>
          <a:p>
            <a:pPr indent="0" lvl="0" marL="0" marR="0" rtl="0" algn="ctr">
              <a:lnSpc>
                <a:spcPct val="110000"/>
              </a:lnSpc>
              <a:spcBef>
                <a:spcPts val="0"/>
              </a:spcBef>
              <a:spcAft>
                <a:spcPts val="0"/>
              </a:spcAft>
              <a:buNone/>
            </a:pPr>
            <a:r>
              <a:rPr b="0" lang="en-US" sz="1400">
                <a:solidFill>
                  <a:srgbClr val="1F2430"/>
                </a:solidFill>
                <a:latin typeface="Arial"/>
                <a:ea typeface="Arial"/>
                <a:cs typeface="Arial"/>
                <a:sym typeface="Arial"/>
              </a:rPr>
              <a:t>si la hay</a:t>
            </a:r>
            <a:endParaRPr/>
          </a:p>
        </p:txBody>
      </p:sp>
      <p:sp>
        <p:nvSpPr>
          <p:cNvPr id="158" name="Google Shape;158;p6"/>
          <p:cNvSpPr/>
          <p:nvPr/>
        </p:nvSpPr>
        <p:spPr>
          <a:xfrm>
            <a:off x="8843772" y="2208276"/>
            <a:ext cx="310896" cy="201168"/>
          </a:xfrm>
          <a:prstGeom prst="rightArrow">
            <a:avLst>
              <a:gd fmla="val 50000" name="adj1"/>
              <a:gd fmla="val 50000" name="adj2"/>
            </a:avLst>
          </a:prstGeom>
          <a:solidFill>
            <a:srgbClr val="9AA1A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9" name="Google Shape;159;p6"/>
          <p:cNvSpPr/>
          <p:nvPr/>
        </p:nvSpPr>
        <p:spPr>
          <a:xfrm>
            <a:off x="9262872" y="1920240"/>
            <a:ext cx="2377440" cy="777240"/>
          </a:xfrm>
          <a:prstGeom prst="rect">
            <a:avLst/>
          </a:prstGeom>
          <a:solidFill>
            <a:srgbClr val="ECE9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0" name="Google Shape;160;p6"/>
          <p:cNvSpPr txBox="1"/>
          <p:nvPr/>
        </p:nvSpPr>
        <p:spPr>
          <a:xfrm>
            <a:off x="9400032" y="1920240"/>
            <a:ext cx="2103120" cy="77724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1" lang="en-US" sz="1400">
                <a:solidFill>
                  <a:srgbClr val="1BAF7A"/>
                </a:solidFill>
                <a:latin typeface="Arial"/>
                <a:ea typeface="Arial"/>
                <a:cs typeface="Arial"/>
                <a:sym typeface="Arial"/>
              </a:rPr>
              <a:t>Actualiza sus pesos</a:t>
            </a:r>
            <a:endParaRPr/>
          </a:p>
          <a:p>
            <a:pPr indent="0" lvl="0" marL="0" marR="0" rtl="0" algn="ctr">
              <a:lnSpc>
                <a:spcPct val="110000"/>
              </a:lnSpc>
              <a:spcBef>
                <a:spcPts val="0"/>
              </a:spcBef>
              <a:spcAft>
                <a:spcPts val="0"/>
              </a:spcAft>
              <a:buNone/>
            </a:pPr>
            <a:r>
              <a:rPr b="0" lang="en-US" sz="1400">
                <a:solidFill>
                  <a:srgbClr val="1F2430"/>
                </a:solidFill>
                <a:latin typeface="Arial"/>
                <a:ea typeface="Arial"/>
                <a:cs typeface="Arial"/>
                <a:sym typeface="Arial"/>
              </a:rPr>
              <a:t>α = 10</a:t>
            </a:r>
            <a:r>
              <a:rPr b="0" baseline="30000" lang="en-US" sz="1400">
                <a:solidFill>
                  <a:srgbClr val="1F2430"/>
                </a:solidFill>
                <a:latin typeface="Arial"/>
                <a:ea typeface="Arial"/>
                <a:cs typeface="Arial"/>
                <a:sym typeface="Arial"/>
              </a:rPr>
              <a:t>−5</a:t>
            </a:r>
            <a:r>
              <a:rPr b="0" lang="en-US" sz="1400">
                <a:solidFill>
                  <a:srgbClr val="1F2430"/>
                </a:solidFill>
                <a:latin typeface="Arial"/>
                <a:ea typeface="Arial"/>
                <a:cs typeface="Arial"/>
                <a:sym typeface="Arial"/>
              </a:rPr>
              <a:t> fijo</a:t>
            </a:r>
            <a:endParaRPr/>
          </a:p>
        </p:txBody>
      </p:sp>
      <p:sp>
        <p:nvSpPr>
          <p:cNvPr id="161" name="Google Shape;161;p6"/>
          <p:cNvSpPr txBox="1"/>
          <p:nvPr/>
        </p:nvSpPr>
        <p:spPr>
          <a:xfrm>
            <a:off x="3453384" y="2770632"/>
            <a:ext cx="8186928" cy="27432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None/>
            </a:pPr>
            <a:r>
              <a:rPr b="0" lang="en-US" sz="1200">
                <a:solidFill>
                  <a:srgbClr val="5A6274"/>
                </a:solidFill>
                <a:latin typeface="Arial"/>
                <a:ea typeface="Arial"/>
                <a:cs typeface="Arial"/>
                <a:sym typeface="Arial"/>
              </a:rPr>
              <a:t>se repite en cada una de las 4.460 rondas del stream</a:t>
            </a:r>
            <a:endParaRPr/>
          </a:p>
        </p:txBody>
      </p:sp>
      <p:sp>
        <p:nvSpPr>
          <p:cNvPr id="162" name="Google Shape;162;p6"/>
          <p:cNvSpPr txBox="1"/>
          <p:nvPr/>
        </p:nvSpPr>
        <p:spPr>
          <a:xfrm>
            <a:off x="3749039" y="3310128"/>
            <a:ext cx="3840480" cy="4114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2000">
                <a:solidFill>
                  <a:srgbClr val="2A78D6"/>
                </a:solidFill>
                <a:latin typeface="Georgia"/>
                <a:ea typeface="Georgia"/>
                <a:cs typeface="Georgia"/>
                <a:sym typeface="Georgia"/>
              </a:rPr>
              <a:t>Combinar · </a:t>
            </a:r>
            <a:r>
              <a:rPr b="0" i="1" lang="en-US" sz="2000">
                <a:solidFill>
                  <a:srgbClr val="2A78D6"/>
                </a:solidFill>
                <a:latin typeface="Georgia"/>
                <a:ea typeface="Georgia"/>
                <a:cs typeface="Georgia"/>
                <a:sym typeface="Georgia"/>
              </a:rPr>
              <a:t>Hedge</a:t>
            </a:r>
            <a:endParaRPr/>
          </a:p>
        </p:txBody>
      </p:sp>
      <p:sp>
        <p:nvSpPr>
          <p:cNvPr id="163" name="Google Shape;163;p6"/>
          <p:cNvSpPr txBox="1"/>
          <p:nvPr/>
        </p:nvSpPr>
        <p:spPr>
          <a:xfrm>
            <a:off x="7772400" y="3310128"/>
            <a:ext cx="3840480" cy="4114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2000">
                <a:solidFill>
                  <a:srgbClr val="1BAF7A"/>
                </a:solidFill>
                <a:latin typeface="Georgia"/>
                <a:ea typeface="Georgia"/>
                <a:cs typeface="Georgia"/>
                <a:sym typeface="Georgia"/>
              </a:rPr>
              <a:t>Reentrenar · SGD online</a:t>
            </a:r>
            <a:endParaRPr/>
          </a:p>
        </p:txBody>
      </p:sp>
      <p:cxnSp>
        <p:nvCxnSpPr>
          <p:cNvPr id="164" name="Google Shape;164;p6"/>
          <p:cNvCxnSpPr/>
          <p:nvPr/>
        </p:nvCxnSpPr>
        <p:spPr>
          <a:xfrm>
            <a:off x="548640" y="3794760"/>
            <a:ext cx="11091672" cy="0"/>
          </a:xfrm>
          <a:prstGeom prst="straightConnector1">
            <a:avLst/>
          </a:prstGeom>
          <a:noFill/>
          <a:ln cap="flat" cmpd="sng" w="9525">
            <a:solidFill>
              <a:srgbClr val="D9D6CE"/>
            </a:solidFill>
            <a:prstDash val="solid"/>
            <a:miter lim="8000"/>
            <a:headEnd len="sm" w="sm" type="none"/>
            <a:tailEnd len="sm" w="sm" type="none"/>
          </a:ln>
        </p:spPr>
      </p:cxnSp>
      <p:sp>
        <p:nvSpPr>
          <p:cNvPr id="165" name="Google Shape;165;p6"/>
          <p:cNvSpPr txBox="1"/>
          <p:nvPr/>
        </p:nvSpPr>
        <p:spPr>
          <a:xfrm>
            <a:off x="548640" y="3913632"/>
            <a:ext cx="3017520" cy="3200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lang="en-US" sz="1400">
                <a:solidFill>
                  <a:srgbClr val="5A6274"/>
                </a:solidFill>
                <a:latin typeface="Arial"/>
                <a:ea typeface="Arial"/>
                <a:cs typeface="Arial"/>
                <a:sym typeface="Arial"/>
              </a:rPr>
              <a:t>Qué aprende</a:t>
            </a:r>
            <a:endParaRPr/>
          </a:p>
        </p:txBody>
      </p:sp>
      <p:sp>
        <p:nvSpPr>
          <p:cNvPr id="166" name="Google Shape;166;p6"/>
          <p:cNvSpPr txBox="1"/>
          <p:nvPr/>
        </p:nvSpPr>
        <p:spPr>
          <a:xfrm>
            <a:off x="3749039" y="3913632"/>
            <a:ext cx="3840480" cy="3200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1500">
                <a:solidFill>
                  <a:srgbClr val="1F2430"/>
                </a:solidFill>
                <a:latin typeface="Arial"/>
                <a:ea typeface="Arial"/>
                <a:cs typeface="Arial"/>
                <a:sym typeface="Arial"/>
              </a:rPr>
              <a:t>5 pesos, uno por experto</a:t>
            </a:r>
            <a:endParaRPr/>
          </a:p>
        </p:txBody>
      </p:sp>
      <p:sp>
        <p:nvSpPr>
          <p:cNvPr id="167" name="Google Shape;167;p6"/>
          <p:cNvSpPr txBox="1"/>
          <p:nvPr/>
        </p:nvSpPr>
        <p:spPr>
          <a:xfrm>
            <a:off x="7772400" y="3913632"/>
            <a:ext cx="3867912" cy="3200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1500">
                <a:solidFill>
                  <a:srgbClr val="1F2430"/>
                </a:solidFill>
                <a:latin typeface="Arial"/>
                <a:ea typeface="Arial"/>
                <a:cs typeface="Arial"/>
                <a:sym typeface="Arial"/>
              </a:rPr>
              <a:t>un peso por componente: 2</a:t>
            </a:r>
            <a:r>
              <a:rPr b="0" baseline="30000" lang="en-US" sz="1500">
                <a:solidFill>
                  <a:srgbClr val="1F2430"/>
                </a:solidFill>
                <a:latin typeface="Arial"/>
                <a:ea typeface="Arial"/>
                <a:cs typeface="Arial"/>
                <a:sym typeface="Arial"/>
              </a:rPr>
              <a:t>18</a:t>
            </a:r>
            <a:r>
              <a:rPr b="0" lang="en-US" sz="1500">
                <a:solidFill>
                  <a:srgbClr val="1F2430"/>
                </a:solidFill>
                <a:latin typeface="Arial"/>
                <a:ea typeface="Arial"/>
                <a:cs typeface="Arial"/>
                <a:sym typeface="Arial"/>
              </a:rPr>
              <a:t> ≈ 262 mil</a:t>
            </a:r>
            <a:endParaRPr/>
          </a:p>
        </p:txBody>
      </p:sp>
      <p:cxnSp>
        <p:nvCxnSpPr>
          <p:cNvPr id="168" name="Google Shape;168;p6"/>
          <p:cNvCxnSpPr/>
          <p:nvPr/>
        </p:nvCxnSpPr>
        <p:spPr>
          <a:xfrm>
            <a:off x="548640" y="4370832"/>
            <a:ext cx="11091672" cy="0"/>
          </a:xfrm>
          <a:prstGeom prst="straightConnector1">
            <a:avLst/>
          </a:prstGeom>
          <a:noFill/>
          <a:ln cap="flat" cmpd="sng" w="9525">
            <a:solidFill>
              <a:srgbClr val="D9D6CE"/>
            </a:solidFill>
            <a:prstDash val="solid"/>
            <a:miter lim="8000"/>
            <a:headEnd len="sm" w="sm" type="none"/>
            <a:tailEnd len="sm" w="sm" type="none"/>
          </a:ln>
        </p:spPr>
      </p:cxnSp>
      <p:sp>
        <p:nvSpPr>
          <p:cNvPr id="169" name="Google Shape;169;p6"/>
          <p:cNvSpPr txBox="1"/>
          <p:nvPr/>
        </p:nvSpPr>
        <p:spPr>
          <a:xfrm>
            <a:off x="548640" y="4480560"/>
            <a:ext cx="3017520" cy="3200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lang="en-US" sz="1400">
                <a:solidFill>
                  <a:srgbClr val="5A6274"/>
                </a:solidFill>
                <a:latin typeface="Arial"/>
                <a:ea typeface="Arial"/>
                <a:cs typeface="Arial"/>
                <a:sym typeface="Arial"/>
              </a:rPr>
              <a:t>¿Modifica los modelos?</a:t>
            </a:r>
            <a:endParaRPr/>
          </a:p>
        </p:txBody>
      </p:sp>
      <p:sp>
        <p:nvSpPr>
          <p:cNvPr id="170" name="Google Shape;170;p6"/>
          <p:cNvSpPr txBox="1"/>
          <p:nvPr/>
        </p:nvSpPr>
        <p:spPr>
          <a:xfrm>
            <a:off x="3749039" y="4480560"/>
            <a:ext cx="3840480" cy="3200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1500">
                <a:solidFill>
                  <a:srgbClr val="1F2430"/>
                </a:solidFill>
                <a:latin typeface="Arial"/>
                <a:ea typeface="Arial"/>
                <a:cs typeface="Arial"/>
                <a:sym typeface="Arial"/>
              </a:rPr>
              <a:t>No: quedan congelados</a:t>
            </a:r>
            <a:endParaRPr/>
          </a:p>
        </p:txBody>
      </p:sp>
      <p:sp>
        <p:nvSpPr>
          <p:cNvPr id="171" name="Google Shape;171;p6"/>
          <p:cNvSpPr txBox="1"/>
          <p:nvPr/>
        </p:nvSpPr>
        <p:spPr>
          <a:xfrm>
            <a:off x="7772400" y="4480560"/>
            <a:ext cx="3867912" cy="3200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1500">
                <a:solidFill>
                  <a:srgbClr val="1F2430"/>
                </a:solidFill>
                <a:latin typeface="Arial"/>
                <a:ea typeface="Arial"/>
                <a:cs typeface="Arial"/>
                <a:sym typeface="Arial"/>
              </a:rPr>
              <a:t>Sí, con cada mensaje etiquetado</a:t>
            </a:r>
            <a:endParaRPr/>
          </a:p>
        </p:txBody>
      </p:sp>
      <p:cxnSp>
        <p:nvCxnSpPr>
          <p:cNvPr id="172" name="Google Shape;172;p6"/>
          <p:cNvCxnSpPr/>
          <p:nvPr/>
        </p:nvCxnSpPr>
        <p:spPr>
          <a:xfrm>
            <a:off x="548640" y="4937760"/>
            <a:ext cx="11091672" cy="0"/>
          </a:xfrm>
          <a:prstGeom prst="straightConnector1">
            <a:avLst/>
          </a:prstGeom>
          <a:noFill/>
          <a:ln cap="flat" cmpd="sng" w="9525">
            <a:solidFill>
              <a:srgbClr val="D9D6CE"/>
            </a:solidFill>
            <a:prstDash val="solid"/>
            <a:miter lim="8000"/>
            <a:headEnd len="sm" w="sm" type="none"/>
            <a:tailEnd len="sm" w="sm" type="none"/>
          </a:ln>
        </p:spPr>
      </p:cxnSp>
      <p:sp>
        <p:nvSpPr>
          <p:cNvPr id="173" name="Google Shape;173;p6"/>
          <p:cNvSpPr txBox="1"/>
          <p:nvPr/>
        </p:nvSpPr>
        <p:spPr>
          <a:xfrm>
            <a:off x="548640" y="5047488"/>
            <a:ext cx="3017520" cy="3200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lang="en-US" sz="1400">
                <a:solidFill>
                  <a:srgbClr val="5A6274"/>
                </a:solidFill>
                <a:latin typeface="Arial"/>
                <a:ea typeface="Arial"/>
                <a:cs typeface="Arial"/>
                <a:sym typeface="Arial"/>
              </a:rPr>
              <a:t>¿Aprende «wiin»?</a:t>
            </a:r>
            <a:endParaRPr/>
          </a:p>
        </p:txBody>
      </p:sp>
      <p:sp>
        <p:nvSpPr>
          <p:cNvPr id="174" name="Google Shape;174;p6"/>
          <p:cNvSpPr txBox="1"/>
          <p:nvPr/>
        </p:nvSpPr>
        <p:spPr>
          <a:xfrm>
            <a:off x="3749039" y="5047488"/>
            <a:ext cx="3840480" cy="3200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1500">
                <a:solidFill>
                  <a:srgbClr val="1F2430"/>
                </a:solidFill>
                <a:latin typeface="Arial"/>
                <a:ea typeface="Arial"/>
                <a:cs typeface="Arial"/>
                <a:sym typeface="Arial"/>
              </a:rPr>
              <a:t>No</a:t>
            </a:r>
            <a:endParaRPr/>
          </a:p>
        </p:txBody>
      </p:sp>
      <p:sp>
        <p:nvSpPr>
          <p:cNvPr id="175" name="Google Shape;175;p6"/>
          <p:cNvSpPr txBox="1"/>
          <p:nvPr/>
        </p:nvSpPr>
        <p:spPr>
          <a:xfrm>
            <a:off x="7772400" y="5047488"/>
            <a:ext cx="3867912" cy="3200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1500">
                <a:solidFill>
                  <a:srgbClr val="1F2430"/>
                </a:solidFill>
                <a:latin typeface="Arial"/>
                <a:ea typeface="Arial"/>
                <a:cs typeface="Arial"/>
                <a:sym typeface="Arial"/>
              </a:rPr>
              <a:t>Sí: aprende palabras nuevas</a:t>
            </a:r>
            <a:endParaRPr/>
          </a:p>
        </p:txBody>
      </p:sp>
      <p:cxnSp>
        <p:nvCxnSpPr>
          <p:cNvPr id="176" name="Google Shape;176;p6"/>
          <p:cNvCxnSpPr/>
          <p:nvPr/>
        </p:nvCxnSpPr>
        <p:spPr>
          <a:xfrm>
            <a:off x="548640" y="5504688"/>
            <a:ext cx="11091672" cy="0"/>
          </a:xfrm>
          <a:prstGeom prst="straightConnector1">
            <a:avLst/>
          </a:prstGeom>
          <a:noFill/>
          <a:ln cap="flat" cmpd="sng" w="9525">
            <a:solidFill>
              <a:srgbClr val="D9D6CE"/>
            </a:solidFill>
            <a:prstDash val="solid"/>
            <a:miter lim="8000"/>
            <a:headEnd len="sm" w="sm" type="none"/>
            <a:tailEnd len="sm" w="sm" type="none"/>
          </a:ln>
        </p:spPr>
      </p:cxnSp>
      <p:sp>
        <p:nvSpPr>
          <p:cNvPr id="177" name="Google Shape;177;p6"/>
          <p:cNvSpPr txBox="1"/>
          <p:nvPr/>
        </p:nvSpPr>
        <p:spPr>
          <a:xfrm>
            <a:off x="548640" y="5614416"/>
            <a:ext cx="3017520" cy="3200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lang="en-US" sz="1400">
                <a:solidFill>
                  <a:srgbClr val="5A6274"/>
                </a:solidFill>
                <a:latin typeface="Arial"/>
                <a:ea typeface="Arial"/>
                <a:cs typeface="Arial"/>
                <a:sym typeface="Arial"/>
              </a:rPr>
              <a:t>Si falta la etiqueta</a:t>
            </a:r>
            <a:endParaRPr/>
          </a:p>
        </p:txBody>
      </p:sp>
      <p:sp>
        <p:nvSpPr>
          <p:cNvPr id="178" name="Google Shape;178;p6"/>
          <p:cNvSpPr txBox="1"/>
          <p:nvPr/>
        </p:nvSpPr>
        <p:spPr>
          <a:xfrm>
            <a:off x="3749039" y="5614416"/>
            <a:ext cx="3840480" cy="3200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1500">
                <a:solidFill>
                  <a:srgbClr val="1F2430"/>
                </a:solidFill>
                <a:latin typeface="Arial"/>
                <a:ea typeface="Arial"/>
                <a:cs typeface="Arial"/>
                <a:sym typeface="Arial"/>
              </a:rPr>
              <a:t>usa ℓ/ρ (estimador insesgado)</a:t>
            </a:r>
            <a:endParaRPr/>
          </a:p>
        </p:txBody>
      </p:sp>
      <p:sp>
        <p:nvSpPr>
          <p:cNvPr id="179" name="Google Shape;179;p6"/>
          <p:cNvSpPr txBox="1"/>
          <p:nvPr/>
        </p:nvSpPr>
        <p:spPr>
          <a:xfrm>
            <a:off x="7772400" y="5614416"/>
            <a:ext cx="3867912" cy="3200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1500">
                <a:solidFill>
                  <a:srgbClr val="1F2430"/>
                </a:solidFill>
                <a:latin typeface="Arial"/>
                <a:ea typeface="Arial"/>
                <a:cs typeface="Arial"/>
                <a:sym typeface="Arial"/>
              </a:rPr>
              <a:t>aprende solo de las rondas etiquetadas</a:t>
            </a:r>
            <a:endParaRPr/>
          </a:p>
        </p:txBody>
      </p:sp>
      <p:sp>
        <p:nvSpPr>
          <p:cNvPr id="180" name="Google Shape;180;p6"/>
          <p:cNvSpPr txBox="1"/>
          <p:nvPr/>
        </p:nvSpPr>
        <p:spPr>
          <a:xfrm>
            <a:off x="548640" y="6373368"/>
            <a:ext cx="10241280" cy="2743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1000">
                <a:solidFill>
                  <a:srgbClr val="9AA1AE"/>
                </a:solidFill>
                <a:latin typeface="Arial"/>
                <a:ea typeface="Arial"/>
                <a:cs typeface="Arial"/>
                <a:sym typeface="Arial"/>
              </a:rPr>
              <a:t>α fijo en 10</a:t>
            </a:r>
            <a:r>
              <a:rPr b="0" baseline="30000" lang="en-US" sz="1000">
                <a:solidFill>
                  <a:srgbClr val="9AA1AE"/>
                </a:solidFill>
                <a:latin typeface="Arial"/>
                <a:ea typeface="Arial"/>
                <a:cs typeface="Arial"/>
                <a:sym typeface="Arial"/>
              </a:rPr>
              <a:t>−5</a:t>
            </a:r>
            <a:r>
              <a:rPr b="0" lang="en-US" sz="1000">
                <a:solidFill>
                  <a:srgbClr val="9AA1AE"/>
                </a:solidFill>
                <a:latin typeface="Arial"/>
                <a:ea typeface="Arial"/>
                <a:cs typeface="Arial"/>
                <a:sym typeface="Arial"/>
              </a:rPr>
              <a:t>: la validación cruzada sobre un warm-up sin drift elegía un α peor (lo vemos en los resultados).</a:t>
            </a:r>
            <a:endParaRP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7"/>
          <p:cNvSpPr txBox="1"/>
          <p:nvPr/>
        </p:nvSpPr>
        <p:spPr>
          <a:xfrm>
            <a:off x="548640" y="411480"/>
            <a:ext cx="73152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100"/>
              <a:buFont typeface="Arial"/>
              <a:buNone/>
            </a:pPr>
            <a:r>
              <a:rPr b="1" lang="en-US" sz="1100">
                <a:solidFill>
                  <a:srgbClr val="5A6274"/>
                </a:solidFill>
                <a:latin typeface="Arial"/>
                <a:ea typeface="Arial"/>
                <a:cs typeface="Arial"/>
                <a:sym typeface="Arial"/>
              </a:rPr>
              <a:t>MÉTODO</a:t>
            </a:r>
            <a:endParaRPr sz="1100">
              <a:solidFill>
                <a:schemeClr val="dk1"/>
              </a:solidFill>
              <a:latin typeface="Arial"/>
              <a:ea typeface="Arial"/>
              <a:cs typeface="Arial"/>
              <a:sym typeface="Arial"/>
            </a:endParaRPr>
          </a:p>
        </p:txBody>
      </p:sp>
      <p:sp>
        <p:nvSpPr>
          <p:cNvPr id="187" name="Google Shape;187;p7"/>
          <p:cNvSpPr txBox="1"/>
          <p:nvPr>
            <p:ph type="title"/>
          </p:nvPr>
        </p:nvSpPr>
        <p:spPr>
          <a:xfrm>
            <a:off x="548640" y="731520"/>
            <a:ext cx="10424160" cy="566928"/>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1F2430"/>
              </a:buClr>
              <a:buSzPts val="3000"/>
              <a:buFont typeface="Georgia"/>
              <a:buNone/>
            </a:pPr>
            <a:r>
              <a:rPr lang="en-US" sz="3000">
                <a:solidFill>
                  <a:srgbClr val="1F2430"/>
                </a:solidFill>
                <a:latin typeface="Georgia"/>
                <a:ea typeface="Georgia"/>
                <a:cs typeface="Georgia"/>
                <a:sym typeface="Georgia"/>
              </a:rPr>
              <a:t>Cuando el usuario reporta pocos mensajes</a:t>
            </a:r>
            <a:endParaRPr sz="3000"/>
          </a:p>
        </p:txBody>
      </p:sp>
      <p:sp>
        <p:nvSpPr>
          <p:cNvPr id="188" name="Google Shape;188;p7"/>
          <p:cNvSpPr txBox="1"/>
          <p:nvPr/>
        </p:nvSpPr>
        <p:spPr>
          <a:xfrm>
            <a:off x="9235440" y="429768"/>
            <a:ext cx="155448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AA1AE"/>
              </a:buClr>
              <a:buSzPts val="900"/>
              <a:buFont typeface="Arial"/>
              <a:buNone/>
            </a:pPr>
            <a:r>
              <a:rPr b="1" lang="en-US" sz="900">
                <a:solidFill>
                  <a:srgbClr val="9AA1AE"/>
                </a:solidFill>
                <a:latin typeface="Arial"/>
                <a:ea typeface="Arial"/>
                <a:cs typeface="Arial"/>
                <a:sym typeface="Arial"/>
              </a:rPr>
              <a:t>RESULTADOS</a:t>
            </a:r>
            <a:endParaRPr sz="900">
              <a:solidFill>
                <a:schemeClr val="dk1"/>
              </a:solidFill>
              <a:latin typeface="Arial"/>
              <a:ea typeface="Arial"/>
              <a:cs typeface="Arial"/>
              <a:sym typeface="Arial"/>
            </a:endParaRPr>
          </a:p>
        </p:txBody>
      </p:sp>
      <p:sp>
        <p:nvSpPr>
          <p:cNvPr id="189" name="Google Shape;189;p7"/>
          <p:cNvSpPr/>
          <p:nvPr/>
        </p:nvSpPr>
        <p:spPr>
          <a:xfrm>
            <a:off x="10899648"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0" name="Google Shape;190;p7"/>
          <p:cNvSpPr/>
          <p:nvPr/>
        </p:nvSpPr>
        <p:spPr>
          <a:xfrm>
            <a:off x="11100816"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1" name="Google Shape;191;p7"/>
          <p:cNvSpPr/>
          <p:nvPr/>
        </p:nvSpPr>
        <p:spPr>
          <a:xfrm>
            <a:off x="11301984"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2" name="Google Shape;192;p7"/>
          <p:cNvSpPr/>
          <p:nvPr/>
        </p:nvSpPr>
        <p:spPr>
          <a:xfrm>
            <a:off x="11503152"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3" name="Google Shape;193;p7"/>
          <p:cNvSpPr txBox="1"/>
          <p:nvPr>
            <p:ph idx="4294967295" type="sldNum"/>
          </p:nvPr>
        </p:nvSpPr>
        <p:spPr>
          <a:xfrm>
            <a:off x="11091672" y="637336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AA1AE"/>
                </a:solidFill>
                <a:latin typeface="Arial"/>
                <a:ea typeface="Arial"/>
                <a:cs typeface="Arial"/>
                <a:sym typeface="Arial"/>
              </a:rPr>
              <a:t>‹#›</a:t>
            </a:fld>
            <a:endParaRPr sz="1000">
              <a:solidFill>
                <a:srgbClr val="9AA1AE"/>
              </a:solidFill>
              <a:latin typeface="Arial"/>
              <a:ea typeface="Arial"/>
              <a:cs typeface="Arial"/>
              <a:sym typeface="Arial"/>
            </a:endParaRPr>
          </a:p>
        </p:txBody>
      </p:sp>
      <p:sp>
        <p:nvSpPr>
          <p:cNvPr id="194" name="Google Shape;194;p7"/>
          <p:cNvSpPr txBox="1"/>
          <p:nvPr/>
        </p:nvSpPr>
        <p:spPr>
          <a:xfrm>
            <a:off x="548640" y="1307592"/>
            <a:ext cx="10424160" cy="3200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1500">
                <a:solidFill>
                  <a:srgbClr val="5A6274"/>
                </a:solidFill>
                <a:latin typeface="Arial"/>
                <a:ea typeface="Arial"/>
                <a:cs typeface="Arial"/>
                <a:sym typeface="Arial"/>
              </a:rPr>
              <a:t>Pregunta 2: cada mensaje recibe etiqueta con probabilidad ρ. Sin etiqueta, nadie aprende.</a:t>
            </a:r>
            <a:endParaRPr/>
          </a:p>
        </p:txBody>
      </p:sp>
      <p:sp>
        <p:nvSpPr>
          <p:cNvPr id="195" name="Google Shape;195;p7"/>
          <p:cNvSpPr txBox="1"/>
          <p:nvPr/>
        </p:nvSpPr>
        <p:spPr>
          <a:xfrm>
            <a:off x="548640" y="1911095"/>
            <a:ext cx="1188720" cy="3657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1800">
                <a:solidFill>
                  <a:srgbClr val="1F2430"/>
                </a:solidFill>
                <a:latin typeface="Georgia"/>
                <a:ea typeface="Georgia"/>
                <a:cs typeface="Georgia"/>
                <a:sym typeface="Georgia"/>
              </a:rPr>
              <a:t>ρ = 1</a:t>
            </a:r>
            <a:endParaRPr/>
          </a:p>
        </p:txBody>
      </p:sp>
      <p:sp>
        <p:nvSpPr>
          <p:cNvPr id="196" name="Google Shape;196;p7"/>
          <p:cNvSpPr/>
          <p:nvPr/>
        </p:nvSpPr>
        <p:spPr>
          <a:xfrm>
            <a:off x="1828800" y="196596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7" name="Google Shape;197;p7"/>
          <p:cNvSpPr/>
          <p:nvPr/>
        </p:nvSpPr>
        <p:spPr>
          <a:xfrm>
            <a:off x="2139696" y="196596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8" name="Google Shape;198;p7"/>
          <p:cNvSpPr/>
          <p:nvPr/>
        </p:nvSpPr>
        <p:spPr>
          <a:xfrm>
            <a:off x="2450592" y="196596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9" name="Google Shape;199;p7"/>
          <p:cNvSpPr/>
          <p:nvPr/>
        </p:nvSpPr>
        <p:spPr>
          <a:xfrm>
            <a:off x="2761488" y="196596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0" name="Google Shape;200;p7"/>
          <p:cNvSpPr/>
          <p:nvPr/>
        </p:nvSpPr>
        <p:spPr>
          <a:xfrm>
            <a:off x="3072384" y="196596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1" name="Google Shape;201;p7"/>
          <p:cNvSpPr/>
          <p:nvPr/>
        </p:nvSpPr>
        <p:spPr>
          <a:xfrm>
            <a:off x="3383280" y="196596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2" name="Google Shape;202;p7"/>
          <p:cNvSpPr/>
          <p:nvPr/>
        </p:nvSpPr>
        <p:spPr>
          <a:xfrm>
            <a:off x="3694176" y="196596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3" name="Google Shape;203;p7"/>
          <p:cNvSpPr/>
          <p:nvPr/>
        </p:nvSpPr>
        <p:spPr>
          <a:xfrm>
            <a:off x="4005072" y="196596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4" name="Google Shape;204;p7"/>
          <p:cNvSpPr/>
          <p:nvPr/>
        </p:nvSpPr>
        <p:spPr>
          <a:xfrm>
            <a:off x="4315968" y="196596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5" name="Google Shape;205;p7"/>
          <p:cNvSpPr/>
          <p:nvPr/>
        </p:nvSpPr>
        <p:spPr>
          <a:xfrm>
            <a:off x="4626864" y="196596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6" name="Google Shape;206;p7"/>
          <p:cNvSpPr/>
          <p:nvPr/>
        </p:nvSpPr>
        <p:spPr>
          <a:xfrm>
            <a:off x="4937760" y="196596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7" name="Google Shape;207;p7"/>
          <p:cNvSpPr/>
          <p:nvPr/>
        </p:nvSpPr>
        <p:spPr>
          <a:xfrm>
            <a:off x="5248656" y="196596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8" name="Google Shape;208;p7"/>
          <p:cNvSpPr/>
          <p:nvPr/>
        </p:nvSpPr>
        <p:spPr>
          <a:xfrm>
            <a:off x="5559552" y="196596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9" name="Google Shape;209;p7"/>
          <p:cNvSpPr/>
          <p:nvPr/>
        </p:nvSpPr>
        <p:spPr>
          <a:xfrm>
            <a:off x="5870448" y="196596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0" name="Google Shape;210;p7"/>
          <p:cNvSpPr/>
          <p:nvPr/>
        </p:nvSpPr>
        <p:spPr>
          <a:xfrm>
            <a:off x="6181344" y="196596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1" name="Google Shape;211;p7"/>
          <p:cNvSpPr/>
          <p:nvPr/>
        </p:nvSpPr>
        <p:spPr>
          <a:xfrm>
            <a:off x="6492240" y="196596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2" name="Google Shape;212;p7"/>
          <p:cNvSpPr/>
          <p:nvPr/>
        </p:nvSpPr>
        <p:spPr>
          <a:xfrm>
            <a:off x="6803136" y="196596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3" name="Google Shape;213;p7"/>
          <p:cNvSpPr/>
          <p:nvPr/>
        </p:nvSpPr>
        <p:spPr>
          <a:xfrm>
            <a:off x="7114032" y="196596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4" name="Google Shape;214;p7"/>
          <p:cNvSpPr/>
          <p:nvPr/>
        </p:nvSpPr>
        <p:spPr>
          <a:xfrm>
            <a:off x="7424928" y="196596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5" name="Google Shape;215;p7"/>
          <p:cNvSpPr/>
          <p:nvPr/>
        </p:nvSpPr>
        <p:spPr>
          <a:xfrm>
            <a:off x="7735824" y="196596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6" name="Google Shape;216;p7"/>
          <p:cNvSpPr/>
          <p:nvPr/>
        </p:nvSpPr>
        <p:spPr>
          <a:xfrm>
            <a:off x="8046720" y="196596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7" name="Google Shape;217;p7"/>
          <p:cNvSpPr/>
          <p:nvPr/>
        </p:nvSpPr>
        <p:spPr>
          <a:xfrm>
            <a:off x="8357616" y="196596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8" name="Google Shape;218;p7"/>
          <p:cNvSpPr/>
          <p:nvPr/>
        </p:nvSpPr>
        <p:spPr>
          <a:xfrm>
            <a:off x="8668512" y="196596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9" name="Google Shape;219;p7"/>
          <p:cNvSpPr/>
          <p:nvPr/>
        </p:nvSpPr>
        <p:spPr>
          <a:xfrm>
            <a:off x="8979408" y="196596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0" name="Google Shape;220;p7"/>
          <p:cNvSpPr/>
          <p:nvPr/>
        </p:nvSpPr>
        <p:spPr>
          <a:xfrm>
            <a:off x="9290304" y="196596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1" name="Google Shape;221;p7"/>
          <p:cNvSpPr/>
          <p:nvPr/>
        </p:nvSpPr>
        <p:spPr>
          <a:xfrm>
            <a:off x="9601200" y="196596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2" name="Google Shape;222;p7"/>
          <p:cNvSpPr/>
          <p:nvPr/>
        </p:nvSpPr>
        <p:spPr>
          <a:xfrm>
            <a:off x="9912096" y="196596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3" name="Google Shape;223;p7"/>
          <p:cNvSpPr/>
          <p:nvPr/>
        </p:nvSpPr>
        <p:spPr>
          <a:xfrm>
            <a:off x="10222992" y="196596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4" name="Google Shape;224;p7"/>
          <p:cNvSpPr/>
          <p:nvPr/>
        </p:nvSpPr>
        <p:spPr>
          <a:xfrm>
            <a:off x="10533888" y="196596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5" name="Google Shape;225;p7"/>
          <p:cNvSpPr/>
          <p:nvPr/>
        </p:nvSpPr>
        <p:spPr>
          <a:xfrm>
            <a:off x="10844784" y="196596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6" name="Google Shape;226;p7"/>
          <p:cNvSpPr txBox="1"/>
          <p:nvPr/>
        </p:nvSpPr>
        <p:spPr>
          <a:xfrm>
            <a:off x="548640" y="2414016"/>
            <a:ext cx="1188720" cy="3657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1800">
                <a:solidFill>
                  <a:srgbClr val="1F2430"/>
                </a:solidFill>
                <a:latin typeface="Georgia"/>
                <a:ea typeface="Georgia"/>
                <a:cs typeface="Georgia"/>
                <a:sym typeface="Georgia"/>
              </a:rPr>
              <a:t>ρ = 0,2</a:t>
            </a:r>
            <a:endParaRPr/>
          </a:p>
        </p:txBody>
      </p:sp>
      <p:sp>
        <p:nvSpPr>
          <p:cNvPr id="227" name="Google Shape;227;p7"/>
          <p:cNvSpPr/>
          <p:nvPr/>
        </p:nvSpPr>
        <p:spPr>
          <a:xfrm>
            <a:off x="1828800" y="2468880"/>
            <a:ext cx="237744" cy="237744"/>
          </a:xfrm>
          <a:prstGeom prst="rect">
            <a:avLst/>
          </a:prstGeom>
          <a:noFill/>
          <a:ln cap="flat" cmpd="sng" w="15875">
            <a:solidFill>
              <a:srgbClr val="9AA1A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8" name="Google Shape;228;p7"/>
          <p:cNvSpPr/>
          <p:nvPr/>
        </p:nvSpPr>
        <p:spPr>
          <a:xfrm>
            <a:off x="2139696" y="2468880"/>
            <a:ext cx="237744" cy="237744"/>
          </a:xfrm>
          <a:prstGeom prst="rect">
            <a:avLst/>
          </a:prstGeom>
          <a:noFill/>
          <a:ln cap="flat" cmpd="sng" w="15875">
            <a:solidFill>
              <a:srgbClr val="9AA1A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9" name="Google Shape;229;p7"/>
          <p:cNvSpPr/>
          <p:nvPr/>
        </p:nvSpPr>
        <p:spPr>
          <a:xfrm>
            <a:off x="2450592" y="246888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0" name="Google Shape;230;p7"/>
          <p:cNvSpPr/>
          <p:nvPr/>
        </p:nvSpPr>
        <p:spPr>
          <a:xfrm>
            <a:off x="2761488" y="2468880"/>
            <a:ext cx="237744" cy="237744"/>
          </a:xfrm>
          <a:prstGeom prst="rect">
            <a:avLst/>
          </a:prstGeom>
          <a:noFill/>
          <a:ln cap="flat" cmpd="sng" w="15875">
            <a:solidFill>
              <a:srgbClr val="9AA1A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1" name="Google Shape;231;p7"/>
          <p:cNvSpPr/>
          <p:nvPr/>
        </p:nvSpPr>
        <p:spPr>
          <a:xfrm>
            <a:off x="3072384" y="2468880"/>
            <a:ext cx="237744" cy="237744"/>
          </a:xfrm>
          <a:prstGeom prst="rect">
            <a:avLst/>
          </a:prstGeom>
          <a:noFill/>
          <a:ln cap="flat" cmpd="sng" w="15875">
            <a:solidFill>
              <a:srgbClr val="9AA1A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2" name="Google Shape;232;p7"/>
          <p:cNvSpPr/>
          <p:nvPr/>
        </p:nvSpPr>
        <p:spPr>
          <a:xfrm>
            <a:off x="3383280" y="2468880"/>
            <a:ext cx="237744" cy="237744"/>
          </a:xfrm>
          <a:prstGeom prst="rect">
            <a:avLst/>
          </a:prstGeom>
          <a:noFill/>
          <a:ln cap="flat" cmpd="sng" w="15875">
            <a:solidFill>
              <a:srgbClr val="9AA1A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3" name="Google Shape;233;p7"/>
          <p:cNvSpPr/>
          <p:nvPr/>
        </p:nvSpPr>
        <p:spPr>
          <a:xfrm>
            <a:off x="3694176" y="2468880"/>
            <a:ext cx="237744" cy="237744"/>
          </a:xfrm>
          <a:prstGeom prst="rect">
            <a:avLst/>
          </a:prstGeom>
          <a:noFill/>
          <a:ln cap="flat" cmpd="sng" w="15875">
            <a:solidFill>
              <a:srgbClr val="9AA1A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4" name="Google Shape;234;p7"/>
          <p:cNvSpPr/>
          <p:nvPr/>
        </p:nvSpPr>
        <p:spPr>
          <a:xfrm>
            <a:off x="4005072" y="246888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5" name="Google Shape;235;p7"/>
          <p:cNvSpPr/>
          <p:nvPr/>
        </p:nvSpPr>
        <p:spPr>
          <a:xfrm>
            <a:off x="4315968" y="2468880"/>
            <a:ext cx="237744" cy="237744"/>
          </a:xfrm>
          <a:prstGeom prst="rect">
            <a:avLst/>
          </a:prstGeom>
          <a:noFill/>
          <a:ln cap="flat" cmpd="sng" w="15875">
            <a:solidFill>
              <a:srgbClr val="9AA1A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6" name="Google Shape;236;p7"/>
          <p:cNvSpPr/>
          <p:nvPr/>
        </p:nvSpPr>
        <p:spPr>
          <a:xfrm>
            <a:off x="4626864" y="2468880"/>
            <a:ext cx="237744" cy="237744"/>
          </a:xfrm>
          <a:prstGeom prst="rect">
            <a:avLst/>
          </a:prstGeom>
          <a:noFill/>
          <a:ln cap="flat" cmpd="sng" w="15875">
            <a:solidFill>
              <a:srgbClr val="9AA1A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7" name="Google Shape;237;p7"/>
          <p:cNvSpPr/>
          <p:nvPr/>
        </p:nvSpPr>
        <p:spPr>
          <a:xfrm>
            <a:off x="4937760" y="2468880"/>
            <a:ext cx="237744" cy="237744"/>
          </a:xfrm>
          <a:prstGeom prst="rect">
            <a:avLst/>
          </a:prstGeom>
          <a:noFill/>
          <a:ln cap="flat" cmpd="sng" w="15875">
            <a:solidFill>
              <a:srgbClr val="9AA1A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8" name="Google Shape;238;p7"/>
          <p:cNvSpPr/>
          <p:nvPr/>
        </p:nvSpPr>
        <p:spPr>
          <a:xfrm>
            <a:off x="5248656" y="2468880"/>
            <a:ext cx="237744" cy="237744"/>
          </a:xfrm>
          <a:prstGeom prst="rect">
            <a:avLst/>
          </a:prstGeom>
          <a:noFill/>
          <a:ln cap="flat" cmpd="sng" w="15875">
            <a:solidFill>
              <a:srgbClr val="9AA1A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9" name="Google Shape;239;p7"/>
          <p:cNvSpPr/>
          <p:nvPr/>
        </p:nvSpPr>
        <p:spPr>
          <a:xfrm>
            <a:off x="5559552" y="2468880"/>
            <a:ext cx="237744" cy="237744"/>
          </a:xfrm>
          <a:prstGeom prst="rect">
            <a:avLst/>
          </a:prstGeom>
          <a:noFill/>
          <a:ln cap="flat" cmpd="sng" w="15875">
            <a:solidFill>
              <a:srgbClr val="9AA1A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0" name="Google Shape;240;p7"/>
          <p:cNvSpPr/>
          <p:nvPr/>
        </p:nvSpPr>
        <p:spPr>
          <a:xfrm>
            <a:off x="5870448" y="246888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1" name="Google Shape;241;p7"/>
          <p:cNvSpPr/>
          <p:nvPr/>
        </p:nvSpPr>
        <p:spPr>
          <a:xfrm>
            <a:off x="6181344" y="2468880"/>
            <a:ext cx="237744" cy="237744"/>
          </a:xfrm>
          <a:prstGeom prst="rect">
            <a:avLst/>
          </a:prstGeom>
          <a:noFill/>
          <a:ln cap="flat" cmpd="sng" w="15875">
            <a:solidFill>
              <a:srgbClr val="9AA1A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2" name="Google Shape;242;p7"/>
          <p:cNvSpPr/>
          <p:nvPr/>
        </p:nvSpPr>
        <p:spPr>
          <a:xfrm>
            <a:off x="6492240" y="2468880"/>
            <a:ext cx="237744" cy="237744"/>
          </a:xfrm>
          <a:prstGeom prst="rect">
            <a:avLst/>
          </a:prstGeom>
          <a:noFill/>
          <a:ln cap="flat" cmpd="sng" w="15875">
            <a:solidFill>
              <a:srgbClr val="9AA1A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3" name="Google Shape;243;p7"/>
          <p:cNvSpPr/>
          <p:nvPr/>
        </p:nvSpPr>
        <p:spPr>
          <a:xfrm>
            <a:off x="6803136" y="2468880"/>
            <a:ext cx="237744" cy="237744"/>
          </a:xfrm>
          <a:prstGeom prst="rect">
            <a:avLst/>
          </a:prstGeom>
          <a:noFill/>
          <a:ln cap="flat" cmpd="sng" w="15875">
            <a:solidFill>
              <a:srgbClr val="9AA1A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4" name="Google Shape;244;p7"/>
          <p:cNvSpPr/>
          <p:nvPr/>
        </p:nvSpPr>
        <p:spPr>
          <a:xfrm>
            <a:off x="7114032" y="2468880"/>
            <a:ext cx="237744" cy="237744"/>
          </a:xfrm>
          <a:prstGeom prst="rect">
            <a:avLst/>
          </a:prstGeom>
          <a:noFill/>
          <a:ln cap="flat" cmpd="sng" w="15875">
            <a:solidFill>
              <a:srgbClr val="9AA1A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5" name="Google Shape;245;p7"/>
          <p:cNvSpPr/>
          <p:nvPr/>
        </p:nvSpPr>
        <p:spPr>
          <a:xfrm>
            <a:off x="7424928" y="246888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6" name="Google Shape;246;p7"/>
          <p:cNvSpPr/>
          <p:nvPr/>
        </p:nvSpPr>
        <p:spPr>
          <a:xfrm>
            <a:off x="7735824" y="2468880"/>
            <a:ext cx="237744" cy="237744"/>
          </a:xfrm>
          <a:prstGeom prst="rect">
            <a:avLst/>
          </a:prstGeom>
          <a:noFill/>
          <a:ln cap="flat" cmpd="sng" w="15875">
            <a:solidFill>
              <a:srgbClr val="9AA1A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7" name="Google Shape;247;p7"/>
          <p:cNvSpPr/>
          <p:nvPr/>
        </p:nvSpPr>
        <p:spPr>
          <a:xfrm>
            <a:off x="8046720" y="2468880"/>
            <a:ext cx="237744" cy="237744"/>
          </a:xfrm>
          <a:prstGeom prst="rect">
            <a:avLst/>
          </a:prstGeom>
          <a:noFill/>
          <a:ln cap="flat" cmpd="sng" w="15875">
            <a:solidFill>
              <a:srgbClr val="9AA1A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8" name="Google Shape;248;p7"/>
          <p:cNvSpPr/>
          <p:nvPr/>
        </p:nvSpPr>
        <p:spPr>
          <a:xfrm>
            <a:off x="8357616" y="2468880"/>
            <a:ext cx="237744" cy="237744"/>
          </a:xfrm>
          <a:prstGeom prst="rect">
            <a:avLst/>
          </a:prstGeom>
          <a:noFill/>
          <a:ln cap="flat" cmpd="sng" w="15875">
            <a:solidFill>
              <a:srgbClr val="9AA1A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9" name="Google Shape;249;p7"/>
          <p:cNvSpPr/>
          <p:nvPr/>
        </p:nvSpPr>
        <p:spPr>
          <a:xfrm>
            <a:off x="8668512" y="246888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0" name="Google Shape;250;p7"/>
          <p:cNvSpPr/>
          <p:nvPr/>
        </p:nvSpPr>
        <p:spPr>
          <a:xfrm>
            <a:off x="8979408" y="2468880"/>
            <a:ext cx="237744" cy="237744"/>
          </a:xfrm>
          <a:prstGeom prst="rect">
            <a:avLst/>
          </a:prstGeom>
          <a:noFill/>
          <a:ln cap="flat" cmpd="sng" w="15875">
            <a:solidFill>
              <a:srgbClr val="9AA1A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1" name="Google Shape;251;p7"/>
          <p:cNvSpPr/>
          <p:nvPr/>
        </p:nvSpPr>
        <p:spPr>
          <a:xfrm>
            <a:off x="9290304" y="2468880"/>
            <a:ext cx="237744" cy="237744"/>
          </a:xfrm>
          <a:prstGeom prst="rect">
            <a:avLst/>
          </a:prstGeom>
          <a:noFill/>
          <a:ln cap="flat" cmpd="sng" w="15875">
            <a:solidFill>
              <a:srgbClr val="9AA1A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2" name="Google Shape;252;p7"/>
          <p:cNvSpPr/>
          <p:nvPr/>
        </p:nvSpPr>
        <p:spPr>
          <a:xfrm>
            <a:off x="9601200" y="2468880"/>
            <a:ext cx="237744" cy="237744"/>
          </a:xfrm>
          <a:prstGeom prst="rect">
            <a:avLst/>
          </a:prstGeom>
          <a:noFill/>
          <a:ln cap="flat" cmpd="sng" w="15875">
            <a:solidFill>
              <a:srgbClr val="9AA1A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3" name="Google Shape;253;p7"/>
          <p:cNvSpPr/>
          <p:nvPr/>
        </p:nvSpPr>
        <p:spPr>
          <a:xfrm>
            <a:off x="9912096" y="2468880"/>
            <a:ext cx="237744" cy="237744"/>
          </a:xfrm>
          <a:prstGeom prst="rect">
            <a:avLst/>
          </a:prstGeom>
          <a:noFill/>
          <a:ln cap="flat" cmpd="sng" w="15875">
            <a:solidFill>
              <a:srgbClr val="9AA1A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4" name="Google Shape;254;p7"/>
          <p:cNvSpPr/>
          <p:nvPr/>
        </p:nvSpPr>
        <p:spPr>
          <a:xfrm>
            <a:off x="10222992" y="2468880"/>
            <a:ext cx="237744" cy="237744"/>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5" name="Google Shape;255;p7"/>
          <p:cNvSpPr/>
          <p:nvPr/>
        </p:nvSpPr>
        <p:spPr>
          <a:xfrm>
            <a:off x="10533888" y="2468880"/>
            <a:ext cx="237744" cy="237744"/>
          </a:xfrm>
          <a:prstGeom prst="rect">
            <a:avLst/>
          </a:prstGeom>
          <a:noFill/>
          <a:ln cap="flat" cmpd="sng" w="15875">
            <a:solidFill>
              <a:srgbClr val="9AA1A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6" name="Google Shape;256;p7"/>
          <p:cNvSpPr/>
          <p:nvPr/>
        </p:nvSpPr>
        <p:spPr>
          <a:xfrm>
            <a:off x="10844784" y="2468880"/>
            <a:ext cx="237744" cy="237744"/>
          </a:xfrm>
          <a:prstGeom prst="rect">
            <a:avLst/>
          </a:prstGeom>
          <a:noFill/>
          <a:ln cap="flat" cmpd="sng" w="15875">
            <a:solidFill>
              <a:srgbClr val="9AA1A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7" name="Google Shape;257;p7"/>
          <p:cNvSpPr/>
          <p:nvPr/>
        </p:nvSpPr>
        <p:spPr>
          <a:xfrm>
            <a:off x="1828800" y="3090672"/>
            <a:ext cx="164592" cy="164592"/>
          </a:xfrm>
          <a:prstGeom prst="rect">
            <a:avLst/>
          </a:prstGeom>
          <a:solidFill>
            <a:srgbClr val="1F24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8" name="Google Shape;258;p7"/>
          <p:cNvSpPr txBox="1"/>
          <p:nvPr/>
        </p:nvSpPr>
        <p:spPr>
          <a:xfrm>
            <a:off x="2084832" y="3063240"/>
            <a:ext cx="3200400" cy="2743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1200">
                <a:solidFill>
                  <a:srgbClr val="5A6274"/>
                </a:solidFill>
                <a:latin typeface="Arial"/>
                <a:ea typeface="Arial"/>
                <a:cs typeface="Arial"/>
                <a:sym typeface="Arial"/>
              </a:rPr>
              <a:t>con etiqueta: se aprende</a:t>
            </a:r>
            <a:endParaRPr/>
          </a:p>
        </p:txBody>
      </p:sp>
      <p:sp>
        <p:nvSpPr>
          <p:cNvPr id="259" name="Google Shape;259;p7"/>
          <p:cNvSpPr/>
          <p:nvPr/>
        </p:nvSpPr>
        <p:spPr>
          <a:xfrm>
            <a:off x="4754880" y="3090672"/>
            <a:ext cx="164592" cy="164592"/>
          </a:xfrm>
          <a:prstGeom prst="rect">
            <a:avLst/>
          </a:prstGeom>
          <a:noFill/>
          <a:ln cap="flat" cmpd="sng" w="15875">
            <a:solidFill>
              <a:srgbClr val="9AA1A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0" name="Google Shape;260;p7"/>
          <p:cNvSpPr txBox="1"/>
          <p:nvPr/>
        </p:nvSpPr>
        <p:spPr>
          <a:xfrm>
            <a:off x="5010912" y="3063240"/>
            <a:ext cx="3657600" cy="2743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1200">
                <a:solidFill>
                  <a:srgbClr val="5A6274"/>
                </a:solidFill>
                <a:latin typeface="Arial"/>
                <a:ea typeface="Arial"/>
                <a:cs typeface="Arial"/>
                <a:sym typeface="Arial"/>
              </a:rPr>
              <a:t>sin etiqueta: nadie actualiza</a:t>
            </a:r>
            <a:endParaRPr/>
          </a:p>
        </p:txBody>
      </p:sp>
      <p:cxnSp>
        <p:nvCxnSpPr>
          <p:cNvPr id="261" name="Google Shape;261;p7"/>
          <p:cNvCxnSpPr/>
          <p:nvPr/>
        </p:nvCxnSpPr>
        <p:spPr>
          <a:xfrm>
            <a:off x="548640" y="3566160"/>
            <a:ext cx="11091672" cy="0"/>
          </a:xfrm>
          <a:prstGeom prst="straightConnector1">
            <a:avLst/>
          </a:prstGeom>
          <a:noFill/>
          <a:ln cap="flat" cmpd="sng" w="9525">
            <a:solidFill>
              <a:srgbClr val="D9D6CE"/>
            </a:solidFill>
            <a:prstDash val="solid"/>
            <a:miter lim="8000"/>
            <a:headEnd len="sm" w="sm" type="none"/>
            <a:tailEnd len="sm" w="sm" type="none"/>
          </a:ln>
        </p:spPr>
      </p:cxnSp>
      <p:sp>
        <p:nvSpPr>
          <p:cNvPr id="262" name="Google Shape;262;p7"/>
          <p:cNvSpPr txBox="1"/>
          <p:nvPr/>
        </p:nvSpPr>
        <p:spPr>
          <a:xfrm>
            <a:off x="548640" y="3749039"/>
            <a:ext cx="512064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i="1" lang="en-US" sz="2400">
                <a:solidFill>
                  <a:srgbClr val="2A78D6"/>
                </a:solidFill>
                <a:latin typeface="Georgia"/>
                <a:ea typeface="Georgia"/>
                <a:cs typeface="Georgia"/>
                <a:sym typeface="Georgia"/>
              </a:rPr>
              <a:t>Hedge</a:t>
            </a:r>
            <a:endParaRPr/>
          </a:p>
        </p:txBody>
      </p:sp>
      <p:sp>
        <p:nvSpPr>
          <p:cNvPr id="263" name="Google Shape;263;p7"/>
          <p:cNvSpPr txBox="1"/>
          <p:nvPr/>
        </p:nvSpPr>
        <p:spPr>
          <a:xfrm>
            <a:off x="548640" y="4251960"/>
            <a:ext cx="5120640" cy="9144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1500">
                <a:solidFill>
                  <a:srgbClr val="1F2430"/>
                </a:solidFill>
                <a:latin typeface="Arial"/>
                <a:ea typeface="Arial"/>
                <a:cs typeface="Arial"/>
                <a:sym typeface="Arial"/>
              </a:rPr>
              <a:t>Usa el estimador insesgado ℓ/ρ: cada error observado cuenta 1/ρ veces</a:t>
            </a:r>
            <a:endParaRPr b="0" sz="1500">
              <a:solidFill>
                <a:srgbClr val="1F2430"/>
              </a:solidFill>
              <a:latin typeface="Arial"/>
              <a:ea typeface="Arial"/>
              <a:cs typeface="Arial"/>
              <a:sym typeface="Arial"/>
            </a:endParaRPr>
          </a:p>
        </p:txBody>
      </p:sp>
      <p:cxnSp>
        <p:nvCxnSpPr>
          <p:cNvPr id="264" name="Google Shape;264;p7"/>
          <p:cNvCxnSpPr/>
          <p:nvPr/>
        </p:nvCxnSpPr>
        <p:spPr>
          <a:xfrm>
            <a:off x="5897880" y="3749039"/>
            <a:ext cx="0" cy="1463041"/>
          </a:xfrm>
          <a:prstGeom prst="straightConnector1">
            <a:avLst/>
          </a:prstGeom>
          <a:noFill/>
          <a:ln cap="flat" cmpd="sng" w="9525">
            <a:solidFill>
              <a:srgbClr val="D9D6CE"/>
            </a:solidFill>
            <a:prstDash val="solid"/>
            <a:miter lim="8000"/>
            <a:headEnd len="sm" w="sm" type="none"/>
            <a:tailEnd len="sm" w="sm" type="none"/>
          </a:ln>
        </p:spPr>
      </p:cxnSp>
      <p:sp>
        <p:nvSpPr>
          <p:cNvPr id="265" name="Google Shape;265;p7"/>
          <p:cNvSpPr txBox="1"/>
          <p:nvPr/>
        </p:nvSpPr>
        <p:spPr>
          <a:xfrm>
            <a:off x="6355080" y="3749039"/>
            <a:ext cx="5285232"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2400">
                <a:solidFill>
                  <a:srgbClr val="1BAF7A"/>
                </a:solidFill>
                <a:latin typeface="Georgia"/>
                <a:ea typeface="Georgia"/>
                <a:cs typeface="Georgia"/>
                <a:sym typeface="Georgia"/>
              </a:rPr>
              <a:t>SGD online</a:t>
            </a:r>
            <a:endParaRPr/>
          </a:p>
        </p:txBody>
      </p:sp>
      <p:sp>
        <p:nvSpPr>
          <p:cNvPr id="266" name="Google Shape;266;p7"/>
          <p:cNvSpPr txBox="1"/>
          <p:nvPr/>
        </p:nvSpPr>
        <p:spPr>
          <a:xfrm>
            <a:off x="6355080" y="4251960"/>
            <a:ext cx="5285232" cy="9144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1500">
                <a:solidFill>
                  <a:srgbClr val="1F2430"/>
                </a:solidFill>
                <a:latin typeface="Arial"/>
                <a:ea typeface="Arial"/>
                <a:cs typeface="Arial"/>
                <a:sym typeface="Arial"/>
              </a:rPr>
              <a:t>Se actualiza solo en las rondas etiquetadas, sin reponderar: aprende de los ejemplos que tiene.</a:t>
            </a:r>
            <a:endParaRPr/>
          </a:p>
        </p:txBody>
      </p:sp>
      <p:cxnSp>
        <p:nvCxnSpPr>
          <p:cNvPr id="267" name="Google Shape;267;p7"/>
          <p:cNvCxnSpPr/>
          <p:nvPr/>
        </p:nvCxnSpPr>
        <p:spPr>
          <a:xfrm>
            <a:off x="548640" y="5394960"/>
            <a:ext cx="11091672" cy="0"/>
          </a:xfrm>
          <a:prstGeom prst="straightConnector1">
            <a:avLst/>
          </a:prstGeom>
          <a:noFill/>
          <a:ln cap="flat" cmpd="sng" w="9525">
            <a:solidFill>
              <a:srgbClr val="D9D6CE"/>
            </a:solidFill>
            <a:prstDash val="solid"/>
            <a:miter lim="8000"/>
            <a:headEnd len="sm" w="sm" type="none"/>
            <a:tailEnd len="sm" w="sm" type="none"/>
          </a:ln>
        </p:spPr>
      </p:cxnSp>
      <p:sp>
        <p:nvSpPr>
          <p:cNvPr id="268" name="Google Shape;268;p7"/>
          <p:cNvSpPr txBox="1"/>
          <p:nvPr/>
        </p:nvSpPr>
        <p:spPr>
          <a:xfrm>
            <a:off x="548640" y="5596128"/>
            <a:ext cx="6949440" cy="5486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lang="en-US" sz="1400">
                <a:solidFill>
                  <a:srgbClr val="1F2430"/>
                </a:solidFill>
                <a:latin typeface="Arial"/>
                <a:ea typeface="Arial"/>
                <a:cs typeface="Arial"/>
                <a:sym typeface="Arial"/>
              </a:rPr>
              <a:t>Barrido: </a:t>
            </a:r>
            <a:r>
              <a:rPr b="0" lang="en-US" sz="1400">
                <a:solidFill>
                  <a:srgbClr val="1F2430"/>
                </a:solidFill>
                <a:latin typeface="Arial"/>
                <a:ea typeface="Arial"/>
                <a:cs typeface="Arial"/>
                <a:sym typeface="Arial"/>
              </a:rPr>
              <a:t>ρ de 1 a 0,05. Hedge y SGD ven exactamente las mismas rondas etiquetadas.</a:t>
            </a:r>
            <a:endParaRPr/>
          </a:p>
        </p:txBody>
      </p:sp>
      <p:sp>
        <p:nvSpPr>
          <p:cNvPr id="269" name="Google Shape;269;p7"/>
          <p:cNvSpPr txBox="1"/>
          <p:nvPr/>
        </p:nvSpPr>
        <p:spPr>
          <a:xfrm>
            <a:off x="7863840" y="5504688"/>
            <a:ext cx="3776472" cy="411480"/>
          </a:xfrm>
          <a:prstGeom prst="rect">
            <a:avLst/>
          </a:prstGeom>
          <a:noFill/>
          <a:ln>
            <a:noFill/>
          </a:ln>
        </p:spPr>
        <p:txBody>
          <a:bodyPr anchorCtr="0" anchor="t" bIns="0" lIns="0" spcFirstLastPara="1" rIns="0" wrap="square" tIns="0">
            <a:noAutofit/>
          </a:bodyPr>
          <a:lstStyle/>
          <a:p>
            <a:pPr indent="0" lvl="0" marL="0" marR="0" rtl="0" algn="r">
              <a:lnSpc>
                <a:spcPct val="110000"/>
              </a:lnSpc>
              <a:spcBef>
                <a:spcPts val="0"/>
              </a:spcBef>
              <a:spcAft>
                <a:spcPts val="0"/>
              </a:spcAft>
              <a:buNone/>
            </a:pPr>
            <a:r>
              <a:rPr b="0" lang="en-US" sz="2200">
                <a:solidFill>
                  <a:srgbClr val="2A78D6"/>
                </a:solidFill>
                <a:latin typeface="Georgia"/>
                <a:ea typeface="Georgia"/>
                <a:cs typeface="Georgia"/>
                <a:sym typeface="Georgia"/>
              </a:rPr>
              <a:t>regret ∝ 1/√ρ</a:t>
            </a:r>
            <a:endParaRPr/>
          </a:p>
        </p:txBody>
      </p:sp>
      <p:sp>
        <p:nvSpPr>
          <p:cNvPr id="270" name="Google Shape;270;p7"/>
          <p:cNvSpPr txBox="1"/>
          <p:nvPr/>
        </p:nvSpPr>
        <p:spPr>
          <a:xfrm>
            <a:off x="7863840" y="5916168"/>
            <a:ext cx="3776472" cy="274320"/>
          </a:xfrm>
          <a:prstGeom prst="rect">
            <a:avLst/>
          </a:prstGeom>
          <a:noFill/>
          <a:ln>
            <a:noFill/>
          </a:ln>
        </p:spPr>
        <p:txBody>
          <a:bodyPr anchorCtr="0" anchor="t" bIns="0" lIns="0" spcFirstLastPara="1" rIns="0" wrap="square" tIns="0">
            <a:noAutofit/>
          </a:bodyPr>
          <a:lstStyle/>
          <a:p>
            <a:pPr indent="0" lvl="0" marL="0" marR="0" rtl="0" algn="r">
              <a:lnSpc>
                <a:spcPct val="110000"/>
              </a:lnSpc>
              <a:spcBef>
                <a:spcPts val="0"/>
              </a:spcBef>
              <a:spcAft>
                <a:spcPts val="0"/>
              </a:spcAft>
              <a:buNone/>
            </a:pPr>
            <a:r>
              <a:rPr b="0" lang="en-US" sz="1200">
                <a:solidFill>
                  <a:srgbClr val="5A6274"/>
                </a:solidFill>
                <a:latin typeface="Arial"/>
                <a:ea typeface="Arial"/>
                <a:cs typeface="Arial"/>
                <a:sym typeface="Arial"/>
              </a:rPr>
              <a:t>lo que predice la teoría para Hedge</a:t>
            </a:r>
            <a:endParaRP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8"/>
          <p:cNvSpPr txBox="1"/>
          <p:nvPr/>
        </p:nvSpPr>
        <p:spPr>
          <a:xfrm>
            <a:off x="548640" y="411480"/>
            <a:ext cx="73152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100"/>
              <a:buFont typeface="Arial"/>
              <a:buNone/>
            </a:pPr>
            <a:r>
              <a:rPr b="1" lang="en-US" sz="1100">
                <a:solidFill>
                  <a:srgbClr val="5A6274"/>
                </a:solidFill>
                <a:latin typeface="Arial"/>
                <a:ea typeface="Arial"/>
                <a:cs typeface="Arial"/>
                <a:sym typeface="Arial"/>
              </a:rPr>
              <a:t>DISEÑO</a:t>
            </a:r>
            <a:endParaRPr sz="1100">
              <a:solidFill>
                <a:schemeClr val="dk1"/>
              </a:solidFill>
              <a:latin typeface="Arial"/>
              <a:ea typeface="Arial"/>
              <a:cs typeface="Arial"/>
              <a:sym typeface="Arial"/>
            </a:endParaRPr>
          </a:p>
        </p:txBody>
      </p:sp>
      <p:sp>
        <p:nvSpPr>
          <p:cNvPr id="277" name="Google Shape;277;p8"/>
          <p:cNvSpPr txBox="1"/>
          <p:nvPr>
            <p:ph type="title"/>
          </p:nvPr>
        </p:nvSpPr>
        <p:spPr>
          <a:xfrm>
            <a:off x="548640" y="731520"/>
            <a:ext cx="10424160" cy="566928"/>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1F2430"/>
              </a:buClr>
              <a:buSzPts val="3000"/>
              <a:buFont typeface="Georgia"/>
              <a:buNone/>
            </a:pPr>
            <a:r>
              <a:rPr lang="en-US"/>
              <a:t>Datos y stream</a:t>
            </a:r>
            <a:endParaRPr sz="3000"/>
          </a:p>
        </p:txBody>
      </p:sp>
      <p:sp>
        <p:nvSpPr>
          <p:cNvPr id="278" name="Google Shape;278;p8"/>
          <p:cNvSpPr txBox="1"/>
          <p:nvPr/>
        </p:nvSpPr>
        <p:spPr>
          <a:xfrm>
            <a:off x="548640" y="1307592"/>
            <a:ext cx="1042416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500"/>
              <a:buFont typeface="Arial"/>
              <a:buNone/>
            </a:pPr>
            <a:r>
              <a:rPr lang="en-US" sz="1500">
                <a:solidFill>
                  <a:srgbClr val="5A6274"/>
                </a:solidFill>
                <a:latin typeface="Arial"/>
                <a:ea typeface="Arial"/>
                <a:cs typeface="Arial"/>
                <a:sym typeface="Arial"/>
              </a:rPr>
              <a:t>20 semillas: cada una fija una permutación distinta del corpus, y los resultados se promedian.</a:t>
            </a:r>
            <a:endParaRPr sz="1500">
              <a:solidFill>
                <a:schemeClr val="dk1"/>
              </a:solidFill>
              <a:latin typeface="Arial"/>
              <a:ea typeface="Arial"/>
              <a:cs typeface="Arial"/>
              <a:sym typeface="Arial"/>
            </a:endParaRPr>
          </a:p>
        </p:txBody>
      </p:sp>
      <p:sp>
        <p:nvSpPr>
          <p:cNvPr id="279" name="Google Shape;279;p8"/>
          <p:cNvSpPr txBox="1"/>
          <p:nvPr/>
        </p:nvSpPr>
        <p:spPr>
          <a:xfrm>
            <a:off x="9235440" y="429768"/>
            <a:ext cx="155448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AA1AE"/>
              </a:buClr>
              <a:buSzPts val="900"/>
              <a:buFont typeface="Arial"/>
              <a:buNone/>
            </a:pPr>
            <a:r>
              <a:rPr b="1" lang="en-US" sz="900">
                <a:solidFill>
                  <a:srgbClr val="9AA1AE"/>
                </a:solidFill>
                <a:latin typeface="Arial"/>
                <a:ea typeface="Arial"/>
                <a:cs typeface="Arial"/>
                <a:sym typeface="Arial"/>
              </a:rPr>
              <a:t>RESULTADOS</a:t>
            </a:r>
            <a:endParaRPr sz="900">
              <a:solidFill>
                <a:schemeClr val="dk1"/>
              </a:solidFill>
              <a:latin typeface="Arial"/>
              <a:ea typeface="Arial"/>
              <a:cs typeface="Arial"/>
              <a:sym typeface="Arial"/>
            </a:endParaRPr>
          </a:p>
        </p:txBody>
      </p:sp>
      <p:sp>
        <p:nvSpPr>
          <p:cNvPr id="280" name="Google Shape;280;p8"/>
          <p:cNvSpPr/>
          <p:nvPr/>
        </p:nvSpPr>
        <p:spPr>
          <a:xfrm>
            <a:off x="10899648"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1" name="Google Shape;281;p8"/>
          <p:cNvSpPr/>
          <p:nvPr/>
        </p:nvSpPr>
        <p:spPr>
          <a:xfrm>
            <a:off x="11100816"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2" name="Google Shape;282;p8"/>
          <p:cNvSpPr/>
          <p:nvPr/>
        </p:nvSpPr>
        <p:spPr>
          <a:xfrm>
            <a:off x="11301984"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3" name="Google Shape;283;p8"/>
          <p:cNvSpPr/>
          <p:nvPr/>
        </p:nvSpPr>
        <p:spPr>
          <a:xfrm>
            <a:off x="11503152"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4" name="Google Shape;284;p8"/>
          <p:cNvSpPr/>
          <p:nvPr/>
        </p:nvSpPr>
        <p:spPr>
          <a:xfrm>
            <a:off x="548640" y="2606040"/>
            <a:ext cx="2216742" cy="502920"/>
          </a:xfrm>
          <a:prstGeom prst="rect">
            <a:avLst/>
          </a:prstGeom>
          <a:solidFill>
            <a:srgbClr val="D9D6C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5" name="Google Shape;285;p8"/>
          <p:cNvSpPr txBox="1"/>
          <p:nvPr/>
        </p:nvSpPr>
        <p:spPr>
          <a:xfrm>
            <a:off x="685800" y="2606040"/>
            <a:ext cx="1942422"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30"/>
              </a:buClr>
              <a:buSzPts val="1100"/>
              <a:buFont typeface="Arial"/>
              <a:buNone/>
            </a:pPr>
            <a:r>
              <a:rPr b="1" lang="en-US" sz="1100">
                <a:solidFill>
                  <a:srgbClr val="1F2430"/>
                </a:solidFill>
                <a:latin typeface="Arial"/>
                <a:ea typeface="Arial"/>
                <a:cs typeface="Arial"/>
                <a:sym typeface="Arial"/>
              </a:rPr>
              <a:t>WARM-UP</a:t>
            </a:r>
            <a:endParaRPr sz="1100">
              <a:solidFill>
                <a:schemeClr val="dk1"/>
              </a:solidFill>
              <a:latin typeface="Arial"/>
              <a:ea typeface="Arial"/>
              <a:cs typeface="Arial"/>
              <a:sym typeface="Arial"/>
            </a:endParaRPr>
          </a:p>
        </p:txBody>
      </p:sp>
      <p:sp>
        <p:nvSpPr>
          <p:cNvPr id="286" name="Google Shape;286;p8"/>
          <p:cNvSpPr txBox="1"/>
          <p:nvPr/>
        </p:nvSpPr>
        <p:spPr>
          <a:xfrm>
            <a:off x="548640" y="2103120"/>
            <a:ext cx="2216742"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2000"/>
              <a:buFont typeface="Arial"/>
              <a:buNone/>
            </a:pPr>
            <a:r>
              <a:rPr b="1" lang="en-US" sz="2000">
                <a:solidFill>
                  <a:srgbClr val="1F2430"/>
                </a:solidFill>
                <a:latin typeface="Arial"/>
                <a:ea typeface="Arial"/>
                <a:cs typeface="Arial"/>
                <a:sym typeface="Arial"/>
              </a:rPr>
              <a:t>1.114 SMS</a:t>
            </a:r>
            <a:endParaRPr sz="2000">
              <a:solidFill>
                <a:schemeClr val="dk1"/>
              </a:solidFill>
              <a:latin typeface="Arial"/>
              <a:ea typeface="Arial"/>
              <a:cs typeface="Arial"/>
              <a:sym typeface="Arial"/>
            </a:endParaRPr>
          </a:p>
        </p:txBody>
      </p:sp>
      <p:sp>
        <p:nvSpPr>
          <p:cNvPr id="287" name="Google Shape;287;p8"/>
          <p:cNvSpPr txBox="1"/>
          <p:nvPr/>
        </p:nvSpPr>
        <p:spPr>
          <a:xfrm>
            <a:off x="548640" y="3246120"/>
            <a:ext cx="1988142"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300"/>
              <a:buFont typeface="Arial"/>
              <a:buNone/>
            </a:pPr>
            <a:r>
              <a:rPr lang="en-US" sz="1300">
                <a:solidFill>
                  <a:srgbClr val="5A6274"/>
                </a:solidFill>
                <a:latin typeface="Arial"/>
                <a:ea typeface="Arial"/>
                <a:cs typeface="Arial"/>
                <a:sym typeface="Arial"/>
              </a:rPr>
              <a:t>Se entrenan los modelos; los expertos quedan congelados.</a:t>
            </a:r>
            <a:endParaRPr sz="1300">
              <a:solidFill>
                <a:schemeClr val="dk1"/>
              </a:solidFill>
              <a:latin typeface="Arial"/>
              <a:ea typeface="Arial"/>
              <a:cs typeface="Arial"/>
              <a:sym typeface="Arial"/>
            </a:endParaRPr>
          </a:p>
        </p:txBody>
      </p:sp>
      <p:sp>
        <p:nvSpPr>
          <p:cNvPr id="288" name="Google Shape;288;p8"/>
          <p:cNvSpPr/>
          <p:nvPr/>
        </p:nvSpPr>
        <p:spPr>
          <a:xfrm>
            <a:off x="2765382" y="2606040"/>
            <a:ext cx="4437465" cy="502920"/>
          </a:xfrm>
          <a:prstGeom prst="rect">
            <a:avLst/>
          </a:prstGeom>
          <a:solidFill>
            <a:srgbClr val="ECE9E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9" name="Google Shape;289;p8"/>
          <p:cNvSpPr txBox="1"/>
          <p:nvPr/>
        </p:nvSpPr>
        <p:spPr>
          <a:xfrm>
            <a:off x="2902542" y="2606040"/>
            <a:ext cx="4163145"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30"/>
              </a:buClr>
              <a:buSzPts val="1100"/>
              <a:buFont typeface="Arial"/>
              <a:buNone/>
            </a:pPr>
            <a:r>
              <a:rPr b="1" lang="en-US" sz="1100">
                <a:solidFill>
                  <a:srgbClr val="1F2430"/>
                </a:solidFill>
                <a:latin typeface="Arial"/>
                <a:ea typeface="Arial"/>
                <a:cs typeface="Arial"/>
                <a:sym typeface="Arial"/>
              </a:rPr>
              <a:t>STREAM SIN ATAQUE</a:t>
            </a:r>
            <a:endParaRPr sz="1100">
              <a:solidFill>
                <a:schemeClr val="dk1"/>
              </a:solidFill>
              <a:latin typeface="Arial"/>
              <a:ea typeface="Arial"/>
              <a:cs typeface="Arial"/>
              <a:sym typeface="Arial"/>
            </a:endParaRPr>
          </a:p>
        </p:txBody>
      </p:sp>
      <p:sp>
        <p:nvSpPr>
          <p:cNvPr id="290" name="Google Shape;290;p8"/>
          <p:cNvSpPr txBox="1"/>
          <p:nvPr/>
        </p:nvSpPr>
        <p:spPr>
          <a:xfrm>
            <a:off x="2765382" y="2103120"/>
            <a:ext cx="4437465"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2000"/>
              <a:buFont typeface="Arial"/>
              <a:buNone/>
            </a:pPr>
            <a:r>
              <a:rPr b="1" lang="en-US" sz="2000">
                <a:solidFill>
                  <a:srgbClr val="1F2430"/>
                </a:solidFill>
                <a:latin typeface="Arial"/>
                <a:ea typeface="Arial"/>
                <a:cs typeface="Arial"/>
                <a:sym typeface="Arial"/>
              </a:rPr>
              <a:t>2.230 SMS</a:t>
            </a:r>
            <a:endParaRPr sz="2000">
              <a:solidFill>
                <a:schemeClr val="dk1"/>
              </a:solidFill>
              <a:latin typeface="Arial"/>
              <a:ea typeface="Arial"/>
              <a:cs typeface="Arial"/>
              <a:sym typeface="Arial"/>
            </a:endParaRPr>
          </a:p>
        </p:txBody>
      </p:sp>
      <p:sp>
        <p:nvSpPr>
          <p:cNvPr id="291" name="Google Shape;291;p8"/>
          <p:cNvSpPr txBox="1"/>
          <p:nvPr/>
        </p:nvSpPr>
        <p:spPr>
          <a:xfrm>
            <a:off x="2765382" y="3246120"/>
            <a:ext cx="4208865"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300"/>
              <a:buFont typeface="Arial"/>
              <a:buNone/>
            </a:pPr>
            <a:r>
              <a:rPr lang="en-US" sz="1300">
                <a:solidFill>
                  <a:srgbClr val="5A6274"/>
                </a:solidFill>
                <a:latin typeface="Arial"/>
                <a:ea typeface="Arial"/>
                <a:cs typeface="Arial"/>
                <a:sym typeface="Arial"/>
              </a:rPr>
              <a:t>Los competidores ven la misma secuencia de mensajes.</a:t>
            </a:r>
            <a:endParaRPr sz="1300">
              <a:solidFill>
                <a:schemeClr val="dk1"/>
              </a:solidFill>
              <a:latin typeface="Arial"/>
              <a:ea typeface="Arial"/>
              <a:cs typeface="Arial"/>
              <a:sym typeface="Arial"/>
            </a:endParaRPr>
          </a:p>
        </p:txBody>
      </p:sp>
      <p:sp>
        <p:nvSpPr>
          <p:cNvPr id="292" name="Google Shape;292;p8"/>
          <p:cNvSpPr/>
          <p:nvPr/>
        </p:nvSpPr>
        <p:spPr>
          <a:xfrm>
            <a:off x="7202847" y="2606040"/>
            <a:ext cx="4437465" cy="502920"/>
          </a:xfrm>
          <a:prstGeom prst="rect">
            <a:avLst/>
          </a:prstGeom>
          <a:solidFill>
            <a:srgbClr val="1F24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3" name="Google Shape;293;p8"/>
          <p:cNvSpPr txBox="1"/>
          <p:nvPr/>
        </p:nvSpPr>
        <p:spPr>
          <a:xfrm>
            <a:off x="7340007" y="2606040"/>
            <a:ext cx="4163145"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Arial"/>
              <a:buNone/>
            </a:pPr>
            <a:r>
              <a:rPr b="1" lang="en-US" sz="1100">
                <a:solidFill>
                  <a:srgbClr val="FFFFFF"/>
                </a:solidFill>
                <a:latin typeface="Arial"/>
                <a:ea typeface="Arial"/>
                <a:cs typeface="Arial"/>
                <a:sym typeface="Arial"/>
              </a:rPr>
              <a:t>STREAM CON ATAQUE</a:t>
            </a:r>
            <a:endParaRPr sz="1100">
              <a:solidFill>
                <a:schemeClr val="dk1"/>
              </a:solidFill>
              <a:latin typeface="Arial"/>
              <a:ea typeface="Arial"/>
              <a:cs typeface="Arial"/>
              <a:sym typeface="Arial"/>
            </a:endParaRPr>
          </a:p>
        </p:txBody>
      </p:sp>
      <p:sp>
        <p:nvSpPr>
          <p:cNvPr id="294" name="Google Shape;294;p8"/>
          <p:cNvSpPr txBox="1"/>
          <p:nvPr/>
        </p:nvSpPr>
        <p:spPr>
          <a:xfrm>
            <a:off x="7202847" y="2103120"/>
            <a:ext cx="4437465"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2000"/>
              <a:buFont typeface="Arial"/>
              <a:buNone/>
            </a:pPr>
            <a:r>
              <a:rPr b="1" lang="en-US" sz="2000">
                <a:solidFill>
                  <a:srgbClr val="1F2430"/>
                </a:solidFill>
                <a:latin typeface="Arial"/>
                <a:ea typeface="Arial"/>
                <a:cs typeface="Arial"/>
                <a:sym typeface="Arial"/>
              </a:rPr>
              <a:t>2.230 SMS</a:t>
            </a:r>
            <a:endParaRPr sz="2000">
              <a:solidFill>
                <a:schemeClr val="dk1"/>
              </a:solidFill>
              <a:latin typeface="Arial"/>
              <a:ea typeface="Arial"/>
              <a:cs typeface="Arial"/>
              <a:sym typeface="Arial"/>
            </a:endParaRPr>
          </a:p>
        </p:txBody>
      </p:sp>
      <p:sp>
        <p:nvSpPr>
          <p:cNvPr id="295" name="Google Shape;295;p8"/>
          <p:cNvSpPr txBox="1"/>
          <p:nvPr/>
        </p:nvSpPr>
        <p:spPr>
          <a:xfrm>
            <a:off x="7202847" y="3246120"/>
            <a:ext cx="4208865"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300"/>
              <a:buFont typeface="Arial"/>
              <a:buNone/>
            </a:pPr>
            <a:r>
              <a:rPr lang="en-US" sz="1300">
                <a:solidFill>
                  <a:srgbClr val="5A6274"/>
                </a:solidFill>
                <a:latin typeface="Arial"/>
                <a:ea typeface="Arial"/>
                <a:cs typeface="Arial"/>
                <a:sym typeface="Arial"/>
              </a:rPr>
              <a:t>Todo spam llega ofuscado. Acá se mide quién se recupera.</a:t>
            </a:r>
            <a:endParaRPr sz="1300">
              <a:solidFill>
                <a:schemeClr val="dk1"/>
              </a:solidFill>
              <a:latin typeface="Arial"/>
              <a:ea typeface="Arial"/>
              <a:cs typeface="Arial"/>
              <a:sym typeface="Arial"/>
            </a:endParaRPr>
          </a:p>
        </p:txBody>
      </p:sp>
      <p:cxnSp>
        <p:nvCxnSpPr>
          <p:cNvPr id="296" name="Google Shape;296;p8"/>
          <p:cNvCxnSpPr/>
          <p:nvPr/>
        </p:nvCxnSpPr>
        <p:spPr>
          <a:xfrm>
            <a:off x="548640" y="4160520"/>
            <a:ext cx="11091672" cy="0"/>
          </a:xfrm>
          <a:prstGeom prst="straightConnector1">
            <a:avLst/>
          </a:prstGeom>
          <a:noFill/>
          <a:ln cap="flat" cmpd="sng" w="9525">
            <a:solidFill>
              <a:srgbClr val="D9D6CE"/>
            </a:solidFill>
            <a:prstDash val="solid"/>
            <a:round/>
            <a:headEnd len="sm" w="sm" type="none"/>
            <a:tailEnd len="sm" w="sm" type="none"/>
          </a:ln>
        </p:spPr>
      </p:cxnSp>
      <p:sp>
        <p:nvSpPr>
          <p:cNvPr id="297" name="Google Shape;297;p8"/>
          <p:cNvSpPr txBox="1"/>
          <p:nvPr/>
        </p:nvSpPr>
        <p:spPr>
          <a:xfrm>
            <a:off x="548640" y="4343400"/>
            <a:ext cx="54864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000"/>
              <a:buFont typeface="Arial"/>
              <a:buNone/>
            </a:pPr>
            <a:r>
              <a:rPr b="1" lang="en-US" sz="1000">
                <a:solidFill>
                  <a:srgbClr val="5A6274"/>
                </a:solidFill>
                <a:latin typeface="Arial"/>
                <a:ea typeface="Arial"/>
                <a:cs typeface="Arial"/>
                <a:sym typeface="Arial"/>
              </a:rPr>
              <a:t>QUÉ MEDIMOS</a:t>
            </a:r>
            <a:endParaRPr sz="1000">
              <a:solidFill>
                <a:schemeClr val="dk1"/>
              </a:solidFill>
              <a:latin typeface="Arial"/>
              <a:ea typeface="Arial"/>
              <a:cs typeface="Arial"/>
              <a:sym typeface="Arial"/>
            </a:endParaRPr>
          </a:p>
        </p:txBody>
      </p:sp>
      <p:sp>
        <p:nvSpPr>
          <p:cNvPr id="298" name="Google Shape;298;p8"/>
          <p:cNvSpPr txBox="1"/>
          <p:nvPr/>
        </p:nvSpPr>
        <p:spPr>
          <a:xfrm>
            <a:off x="548640" y="4663440"/>
            <a:ext cx="6766560" cy="14630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F2430"/>
              </a:buClr>
              <a:buSzPts val="1500"/>
              <a:buFont typeface="Arial"/>
              <a:buNone/>
            </a:pPr>
            <a:r>
              <a:rPr b="1" lang="en-US" sz="1500">
                <a:solidFill>
                  <a:srgbClr val="1F2430"/>
                </a:solidFill>
                <a:latin typeface="Arial"/>
                <a:ea typeface="Arial"/>
                <a:cs typeface="Arial"/>
                <a:sym typeface="Arial"/>
              </a:rPr>
              <a:t>Spam atrapado (SC): </a:t>
            </a:r>
            <a:r>
              <a:rPr lang="en-US" sz="1500">
                <a:solidFill>
                  <a:srgbClr val="1F2430"/>
                </a:solidFill>
                <a:latin typeface="Arial"/>
                <a:ea typeface="Arial"/>
                <a:cs typeface="Arial"/>
                <a:sym typeface="Arial"/>
              </a:rPr>
              <a:t>qué parte del spam se detecta</a:t>
            </a:r>
            <a:endParaRPr sz="1500">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1F2430"/>
              </a:buClr>
              <a:buSzPts val="1500"/>
              <a:buFont typeface="Arial"/>
              <a:buNone/>
            </a:pPr>
            <a:r>
              <a:rPr b="1" lang="en-US" sz="1500">
                <a:solidFill>
                  <a:srgbClr val="1F2430"/>
                </a:solidFill>
                <a:latin typeface="Arial"/>
                <a:ea typeface="Arial"/>
                <a:cs typeface="Arial"/>
                <a:sym typeface="Arial"/>
              </a:rPr>
              <a:t>Legítimo bloqueado (BH): </a:t>
            </a:r>
            <a:r>
              <a:rPr lang="en-US" sz="1500">
                <a:solidFill>
                  <a:srgbClr val="1F2430"/>
                </a:solidFill>
                <a:latin typeface="Arial"/>
                <a:ea typeface="Arial"/>
                <a:cs typeface="Arial"/>
                <a:sym typeface="Arial"/>
              </a:rPr>
              <a:t>qué parte del correo bueno se pierde</a:t>
            </a:r>
            <a:endParaRPr sz="1500">
              <a:solidFill>
                <a:schemeClr val="dk1"/>
              </a:solidFill>
              <a:latin typeface="Arial"/>
              <a:ea typeface="Arial"/>
              <a:cs typeface="Arial"/>
              <a:sym typeface="Arial"/>
            </a:endParaRPr>
          </a:p>
          <a:p>
            <a:pPr indent="0" lvl="0" marL="0" marR="0" rtl="0" algn="l">
              <a:lnSpc>
                <a:spcPct val="115000"/>
              </a:lnSpc>
              <a:spcBef>
                <a:spcPts val="0"/>
              </a:spcBef>
              <a:spcAft>
                <a:spcPts val="0"/>
              </a:spcAft>
              <a:buNone/>
            </a:pPr>
            <a:r>
              <a:rPr b="1" lang="en-US" sz="1500">
                <a:solidFill>
                  <a:srgbClr val="1F2430"/>
                </a:solidFill>
                <a:latin typeface="Arial"/>
                <a:ea typeface="Arial"/>
                <a:cs typeface="Arial"/>
                <a:sym typeface="Arial"/>
              </a:rPr>
              <a:t>MCC (</a:t>
            </a:r>
            <a:r>
              <a:rPr b="1" lang="en-US" sz="1600">
                <a:solidFill>
                  <a:schemeClr val="dk1"/>
                </a:solidFill>
                <a:latin typeface="Arial"/>
                <a:ea typeface="Arial"/>
                <a:cs typeface="Arial"/>
                <a:sym typeface="Arial"/>
              </a:rPr>
              <a:t>Coeficiente de Correlación de Matthews)</a:t>
            </a:r>
            <a:r>
              <a:rPr b="1" lang="en-US" sz="1500">
                <a:solidFill>
                  <a:srgbClr val="1F2430"/>
                </a:solidFill>
                <a:latin typeface="Arial"/>
                <a:ea typeface="Arial"/>
                <a:cs typeface="Arial"/>
                <a:sym typeface="Arial"/>
              </a:rPr>
              <a:t>: </a:t>
            </a:r>
            <a:r>
              <a:rPr lang="en-US" sz="1500">
                <a:solidFill>
                  <a:srgbClr val="1F2430"/>
                </a:solidFill>
                <a:latin typeface="Arial"/>
                <a:ea typeface="Arial"/>
                <a:cs typeface="Arial"/>
                <a:sym typeface="Arial"/>
              </a:rPr>
              <a:t>un resumen robusto al desbalance de clases</a:t>
            </a:r>
            <a:endParaRPr sz="1500">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1F2430"/>
              </a:buClr>
              <a:buSzPts val="1500"/>
              <a:buFont typeface="Arial"/>
              <a:buNone/>
            </a:pPr>
            <a:r>
              <a:rPr b="1" lang="en-US" sz="1500">
                <a:solidFill>
                  <a:srgbClr val="1F2430"/>
                </a:solidFill>
                <a:latin typeface="Arial"/>
                <a:ea typeface="Arial"/>
                <a:cs typeface="Arial"/>
                <a:sym typeface="Arial"/>
              </a:rPr>
              <a:t>Errores en la mitad atacada: </a:t>
            </a:r>
            <a:r>
              <a:rPr lang="en-US" sz="1500">
                <a:solidFill>
                  <a:srgbClr val="1F2430"/>
                </a:solidFill>
                <a:latin typeface="Arial"/>
                <a:ea typeface="Arial"/>
                <a:cs typeface="Arial"/>
                <a:sym typeface="Arial"/>
              </a:rPr>
              <a:t>la cifra que comparamos</a:t>
            </a:r>
            <a:endParaRPr sz="1500">
              <a:solidFill>
                <a:schemeClr val="dk1"/>
              </a:solidFill>
              <a:latin typeface="Arial"/>
              <a:ea typeface="Arial"/>
              <a:cs typeface="Arial"/>
              <a:sym typeface="Arial"/>
            </a:endParaRPr>
          </a:p>
        </p:txBody>
      </p:sp>
      <p:sp>
        <p:nvSpPr>
          <p:cNvPr id="299" name="Google Shape;299;p8"/>
          <p:cNvSpPr txBox="1"/>
          <p:nvPr/>
        </p:nvSpPr>
        <p:spPr>
          <a:xfrm>
            <a:off x="8138160" y="4343400"/>
            <a:ext cx="347472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5400"/>
              <a:buFont typeface="Arial"/>
              <a:buNone/>
            </a:pPr>
            <a:r>
              <a:rPr b="1" lang="en-US" sz="5400">
                <a:solidFill>
                  <a:srgbClr val="1F2430"/>
                </a:solidFill>
                <a:latin typeface="Arial"/>
                <a:ea typeface="Arial"/>
                <a:cs typeface="Arial"/>
                <a:sym typeface="Arial"/>
              </a:rPr>
              <a:t>87%</a:t>
            </a:r>
            <a:endParaRPr sz="5400">
              <a:solidFill>
                <a:schemeClr val="dk1"/>
              </a:solidFill>
              <a:latin typeface="Arial"/>
              <a:ea typeface="Arial"/>
              <a:cs typeface="Arial"/>
              <a:sym typeface="Arial"/>
            </a:endParaRPr>
          </a:p>
        </p:txBody>
      </p:sp>
      <p:sp>
        <p:nvSpPr>
          <p:cNvPr id="300" name="Google Shape;300;p8"/>
          <p:cNvSpPr txBox="1"/>
          <p:nvPr/>
        </p:nvSpPr>
        <p:spPr>
          <a:xfrm>
            <a:off x="8138160" y="5239512"/>
            <a:ext cx="347472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1500"/>
              <a:buFont typeface="Arial"/>
              <a:buNone/>
            </a:pPr>
            <a:r>
              <a:rPr lang="en-US" sz="1500">
                <a:solidFill>
                  <a:srgbClr val="1F2430"/>
                </a:solidFill>
                <a:latin typeface="Arial"/>
                <a:ea typeface="Arial"/>
                <a:cs typeface="Arial"/>
                <a:sym typeface="Arial"/>
              </a:rPr>
              <a:t>de acierto sin marcar nada como spam. Clases desbalanceadas, no se usa accuracy.</a:t>
            </a:r>
            <a:endParaRPr sz="1500">
              <a:solidFill>
                <a:schemeClr val="dk1"/>
              </a:solidFill>
              <a:latin typeface="Arial"/>
              <a:ea typeface="Arial"/>
              <a:cs typeface="Arial"/>
              <a:sym typeface="Arial"/>
            </a:endParaRPr>
          </a:p>
        </p:txBody>
      </p:sp>
      <p:sp>
        <p:nvSpPr>
          <p:cNvPr id="301" name="Google Shape;301;p8"/>
          <p:cNvSpPr txBox="1"/>
          <p:nvPr/>
        </p:nvSpPr>
        <p:spPr>
          <a:xfrm>
            <a:off x="548640" y="6373368"/>
            <a:ext cx="1024128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A1AE"/>
              </a:buClr>
              <a:buSzPts val="1000"/>
              <a:buFont typeface="Arial"/>
              <a:buNone/>
            </a:pPr>
            <a:r>
              <a:rPr lang="en-US" sz="1000">
                <a:solidFill>
                  <a:srgbClr val="9AA1AE"/>
                </a:solidFill>
                <a:latin typeface="Arial"/>
                <a:ea typeface="Arial"/>
                <a:cs typeface="Arial"/>
                <a:sym typeface="Arial"/>
              </a:rPr>
              <a:t>SMS Spam Collection (Almeida et al., 2011): 5.574 SMS, 13,4% spam.</a:t>
            </a:r>
            <a:endParaRPr sz="1000">
              <a:solidFill>
                <a:schemeClr val="dk1"/>
              </a:solidFill>
              <a:latin typeface="Arial"/>
              <a:ea typeface="Arial"/>
              <a:cs typeface="Arial"/>
              <a:sym typeface="Arial"/>
            </a:endParaRPr>
          </a:p>
        </p:txBody>
      </p:sp>
      <p:sp>
        <p:nvSpPr>
          <p:cNvPr id="302" name="Google Shape;302;p8"/>
          <p:cNvSpPr txBox="1"/>
          <p:nvPr>
            <p:ph idx="4294967295" type="sldNum"/>
          </p:nvPr>
        </p:nvSpPr>
        <p:spPr>
          <a:xfrm>
            <a:off x="11091672" y="637336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AA1AE"/>
                </a:solidFill>
                <a:latin typeface="Arial"/>
                <a:ea typeface="Arial"/>
                <a:cs typeface="Arial"/>
                <a:sym typeface="Arial"/>
              </a:rPr>
              <a:t>‹#›</a:t>
            </a:fld>
            <a:endParaRPr sz="1000">
              <a:solidFill>
                <a:srgbClr val="9AA1AE"/>
              </a:solidFill>
              <a:latin typeface="Arial"/>
              <a:ea typeface="Arial"/>
              <a:cs typeface="Arial"/>
              <a:sym typeface="Arial"/>
            </a:endParaRP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9"/>
          <p:cNvSpPr txBox="1"/>
          <p:nvPr/>
        </p:nvSpPr>
        <p:spPr>
          <a:xfrm>
            <a:off x="548640" y="411480"/>
            <a:ext cx="73152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100"/>
              <a:buFont typeface="Arial"/>
              <a:buNone/>
            </a:pPr>
            <a:r>
              <a:rPr b="1" lang="en-US" sz="1100">
                <a:solidFill>
                  <a:srgbClr val="5A6274"/>
                </a:solidFill>
                <a:latin typeface="Arial"/>
                <a:ea typeface="Arial"/>
                <a:cs typeface="Arial"/>
                <a:sym typeface="Arial"/>
              </a:rPr>
              <a:t>DISEÑO</a:t>
            </a:r>
            <a:endParaRPr sz="1100">
              <a:solidFill>
                <a:schemeClr val="dk1"/>
              </a:solidFill>
              <a:latin typeface="Arial"/>
              <a:ea typeface="Arial"/>
              <a:cs typeface="Arial"/>
              <a:sym typeface="Arial"/>
            </a:endParaRPr>
          </a:p>
        </p:txBody>
      </p:sp>
      <p:sp>
        <p:nvSpPr>
          <p:cNvPr id="309" name="Google Shape;309;p9"/>
          <p:cNvSpPr txBox="1"/>
          <p:nvPr>
            <p:ph type="title"/>
          </p:nvPr>
        </p:nvSpPr>
        <p:spPr>
          <a:xfrm>
            <a:off x="548640" y="731520"/>
            <a:ext cx="10424160" cy="566928"/>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1F2430"/>
              </a:buClr>
              <a:buSzPts val="3000"/>
              <a:buFont typeface="Georgia"/>
              <a:buNone/>
            </a:pPr>
            <a:r>
              <a:rPr lang="en-US" sz="3000">
                <a:solidFill>
                  <a:srgbClr val="1F2430"/>
                </a:solidFill>
                <a:latin typeface="Georgia"/>
                <a:ea typeface="Georgia"/>
                <a:cs typeface="Georgia"/>
                <a:sym typeface="Georgia"/>
              </a:rPr>
              <a:t>Expertos: cuatro leen palabras, uno mira formato</a:t>
            </a:r>
            <a:endParaRPr sz="3000"/>
          </a:p>
        </p:txBody>
      </p:sp>
      <p:sp>
        <p:nvSpPr>
          <p:cNvPr id="310" name="Google Shape;310;p9"/>
          <p:cNvSpPr txBox="1"/>
          <p:nvPr/>
        </p:nvSpPr>
        <p:spPr>
          <a:xfrm>
            <a:off x="9235440" y="429768"/>
            <a:ext cx="155448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AA1AE"/>
              </a:buClr>
              <a:buSzPts val="900"/>
              <a:buFont typeface="Arial"/>
              <a:buNone/>
            </a:pPr>
            <a:r>
              <a:rPr b="1" lang="en-US" sz="900">
                <a:solidFill>
                  <a:srgbClr val="9AA1AE"/>
                </a:solidFill>
                <a:latin typeface="Arial"/>
                <a:ea typeface="Arial"/>
                <a:cs typeface="Arial"/>
                <a:sym typeface="Arial"/>
              </a:rPr>
              <a:t>RESULTADOS</a:t>
            </a:r>
            <a:endParaRPr sz="900">
              <a:solidFill>
                <a:schemeClr val="dk1"/>
              </a:solidFill>
              <a:latin typeface="Arial"/>
              <a:ea typeface="Arial"/>
              <a:cs typeface="Arial"/>
              <a:sym typeface="Arial"/>
            </a:endParaRPr>
          </a:p>
        </p:txBody>
      </p:sp>
      <p:sp>
        <p:nvSpPr>
          <p:cNvPr id="311" name="Google Shape;311;p9"/>
          <p:cNvSpPr/>
          <p:nvPr/>
        </p:nvSpPr>
        <p:spPr>
          <a:xfrm>
            <a:off x="10899648"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2" name="Google Shape;312;p9"/>
          <p:cNvSpPr/>
          <p:nvPr/>
        </p:nvSpPr>
        <p:spPr>
          <a:xfrm>
            <a:off x="11100816"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3" name="Google Shape;313;p9"/>
          <p:cNvSpPr/>
          <p:nvPr/>
        </p:nvSpPr>
        <p:spPr>
          <a:xfrm>
            <a:off x="11301984"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4" name="Google Shape;314;p9"/>
          <p:cNvSpPr/>
          <p:nvPr/>
        </p:nvSpPr>
        <p:spPr>
          <a:xfrm>
            <a:off x="11503152"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5" name="Google Shape;315;p9"/>
          <p:cNvSpPr txBox="1"/>
          <p:nvPr>
            <p:ph idx="4294967295" type="sldNum"/>
          </p:nvPr>
        </p:nvSpPr>
        <p:spPr>
          <a:xfrm>
            <a:off x="11091672" y="637336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AA1AE"/>
                </a:solidFill>
                <a:latin typeface="Arial"/>
                <a:ea typeface="Arial"/>
                <a:cs typeface="Arial"/>
                <a:sym typeface="Arial"/>
              </a:rPr>
              <a:t>‹#›</a:t>
            </a:fld>
            <a:endParaRPr sz="1000">
              <a:solidFill>
                <a:srgbClr val="9AA1AE"/>
              </a:solidFill>
              <a:latin typeface="Arial"/>
              <a:ea typeface="Arial"/>
              <a:cs typeface="Arial"/>
              <a:sym typeface="Arial"/>
            </a:endParaRPr>
          </a:p>
        </p:txBody>
      </p:sp>
      <p:sp>
        <p:nvSpPr>
          <p:cNvPr id="316" name="Google Shape;316;p9"/>
          <p:cNvSpPr txBox="1"/>
          <p:nvPr/>
        </p:nvSpPr>
        <p:spPr>
          <a:xfrm>
            <a:off x="548640" y="1307592"/>
            <a:ext cx="10424160" cy="3200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1500">
                <a:solidFill>
                  <a:srgbClr val="5A6274"/>
                </a:solidFill>
                <a:latin typeface="Arial"/>
                <a:ea typeface="Arial"/>
                <a:cs typeface="Arial"/>
                <a:sym typeface="Arial"/>
              </a:rPr>
              <a:t>Se entrenan en el warm-up y quedan congelados. Los léxicos usan hashing de 2</a:t>
            </a:r>
            <a:r>
              <a:rPr b="0" baseline="30000" lang="en-US" sz="1500">
                <a:solidFill>
                  <a:srgbClr val="5A6274"/>
                </a:solidFill>
                <a:latin typeface="Arial"/>
                <a:ea typeface="Arial"/>
                <a:cs typeface="Arial"/>
                <a:sym typeface="Arial"/>
              </a:rPr>
              <a:t>18</a:t>
            </a:r>
            <a:r>
              <a:rPr b="0" lang="en-US" sz="1500">
                <a:solidFill>
                  <a:srgbClr val="5A6274"/>
                </a:solidFill>
                <a:latin typeface="Arial"/>
                <a:ea typeface="Arial"/>
                <a:cs typeface="Arial"/>
                <a:sym typeface="Arial"/>
              </a:rPr>
              <a:t> componentes.</a:t>
            </a:r>
            <a:endParaRPr/>
          </a:p>
        </p:txBody>
      </p:sp>
      <p:sp>
        <p:nvSpPr>
          <p:cNvPr id="317" name="Google Shape;317;p9"/>
          <p:cNvSpPr/>
          <p:nvPr/>
        </p:nvSpPr>
        <p:spPr>
          <a:xfrm>
            <a:off x="795528" y="1975104"/>
            <a:ext cx="201168" cy="201168"/>
          </a:xfrm>
          <a:prstGeom prst="ellipse">
            <a:avLst/>
          </a:prstGeom>
          <a:solidFill>
            <a:srgbClr val="EB68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8" name="Google Shape;318;p9"/>
          <p:cNvSpPr txBox="1"/>
          <p:nvPr/>
        </p:nvSpPr>
        <p:spPr>
          <a:xfrm>
            <a:off x="1179576" y="1920240"/>
            <a:ext cx="6675120" cy="10058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lang="en-US" sz="1600">
                <a:solidFill>
                  <a:srgbClr val="1F2430"/>
                </a:solidFill>
                <a:latin typeface="Arial"/>
                <a:ea typeface="Arial"/>
                <a:cs typeface="Arial"/>
                <a:sym typeface="Arial"/>
              </a:rPr>
              <a:t>Naive Bayes: </a:t>
            </a:r>
            <a:r>
              <a:rPr b="0" lang="en-US" sz="1600">
                <a:solidFill>
                  <a:srgbClr val="1F2430"/>
                </a:solidFill>
                <a:latin typeface="Arial"/>
                <a:ea typeface="Arial"/>
                <a:cs typeface="Arial"/>
                <a:sym typeface="Arial"/>
              </a:rPr>
              <a:t>P(spam | palabras), asumiendo palabras independientes.</a:t>
            </a:r>
            <a:endParaRPr/>
          </a:p>
          <a:p>
            <a:pPr indent="0" lvl="0" marL="0" marR="0" rtl="0" algn="l">
              <a:lnSpc>
                <a:spcPct val="110000"/>
              </a:lnSpc>
              <a:spcBef>
                <a:spcPts val="200"/>
              </a:spcBef>
              <a:spcAft>
                <a:spcPts val="0"/>
              </a:spcAft>
              <a:buNone/>
            </a:pPr>
            <a:r>
              <a:rPr b="0" lang="en-US" sz="1300">
                <a:solidFill>
                  <a:srgbClr val="5A6274"/>
                </a:solidFill>
                <a:latin typeface="Arial"/>
                <a:ea typeface="Arial"/>
                <a:cs typeface="Arial"/>
                <a:sym typeface="Arial"/>
              </a:rPr>
              <a:t>léxico · también es el modelo estático</a:t>
            </a:r>
            <a:endParaRPr/>
          </a:p>
        </p:txBody>
      </p:sp>
      <p:sp>
        <p:nvSpPr>
          <p:cNvPr id="319" name="Google Shape;319;p9"/>
          <p:cNvSpPr/>
          <p:nvPr/>
        </p:nvSpPr>
        <p:spPr>
          <a:xfrm>
            <a:off x="795528" y="2706624"/>
            <a:ext cx="201168" cy="201168"/>
          </a:xfrm>
          <a:prstGeom prst="ellipse">
            <a:avLst/>
          </a:prstGeom>
          <a:solidFill>
            <a:srgbClr val="008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0" name="Google Shape;320;p9"/>
          <p:cNvSpPr txBox="1"/>
          <p:nvPr/>
        </p:nvSpPr>
        <p:spPr>
          <a:xfrm>
            <a:off x="1179576" y="2651760"/>
            <a:ext cx="6675120" cy="10058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lang="en-US" sz="1600">
                <a:solidFill>
                  <a:srgbClr val="1F2430"/>
                </a:solidFill>
                <a:latin typeface="Arial"/>
                <a:ea typeface="Arial"/>
                <a:cs typeface="Arial"/>
                <a:sym typeface="Arial"/>
              </a:rPr>
              <a:t>Regresión logística: </a:t>
            </a:r>
            <a:r>
              <a:rPr b="0" lang="en-US" sz="1600">
                <a:solidFill>
                  <a:srgbClr val="1F2430"/>
                </a:solidFill>
                <a:latin typeface="Arial"/>
                <a:ea typeface="Arial"/>
                <a:cs typeface="Arial"/>
                <a:sym typeface="Arial"/>
              </a:rPr>
              <a:t>un peso por componente del vocabulario.</a:t>
            </a:r>
            <a:endParaRPr/>
          </a:p>
          <a:p>
            <a:pPr indent="0" lvl="0" marL="0" marR="0" rtl="0" algn="l">
              <a:lnSpc>
                <a:spcPct val="110000"/>
              </a:lnSpc>
              <a:spcBef>
                <a:spcPts val="200"/>
              </a:spcBef>
              <a:spcAft>
                <a:spcPts val="0"/>
              </a:spcAft>
              <a:buNone/>
            </a:pPr>
            <a:r>
              <a:rPr b="0" lang="en-US" sz="1300">
                <a:solidFill>
                  <a:srgbClr val="5A6274"/>
                </a:solidFill>
                <a:latin typeface="Arial"/>
                <a:ea typeface="Arial"/>
                <a:cs typeface="Arial"/>
                <a:sym typeface="Arial"/>
              </a:rPr>
              <a:t>léxico</a:t>
            </a:r>
            <a:endParaRPr b="0" sz="1300">
              <a:solidFill>
                <a:srgbClr val="5A6274"/>
              </a:solidFill>
              <a:latin typeface="Arial"/>
              <a:ea typeface="Arial"/>
              <a:cs typeface="Arial"/>
              <a:sym typeface="Arial"/>
            </a:endParaRPr>
          </a:p>
        </p:txBody>
      </p:sp>
      <p:sp>
        <p:nvSpPr>
          <p:cNvPr id="321" name="Google Shape;321;p9"/>
          <p:cNvSpPr/>
          <p:nvPr/>
        </p:nvSpPr>
        <p:spPr>
          <a:xfrm>
            <a:off x="795528" y="3438144"/>
            <a:ext cx="201168" cy="201168"/>
          </a:xfrm>
          <a:prstGeom prst="ellipse">
            <a:avLst/>
          </a:prstGeom>
          <a:solidFill>
            <a:srgbClr val="008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2" name="Google Shape;322;p9"/>
          <p:cNvSpPr txBox="1"/>
          <p:nvPr/>
        </p:nvSpPr>
        <p:spPr>
          <a:xfrm>
            <a:off x="1179576" y="3383280"/>
            <a:ext cx="6675120" cy="10058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lang="en-US" sz="1600">
                <a:solidFill>
                  <a:srgbClr val="1F2430"/>
                </a:solidFill>
                <a:latin typeface="Arial"/>
                <a:ea typeface="Arial"/>
                <a:cs typeface="Arial"/>
                <a:sym typeface="Arial"/>
              </a:rPr>
              <a:t>Árbol de decisión: </a:t>
            </a:r>
            <a:r>
              <a:rPr b="0" lang="en-US" sz="1600">
                <a:solidFill>
                  <a:srgbClr val="1F2430"/>
                </a:solidFill>
                <a:latin typeface="Arial"/>
                <a:ea typeface="Arial"/>
                <a:cs typeface="Arial"/>
                <a:sym typeface="Arial"/>
              </a:rPr>
              <a:t>divisiones jerárquicas sobre las palabras.</a:t>
            </a:r>
            <a:endParaRPr/>
          </a:p>
          <a:p>
            <a:pPr indent="0" lvl="0" marL="0" marR="0" rtl="0" algn="l">
              <a:lnSpc>
                <a:spcPct val="110000"/>
              </a:lnSpc>
              <a:spcBef>
                <a:spcPts val="200"/>
              </a:spcBef>
              <a:spcAft>
                <a:spcPts val="0"/>
              </a:spcAft>
              <a:buNone/>
            </a:pPr>
            <a:r>
              <a:rPr b="0" lang="en-US" sz="1300">
                <a:solidFill>
                  <a:srgbClr val="5A6274"/>
                </a:solidFill>
                <a:latin typeface="Arial"/>
                <a:ea typeface="Arial"/>
                <a:cs typeface="Arial"/>
                <a:sym typeface="Arial"/>
              </a:rPr>
              <a:t>léxico</a:t>
            </a:r>
            <a:endParaRPr/>
          </a:p>
        </p:txBody>
      </p:sp>
      <p:sp>
        <p:nvSpPr>
          <p:cNvPr id="323" name="Google Shape;323;p9"/>
          <p:cNvSpPr/>
          <p:nvPr/>
        </p:nvSpPr>
        <p:spPr>
          <a:xfrm>
            <a:off x="795528" y="4169663"/>
            <a:ext cx="201168" cy="201168"/>
          </a:xfrm>
          <a:prstGeom prst="ellipse">
            <a:avLst/>
          </a:prstGeom>
          <a:solidFill>
            <a:srgbClr val="008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4" name="Google Shape;324;p9"/>
          <p:cNvSpPr txBox="1"/>
          <p:nvPr/>
        </p:nvSpPr>
        <p:spPr>
          <a:xfrm>
            <a:off x="1179576" y="4114800"/>
            <a:ext cx="6675120" cy="10058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lang="en-US" sz="1600">
                <a:solidFill>
                  <a:srgbClr val="1F2430"/>
                </a:solidFill>
                <a:latin typeface="Arial"/>
                <a:ea typeface="Arial"/>
                <a:cs typeface="Arial"/>
                <a:sym typeface="Arial"/>
              </a:rPr>
              <a:t>Reglas: </a:t>
            </a:r>
            <a:r>
              <a:rPr b="0" lang="en-US" sz="1600">
                <a:solidFill>
                  <a:srgbClr val="1F2430"/>
                </a:solidFill>
                <a:latin typeface="Arial"/>
                <a:ea typeface="Arial"/>
                <a:cs typeface="Arial"/>
                <a:sym typeface="Arial"/>
              </a:rPr>
              <a:t>palabras clave derivadas del </a:t>
            </a:r>
            <a:r>
              <a:rPr b="0" i="1" lang="en-US" sz="1600">
                <a:solidFill>
                  <a:srgbClr val="1F2430"/>
                </a:solidFill>
                <a:latin typeface="Arial"/>
                <a:ea typeface="Arial"/>
                <a:cs typeface="Arial"/>
                <a:sym typeface="Arial"/>
              </a:rPr>
              <a:t>warm-up</a:t>
            </a:r>
            <a:r>
              <a:rPr b="0" lang="en-US" sz="1600">
                <a:solidFill>
                  <a:srgbClr val="1F2430"/>
                </a:solidFill>
                <a:latin typeface="Arial"/>
                <a:ea typeface="Arial"/>
                <a:cs typeface="Arial"/>
                <a:sym typeface="Arial"/>
              </a:rPr>
              <a:t>.</a:t>
            </a:r>
            <a:endParaRPr/>
          </a:p>
          <a:p>
            <a:pPr indent="0" lvl="0" marL="0" marR="0" rtl="0" algn="l">
              <a:lnSpc>
                <a:spcPct val="110000"/>
              </a:lnSpc>
              <a:spcBef>
                <a:spcPts val="200"/>
              </a:spcBef>
              <a:spcAft>
                <a:spcPts val="0"/>
              </a:spcAft>
              <a:buNone/>
            </a:pPr>
            <a:r>
              <a:rPr b="0" lang="en-US" sz="1300">
                <a:solidFill>
                  <a:srgbClr val="5A6274"/>
                </a:solidFill>
                <a:latin typeface="Arial"/>
                <a:ea typeface="Arial"/>
                <a:cs typeface="Arial"/>
                <a:sym typeface="Arial"/>
              </a:rPr>
              <a:t>léxico · muy poco robusto a la ofuscación</a:t>
            </a:r>
            <a:endParaRPr b="0" sz="1300">
              <a:solidFill>
                <a:srgbClr val="5A6274"/>
              </a:solidFill>
              <a:latin typeface="Arial"/>
              <a:ea typeface="Arial"/>
              <a:cs typeface="Arial"/>
              <a:sym typeface="Arial"/>
            </a:endParaRPr>
          </a:p>
        </p:txBody>
      </p:sp>
      <p:sp>
        <p:nvSpPr>
          <p:cNvPr id="325" name="Google Shape;325;p9"/>
          <p:cNvSpPr/>
          <p:nvPr/>
        </p:nvSpPr>
        <p:spPr>
          <a:xfrm>
            <a:off x="795528" y="4901183"/>
            <a:ext cx="201168" cy="201168"/>
          </a:xfrm>
          <a:prstGeom prst="ellipse">
            <a:avLst/>
          </a:prstGeom>
          <a:solidFill>
            <a:srgbClr val="4A3AA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6" name="Google Shape;326;p9"/>
          <p:cNvSpPr txBox="1"/>
          <p:nvPr/>
        </p:nvSpPr>
        <p:spPr>
          <a:xfrm>
            <a:off x="1179576" y="4846320"/>
            <a:ext cx="6675120" cy="10058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lang="en-US" sz="1600">
                <a:solidFill>
                  <a:srgbClr val="1F2430"/>
                </a:solidFill>
                <a:latin typeface="Arial"/>
                <a:ea typeface="Arial"/>
                <a:cs typeface="Arial"/>
                <a:sym typeface="Arial"/>
              </a:rPr>
              <a:t>Estructural: </a:t>
            </a:r>
            <a:r>
              <a:rPr b="0" lang="en-US" sz="1600">
                <a:solidFill>
                  <a:srgbClr val="1F2430"/>
                </a:solidFill>
                <a:latin typeface="Arial"/>
                <a:ea typeface="Arial"/>
                <a:cs typeface="Arial"/>
                <a:sym typeface="Arial"/>
              </a:rPr>
              <a:t>ignora el texto y mira nueve rasgos de formato.</a:t>
            </a:r>
            <a:endParaRPr/>
          </a:p>
          <a:p>
            <a:pPr indent="0" lvl="0" marL="0" marR="0" rtl="0" algn="l">
              <a:lnSpc>
                <a:spcPct val="110000"/>
              </a:lnSpc>
              <a:spcBef>
                <a:spcPts val="200"/>
              </a:spcBef>
              <a:spcAft>
                <a:spcPts val="0"/>
              </a:spcAft>
              <a:buNone/>
            </a:pPr>
            <a:r>
              <a:rPr b="0" lang="en-US" sz="1300">
                <a:solidFill>
                  <a:srgbClr val="5A6274"/>
                </a:solidFill>
                <a:latin typeface="Arial"/>
                <a:ea typeface="Arial"/>
                <a:cs typeface="Arial"/>
                <a:sym typeface="Arial"/>
              </a:rPr>
              <a:t>formato · robusto por construcción: el ataque no toca dígitos</a:t>
            </a:r>
            <a:endParaRPr/>
          </a:p>
          <a:p>
            <a:pPr indent="0" lvl="0" marL="0" marR="0" rtl="0" algn="l">
              <a:lnSpc>
                <a:spcPct val="110000"/>
              </a:lnSpc>
              <a:spcBef>
                <a:spcPts val="200"/>
              </a:spcBef>
              <a:spcAft>
                <a:spcPts val="0"/>
              </a:spcAft>
              <a:buNone/>
            </a:pPr>
            <a:r>
              <a:rPr b="0" lang="en-US" sz="1200">
                <a:solidFill>
                  <a:srgbClr val="5A6274"/>
                </a:solidFill>
                <a:latin typeface="Arial"/>
                <a:ea typeface="Arial"/>
                <a:cs typeface="Arial"/>
                <a:sym typeface="Arial"/>
              </a:rPr>
              <a:t>largo, proporción de dígitos y de mayúsculas, teléfonos, £, palabras en mayúscula, exclamaciones, tarifas y links</a:t>
            </a:r>
            <a:endParaRPr/>
          </a:p>
        </p:txBody>
      </p:sp>
      <p:cxnSp>
        <p:nvCxnSpPr>
          <p:cNvPr id="327" name="Google Shape;327;p9"/>
          <p:cNvCxnSpPr/>
          <p:nvPr/>
        </p:nvCxnSpPr>
        <p:spPr>
          <a:xfrm>
            <a:off x="8183879" y="1920240"/>
            <a:ext cx="0" cy="4023360"/>
          </a:xfrm>
          <a:prstGeom prst="straightConnector1">
            <a:avLst/>
          </a:prstGeom>
          <a:noFill/>
          <a:ln cap="flat" cmpd="sng" w="9525">
            <a:solidFill>
              <a:srgbClr val="D9D6CE"/>
            </a:solidFill>
            <a:prstDash val="solid"/>
            <a:miter lim="8000"/>
            <a:headEnd len="sm" w="sm" type="none"/>
            <a:tailEnd len="sm" w="sm" type="none"/>
          </a:ln>
        </p:spPr>
      </p:cxnSp>
      <p:sp>
        <p:nvSpPr>
          <p:cNvPr id="328" name="Google Shape;328;p9"/>
          <p:cNvSpPr txBox="1"/>
          <p:nvPr/>
        </p:nvSpPr>
        <p:spPr>
          <a:xfrm>
            <a:off x="8549640" y="2103120"/>
            <a:ext cx="3108960" cy="8229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lang="en-US" sz="5400">
                <a:solidFill>
                  <a:srgbClr val="1F2430"/>
                </a:solidFill>
                <a:latin typeface="Arial"/>
                <a:ea typeface="Arial"/>
                <a:cs typeface="Arial"/>
                <a:sym typeface="Arial"/>
              </a:rPr>
              <a:t>77–85%</a:t>
            </a:r>
            <a:endParaRPr/>
          </a:p>
        </p:txBody>
      </p:sp>
      <p:sp>
        <p:nvSpPr>
          <p:cNvPr id="329" name="Google Shape;329;p9"/>
          <p:cNvSpPr txBox="1"/>
          <p:nvPr/>
        </p:nvSpPr>
        <p:spPr>
          <a:xfrm>
            <a:off x="8549640" y="3017520"/>
            <a:ext cx="3063240" cy="10972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1500">
                <a:solidFill>
                  <a:srgbClr val="1F2430"/>
                </a:solidFill>
                <a:latin typeface="Arial"/>
                <a:ea typeface="Arial"/>
                <a:cs typeface="Arial"/>
                <a:sym typeface="Arial"/>
              </a:rPr>
              <a:t>del spam atrapado por cada experto sin ataque: arrancan parejos y el ataque es lo que los separa.</a:t>
            </a:r>
            <a:endParaRP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10"/>
          <p:cNvSpPr txBox="1"/>
          <p:nvPr/>
        </p:nvSpPr>
        <p:spPr>
          <a:xfrm>
            <a:off x="548640" y="411480"/>
            <a:ext cx="73152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100"/>
              <a:buFont typeface="Arial"/>
              <a:buNone/>
            </a:pPr>
            <a:r>
              <a:rPr b="1" lang="en-US" sz="1100">
                <a:solidFill>
                  <a:srgbClr val="5A6274"/>
                </a:solidFill>
                <a:latin typeface="Arial"/>
                <a:ea typeface="Arial"/>
                <a:cs typeface="Arial"/>
                <a:sym typeface="Arial"/>
              </a:rPr>
              <a:t>DISEÑO</a:t>
            </a:r>
            <a:endParaRPr sz="1100">
              <a:solidFill>
                <a:schemeClr val="dk1"/>
              </a:solidFill>
              <a:latin typeface="Arial"/>
              <a:ea typeface="Arial"/>
              <a:cs typeface="Arial"/>
              <a:sym typeface="Arial"/>
            </a:endParaRPr>
          </a:p>
        </p:txBody>
      </p:sp>
      <p:sp>
        <p:nvSpPr>
          <p:cNvPr id="336" name="Google Shape;336;p10"/>
          <p:cNvSpPr txBox="1"/>
          <p:nvPr>
            <p:ph type="title"/>
          </p:nvPr>
        </p:nvSpPr>
        <p:spPr>
          <a:xfrm>
            <a:off x="548640" y="731520"/>
            <a:ext cx="10424160" cy="566928"/>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1F2430"/>
              </a:buClr>
              <a:buSzPts val="3000"/>
              <a:buFont typeface="Georgia"/>
              <a:buNone/>
            </a:pPr>
            <a:r>
              <a:rPr lang="en-US" sz="3000">
                <a:solidFill>
                  <a:srgbClr val="1F2430"/>
                </a:solidFill>
                <a:latin typeface="Georgia"/>
                <a:ea typeface="Georgia"/>
                <a:cs typeface="Georgia"/>
                <a:sym typeface="Georgia"/>
              </a:rPr>
              <a:t>Ataque y protocolo</a:t>
            </a:r>
            <a:endParaRPr sz="3000"/>
          </a:p>
        </p:txBody>
      </p:sp>
      <p:sp>
        <p:nvSpPr>
          <p:cNvPr id="337" name="Google Shape;337;p10"/>
          <p:cNvSpPr txBox="1"/>
          <p:nvPr/>
        </p:nvSpPr>
        <p:spPr>
          <a:xfrm>
            <a:off x="9235440" y="429768"/>
            <a:ext cx="155448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AA1AE"/>
              </a:buClr>
              <a:buSzPts val="900"/>
              <a:buFont typeface="Arial"/>
              <a:buNone/>
            </a:pPr>
            <a:r>
              <a:rPr b="1" lang="en-US" sz="900">
                <a:solidFill>
                  <a:srgbClr val="9AA1AE"/>
                </a:solidFill>
                <a:latin typeface="Arial"/>
                <a:ea typeface="Arial"/>
                <a:cs typeface="Arial"/>
                <a:sym typeface="Arial"/>
              </a:rPr>
              <a:t>RESULTADOS</a:t>
            </a:r>
            <a:endParaRPr sz="900">
              <a:solidFill>
                <a:schemeClr val="dk1"/>
              </a:solidFill>
              <a:latin typeface="Arial"/>
              <a:ea typeface="Arial"/>
              <a:cs typeface="Arial"/>
              <a:sym typeface="Arial"/>
            </a:endParaRPr>
          </a:p>
        </p:txBody>
      </p:sp>
      <p:sp>
        <p:nvSpPr>
          <p:cNvPr id="338" name="Google Shape;338;p10"/>
          <p:cNvSpPr/>
          <p:nvPr/>
        </p:nvSpPr>
        <p:spPr>
          <a:xfrm>
            <a:off x="10899648"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9" name="Google Shape;339;p10"/>
          <p:cNvSpPr/>
          <p:nvPr/>
        </p:nvSpPr>
        <p:spPr>
          <a:xfrm>
            <a:off x="11100816"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0" name="Google Shape;340;p10"/>
          <p:cNvSpPr/>
          <p:nvPr/>
        </p:nvSpPr>
        <p:spPr>
          <a:xfrm>
            <a:off x="11301984"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1" name="Google Shape;341;p10"/>
          <p:cNvSpPr/>
          <p:nvPr/>
        </p:nvSpPr>
        <p:spPr>
          <a:xfrm>
            <a:off x="11503152"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2" name="Google Shape;342;p10"/>
          <p:cNvSpPr txBox="1"/>
          <p:nvPr>
            <p:ph idx="4294967295" type="sldNum"/>
          </p:nvPr>
        </p:nvSpPr>
        <p:spPr>
          <a:xfrm>
            <a:off x="11091672" y="637336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AA1AE"/>
                </a:solidFill>
                <a:latin typeface="Arial"/>
                <a:ea typeface="Arial"/>
                <a:cs typeface="Arial"/>
                <a:sym typeface="Arial"/>
              </a:rPr>
              <a:t>‹#›</a:t>
            </a:fld>
            <a:endParaRPr sz="1000">
              <a:solidFill>
                <a:srgbClr val="9AA1AE"/>
              </a:solidFill>
              <a:latin typeface="Arial"/>
              <a:ea typeface="Arial"/>
              <a:cs typeface="Arial"/>
              <a:sym typeface="Arial"/>
            </a:endParaRPr>
          </a:p>
        </p:txBody>
      </p:sp>
      <p:sp>
        <p:nvSpPr>
          <p:cNvPr id="343" name="Google Shape;343;p10"/>
          <p:cNvSpPr txBox="1"/>
          <p:nvPr/>
        </p:nvSpPr>
        <p:spPr>
          <a:xfrm>
            <a:off x="548640" y="1307592"/>
            <a:ext cx="10424160" cy="3200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1500">
                <a:solidFill>
                  <a:srgbClr val="5A6274"/>
                </a:solidFill>
                <a:latin typeface="Arial"/>
                <a:ea typeface="Arial"/>
                <a:cs typeface="Arial"/>
                <a:sym typeface="Arial"/>
              </a:rPr>
              <a:t>El mismo ataque y la misma secuencia de mensajes para todos los competidores.</a:t>
            </a:r>
            <a:endParaRPr/>
          </a:p>
        </p:txBody>
      </p:sp>
      <p:sp>
        <p:nvSpPr>
          <p:cNvPr id="344" name="Google Shape;344;p10"/>
          <p:cNvSpPr txBox="1"/>
          <p:nvPr/>
        </p:nvSpPr>
        <p:spPr>
          <a:xfrm>
            <a:off x="548640" y="1828800"/>
            <a:ext cx="502920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2400">
                <a:solidFill>
                  <a:srgbClr val="1F2430"/>
                </a:solidFill>
                <a:latin typeface="Georgia"/>
                <a:ea typeface="Georgia"/>
                <a:cs typeface="Georgia"/>
                <a:sym typeface="Georgia"/>
              </a:rPr>
              <a:t>Ataque</a:t>
            </a:r>
            <a:endParaRPr/>
          </a:p>
        </p:txBody>
      </p:sp>
      <p:sp>
        <p:nvSpPr>
          <p:cNvPr id="345" name="Google Shape;345;p10"/>
          <p:cNvSpPr txBox="1"/>
          <p:nvPr/>
        </p:nvSpPr>
        <p:spPr>
          <a:xfrm>
            <a:off x="548640" y="2377440"/>
            <a:ext cx="5029200" cy="35661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lang="en-US" sz="1500">
                <a:solidFill>
                  <a:srgbClr val="1F2430"/>
                </a:solidFill>
                <a:latin typeface="Arial"/>
                <a:ea typeface="Arial"/>
                <a:cs typeface="Arial"/>
                <a:sym typeface="Arial"/>
              </a:rPr>
              <a:t>Desde t = T/2, cada spam se reescribe:</a:t>
            </a:r>
            <a:endParaRPr/>
          </a:p>
          <a:p>
            <a:pPr indent="0" lvl="0" marL="0" marR="0" rtl="0" algn="l">
              <a:lnSpc>
                <a:spcPct val="110000"/>
              </a:lnSpc>
              <a:spcBef>
                <a:spcPts val="400"/>
              </a:spcBef>
              <a:spcAft>
                <a:spcPts val="0"/>
              </a:spcAft>
              <a:buNone/>
            </a:pPr>
            <a:r>
              <a:rPr b="0" lang="en-US" sz="1500">
                <a:solidFill>
                  <a:srgbClr val="1F2430"/>
                </a:solidFill>
                <a:latin typeface="Arial"/>
                <a:ea typeface="Arial"/>
                <a:cs typeface="Arial"/>
                <a:sym typeface="Arial"/>
              </a:rPr>
              <a:t>A las 800 palabras más delatoras (log-odds en el </a:t>
            </a:r>
            <a:r>
              <a:rPr b="0" i="1" lang="en-US" sz="1500">
                <a:solidFill>
                  <a:srgbClr val="1F2430"/>
                </a:solidFill>
                <a:latin typeface="Arial"/>
                <a:ea typeface="Arial"/>
                <a:cs typeface="Arial"/>
                <a:sym typeface="Arial"/>
              </a:rPr>
              <a:t>warm-up</a:t>
            </a:r>
            <a:r>
              <a:rPr b="0" lang="en-US" sz="1500">
                <a:solidFill>
                  <a:srgbClr val="1F2430"/>
                </a:solidFill>
                <a:latin typeface="Arial"/>
                <a:ea typeface="Arial"/>
                <a:cs typeface="Arial"/>
                <a:sym typeface="Arial"/>
              </a:rPr>
              <a:t>) se les duplica una vocal: viagra → viiagra.</a:t>
            </a:r>
            <a:endParaRPr/>
          </a:p>
          <a:p>
            <a:pPr indent="0" lvl="0" marL="0" marR="0" rtl="0" algn="l">
              <a:lnSpc>
                <a:spcPct val="110000"/>
              </a:lnSpc>
              <a:spcBef>
                <a:spcPts val="400"/>
              </a:spcBef>
              <a:spcAft>
                <a:spcPts val="0"/>
              </a:spcAft>
              <a:buNone/>
            </a:pPr>
            <a:r>
              <a:rPr b="0" lang="en-US" sz="1500">
                <a:solidFill>
                  <a:srgbClr val="1F2430"/>
                </a:solidFill>
                <a:latin typeface="Arial"/>
                <a:ea typeface="Arial"/>
                <a:cs typeface="Arial"/>
                <a:sym typeface="Arial"/>
              </a:rPr>
              <a:t>Se agrega una palabra típica de mensajes legítimos.</a:t>
            </a:r>
            <a:endParaRPr/>
          </a:p>
          <a:p>
            <a:pPr indent="0" lvl="0" marL="0" marR="0" rtl="0" algn="l">
              <a:lnSpc>
                <a:spcPct val="110000"/>
              </a:lnSpc>
              <a:spcBef>
                <a:spcPts val="1400"/>
              </a:spcBef>
              <a:spcAft>
                <a:spcPts val="0"/>
              </a:spcAft>
              <a:buNone/>
            </a:pPr>
            <a:r>
              <a:rPr b="1" lang="en-US" sz="1500">
                <a:solidFill>
                  <a:srgbClr val="1F2430"/>
                </a:solidFill>
                <a:latin typeface="Arial"/>
                <a:ea typeface="Arial"/>
                <a:cs typeface="Arial"/>
                <a:sym typeface="Arial"/>
              </a:rPr>
              <a:t>Calibrado para:</a:t>
            </a:r>
            <a:endParaRPr/>
          </a:p>
          <a:p>
            <a:pPr indent="0" lvl="0" marL="0" marR="0" rtl="0" algn="l">
              <a:lnSpc>
                <a:spcPct val="110000"/>
              </a:lnSpc>
              <a:spcBef>
                <a:spcPts val="400"/>
              </a:spcBef>
              <a:spcAft>
                <a:spcPts val="0"/>
              </a:spcAft>
              <a:buNone/>
            </a:pPr>
            <a:r>
              <a:rPr b="0" lang="en-US" sz="1500">
                <a:solidFill>
                  <a:srgbClr val="1F2430"/>
                </a:solidFill>
                <a:latin typeface="Arial"/>
                <a:ea typeface="Arial"/>
                <a:cs typeface="Arial"/>
                <a:sym typeface="Arial"/>
              </a:rPr>
              <a:t>Bajar a la mitad la detección del Naive Bayes, sin que la mediana del largo crezca más de 20% (sería muy fácil para el experto estructural).</a:t>
            </a:r>
            <a:endParaRPr/>
          </a:p>
          <a:p>
            <a:pPr indent="0" lvl="0" marL="0" marR="0" rtl="0" algn="l">
              <a:lnSpc>
                <a:spcPct val="110000"/>
              </a:lnSpc>
              <a:spcBef>
                <a:spcPts val="1400"/>
              </a:spcBef>
              <a:spcAft>
                <a:spcPts val="0"/>
              </a:spcAft>
              <a:buNone/>
            </a:pPr>
            <a:r>
              <a:rPr b="0" lang="en-US" sz="1300">
                <a:solidFill>
                  <a:srgbClr val="5A6274"/>
                </a:solidFill>
                <a:latin typeface="Arial"/>
                <a:ea typeface="Arial"/>
                <a:cs typeface="Arial"/>
                <a:sym typeface="Arial"/>
              </a:rPr>
              <a:t>Descartamos el leetspeak: agregaba dígitos y ayudaba al experto estructural.</a:t>
            </a:r>
            <a:endParaRPr/>
          </a:p>
        </p:txBody>
      </p:sp>
      <p:cxnSp>
        <p:nvCxnSpPr>
          <p:cNvPr id="346" name="Google Shape;346;p10"/>
          <p:cNvCxnSpPr/>
          <p:nvPr/>
        </p:nvCxnSpPr>
        <p:spPr>
          <a:xfrm>
            <a:off x="5897880" y="1874519"/>
            <a:ext cx="0" cy="4069081"/>
          </a:xfrm>
          <a:prstGeom prst="straightConnector1">
            <a:avLst/>
          </a:prstGeom>
          <a:noFill/>
          <a:ln cap="flat" cmpd="sng" w="9525">
            <a:solidFill>
              <a:srgbClr val="D9D6CE"/>
            </a:solidFill>
            <a:prstDash val="solid"/>
            <a:miter lim="8000"/>
            <a:headEnd len="sm" w="sm" type="none"/>
            <a:tailEnd len="sm" w="sm" type="none"/>
          </a:ln>
        </p:spPr>
      </p:cxnSp>
      <p:sp>
        <p:nvSpPr>
          <p:cNvPr id="347" name="Google Shape;347;p10"/>
          <p:cNvSpPr txBox="1"/>
          <p:nvPr/>
        </p:nvSpPr>
        <p:spPr>
          <a:xfrm>
            <a:off x="6355080" y="1828800"/>
            <a:ext cx="5285232"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2400">
                <a:solidFill>
                  <a:srgbClr val="1F2430"/>
                </a:solidFill>
                <a:latin typeface="Georgia"/>
                <a:ea typeface="Georgia"/>
                <a:cs typeface="Georgia"/>
                <a:sym typeface="Georgia"/>
              </a:rPr>
              <a:t>Competidores</a:t>
            </a:r>
            <a:endParaRPr/>
          </a:p>
        </p:txBody>
      </p:sp>
      <p:sp>
        <p:nvSpPr>
          <p:cNvPr id="348" name="Google Shape;348;p10"/>
          <p:cNvSpPr/>
          <p:nvPr/>
        </p:nvSpPr>
        <p:spPr>
          <a:xfrm>
            <a:off x="6355080" y="2441448"/>
            <a:ext cx="182880" cy="182880"/>
          </a:xfrm>
          <a:prstGeom prst="ellipse">
            <a:avLst/>
          </a:prstGeom>
          <a:solidFill>
            <a:srgbClr val="EB68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9" name="Google Shape;349;p10"/>
          <p:cNvSpPr txBox="1"/>
          <p:nvPr/>
        </p:nvSpPr>
        <p:spPr>
          <a:xfrm>
            <a:off x="6675120" y="2395728"/>
            <a:ext cx="4965192" cy="5943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lang="en-US" sz="1500">
                <a:solidFill>
                  <a:srgbClr val="1F2430"/>
                </a:solidFill>
                <a:latin typeface="Arial"/>
                <a:ea typeface="Arial"/>
                <a:cs typeface="Arial"/>
                <a:sym typeface="Arial"/>
              </a:rPr>
              <a:t>Estático: </a:t>
            </a:r>
            <a:r>
              <a:rPr b="0" lang="en-US" sz="1500">
                <a:solidFill>
                  <a:srgbClr val="1F2430"/>
                </a:solidFill>
                <a:latin typeface="Arial"/>
                <a:ea typeface="Arial"/>
                <a:cs typeface="Arial"/>
                <a:sym typeface="Arial"/>
              </a:rPr>
              <a:t>Naive Bayes entrenado en el </a:t>
            </a:r>
            <a:r>
              <a:rPr b="0" i="1" lang="en-US" sz="1500">
                <a:solidFill>
                  <a:srgbClr val="1F2430"/>
                </a:solidFill>
                <a:latin typeface="Arial"/>
                <a:ea typeface="Arial"/>
                <a:cs typeface="Arial"/>
                <a:sym typeface="Arial"/>
              </a:rPr>
              <a:t>warm-up</a:t>
            </a:r>
            <a:r>
              <a:rPr b="0" lang="en-US" sz="1500">
                <a:solidFill>
                  <a:srgbClr val="1F2430"/>
                </a:solidFill>
                <a:latin typeface="Arial"/>
                <a:ea typeface="Arial"/>
                <a:cs typeface="Arial"/>
                <a:sym typeface="Arial"/>
              </a:rPr>
              <a:t>.</a:t>
            </a:r>
            <a:endParaRPr/>
          </a:p>
        </p:txBody>
      </p:sp>
      <p:sp>
        <p:nvSpPr>
          <p:cNvPr id="350" name="Google Shape;350;p10"/>
          <p:cNvSpPr/>
          <p:nvPr/>
        </p:nvSpPr>
        <p:spPr>
          <a:xfrm>
            <a:off x="6355080" y="2852927"/>
            <a:ext cx="182880" cy="182880"/>
          </a:xfrm>
          <a:prstGeom prst="ellipse">
            <a:avLst/>
          </a:prstGeom>
          <a:solidFill>
            <a:srgbClr val="2A78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1" name="Google Shape;351;p10"/>
          <p:cNvSpPr txBox="1"/>
          <p:nvPr/>
        </p:nvSpPr>
        <p:spPr>
          <a:xfrm>
            <a:off x="6675120" y="2807208"/>
            <a:ext cx="4965192" cy="5943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lang="en-US" sz="1500">
                <a:solidFill>
                  <a:srgbClr val="1F2430"/>
                </a:solidFill>
                <a:latin typeface="Arial"/>
                <a:ea typeface="Arial"/>
                <a:cs typeface="Arial"/>
                <a:sym typeface="Arial"/>
              </a:rPr>
              <a:t>Hedge: </a:t>
            </a:r>
            <a:r>
              <a:rPr b="0" lang="en-US" sz="1500">
                <a:solidFill>
                  <a:srgbClr val="1F2430"/>
                </a:solidFill>
                <a:latin typeface="Arial"/>
                <a:ea typeface="Arial"/>
                <a:cs typeface="Arial"/>
                <a:sym typeface="Arial"/>
              </a:rPr>
              <a:t>randomizado (20 sorteos por semilla) y determinístico, con η</a:t>
            </a:r>
            <a:r>
              <a:rPr b="0" baseline="-25000" lang="en-US" sz="1500">
                <a:solidFill>
                  <a:srgbClr val="1F2430"/>
                </a:solidFill>
                <a:latin typeface="Arial"/>
                <a:ea typeface="Arial"/>
                <a:cs typeface="Arial"/>
                <a:sym typeface="Arial"/>
              </a:rPr>
              <a:t>T</a:t>
            </a:r>
            <a:r>
              <a:rPr b="0" lang="en-US" sz="1500">
                <a:solidFill>
                  <a:srgbClr val="1F2430"/>
                </a:solidFill>
                <a:latin typeface="Arial"/>
                <a:ea typeface="Arial"/>
                <a:cs typeface="Arial"/>
                <a:sym typeface="Arial"/>
              </a:rPr>
              <a:t>.</a:t>
            </a:r>
            <a:endParaRPr/>
          </a:p>
        </p:txBody>
      </p:sp>
      <p:sp>
        <p:nvSpPr>
          <p:cNvPr id="352" name="Google Shape;352;p10"/>
          <p:cNvSpPr/>
          <p:nvPr/>
        </p:nvSpPr>
        <p:spPr>
          <a:xfrm>
            <a:off x="6355080" y="3493008"/>
            <a:ext cx="182880" cy="182880"/>
          </a:xfrm>
          <a:prstGeom prst="ellipse">
            <a:avLst/>
          </a:prstGeom>
          <a:solidFill>
            <a:srgbClr val="1BAF7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3" name="Google Shape;353;p10"/>
          <p:cNvSpPr txBox="1"/>
          <p:nvPr/>
        </p:nvSpPr>
        <p:spPr>
          <a:xfrm>
            <a:off x="6675120" y="3447288"/>
            <a:ext cx="4965192" cy="5943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lang="en-US" sz="1500">
                <a:solidFill>
                  <a:srgbClr val="1F2430"/>
                </a:solidFill>
                <a:latin typeface="Arial"/>
                <a:ea typeface="Arial"/>
                <a:cs typeface="Arial"/>
                <a:sym typeface="Arial"/>
              </a:rPr>
              <a:t>SGD online: </a:t>
            </a:r>
            <a:r>
              <a:rPr b="0" lang="en-US" sz="1500">
                <a:solidFill>
                  <a:srgbClr val="1F2430"/>
                </a:solidFill>
                <a:latin typeface="Arial"/>
                <a:ea typeface="Arial"/>
                <a:cs typeface="Arial"/>
                <a:sym typeface="Arial"/>
              </a:rPr>
              <a:t>α = 10</a:t>
            </a:r>
            <a:r>
              <a:rPr b="0" baseline="30000" lang="en-US" sz="1500">
                <a:solidFill>
                  <a:srgbClr val="1F2430"/>
                </a:solidFill>
                <a:latin typeface="Arial"/>
                <a:ea typeface="Arial"/>
                <a:cs typeface="Arial"/>
                <a:sym typeface="Arial"/>
              </a:rPr>
              <a:t>−5</a:t>
            </a:r>
            <a:r>
              <a:rPr b="0" lang="en-US" sz="1500">
                <a:solidFill>
                  <a:srgbClr val="1F2430"/>
                </a:solidFill>
                <a:latin typeface="Arial"/>
                <a:ea typeface="Arial"/>
                <a:cs typeface="Arial"/>
                <a:sym typeface="Arial"/>
              </a:rPr>
              <a:t> fijo.</a:t>
            </a:r>
            <a:endParaRPr/>
          </a:p>
        </p:txBody>
      </p:sp>
      <p:sp>
        <p:nvSpPr>
          <p:cNvPr id="354" name="Google Shape;354;p10"/>
          <p:cNvSpPr txBox="1"/>
          <p:nvPr/>
        </p:nvSpPr>
        <p:spPr>
          <a:xfrm>
            <a:off x="6355080" y="4023360"/>
            <a:ext cx="5285232"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2400">
                <a:solidFill>
                  <a:srgbClr val="1F2430"/>
                </a:solidFill>
                <a:latin typeface="Georgia"/>
                <a:ea typeface="Georgia"/>
                <a:cs typeface="Georgia"/>
                <a:sym typeface="Georgia"/>
              </a:rPr>
              <a:t>Protocolo</a:t>
            </a:r>
            <a:endParaRPr/>
          </a:p>
        </p:txBody>
      </p:sp>
      <p:sp>
        <p:nvSpPr>
          <p:cNvPr id="355" name="Google Shape;355;p10"/>
          <p:cNvSpPr txBox="1"/>
          <p:nvPr/>
        </p:nvSpPr>
        <p:spPr>
          <a:xfrm>
            <a:off x="6355080" y="4572000"/>
            <a:ext cx="5285232" cy="13716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lang="en-US" sz="1500">
                <a:solidFill>
                  <a:srgbClr val="1F2430"/>
                </a:solidFill>
                <a:latin typeface="Arial"/>
                <a:ea typeface="Arial"/>
                <a:cs typeface="Arial"/>
                <a:sym typeface="Arial"/>
              </a:rPr>
              <a:t>20 semillas por configuración; en el barrido de ρ, 5 sorteos de Hedge por semilla.</a:t>
            </a:r>
            <a:endParaRPr/>
          </a:p>
          <a:p>
            <a:pPr indent="0" lvl="0" marL="0" marR="0" rtl="0" algn="l">
              <a:lnSpc>
                <a:spcPct val="110000"/>
              </a:lnSpc>
              <a:spcBef>
                <a:spcPts val="800"/>
              </a:spcBef>
              <a:spcAft>
                <a:spcPts val="0"/>
              </a:spcAft>
              <a:buNone/>
            </a:pPr>
            <a:r>
              <a:rPr b="0" lang="en-US" sz="1500">
                <a:solidFill>
                  <a:srgbClr val="1F2430"/>
                </a:solidFill>
                <a:latin typeface="Arial"/>
                <a:ea typeface="Arial"/>
                <a:cs typeface="Arial"/>
                <a:sym typeface="Arial"/>
              </a:rPr>
              <a:t>Hiperparámetros de los expertos: validación cruzada en el </a:t>
            </a:r>
            <a:r>
              <a:rPr b="0" i="1" lang="en-US" sz="1500">
                <a:solidFill>
                  <a:srgbClr val="1F2430"/>
                </a:solidFill>
                <a:latin typeface="Arial"/>
                <a:ea typeface="Arial"/>
                <a:cs typeface="Arial"/>
                <a:sym typeface="Arial"/>
              </a:rPr>
              <a:t>warm-up</a:t>
            </a:r>
            <a:r>
              <a:rPr b="0" lang="en-US" sz="1500">
                <a:solidFill>
                  <a:srgbClr val="1F2430"/>
                </a:solidFill>
                <a:latin typeface="Arial"/>
                <a:ea typeface="Arial"/>
                <a:cs typeface="Arial"/>
                <a:sym typeface="Arial"/>
              </a:rPr>
              <a:t>, con MCC y la regla de un error estándar.</a:t>
            </a:r>
            <a:endParaRP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11"/>
          <p:cNvSpPr txBox="1"/>
          <p:nvPr/>
        </p:nvSpPr>
        <p:spPr>
          <a:xfrm>
            <a:off x="548640" y="411480"/>
            <a:ext cx="73152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100"/>
              <a:buFont typeface="Arial"/>
              <a:buNone/>
            </a:pPr>
            <a:r>
              <a:rPr b="1" lang="en-US" sz="1100">
                <a:solidFill>
                  <a:srgbClr val="5A6274"/>
                </a:solidFill>
                <a:latin typeface="Arial"/>
                <a:ea typeface="Arial"/>
                <a:cs typeface="Arial"/>
                <a:sym typeface="Arial"/>
              </a:rPr>
              <a:t>RESULTADO 1 · ¿CUÁNTO SE RECUPERA SIN REENTRENAR?</a:t>
            </a:r>
            <a:endParaRPr sz="1100">
              <a:solidFill>
                <a:schemeClr val="dk1"/>
              </a:solidFill>
              <a:latin typeface="Arial"/>
              <a:ea typeface="Arial"/>
              <a:cs typeface="Arial"/>
              <a:sym typeface="Arial"/>
            </a:endParaRPr>
          </a:p>
        </p:txBody>
      </p:sp>
      <p:sp>
        <p:nvSpPr>
          <p:cNvPr id="362" name="Google Shape;362;p11"/>
          <p:cNvSpPr txBox="1"/>
          <p:nvPr>
            <p:ph type="title"/>
          </p:nvPr>
        </p:nvSpPr>
        <p:spPr>
          <a:xfrm>
            <a:off x="548640" y="731520"/>
            <a:ext cx="10424160" cy="566928"/>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1F2430"/>
              </a:buClr>
              <a:buSzPts val="3000"/>
              <a:buFont typeface="Georgia"/>
              <a:buNone/>
            </a:pPr>
            <a:r>
              <a:rPr lang="en-US" sz="3000">
                <a:solidFill>
                  <a:srgbClr val="1F2430"/>
                </a:solidFill>
                <a:latin typeface="Georgia"/>
                <a:ea typeface="Georgia"/>
                <a:cs typeface="Georgia"/>
                <a:sym typeface="Georgia"/>
              </a:rPr>
              <a:t>Combinar recupera casi la mitad, sin reentrenar</a:t>
            </a:r>
            <a:endParaRPr sz="3000"/>
          </a:p>
        </p:txBody>
      </p:sp>
      <p:sp>
        <p:nvSpPr>
          <p:cNvPr id="363" name="Google Shape;363;p11"/>
          <p:cNvSpPr txBox="1"/>
          <p:nvPr/>
        </p:nvSpPr>
        <p:spPr>
          <a:xfrm>
            <a:off x="548640" y="1307592"/>
            <a:ext cx="1042416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500"/>
              <a:buFont typeface="Arial"/>
              <a:buNone/>
            </a:pPr>
            <a:r>
              <a:rPr lang="en-US" sz="1500">
                <a:solidFill>
                  <a:srgbClr val="5A6274"/>
                </a:solidFill>
                <a:latin typeface="Arial"/>
                <a:ea typeface="Arial"/>
                <a:cs typeface="Arial"/>
                <a:sym typeface="Arial"/>
              </a:rPr>
              <a:t>Errores en la mitad atacada: Hedge recorre el 46% del camino entre no adaptarse y reentrenar.</a:t>
            </a:r>
            <a:endParaRPr sz="1500">
              <a:solidFill>
                <a:schemeClr val="dk1"/>
              </a:solidFill>
              <a:latin typeface="Arial"/>
              <a:ea typeface="Arial"/>
              <a:cs typeface="Arial"/>
              <a:sym typeface="Arial"/>
            </a:endParaRPr>
          </a:p>
        </p:txBody>
      </p:sp>
      <p:sp>
        <p:nvSpPr>
          <p:cNvPr id="364" name="Google Shape;364;p11"/>
          <p:cNvSpPr txBox="1"/>
          <p:nvPr/>
        </p:nvSpPr>
        <p:spPr>
          <a:xfrm>
            <a:off x="9235440" y="429768"/>
            <a:ext cx="155448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AA1AE"/>
              </a:buClr>
              <a:buSzPts val="900"/>
              <a:buFont typeface="Arial"/>
              <a:buNone/>
            </a:pPr>
            <a:r>
              <a:rPr b="1" lang="en-US" sz="900">
                <a:solidFill>
                  <a:srgbClr val="9AA1AE"/>
                </a:solidFill>
                <a:latin typeface="Arial"/>
                <a:ea typeface="Arial"/>
                <a:cs typeface="Arial"/>
                <a:sym typeface="Arial"/>
              </a:rPr>
              <a:t>RESULTADOS</a:t>
            </a:r>
            <a:endParaRPr sz="900">
              <a:solidFill>
                <a:schemeClr val="dk1"/>
              </a:solidFill>
              <a:latin typeface="Arial"/>
              <a:ea typeface="Arial"/>
              <a:cs typeface="Arial"/>
              <a:sym typeface="Arial"/>
            </a:endParaRPr>
          </a:p>
        </p:txBody>
      </p:sp>
      <p:sp>
        <p:nvSpPr>
          <p:cNvPr id="365" name="Google Shape;365;p11"/>
          <p:cNvSpPr/>
          <p:nvPr/>
        </p:nvSpPr>
        <p:spPr>
          <a:xfrm>
            <a:off x="10899648" y="457200"/>
            <a:ext cx="137160" cy="137160"/>
          </a:xfrm>
          <a:prstGeom prst="ellipse">
            <a:avLst/>
          </a:prstGeom>
          <a:solidFill>
            <a:srgbClr val="1F24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66" name="Google Shape;366;p11"/>
          <p:cNvSpPr/>
          <p:nvPr/>
        </p:nvSpPr>
        <p:spPr>
          <a:xfrm>
            <a:off x="11100816"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67" name="Google Shape;367;p11"/>
          <p:cNvSpPr/>
          <p:nvPr/>
        </p:nvSpPr>
        <p:spPr>
          <a:xfrm>
            <a:off x="11301984"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68" name="Google Shape;368;p11"/>
          <p:cNvSpPr/>
          <p:nvPr/>
        </p:nvSpPr>
        <p:spPr>
          <a:xfrm>
            <a:off x="11503152"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Recta de errores en la mitad atacada: el estático comete 190, Hedge 133 y SGD online 73. Hedge cubre el 46% de la brecha." id="369" name="Google Shape;369;p11"/>
          <p:cNvPicPr preferRelativeResize="0"/>
          <p:nvPr/>
        </p:nvPicPr>
        <p:blipFill rotWithShape="1">
          <a:blip r:embed="rId3">
            <a:alphaModFix/>
          </a:blip>
          <a:srcRect b="0" l="0" r="0" t="0"/>
          <a:stretch/>
        </p:blipFill>
        <p:spPr>
          <a:xfrm>
            <a:off x="685800" y="2011680"/>
            <a:ext cx="10789920" cy="3506100"/>
          </a:xfrm>
          <a:prstGeom prst="rect">
            <a:avLst/>
          </a:prstGeom>
          <a:noFill/>
          <a:ln>
            <a:noFill/>
          </a:ln>
        </p:spPr>
      </p:pic>
      <p:cxnSp>
        <p:nvCxnSpPr>
          <p:cNvPr id="370" name="Google Shape;370;p11"/>
          <p:cNvCxnSpPr/>
          <p:nvPr/>
        </p:nvCxnSpPr>
        <p:spPr>
          <a:xfrm>
            <a:off x="548640" y="5577840"/>
            <a:ext cx="11091672" cy="0"/>
          </a:xfrm>
          <a:prstGeom prst="straightConnector1">
            <a:avLst/>
          </a:prstGeom>
          <a:noFill/>
          <a:ln cap="flat" cmpd="sng" w="9525">
            <a:solidFill>
              <a:srgbClr val="D9D6CE"/>
            </a:solidFill>
            <a:prstDash val="solid"/>
            <a:round/>
            <a:headEnd len="sm" w="sm" type="none"/>
            <a:tailEnd len="sm" w="sm" type="none"/>
          </a:ln>
        </p:spPr>
      </p:cxnSp>
      <p:sp>
        <p:nvSpPr>
          <p:cNvPr id="371" name="Google Shape;371;p11"/>
          <p:cNvSpPr txBox="1"/>
          <p:nvPr/>
        </p:nvSpPr>
        <p:spPr>
          <a:xfrm>
            <a:off x="548640" y="5669280"/>
            <a:ext cx="1106424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400"/>
              <a:buFont typeface="Arial"/>
              <a:buNone/>
            </a:pPr>
            <a:r>
              <a:rPr lang="en-US" sz="1400">
                <a:solidFill>
                  <a:srgbClr val="5A6274"/>
                </a:solidFill>
                <a:latin typeface="Arial"/>
                <a:ea typeface="Arial"/>
                <a:cs typeface="Arial"/>
                <a:sym typeface="Arial"/>
              </a:rPr>
              <a:t>46% ± 13 entre semillas. Reentrenar sigue siendo lo mejor con todas las etiquetas, como dicen Lowd &amp; Meek; combinar hace casi la mitad del trabajo sin tocar ningún modelo.</a:t>
            </a:r>
            <a:endParaRPr sz="1400">
              <a:solidFill>
                <a:schemeClr val="dk1"/>
              </a:solidFill>
              <a:latin typeface="Arial"/>
              <a:ea typeface="Arial"/>
              <a:cs typeface="Arial"/>
              <a:sym typeface="Arial"/>
            </a:endParaRPr>
          </a:p>
        </p:txBody>
      </p:sp>
      <p:sp>
        <p:nvSpPr>
          <p:cNvPr id="372" name="Google Shape;372;p11"/>
          <p:cNvSpPr txBox="1"/>
          <p:nvPr/>
        </p:nvSpPr>
        <p:spPr>
          <a:xfrm>
            <a:off x="548640" y="6373368"/>
            <a:ext cx="1024128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A1AE"/>
              </a:buClr>
              <a:buSzPts val="1000"/>
              <a:buFont typeface="Arial"/>
              <a:buNone/>
            </a:pPr>
            <a:r>
              <a:rPr lang="en-US" sz="1000">
                <a:solidFill>
                  <a:srgbClr val="9AA1AE"/>
                </a:solidFill>
                <a:latin typeface="Arial"/>
                <a:ea typeface="Arial"/>
                <a:cs typeface="Arial"/>
                <a:sym typeface="Arial"/>
              </a:rPr>
              <a:t>Media de 20 permutaciones (semillas) del SMS Spam Collection. Ataque desde la mitad del stream.</a:t>
            </a:r>
            <a:endParaRPr sz="1000">
              <a:solidFill>
                <a:schemeClr val="dk1"/>
              </a:solidFill>
              <a:latin typeface="Arial"/>
              <a:ea typeface="Arial"/>
              <a:cs typeface="Arial"/>
              <a:sym typeface="Arial"/>
            </a:endParaRPr>
          </a:p>
        </p:txBody>
      </p:sp>
      <p:sp>
        <p:nvSpPr>
          <p:cNvPr id="373" name="Google Shape;373;p11"/>
          <p:cNvSpPr txBox="1"/>
          <p:nvPr>
            <p:ph idx="4294967295" type="sldNum"/>
          </p:nvPr>
        </p:nvSpPr>
        <p:spPr>
          <a:xfrm>
            <a:off x="11091672" y="637336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AA1AE"/>
                </a:solidFill>
                <a:latin typeface="Arial"/>
                <a:ea typeface="Arial"/>
                <a:cs typeface="Arial"/>
                <a:sym typeface="Arial"/>
              </a:rPr>
              <a:t>‹#›</a:t>
            </a:fld>
            <a:endParaRPr sz="1000">
              <a:solidFill>
                <a:srgbClr val="9AA1AE"/>
              </a:solidFill>
              <a:latin typeface="Arial"/>
              <a:ea typeface="Arial"/>
              <a:cs typeface="Arial"/>
              <a:sym typeface="Arial"/>
            </a:endParaRP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12"/>
          <p:cNvSpPr txBox="1"/>
          <p:nvPr/>
        </p:nvSpPr>
        <p:spPr>
          <a:xfrm>
            <a:off x="548640" y="411480"/>
            <a:ext cx="73152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100"/>
              <a:buFont typeface="Arial"/>
              <a:buNone/>
            </a:pPr>
            <a:r>
              <a:rPr b="1" lang="en-US" sz="1100">
                <a:solidFill>
                  <a:srgbClr val="5A6274"/>
                </a:solidFill>
                <a:latin typeface="Arial"/>
                <a:ea typeface="Arial"/>
                <a:cs typeface="Arial"/>
                <a:sym typeface="Arial"/>
              </a:rPr>
              <a:t>RESULTADO 1</a:t>
            </a:r>
            <a:endParaRPr sz="1100">
              <a:solidFill>
                <a:schemeClr val="dk1"/>
              </a:solidFill>
              <a:latin typeface="Arial"/>
              <a:ea typeface="Arial"/>
              <a:cs typeface="Arial"/>
              <a:sym typeface="Arial"/>
            </a:endParaRPr>
          </a:p>
        </p:txBody>
      </p:sp>
      <p:sp>
        <p:nvSpPr>
          <p:cNvPr id="380" name="Google Shape;380;p12"/>
          <p:cNvSpPr txBox="1"/>
          <p:nvPr>
            <p:ph type="title"/>
          </p:nvPr>
        </p:nvSpPr>
        <p:spPr>
          <a:xfrm>
            <a:off x="548640" y="731520"/>
            <a:ext cx="10424160" cy="566928"/>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1F2430"/>
              </a:buClr>
              <a:buSzPts val="3000"/>
              <a:buFont typeface="Georgia"/>
              <a:buNone/>
            </a:pPr>
            <a:r>
              <a:rPr lang="en-US" sz="3000">
                <a:solidFill>
                  <a:srgbClr val="1F2430"/>
                </a:solidFill>
                <a:latin typeface="Georgia"/>
                <a:ea typeface="Georgia"/>
                <a:cs typeface="Georgia"/>
                <a:sym typeface="Georgia"/>
              </a:rPr>
              <a:t>De 305 spams atacados, Hedge atrapa 52 más</a:t>
            </a:r>
            <a:endParaRPr sz="3000"/>
          </a:p>
        </p:txBody>
      </p:sp>
      <p:sp>
        <p:nvSpPr>
          <p:cNvPr id="381" name="Google Shape;381;p12"/>
          <p:cNvSpPr txBox="1"/>
          <p:nvPr/>
        </p:nvSpPr>
        <p:spPr>
          <a:xfrm>
            <a:off x="548640" y="1307592"/>
            <a:ext cx="1042416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500"/>
              <a:buFont typeface="Arial"/>
              <a:buNone/>
            </a:pPr>
            <a:r>
              <a:rPr lang="en-US" sz="1500">
                <a:solidFill>
                  <a:srgbClr val="5A6274"/>
                </a:solidFill>
                <a:latin typeface="Arial"/>
                <a:ea typeface="Arial"/>
                <a:cs typeface="Arial"/>
                <a:sym typeface="Arial"/>
              </a:rPr>
              <a:t>Cada punto es un spam de la mitad atacada; en color, los que el filtro detecta.</a:t>
            </a:r>
            <a:endParaRPr sz="1500">
              <a:solidFill>
                <a:schemeClr val="dk1"/>
              </a:solidFill>
              <a:latin typeface="Arial"/>
              <a:ea typeface="Arial"/>
              <a:cs typeface="Arial"/>
              <a:sym typeface="Arial"/>
            </a:endParaRPr>
          </a:p>
        </p:txBody>
      </p:sp>
      <p:sp>
        <p:nvSpPr>
          <p:cNvPr id="382" name="Google Shape;382;p12"/>
          <p:cNvSpPr txBox="1"/>
          <p:nvPr/>
        </p:nvSpPr>
        <p:spPr>
          <a:xfrm>
            <a:off x="9235440" y="429768"/>
            <a:ext cx="155448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AA1AE"/>
              </a:buClr>
              <a:buSzPts val="900"/>
              <a:buFont typeface="Arial"/>
              <a:buNone/>
            </a:pPr>
            <a:r>
              <a:rPr b="1" lang="en-US" sz="900">
                <a:solidFill>
                  <a:srgbClr val="9AA1AE"/>
                </a:solidFill>
                <a:latin typeface="Arial"/>
                <a:ea typeface="Arial"/>
                <a:cs typeface="Arial"/>
                <a:sym typeface="Arial"/>
              </a:rPr>
              <a:t>RESULTADOS</a:t>
            </a:r>
            <a:endParaRPr sz="900">
              <a:solidFill>
                <a:schemeClr val="dk1"/>
              </a:solidFill>
              <a:latin typeface="Arial"/>
              <a:ea typeface="Arial"/>
              <a:cs typeface="Arial"/>
              <a:sym typeface="Arial"/>
            </a:endParaRPr>
          </a:p>
        </p:txBody>
      </p:sp>
      <p:sp>
        <p:nvSpPr>
          <p:cNvPr id="383" name="Google Shape;383;p12"/>
          <p:cNvSpPr/>
          <p:nvPr/>
        </p:nvSpPr>
        <p:spPr>
          <a:xfrm>
            <a:off x="10899648" y="457200"/>
            <a:ext cx="137160" cy="137160"/>
          </a:xfrm>
          <a:prstGeom prst="ellipse">
            <a:avLst/>
          </a:prstGeom>
          <a:solidFill>
            <a:srgbClr val="1F24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84" name="Google Shape;384;p12"/>
          <p:cNvSpPr/>
          <p:nvPr/>
        </p:nvSpPr>
        <p:spPr>
          <a:xfrm>
            <a:off x="11100816"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85" name="Google Shape;385;p12"/>
          <p:cNvSpPr/>
          <p:nvPr/>
        </p:nvSpPr>
        <p:spPr>
          <a:xfrm>
            <a:off x="11301984"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86" name="Google Shape;386;p12"/>
          <p:cNvSpPr/>
          <p:nvPr/>
        </p:nvSpPr>
        <p:spPr>
          <a:xfrm>
            <a:off x="11503152"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Tres grillas de 305 puntos. El estático atrapa 128 (42%), Hedge 180 (59%) y SGD online 252 (83%)." id="387" name="Google Shape;387;p12"/>
          <p:cNvPicPr preferRelativeResize="0"/>
          <p:nvPr/>
        </p:nvPicPr>
        <p:blipFill rotWithShape="1">
          <a:blip r:embed="rId3">
            <a:alphaModFix/>
          </a:blip>
          <a:srcRect b="0" l="0" r="0" t="0"/>
          <a:stretch/>
        </p:blipFill>
        <p:spPr>
          <a:xfrm>
            <a:off x="548640" y="1828800"/>
            <a:ext cx="10424160" cy="4343400"/>
          </a:xfrm>
          <a:prstGeom prst="rect">
            <a:avLst/>
          </a:prstGeom>
          <a:noFill/>
          <a:ln>
            <a:noFill/>
          </a:ln>
        </p:spPr>
      </p:pic>
      <p:sp>
        <p:nvSpPr>
          <p:cNvPr id="388" name="Google Shape;388;p12"/>
          <p:cNvSpPr txBox="1"/>
          <p:nvPr/>
        </p:nvSpPr>
        <p:spPr>
          <a:xfrm>
            <a:off x="548640" y="6373368"/>
            <a:ext cx="1024128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A1AE"/>
              </a:buClr>
              <a:buSzPts val="1000"/>
              <a:buFont typeface="Arial"/>
              <a:buNone/>
            </a:pPr>
            <a:r>
              <a:rPr lang="en-US" sz="1000">
                <a:solidFill>
                  <a:srgbClr val="9AA1AE"/>
                </a:solidFill>
                <a:latin typeface="Arial"/>
                <a:ea typeface="Arial"/>
                <a:cs typeface="Arial"/>
                <a:sym typeface="Arial"/>
              </a:rPr>
              <a:t>Media de 20 permutaciones (semillas) del SMS Spam Collection. Ataque desde la mitad del stream.</a:t>
            </a:r>
            <a:endParaRPr sz="1000">
              <a:solidFill>
                <a:schemeClr val="dk1"/>
              </a:solidFill>
              <a:latin typeface="Arial"/>
              <a:ea typeface="Arial"/>
              <a:cs typeface="Arial"/>
              <a:sym typeface="Arial"/>
            </a:endParaRPr>
          </a:p>
        </p:txBody>
      </p:sp>
      <p:sp>
        <p:nvSpPr>
          <p:cNvPr id="389" name="Google Shape;389;p12"/>
          <p:cNvSpPr txBox="1"/>
          <p:nvPr>
            <p:ph idx="4294967295" type="sldNum"/>
          </p:nvPr>
        </p:nvSpPr>
        <p:spPr>
          <a:xfrm>
            <a:off x="11091672" y="637336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AA1AE"/>
                </a:solidFill>
                <a:latin typeface="Arial"/>
                <a:ea typeface="Arial"/>
                <a:cs typeface="Arial"/>
                <a:sym typeface="Arial"/>
              </a:rPr>
              <a:t>‹#›</a:t>
            </a:fld>
            <a:endParaRPr sz="1000">
              <a:solidFill>
                <a:srgbClr val="9AA1AE"/>
              </a:solidFill>
              <a:latin typeface="Arial"/>
              <a:ea typeface="Arial"/>
              <a:cs typeface="Arial"/>
              <a:sym typeface="Arial"/>
            </a:endParaRP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13"/>
          <p:cNvSpPr txBox="1"/>
          <p:nvPr>
            <p:ph idx="4294967295" type="sldNum"/>
          </p:nvPr>
        </p:nvSpPr>
        <p:spPr>
          <a:xfrm>
            <a:off x="11091672" y="637336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AA1AE"/>
                </a:solidFill>
                <a:latin typeface="Arial"/>
                <a:ea typeface="Arial"/>
                <a:cs typeface="Arial"/>
                <a:sym typeface="Arial"/>
              </a:rPr>
              <a:t>‹#›</a:t>
            </a:fld>
            <a:endParaRPr sz="1000">
              <a:solidFill>
                <a:srgbClr val="9AA1AE"/>
              </a:solidFill>
              <a:latin typeface="Arial"/>
              <a:ea typeface="Arial"/>
              <a:cs typeface="Arial"/>
              <a:sym typeface="Arial"/>
            </a:endParaRPr>
          </a:p>
        </p:txBody>
      </p:sp>
      <p:pic>
        <p:nvPicPr>
          <p:cNvPr id="396" name="Google Shape;396;p13" title="animacion_ataque.mp4">
            <a:hlinkClick r:id="rId3"/>
          </p:cNvPr>
          <p:cNvPicPr preferRelativeResize="0"/>
          <p:nvPr/>
        </p:nvPicPr>
        <p:blipFill>
          <a:blip r:embed="rId4">
            <a:alphaModFix/>
          </a:blip>
          <a:stretch>
            <a:fillRect/>
          </a:stretch>
        </p:blipFill>
        <p:spPr>
          <a:xfrm>
            <a:off x="547375" y="434275"/>
            <a:ext cx="11092925" cy="5813025"/>
          </a:xfrm>
          <a:prstGeom prst="rect">
            <a:avLst/>
          </a:prstGeom>
          <a:noFill/>
          <a:ln>
            <a:noFill/>
          </a:ln>
        </p:spPr>
      </p:pic>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gtEl>
                                        <p:attrNameLst>
                                          <p:attrName>style.visibility</p:attrName>
                                        </p:attrNameLst>
                                      </p:cBhvr>
                                      <p:to>
                                        <p:strVal val="visible"/>
                                      </p:to>
                                    </p:set>
                                    <p:animEffect filter="fade" transition="in">
                                      <p:cBhvr>
                                        <p:cTn dur="1000"/>
                                        <p:tgtEl>
                                          <p:spTgt spid="3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14"/>
          <p:cNvSpPr txBox="1"/>
          <p:nvPr/>
        </p:nvSpPr>
        <p:spPr>
          <a:xfrm>
            <a:off x="548640" y="411480"/>
            <a:ext cx="73152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100"/>
              <a:buFont typeface="Arial"/>
              <a:buNone/>
            </a:pPr>
            <a:r>
              <a:rPr b="1" lang="en-US" sz="1100">
                <a:solidFill>
                  <a:srgbClr val="5A6274"/>
                </a:solidFill>
                <a:latin typeface="Arial"/>
                <a:ea typeface="Arial"/>
                <a:cs typeface="Arial"/>
                <a:sym typeface="Arial"/>
              </a:rPr>
              <a:t>RESULTADO 1</a:t>
            </a:r>
            <a:endParaRPr sz="1100">
              <a:solidFill>
                <a:schemeClr val="dk1"/>
              </a:solidFill>
              <a:latin typeface="Arial"/>
              <a:ea typeface="Arial"/>
              <a:cs typeface="Arial"/>
              <a:sym typeface="Arial"/>
            </a:endParaRPr>
          </a:p>
        </p:txBody>
      </p:sp>
      <p:sp>
        <p:nvSpPr>
          <p:cNvPr id="403" name="Google Shape;403;p14"/>
          <p:cNvSpPr txBox="1"/>
          <p:nvPr>
            <p:ph type="title"/>
          </p:nvPr>
        </p:nvSpPr>
        <p:spPr>
          <a:xfrm>
            <a:off x="548640" y="731520"/>
            <a:ext cx="10424160" cy="566928"/>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1F2430"/>
              </a:buClr>
              <a:buSzPts val="3000"/>
              <a:buFont typeface="Georgia"/>
              <a:buNone/>
            </a:pPr>
            <a:r>
              <a:rPr lang="en-US" sz="3000">
                <a:solidFill>
                  <a:srgbClr val="1F2430"/>
                </a:solidFill>
                <a:latin typeface="Georgia"/>
                <a:ea typeface="Georgia"/>
                <a:cs typeface="Georgia"/>
                <a:sym typeface="Georgia"/>
              </a:rPr>
              <a:t>Por qué funciona: la apuesta ya estaba cubierta</a:t>
            </a:r>
            <a:endParaRPr sz="3000"/>
          </a:p>
        </p:txBody>
      </p:sp>
      <p:sp>
        <p:nvSpPr>
          <p:cNvPr id="404" name="Google Shape;404;p14"/>
          <p:cNvSpPr txBox="1"/>
          <p:nvPr/>
        </p:nvSpPr>
        <p:spPr>
          <a:xfrm>
            <a:off x="548640" y="1307592"/>
            <a:ext cx="1042416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500"/>
              <a:buFont typeface="Arial"/>
              <a:buNone/>
            </a:pPr>
            <a:r>
              <a:rPr lang="en-US" sz="1500">
                <a:solidFill>
                  <a:srgbClr val="5A6274"/>
                </a:solidFill>
                <a:latin typeface="Arial"/>
                <a:ea typeface="Arial"/>
                <a:cs typeface="Arial"/>
                <a:sym typeface="Arial"/>
              </a:rPr>
              <a:t>Peso de cada experto en Hedge a lo largo del stream.</a:t>
            </a:r>
            <a:endParaRPr sz="1500">
              <a:solidFill>
                <a:schemeClr val="dk1"/>
              </a:solidFill>
              <a:latin typeface="Arial"/>
              <a:ea typeface="Arial"/>
              <a:cs typeface="Arial"/>
              <a:sym typeface="Arial"/>
            </a:endParaRPr>
          </a:p>
        </p:txBody>
      </p:sp>
      <p:sp>
        <p:nvSpPr>
          <p:cNvPr id="405" name="Google Shape;405;p14"/>
          <p:cNvSpPr txBox="1"/>
          <p:nvPr/>
        </p:nvSpPr>
        <p:spPr>
          <a:xfrm>
            <a:off x="9235440" y="429768"/>
            <a:ext cx="155448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AA1AE"/>
              </a:buClr>
              <a:buSzPts val="900"/>
              <a:buFont typeface="Arial"/>
              <a:buNone/>
            </a:pPr>
            <a:r>
              <a:rPr b="1" lang="en-US" sz="900">
                <a:solidFill>
                  <a:srgbClr val="9AA1AE"/>
                </a:solidFill>
                <a:latin typeface="Arial"/>
                <a:ea typeface="Arial"/>
                <a:cs typeface="Arial"/>
                <a:sym typeface="Arial"/>
              </a:rPr>
              <a:t>RESULTADOS</a:t>
            </a:r>
            <a:endParaRPr sz="900">
              <a:solidFill>
                <a:schemeClr val="dk1"/>
              </a:solidFill>
              <a:latin typeface="Arial"/>
              <a:ea typeface="Arial"/>
              <a:cs typeface="Arial"/>
              <a:sym typeface="Arial"/>
            </a:endParaRPr>
          </a:p>
        </p:txBody>
      </p:sp>
      <p:sp>
        <p:nvSpPr>
          <p:cNvPr id="406" name="Google Shape;406;p14"/>
          <p:cNvSpPr/>
          <p:nvPr/>
        </p:nvSpPr>
        <p:spPr>
          <a:xfrm>
            <a:off x="10899648" y="457200"/>
            <a:ext cx="137160" cy="137160"/>
          </a:xfrm>
          <a:prstGeom prst="ellipse">
            <a:avLst/>
          </a:prstGeom>
          <a:solidFill>
            <a:srgbClr val="1F24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7" name="Google Shape;407;p14"/>
          <p:cNvSpPr/>
          <p:nvPr/>
        </p:nvSpPr>
        <p:spPr>
          <a:xfrm>
            <a:off x="11100816"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8" name="Google Shape;408;p14"/>
          <p:cNvSpPr/>
          <p:nvPr/>
        </p:nvSpPr>
        <p:spPr>
          <a:xfrm>
            <a:off x="11301984"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9" name="Google Shape;409;p14"/>
          <p:cNvSpPr/>
          <p:nvPr/>
        </p:nvSpPr>
        <p:spPr>
          <a:xfrm>
            <a:off x="11503152"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Área apilada con el peso de cada experto. Al llegar el ataque el peso está repartido en tercios; después migra al estructural, que termina con 0,96." id="410" name="Google Shape;410;p14"/>
          <p:cNvPicPr preferRelativeResize="0"/>
          <p:nvPr/>
        </p:nvPicPr>
        <p:blipFill rotWithShape="1">
          <a:blip r:embed="rId3">
            <a:alphaModFix/>
          </a:blip>
          <a:srcRect b="0" l="0" r="0" t="0"/>
          <a:stretch/>
        </p:blipFill>
        <p:spPr>
          <a:xfrm>
            <a:off x="411480" y="1828800"/>
            <a:ext cx="8001000" cy="3599987"/>
          </a:xfrm>
          <a:prstGeom prst="rect">
            <a:avLst/>
          </a:prstGeom>
          <a:noFill/>
          <a:ln>
            <a:noFill/>
          </a:ln>
        </p:spPr>
      </p:pic>
      <p:sp>
        <p:nvSpPr>
          <p:cNvPr id="411" name="Google Shape;411;p14"/>
          <p:cNvSpPr/>
          <p:nvPr/>
        </p:nvSpPr>
        <p:spPr>
          <a:xfrm>
            <a:off x="8641080" y="2011680"/>
            <a:ext cx="384048" cy="384048"/>
          </a:xfrm>
          <a:prstGeom prst="ellipse">
            <a:avLst/>
          </a:prstGeom>
          <a:solidFill>
            <a:srgbClr val="1F24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12" name="Google Shape;412;p14"/>
          <p:cNvSpPr txBox="1"/>
          <p:nvPr/>
        </p:nvSpPr>
        <p:spPr>
          <a:xfrm>
            <a:off x="8641080" y="2011680"/>
            <a:ext cx="384048"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Arial"/>
              <a:buNone/>
            </a:pPr>
            <a:r>
              <a:rPr b="1" lang="en-US" sz="1500">
                <a:solidFill>
                  <a:srgbClr val="FFFFFF"/>
                </a:solidFill>
                <a:latin typeface="Arial"/>
                <a:ea typeface="Arial"/>
                <a:cs typeface="Arial"/>
                <a:sym typeface="Arial"/>
              </a:rPr>
              <a:t>1</a:t>
            </a:r>
            <a:endParaRPr sz="1500">
              <a:solidFill>
                <a:schemeClr val="dk1"/>
              </a:solidFill>
              <a:latin typeface="Arial"/>
              <a:ea typeface="Arial"/>
              <a:cs typeface="Arial"/>
              <a:sym typeface="Arial"/>
            </a:endParaRPr>
          </a:p>
        </p:txBody>
      </p:sp>
      <p:sp>
        <p:nvSpPr>
          <p:cNvPr id="413" name="Google Shape;413;p14"/>
          <p:cNvSpPr txBox="1"/>
          <p:nvPr/>
        </p:nvSpPr>
        <p:spPr>
          <a:xfrm>
            <a:off x="9208008" y="1993392"/>
            <a:ext cx="2450592" cy="11887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1500"/>
              <a:buFont typeface="Arial"/>
              <a:buNone/>
            </a:pPr>
            <a:r>
              <a:rPr lang="en-US" sz="1500">
                <a:solidFill>
                  <a:srgbClr val="1F2430"/>
                </a:solidFill>
                <a:latin typeface="Arial"/>
                <a:ea typeface="Arial"/>
                <a:cs typeface="Arial"/>
                <a:sym typeface="Arial"/>
              </a:rPr>
              <a:t>Al llegar el ataque, el peso estaba repartido en tercios: Naive Bayes 0,36, estructural 0,33, el resto 0,31.</a:t>
            </a:r>
            <a:endParaRPr sz="1500">
              <a:solidFill>
                <a:schemeClr val="dk1"/>
              </a:solidFill>
              <a:latin typeface="Arial"/>
              <a:ea typeface="Arial"/>
              <a:cs typeface="Arial"/>
              <a:sym typeface="Arial"/>
            </a:endParaRPr>
          </a:p>
        </p:txBody>
      </p:sp>
      <p:sp>
        <p:nvSpPr>
          <p:cNvPr id="414" name="Google Shape;414;p14"/>
          <p:cNvSpPr/>
          <p:nvPr/>
        </p:nvSpPr>
        <p:spPr>
          <a:xfrm>
            <a:off x="8641080" y="3429000"/>
            <a:ext cx="384048" cy="384048"/>
          </a:xfrm>
          <a:prstGeom prst="ellipse">
            <a:avLst/>
          </a:prstGeom>
          <a:solidFill>
            <a:srgbClr val="1F24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15" name="Google Shape;415;p14"/>
          <p:cNvSpPr txBox="1"/>
          <p:nvPr/>
        </p:nvSpPr>
        <p:spPr>
          <a:xfrm>
            <a:off x="8641080" y="3429000"/>
            <a:ext cx="384048"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Arial"/>
              <a:buNone/>
            </a:pPr>
            <a:r>
              <a:rPr b="1" lang="en-US" sz="1500">
                <a:solidFill>
                  <a:srgbClr val="FFFFFF"/>
                </a:solidFill>
                <a:latin typeface="Arial"/>
                <a:ea typeface="Arial"/>
                <a:cs typeface="Arial"/>
                <a:sym typeface="Arial"/>
              </a:rPr>
              <a:t>2</a:t>
            </a:r>
            <a:endParaRPr sz="1500">
              <a:solidFill>
                <a:schemeClr val="dk1"/>
              </a:solidFill>
              <a:latin typeface="Arial"/>
              <a:ea typeface="Arial"/>
              <a:cs typeface="Arial"/>
              <a:sym typeface="Arial"/>
            </a:endParaRPr>
          </a:p>
        </p:txBody>
      </p:sp>
      <p:sp>
        <p:nvSpPr>
          <p:cNvPr id="416" name="Google Shape;416;p14"/>
          <p:cNvSpPr txBox="1"/>
          <p:nvPr/>
        </p:nvSpPr>
        <p:spPr>
          <a:xfrm>
            <a:off x="9208008" y="3410712"/>
            <a:ext cx="2450592" cy="11887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1500"/>
              <a:buFont typeface="Arial"/>
              <a:buNone/>
            </a:pPr>
            <a:r>
              <a:rPr lang="en-US" sz="1500">
                <a:solidFill>
                  <a:srgbClr val="1F2430"/>
                </a:solidFill>
                <a:latin typeface="Arial"/>
                <a:ea typeface="Arial"/>
                <a:cs typeface="Arial"/>
                <a:sym typeface="Arial"/>
              </a:rPr>
              <a:t>El ataque rompe a los léxicos y el peso migra al estructural en unos 1.000 mensajes: termina con 0,96.</a:t>
            </a:r>
            <a:endParaRPr sz="1500">
              <a:solidFill>
                <a:schemeClr val="dk1"/>
              </a:solidFill>
              <a:latin typeface="Arial"/>
              <a:ea typeface="Arial"/>
              <a:cs typeface="Arial"/>
              <a:sym typeface="Arial"/>
            </a:endParaRPr>
          </a:p>
        </p:txBody>
      </p:sp>
      <p:cxnSp>
        <p:nvCxnSpPr>
          <p:cNvPr id="417" name="Google Shape;417;p14"/>
          <p:cNvCxnSpPr/>
          <p:nvPr/>
        </p:nvCxnSpPr>
        <p:spPr>
          <a:xfrm>
            <a:off x="8641080" y="4846320"/>
            <a:ext cx="2999232" cy="0"/>
          </a:xfrm>
          <a:prstGeom prst="straightConnector1">
            <a:avLst/>
          </a:prstGeom>
          <a:noFill/>
          <a:ln cap="flat" cmpd="sng" w="9525">
            <a:solidFill>
              <a:srgbClr val="D9D6CE"/>
            </a:solidFill>
            <a:prstDash val="solid"/>
            <a:round/>
            <a:headEnd len="sm" w="sm" type="none"/>
            <a:tailEnd len="sm" w="sm" type="none"/>
          </a:ln>
        </p:spPr>
      </p:cxnSp>
      <p:sp>
        <p:nvSpPr>
          <p:cNvPr id="418" name="Google Shape;418;p14"/>
          <p:cNvSpPr txBox="1"/>
          <p:nvPr/>
        </p:nvSpPr>
        <p:spPr>
          <a:xfrm>
            <a:off x="8641080" y="4983480"/>
            <a:ext cx="301752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3AA7"/>
              </a:buClr>
              <a:buSzPts val="1500"/>
              <a:buFont typeface="Arial"/>
              <a:buNone/>
            </a:pPr>
            <a:r>
              <a:rPr b="1" lang="en-US" sz="1500">
                <a:solidFill>
                  <a:srgbClr val="4A3AA7"/>
                </a:solidFill>
                <a:latin typeface="Arial"/>
                <a:ea typeface="Arial"/>
                <a:cs typeface="Arial"/>
                <a:sym typeface="Arial"/>
              </a:rPr>
              <a:t>El estructural mira formato, no palabras: este ataque no lo toca.</a:t>
            </a:r>
            <a:endParaRPr sz="1500">
              <a:solidFill>
                <a:schemeClr val="dk1"/>
              </a:solidFill>
              <a:latin typeface="Arial"/>
              <a:ea typeface="Arial"/>
              <a:cs typeface="Arial"/>
              <a:sym typeface="Arial"/>
            </a:endParaRPr>
          </a:p>
        </p:txBody>
      </p:sp>
      <p:sp>
        <p:nvSpPr>
          <p:cNvPr id="419" name="Google Shape;419;p14"/>
          <p:cNvSpPr txBox="1"/>
          <p:nvPr/>
        </p:nvSpPr>
        <p:spPr>
          <a:xfrm>
            <a:off x="548640" y="6373368"/>
            <a:ext cx="1024128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A1AE"/>
              </a:buClr>
              <a:buSzPts val="1000"/>
              <a:buFont typeface="Arial"/>
              <a:buNone/>
            </a:pPr>
            <a:r>
              <a:rPr lang="en-US" sz="1000">
                <a:solidFill>
                  <a:srgbClr val="9AA1AE"/>
                </a:solidFill>
                <a:latin typeface="Arial"/>
                <a:ea typeface="Arial"/>
                <a:cs typeface="Arial"/>
                <a:sym typeface="Arial"/>
              </a:rPr>
              <a:t>Media de 20 permutaciones (semillas) del SMS Spam Collection. Ataque desde la mitad del stream.</a:t>
            </a:r>
            <a:endParaRPr sz="1000">
              <a:solidFill>
                <a:schemeClr val="dk1"/>
              </a:solidFill>
              <a:latin typeface="Arial"/>
              <a:ea typeface="Arial"/>
              <a:cs typeface="Arial"/>
              <a:sym typeface="Arial"/>
            </a:endParaRPr>
          </a:p>
        </p:txBody>
      </p:sp>
      <p:sp>
        <p:nvSpPr>
          <p:cNvPr id="420" name="Google Shape;420;p14"/>
          <p:cNvSpPr txBox="1"/>
          <p:nvPr>
            <p:ph idx="4294967295" type="sldNum"/>
          </p:nvPr>
        </p:nvSpPr>
        <p:spPr>
          <a:xfrm>
            <a:off x="11091672" y="637336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AA1AE"/>
                </a:solidFill>
                <a:latin typeface="Arial"/>
                <a:ea typeface="Arial"/>
                <a:cs typeface="Arial"/>
                <a:sym typeface="Arial"/>
              </a:rPr>
              <a:t>‹#›</a:t>
            </a:fld>
            <a:endParaRPr sz="1000">
              <a:solidFill>
                <a:srgbClr val="9AA1AE"/>
              </a:solidFill>
              <a:latin typeface="Arial"/>
              <a:ea typeface="Arial"/>
              <a:cs typeface="Arial"/>
              <a:sym typeface="Arial"/>
            </a:endParaRP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h6e04de18195e4762_0_2"/>
          <p:cNvSpPr txBox="1"/>
          <p:nvPr/>
        </p:nvSpPr>
        <p:spPr>
          <a:xfrm>
            <a:off x="548640" y="411480"/>
            <a:ext cx="73152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100"/>
              <a:buFont typeface="Arial"/>
              <a:buNone/>
            </a:pPr>
            <a:r>
              <a:rPr b="1" i="0" lang="en-US" sz="1100" u="none" cap="none" strike="noStrike">
                <a:solidFill>
                  <a:srgbClr val="5A6274"/>
                </a:solidFill>
                <a:latin typeface="Arial"/>
                <a:ea typeface="Arial"/>
                <a:cs typeface="Arial"/>
                <a:sym typeface="Arial"/>
              </a:rPr>
              <a:t>HALLAZGO 2 · ¿CUÁNTA ETIQUETA HACE FALTA?</a:t>
            </a:r>
            <a:endParaRPr b="0" i="0" sz="1100" u="none" cap="none" strike="noStrike">
              <a:solidFill>
                <a:srgbClr val="1F2430"/>
              </a:solidFill>
              <a:latin typeface="Arial"/>
              <a:ea typeface="Arial"/>
              <a:cs typeface="Arial"/>
              <a:sym typeface="Arial"/>
            </a:endParaRPr>
          </a:p>
        </p:txBody>
      </p:sp>
      <p:sp>
        <p:nvSpPr>
          <p:cNvPr id="426" name="Google Shape;426;h6e04de18195e4762_0_2"/>
          <p:cNvSpPr txBox="1"/>
          <p:nvPr/>
        </p:nvSpPr>
        <p:spPr>
          <a:xfrm>
            <a:off x="548640" y="731520"/>
            <a:ext cx="10424100" cy="567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US" sz="3000">
                <a:solidFill>
                  <a:srgbClr val="1F2430"/>
                </a:solidFill>
                <a:latin typeface="Georgia"/>
                <a:ea typeface="Georgia"/>
                <a:cs typeface="Georgia"/>
                <a:sym typeface="Georgia"/>
              </a:rPr>
              <a:t>Cómo medimos la escasez de etiquetas</a:t>
            </a:r>
            <a:endParaRPr sz="3000">
              <a:solidFill>
                <a:srgbClr val="1F2430"/>
              </a:solidFill>
              <a:latin typeface="Georgia"/>
              <a:ea typeface="Georgia"/>
              <a:cs typeface="Georgia"/>
              <a:sym typeface="Georgia"/>
            </a:endParaRPr>
          </a:p>
        </p:txBody>
      </p:sp>
      <p:sp>
        <p:nvSpPr>
          <p:cNvPr id="427" name="Google Shape;427;h6e04de18195e4762_0_2"/>
          <p:cNvSpPr txBox="1"/>
          <p:nvPr/>
        </p:nvSpPr>
        <p:spPr>
          <a:xfrm>
            <a:off x="548640" y="1307592"/>
            <a:ext cx="10424100" cy="32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500"/>
              <a:buFont typeface="Arial"/>
              <a:buNone/>
            </a:pPr>
            <a:r>
              <a:rPr b="0" i="0" lang="en-US" sz="1500" u="none" cap="none" strike="noStrike">
                <a:solidFill>
                  <a:srgbClr val="5A6274"/>
                </a:solidFill>
                <a:latin typeface="Arial"/>
                <a:ea typeface="Arial"/>
                <a:cs typeface="Arial"/>
                <a:sym typeface="Arial"/>
              </a:rPr>
              <a:t>El usuario reporta solo algunos mensajes. Probamos cuatro niveles, de todos a 1 de cada 20.</a:t>
            </a:r>
            <a:endParaRPr b="0" i="0" sz="1500" u="none" cap="none" strike="noStrike">
              <a:solidFill>
                <a:srgbClr val="1F2430"/>
              </a:solidFill>
              <a:latin typeface="Arial"/>
              <a:ea typeface="Arial"/>
              <a:cs typeface="Arial"/>
              <a:sym typeface="Arial"/>
            </a:endParaRPr>
          </a:p>
        </p:txBody>
      </p:sp>
      <p:sp>
        <p:nvSpPr>
          <p:cNvPr id="428" name="Google Shape;428;h6e04de18195e4762_0_2"/>
          <p:cNvSpPr txBox="1"/>
          <p:nvPr/>
        </p:nvSpPr>
        <p:spPr>
          <a:xfrm>
            <a:off x="9235440" y="429768"/>
            <a:ext cx="1554600" cy="2013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AA1AE"/>
              </a:buClr>
              <a:buSzPts val="900"/>
              <a:buFont typeface="Arial"/>
              <a:buNone/>
            </a:pPr>
            <a:r>
              <a:rPr b="1" i="0" lang="en-US" sz="900" u="none" cap="none" strike="noStrike">
                <a:solidFill>
                  <a:srgbClr val="9AA1AE"/>
                </a:solidFill>
                <a:latin typeface="Arial"/>
                <a:ea typeface="Arial"/>
                <a:cs typeface="Arial"/>
                <a:sym typeface="Arial"/>
              </a:rPr>
              <a:t>HALLAZGOS</a:t>
            </a:r>
            <a:endParaRPr b="0" i="0" sz="900" u="none" cap="none" strike="noStrike">
              <a:solidFill>
                <a:srgbClr val="1F2430"/>
              </a:solidFill>
              <a:latin typeface="Arial"/>
              <a:ea typeface="Arial"/>
              <a:cs typeface="Arial"/>
              <a:sym typeface="Arial"/>
            </a:endParaRPr>
          </a:p>
        </p:txBody>
      </p:sp>
      <p:sp>
        <p:nvSpPr>
          <p:cNvPr id="429" name="Google Shape;429;h6e04de18195e4762_0_2"/>
          <p:cNvSpPr/>
          <p:nvPr/>
        </p:nvSpPr>
        <p:spPr>
          <a:xfrm>
            <a:off x="10899648" y="457200"/>
            <a:ext cx="137100" cy="1371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h6e04de18195e4762_0_2"/>
          <p:cNvSpPr/>
          <p:nvPr/>
        </p:nvSpPr>
        <p:spPr>
          <a:xfrm>
            <a:off x="11100816" y="457200"/>
            <a:ext cx="137100" cy="1371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h6e04de18195e4762_0_2"/>
          <p:cNvSpPr/>
          <p:nvPr/>
        </p:nvSpPr>
        <p:spPr>
          <a:xfrm>
            <a:off x="11301984" y="457200"/>
            <a:ext cx="137100" cy="1371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h6e04de18195e4762_0_2"/>
          <p:cNvSpPr/>
          <p:nvPr/>
        </p:nvSpPr>
        <p:spPr>
          <a:xfrm>
            <a:off x="11503152" y="457200"/>
            <a:ext cx="137100" cy="1371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h6e04de18195e4762_0_2"/>
          <p:cNvSpPr txBox="1"/>
          <p:nvPr/>
        </p:nvSpPr>
        <p:spPr>
          <a:xfrm>
            <a:off x="2057400" y="1920240"/>
            <a:ext cx="43890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000"/>
              <a:buFont typeface="Arial"/>
              <a:buNone/>
            </a:pPr>
            <a:r>
              <a:rPr b="1" i="0" lang="en-US" sz="1000" u="none" cap="none" strike="noStrike">
                <a:solidFill>
                  <a:srgbClr val="5A6274"/>
                </a:solidFill>
                <a:latin typeface="Arial"/>
                <a:ea typeface="Arial"/>
                <a:cs typeface="Arial"/>
                <a:sym typeface="Arial"/>
              </a:rPr>
              <a:t>20 MENSAJES SEGUIDOS DEL STREAM</a:t>
            </a:r>
            <a:endParaRPr b="0" i="0" sz="1000" u="none" cap="none" strike="noStrike">
              <a:solidFill>
                <a:srgbClr val="1F2430"/>
              </a:solidFill>
              <a:latin typeface="Arial"/>
              <a:ea typeface="Arial"/>
              <a:cs typeface="Arial"/>
              <a:sym typeface="Arial"/>
            </a:endParaRPr>
          </a:p>
        </p:txBody>
      </p:sp>
      <p:sp>
        <p:nvSpPr>
          <p:cNvPr id="434" name="Google Shape;434;h6e04de18195e4762_0_2"/>
          <p:cNvSpPr txBox="1"/>
          <p:nvPr/>
        </p:nvSpPr>
        <p:spPr>
          <a:xfrm>
            <a:off x="6583680" y="1810512"/>
            <a:ext cx="14631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900"/>
              <a:buFont typeface="Arial"/>
              <a:buNone/>
            </a:pPr>
            <a:r>
              <a:rPr b="1" i="0" lang="en-US" sz="900" u="none" cap="none" strike="noStrike">
                <a:solidFill>
                  <a:srgbClr val="5A6274"/>
                </a:solidFill>
                <a:latin typeface="Arial"/>
                <a:ea typeface="Arial"/>
                <a:cs typeface="Arial"/>
                <a:sym typeface="Arial"/>
              </a:rPr>
              <a:t>SPAMS ATACADOS CON ETIQUETA</a:t>
            </a:r>
            <a:endParaRPr b="0" i="0" sz="900" u="none" cap="none" strike="noStrike">
              <a:solidFill>
                <a:srgbClr val="1F2430"/>
              </a:solidFill>
              <a:latin typeface="Arial"/>
              <a:ea typeface="Arial"/>
              <a:cs typeface="Arial"/>
              <a:sym typeface="Arial"/>
            </a:endParaRPr>
          </a:p>
        </p:txBody>
      </p:sp>
      <p:sp>
        <p:nvSpPr>
          <p:cNvPr id="435" name="Google Shape;435;h6e04de18195e4762_0_2"/>
          <p:cNvSpPr txBox="1"/>
          <p:nvPr/>
        </p:nvSpPr>
        <p:spPr>
          <a:xfrm>
            <a:off x="548640" y="2322576"/>
            <a:ext cx="14172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1500"/>
              <a:buFont typeface="Arial"/>
              <a:buNone/>
            </a:pPr>
            <a:r>
              <a:rPr b="1" i="0" lang="en-US" sz="1500" u="none" cap="none" strike="noStrike">
                <a:solidFill>
                  <a:srgbClr val="1F2430"/>
                </a:solidFill>
                <a:latin typeface="Arial"/>
                <a:ea typeface="Arial"/>
                <a:cs typeface="Arial"/>
                <a:sym typeface="Arial"/>
              </a:rPr>
              <a:t>todos</a:t>
            </a:r>
            <a:endParaRPr b="0" i="0" sz="1500" u="none" cap="none" strike="noStrike">
              <a:solidFill>
                <a:srgbClr val="1F2430"/>
              </a:solidFill>
              <a:latin typeface="Arial"/>
              <a:ea typeface="Arial"/>
              <a:cs typeface="Arial"/>
              <a:sym typeface="Arial"/>
            </a:endParaRPr>
          </a:p>
        </p:txBody>
      </p:sp>
      <p:sp>
        <p:nvSpPr>
          <p:cNvPr id="436" name="Google Shape;436;h6e04de18195e4762_0_2"/>
          <p:cNvSpPr/>
          <p:nvPr/>
        </p:nvSpPr>
        <p:spPr>
          <a:xfrm>
            <a:off x="2057400" y="2377440"/>
            <a:ext cx="146400" cy="1464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h6e04de18195e4762_0_2"/>
          <p:cNvSpPr/>
          <p:nvPr/>
        </p:nvSpPr>
        <p:spPr>
          <a:xfrm>
            <a:off x="2276856" y="2377440"/>
            <a:ext cx="146400" cy="1464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h6e04de18195e4762_0_2"/>
          <p:cNvSpPr/>
          <p:nvPr/>
        </p:nvSpPr>
        <p:spPr>
          <a:xfrm>
            <a:off x="2496312" y="2377440"/>
            <a:ext cx="146400" cy="1464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h6e04de18195e4762_0_2"/>
          <p:cNvSpPr/>
          <p:nvPr/>
        </p:nvSpPr>
        <p:spPr>
          <a:xfrm>
            <a:off x="2715768" y="2377440"/>
            <a:ext cx="146400" cy="1464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h6e04de18195e4762_0_2"/>
          <p:cNvSpPr/>
          <p:nvPr/>
        </p:nvSpPr>
        <p:spPr>
          <a:xfrm>
            <a:off x="2935224" y="2377440"/>
            <a:ext cx="146400" cy="1464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h6e04de18195e4762_0_2"/>
          <p:cNvSpPr/>
          <p:nvPr/>
        </p:nvSpPr>
        <p:spPr>
          <a:xfrm>
            <a:off x="3154680" y="2377440"/>
            <a:ext cx="146400" cy="1464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h6e04de18195e4762_0_2"/>
          <p:cNvSpPr/>
          <p:nvPr/>
        </p:nvSpPr>
        <p:spPr>
          <a:xfrm>
            <a:off x="3374136" y="2377440"/>
            <a:ext cx="146400" cy="1464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h6e04de18195e4762_0_2"/>
          <p:cNvSpPr/>
          <p:nvPr/>
        </p:nvSpPr>
        <p:spPr>
          <a:xfrm>
            <a:off x="3593592" y="2377440"/>
            <a:ext cx="146400" cy="1464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h6e04de18195e4762_0_2"/>
          <p:cNvSpPr/>
          <p:nvPr/>
        </p:nvSpPr>
        <p:spPr>
          <a:xfrm>
            <a:off x="3813048" y="2377440"/>
            <a:ext cx="146400" cy="1464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h6e04de18195e4762_0_2"/>
          <p:cNvSpPr/>
          <p:nvPr/>
        </p:nvSpPr>
        <p:spPr>
          <a:xfrm>
            <a:off x="4032504" y="2377440"/>
            <a:ext cx="146400" cy="1464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h6e04de18195e4762_0_2"/>
          <p:cNvSpPr/>
          <p:nvPr/>
        </p:nvSpPr>
        <p:spPr>
          <a:xfrm>
            <a:off x="4251960" y="2377440"/>
            <a:ext cx="146400" cy="1464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h6e04de18195e4762_0_2"/>
          <p:cNvSpPr/>
          <p:nvPr/>
        </p:nvSpPr>
        <p:spPr>
          <a:xfrm>
            <a:off x="4471416" y="2377440"/>
            <a:ext cx="146400" cy="1464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h6e04de18195e4762_0_2"/>
          <p:cNvSpPr/>
          <p:nvPr/>
        </p:nvSpPr>
        <p:spPr>
          <a:xfrm>
            <a:off x="4690872" y="2377440"/>
            <a:ext cx="146400" cy="1464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h6e04de18195e4762_0_2"/>
          <p:cNvSpPr/>
          <p:nvPr/>
        </p:nvSpPr>
        <p:spPr>
          <a:xfrm>
            <a:off x="4910328" y="2377440"/>
            <a:ext cx="146400" cy="1464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h6e04de18195e4762_0_2"/>
          <p:cNvSpPr/>
          <p:nvPr/>
        </p:nvSpPr>
        <p:spPr>
          <a:xfrm>
            <a:off x="5129784" y="2377440"/>
            <a:ext cx="146400" cy="1464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h6e04de18195e4762_0_2"/>
          <p:cNvSpPr/>
          <p:nvPr/>
        </p:nvSpPr>
        <p:spPr>
          <a:xfrm>
            <a:off x="5349240" y="2377440"/>
            <a:ext cx="146400" cy="1464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h6e04de18195e4762_0_2"/>
          <p:cNvSpPr/>
          <p:nvPr/>
        </p:nvSpPr>
        <p:spPr>
          <a:xfrm>
            <a:off x="5568696" y="2377440"/>
            <a:ext cx="146400" cy="1464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h6e04de18195e4762_0_2"/>
          <p:cNvSpPr/>
          <p:nvPr/>
        </p:nvSpPr>
        <p:spPr>
          <a:xfrm>
            <a:off x="5788152" y="2377440"/>
            <a:ext cx="146400" cy="1464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h6e04de18195e4762_0_2"/>
          <p:cNvSpPr/>
          <p:nvPr/>
        </p:nvSpPr>
        <p:spPr>
          <a:xfrm>
            <a:off x="6007608" y="2377440"/>
            <a:ext cx="146400" cy="1464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h6e04de18195e4762_0_2"/>
          <p:cNvSpPr/>
          <p:nvPr/>
        </p:nvSpPr>
        <p:spPr>
          <a:xfrm>
            <a:off x="6227064" y="2377440"/>
            <a:ext cx="146400" cy="1464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h6e04de18195e4762_0_2"/>
          <p:cNvSpPr txBox="1"/>
          <p:nvPr/>
        </p:nvSpPr>
        <p:spPr>
          <a:xfrm>
            <a:off x="6583680" y="2286000"/>
            <a:ext cx="1371600" cy="329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2000"/>
              <a:buFont typeface="Arial"/>
              <a:buNone/>
            </a:pPr>
            <a:r>
              <a:rPr b="1" i="0" lang="en-US" sz="2000" u="none" cap="none" strike="noStrike">
                <a:solidFill>
                  <a:srgbClr val="1F2430"/>
                </a:solidFill>
                <a:latin typeface="Arial"/>
                <a:ea typeface="Arial"/>
                <a:cs typeface="Arial"/>
                <a:sym typeface="Arial"/>
              </a:rPr>
              <a:t>305</a:t>
            </a:r>
            <a:endParaRPr b="0" i="0" sz="2000" u="none" cap="none" strike="noStrike">
              <a:solidFill>
                <a:srgbClr val="1F2430"/>
              </a:solidFill>
              <a:latin typeface="Arial"/>
              <a:ea typeface="Arial"/>
              <a:cs typeface="Arial"/>
              <a:sym typeface="Arial"/>
            </a:endParaRPr>
          </a:p>
        </p:txBody>
      </p:sp>
      <p:sp>
        <p:nvSpPr>
          <p:cNvPr id="457" name="Google Shape;457;h6e04de18195e4762_0_2"/>
          <p:cNvSpPr txBox="1"/>
          <p:nvPr/>
        </p:nvSpPr>
        <p:spPr>
          <a:xfrm>
            <a:off x="548640" y="2980944"/>
            <a:ext cx="14172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1500"/>
              <a:buFont typeface="Arial"/>
              <a:buNone/>
            </a:pPr>
            <a:r>
              <a:rPr b="1" i="0" lang="en-US" sz="1500" u="none" cap="none" strike="noStrike">
                <a:solidFill>
                  <a:srgbClr val="1F2430"/>
                </a:solidFill>
                <a:latin typeface="Arial"/>
                <a:ea typeface="Arial"/>
                <a:cs typeface="Arial"/>
                <a:sym typeface="Arial"/>
              </a:rPr>
              <a:t>1 de cada 2</a:t>
            </a:r>
            <a:endParaRPr b="0" i="0" sz="1500" u="none" cap="none" strike="noStrike">
              <a:solidFill>
                <a:srgbClr val="1F2430"/>
              </a:solidFill>
              <a:latin typeface="Arial"/>
              <a:ea typeface="Arial"/>
              <a:cs typeface="Arial"/>
              <a:sym typeface="Arial"/>
            </a:endParaRPr>
          </a:p>
        </p:txBody>
      </p:sp>
      <p:sp>
        <p:nvSpPr>
          <p:cNvPr id="458" name="Google Shape;458;h6e04de18195e4762_0_2"/>
          <p:cNvSpPr/>
          <p:nvPr/>
        </p:nvSpPr>
        <p:spPr>
          <a:xfrm>
            <a:off x="2057400" y="3035808"/>
            <a:ext cx="146400" cy="1464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h6e04de18195e4762_0_2"/>
          <p:cNvSpPr/>
          <p:nvPr/>
        </p:nvSpPr>
        <p:spPr>
          <a:xfrm>
            <a:off x="2276856" y="3035808"/>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h6e04de18195e4762_0_2"/>
          <p:cNvSpPr/>
          <p:nvPr/>
        </p:nvSpPr>
        <p:spPr>
          <a:xfrm>
            <a:off x="2496312" y="3035808"/>
            <a:ext cx="146400" cy="1464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h6e04de18195e4762_0_2"/>
          <p:cNvSpPr/>
          <p:nvPr/>
        </p:nvSpPr>
        <p:spPr>
          <a:xfrm>
            <a:off x="2715768" y="3035808"/>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h6e04de18195e4762_0_2"/>
          <p:cNvSpPr/>
          <p:nvPr/>
        </p:nvSpPr>
        <p:spPr>
          <a:xfrm>
            <a:off x="2935224" y="3035808"/>
            <a:ext cx="146400" cy="1464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h6e04de18195e4762_0_2"/>
          <p:cNvSpPr/>
          <p:nvPr/>
        </p:nvSpPr>
        <p:spPr>
          <a:xfrm>
            <a:off x="3154680" y="3035808"/>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h6e04de18195e4762_0_2"/>
          <p:cNvSpPr/>
          <p:nvPr/>
        </p:nvSpPr>
        <p:spPr>
          <a:xfrm>
            <a:off x="3374136" y="3035808"/>
            <a:ext cx="146400" cy="1464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h6e04de18195e4762_0_2"/>
          <p:cNvSpPr/>
          <p:nvPr/>
        </p:nvSpPr>
        <p:spPr>
          <a:xfrm>
            <a:off x="3593592" y="3035808"/>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h6e04de18195e4762_0_2"/>
          <p:cNvSpPr/>
          <p:nvPr/>
        </p:nvSpPr>
        <p:spPr>
          <a:xfrm>
            <a:off x="3813048" y="3035808"/>
            <a:ext cx="146400" cy="1464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h6e04de18195e4762_0_2"/>
          <p:cNvSpPr/>
          <p:nvPr/>
        </p:nvSpPr>
        <p:spPr>
          <a:xfrm>
            <a:off x="4032504" y="3035808"/>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h6e04de18195e4762_0_2"/>
          <p:cNvSpPr/>
          <p:nvPr/>
        </p:nvSpPr>
        <p:spPr>
          <a:xfrm>
            <a:off x="4251960" y="3035808"/>
            <a:ext cx="146400" cy="1464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h6e04de18195e4762_0_2"/>
          <p:cNvSpPr/>
          <p:nvPr/>
        </p:nvSpPr>
        <p:spPr>
          <a:xfrm>
            <a:off x="4471416" y="3035808"/>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h6e04de18195e4762_0_2"/>
          <p:cNvSpPr/>
          <p:nvPr/>
        </p:nvSpPr>
        <p:spPr>
          <a:xfrm>
            <a:off x="4690872" y="3035808"/>
            <a:ext cx="146400" cy="1464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h6e04de18195e4762_0_2"/>
          <p:cNvSpPr/>
          <p:nvPr/>
        </p:nvSpPr>
        <p:spPr>
          <a:xfrm>
            <a:off x="4910328" y="3035808"/>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h6e04de18195e4762_0_2"/>
          <p:cNvSpPr/>
          <p:nvPr/>
        </p:nvSpPr>
        <p:spPr>
          <a:xfrm>
            <a:off x="5129784" y="3035808"/>
            <a:ext cx="146400" cy="1464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h6e04de18195e4762_0_2"/>
          <p:cNvSpPr/>
          <p:nvPr/>
        </p:nvSpPr>
        <p:spPr>
          <a:xfrm>
            <a:off x="5349240" y="3035808"/>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h6e04de18195e4762_0_2"/>
          <p:cNvSpPr/>
          <p:nvPr/>
        </p:nvSpPr>
        <p:spPr>
          <a:xfrm>
            <a:off x="5568696" y="3035808"/>
            <a:ext cx="146400" cy="1464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h6e04de18195e4762_0_2"/>
          <p:cNvSpPr/>
          <p:nvPr/>
        </p:nvSpPr>
        <p:spPr>
          <a:xfrm>
            <a:off x="5788152" y="3035808"/>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h6e04de18195e4762_0_2"/>
          <p:cNvSpPr/>
          <p:nvPr/>
        </p:nvSpPr>
        <p:spPr>
          <a:xfrm>
            <a:off x="6007608" y="3035808"/>
            <a:ext cx="146400" cy="1464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h6e04de18195e4762_0_2"/>
          <p:cNvSpPr/>
          <p:nvPr/>
        </p:nvSpPr>
        <p:spPr>
          <a:xfrm>
            <a:off x="6227064" y="3035808"/>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h6e04de18195e4762_0_2"/>
          <p:cNvSpPr txBox="1"/>
          <p:nvPr/>
        </p:nvSpPr>
        <p:spPr>
          <a:xfrm>
            <a:off x="6583680" y="2944368"/>
            <a:ext cx="1371600" cy="329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2000"/>
              <a:buFont typeface="Arial"/>
              <a:buNone/>
            </a:pPr>
            <a:r>
              <a:rPr b="1" i="0" lang="en-US" sz="2000" u="none" cap="none" strike="noStrike">
                <a:solidFill>
                  <a:srgbClr val="1F2430"/>
                </a:solidFill>
                <a:latin typeface="Arial"/>
                <a:ea typeface="Arial"/>
                <a:cs typeface="Arial"/>
                <a:sym typeface="Arial"/>
              </a:rPr>
              <a:t>≈ 152</a:t>
            </a:r>
            <a:endParaRPr b="0" i="0" sz="2000" u="none" cap="none" strike="noStrike">
              <a:solidFill>
                <a:srgbClr val="1F2430"/>
              </a:solidFill>
              <a:latin typeface="Arial"/>
              <a:ea typeface="Arial"/>
              <a:cs typeface="Arial"/>
              <a:sym typeface="Arial"/>
            </a:endParaRPr>
          </a:p>
        </p:txBody>
      </p:sp>
      <p:sp>
        <p:nvSpPr>
          <p:cNvPr id="479" name="Google Shape;479;h6e04de18195e4762_0_2"/>
          <p:cNvSpPr txBox="1"/>
          <p:nvPr/>
        </p:nvSpPr>
        <p:spPr>
          <a:xfrm>
            <a:off x="548640" y="3639312"/>
            <a:ext cx="14172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1500"/>
              <a:buFont typeface="Arial"/>
              <a:buNone/>
            </a:pPr>
            <a:r>
              <a:rPr b="1" i="0" lang="en-US" sz="1500" u="none" cap="none" strike="noStrike">
                <a:solidFill>
                  <a:srgbClr val="1F2430"/>
                </a:solidFill>
                <a:latin typeface="Arial"/>
                <a:ea typeface="Arial"/>
                <a:cs typeface="Arial"/>
                <a:sym typeface="Arial"/>
              </a:rPr>
              <a:t>1 de cada 5</a:t>
            </a:r>
            <a:endParaRPr b="0" i="0" sz="1500" u="none" cap="none" strike="noStrike">
              <a:solidFill>
                <a:srgbClr val="1F2430"/>
              </a:solidFill>
              <a:latin typeface="Arial"/>
              <a:ea typeface="Arial"/>
              <a:cs typeface="Arial"/>
              <a:sym typeface="Arial"/>
            </a:endParaRPr>
          </a:p>
        </p:txBody>
      </p:sp>
      <p:sp>
        <p:nvSpPr>
          <p:cNvPr id="480" name="Google Shape;480;h6e04de18195e4762_0_2"/>
          <p:cNvSpPr/>
          <p:nvPr/>
        </p:nvSpPr>
        <p:spPr>
          <a:xfrm>
            <a:off x="2057400" y="3694176"/>
            <a:ext cx="146400" cy="1464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h6e04de18195e4762_0_2"/>
          <p:cNvSpPr/>
          <p:nvPr/>
        </p:nvSpPr>
        <p:spPr>
          <a:xfrm>
            <a:off x="2276856" y="3694176"/>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h6e04de18195e4762_0_2"/>
          <p:cNvSpPr/>
          <p:nvPr/>
        </p:nvSpPr>
        <p:spPr>
          <a:xfrm>
            <a:off x="2496312" y="3694176"/>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h6e04de18195e4762_0_2"/>
          <p:cNvSpPr/>
          <p:nvPr/>
        </p:nvSpPr>
        <p:spPr>
          <a:xfrm>
            <a:off x="2715768" y="3694176"/>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h6e04de18195e4762_0_2"/>
          <p:cNvSpPr/>
          <p:nvPr/>
        </p:nvSpPr>
        <p:spPr>
          <a:xfrm>
            <a:off x="2935224" y="3694176"/>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h6e04de18195e4762_0_2"/>
          <p:cNvSpPr/>
          <p:nvPr/>
        </p:nvSpPr>
        <p:spPr>
          <a:xfrm>
            <a:off x="3154680" y="3694176"/>
            <a:ext cx="146400" cy="1464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h6e04de18195e4762_0_2"/>
          <p:cNvSpPr/>
          <p:nvPr/>
        </p:nvSpPr>
        <p:spPr>
          <a:xfrm>
            <a:off x="3374136" y="3694176"/>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h6e04de18195e4762_0_2"/>
          <p:cNvSpPr/>
          <p:nvPr/>
        </p:nvSpPr>
        <p:spPr>
          <a:xfrm>
            <a:off x="3593592" y="3694176"/>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h6e04de18195e4762_0_2"/>
          <p:cNvSpPr/>
          <p:nvPr/>
        </p:nvSpPr>
        <p:spPr>
          <a:xfrm>
            <a:off x="3813048" y="3694176"/>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h6e04de18195e4762_0_2"/>
          <p:cNvSpPr/>
          <p:nvPr/>
        </p:nvSpPr>
        <p:spPr>
          <a:xfrm>
            <a:off x="4032504" y="3694176"/>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h6e04de18195e4762_0_2"/>
          <p:cNvSpPr/>
          <p:nvPr/>
        </p:nvSpPr>
        <p:spPr>
          <a:xfrm>
            <a:off x="4251960" y="3694176"/>
            <a:ext cx="146400" cy="1464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h6e04de18195e4762_0_2"/>
          <p:cNvSpPr/>
          <p:nvPr/>
        </p:nvSpPr>
        <p:spPr>
          <a:xfrm>
            <a:off x="4471416" y="3694176"/>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h6e04de18195e4762_0_2"/>
          <p:cNvSpPr/>
          <p:nvPr/>
        </p:nvSpPr>
        <p:spPr>
          <a:xfrm>
            <a:off x="4690872" y="3694176"/>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h6e04de18195e4762_0_2"/>
          <p:cNvSpPr/>
          <p:nvPr/>
        </p:nvSpPr>
        <p:spPr>
          <a:xfrm>
            <a:off x="4910328" y="3694176"/>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h6e04de18195e4762_0_2"/>
          <p:cNvSpPr/>
          <p:nvPr/>
        </p:nvSpPr>
        <p:spPr>
          <a:xfrm>
            <a:off x="5129784" y="3694176"/>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h6e04de18195e4762_0_2"/>
          <p:cNvSpPr/>
          <p:nvPr/>
        </p:nvSpPr>
        <p:spPr>
          <a:xfrm>
            <a:off x="5349240" y="3694176"/>
            <a:ext cx="146400" cy="1464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h6e04de18195e4762_0_2"/>
          <p:cNvSpPr/>
          <p:nvPr/>
        </p:nvSpPr>
        <p:spPr>
          <a:xfrm>
            <a:off x="5568696" y="3694176"/>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h6e04de18195e4762_0_2"/>
          <p:cNvSpPr/>
          <p:nvPr/>
        </p:nvSpPr>
        <p:spPr>
          <a:xfrm>
            <a:off x="5788152" y="3694176"/>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h6e04de18195e4762_0_2"/>
          <p:cNvSpPr/>
          <p:nvPr/>
        </p:nvSpPr>
        <p:spPr>
          <a:xfrm>
            <a:off x="6007608" y="3694176"/>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h6e04de18195e4762_0_2"/>
          <p:cNvSpPr/>
          <p:nvPr/>
        </p:nvSpPr>
        <p:spPr>
          <a:xfrm>
            <a:off x="6227064" y="3694176"/>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h6e04de18195e4762_0_2"/>
          <p:cNvSpPr txBox="1"/>
          <p:nvPr/>
        </p:nvSpPr>
        <p:spPr>
          <a:xfrm>
            <a:off x="6583680" y="3602736"/>
            <a:ext cx="1371600" cy="329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2000"/>
              <a:buFont typeface="Arial"/>
              <a:buNone/>
            </a:pPr>
            <a:r>
              <a:rPr b="1" i="0" lang="en-US" sz="2000" u="none" cap="none" strike="noStrike">
                <a:solidFill>
                  <a:srgbClr val="1F2430"/>
                </a:solidFill>
                <a:latin typeface="Arial"/>
                <a:ea typeface="Arial"/>
                <a:cs typeface="Arial"/>
                <a:sym typeface="Arial"/>
              </a:rPr>
              <a:t>≈ 61</a:t>
            </a:r>
            <a:endParaRPr b="0" i="0" sz="2000" u="none" cap="none" strike="noStrike">
              <a:solidFill>
                <a:srgbClr val="1F2430"/>
              </a:solidFill>
              <a:latin typeface="Arial"/>
              <a:ea typeface="Arial"/>
              <a:cs typeface="Arial"/>
              <a:sym typeface="Arial"/>
            </a:endParaRPr>
          </a:p>
        </p:txBody>
      </p:sp>
      <p:sp>
        <p:nvSpPr>
          <p:cNvPr id="501" name="Google Shape;501;h6e04de18195e4762_0_2"/>
          <p:cNvSpPr txBox="1"/>
          <p:nvPr/>
        </p:nvSpPr>
        <p:spPr>
          <a:xfrm>
            <a:off x="548640" y="4297680"/>
            <a:ext cx="14172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1500"/>
              <a:buFont typeface="Arial"/>
              <a:buNone/>
            </a:pPr>
            <a:r>
              <a:rPr b="1" i="0" lang="en-US" sz="1500" u="none" cap="none" strike="noStrike">
                <a:solidFill>
                  <a:srgbClr val="1F2430"/>
                </a:solidFill>
                <a:latin typeface="Arial"/>
                <a:ea typeface="Arial"/>
                <a:cs typeface="Arial"/>
                <a:sym typeface="Arial"/>
              </a:rPr>
              <a:t>1 de cada 20</a:t>
            </a:r>
            <a:endParaRPr b="0" i="0" sz="1500" u="none" cap="none" strike="noStrike">
              <a:solidFill>
                <a:srgbClr val="1F2430"/>
              </a:solidFill>
              <a:latin typeface="Arial"/>
              <a:ea typeface="Arial"/>
              <a:cs typeface="Arial"/>
              <a:sym typeface="Arial"/>
            </a:endParaRPr>
          </a:p>
        </p:txBody>
      </p:sp>
      <p:sp>
        <p:nvSpPr>
          <p:cNvPr id="502" name="Google Shape;502;h6e04de18195e4762_0_2"/>
          <p:cNvSpPr/>
          <p:nvPr/>
        </p:nvSpPr>
        <p:spPr>
          <a:xfrm>
            <a:off x="2057400" y="4352544"/>
            <a:ext cx="146400" cy="146400"/>
          </a:xfrm>
          <a:prstGeom prst="ellipse">
            <a:avLst/>
          </a:prstGeom>
          <a:solidFill>
            <a:srgbClr val="1F24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h6e04de18195e4762_0_2"/>
          <p:cNvSpPr/>
          <p:nvPr/>
        </p:nvSpPr>
        <p:spPr>
          <a:xfrm>
            <a:off x="2276856" y="4352544"/>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h6e04de18195e4762_0_2"/>
          <p:cNvSpPr/>
          <p:nvPr/>
        </p:nvSpPr>
        <p:spPr>
          <a:xfrm>
            <a:off x="2496312" y="4352544"/>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h6e04de18195e4762_0_2"/>
          <p:cNvSpPr/>
          <p:nvPr/>
        </p:nvSpPr>
        <p:spPr>
          <a:xfrm>
            <a:off x="2715768" y="4352544"/>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h6e04de18195e4762_0_2"/>
          <p:cNvSpPr/>
          <p:nvPr/>
        </p:nvSpPr>
        <p:spPr>
          <a:xfrm>
            <a:off x="2935224" y="4352544"/>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h6e04de18195e4762_0_2"/>
          <p:cNvSpPr/>
          <p:nvPr/>
        </p:nvSpPr>
        <p:spPr>
          <a:xfrm>
            <a:off x="3154680" y="4352544"/>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h6e04de18195e4762_0_2"/>
          <p:cNvSpPr/>
          <p:nvPr/>
        </p:nvSpPr>
        <p:spPr>
          <a:xfrm>
            <a:off x="3374136" y="4352544"/>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h6e04de18195e4762_0_2"/>
          <p:cNvSpPr/>
          <p:nvPr/>
        </p:nvSpPr>
        <p:spPr>
          <a:xfrm>
            <a:off x="3593592" y="4352544"/>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h6e04de18195e4762_0_2"/>
          <p:cNvSpPr/>
          <p:nvPr/>
        </p:nvSpPr>
        <p:spPr>
          <a:xfrm>
            <a:off x="3813048" y="4352544"/>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h6e04de18195e4762_0_2"/>
          <p:cNvSpPr/>
          <p:nvPr/>
        </p:nvSpPr>
        <p:spPr>
          <a:xfrm>
            <a:off x="4032504" y="4352544"/>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h6e04de18195e4762_0_2"/>
          <p:cNvSpPr/>
          <p:nvPr/>
        </p:nvSpPr>
        <p:spPr>
          <a:xfrm>
            <a:off x="4251960" y="4352544"/>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h6e04de18195e4762_0_2"/>
          <p:cNvSpPr/>
          <p:nvPr/>
        </p:nvSpPr>
        <p:spPr>
          <a:xfrm>
            <a:off x="4471416" y="4352544"/>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h6e04de18195e4762_0_2"/>
          <p:cNvSpPr/>
          <p:nvPr/>
        </p:nvSpPr>
        <p:spPr>
          <a:xfrm>
            <a:off x="4690872" y="4352544"/>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h6e04de18195e4762_0_2"/>
          <p:cNvSpPr/>
          <p:nvPr/>
        </p:nvSpPr>
        <p:spPr>
          <a:xfrm>
            <a:off x="4910328" y="4352544"/>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h6e04de18195e4762_0_2"/>
          <p:cNvSpPr/>
          <p:nvPr/>
        </p:nvSpPr>
        <p:spPr>
          <a:xfrm>
            <a:off x="5129784" y="4352544"/>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h6e04de18195e4762_0_2"/>
          <p:cNvSpPr/>
          <p:nvPr/>
        </p:nvSpPr>
        <p:spPr>
          <a:xfrm>
            <a:off x="5349240" y="4352544"/>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h6e04de18195e4762_0_2"/>
          <p:cNvSpPr/>
          <p:nvPr/>
        </p:nvSpPr>
        <p:spPr>
          <a:xfrm>
            <a:off x="5568696" y="4352544"/>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h6e04de18195e4762_0_2"/>
          <p:cNvSpPr/>
          <p:nvPr/>
        </p:nvSpPr>
        <p:spPr>
          <a:xfrm>
            <a:off x="5788152" y="4352544"/>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h6e04de18195e4762_0_2"/>
          <p:cNvSpPr/>
          <p:nvPr/>
        </p:nvSpPr>
        <p:spPr>
          <a:xfrm>
            <a:off x="6007608" y="4352544"/>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h6e04de18195e4762_0_2"/>
          <p:cNvSpPr/>
          <p:nvPr/>
        </p:nvSpPr>
        <p:spPr>
          <a:xfrm>
            <a:off x="6227064" y="4352544"/>
            <a:ext cx="146400" cy="146400"/>
          </a:xfrm>
          <a:prstGeom prst="ellipse">
            <a:avLst/>
          </a:prstGeom>
          <a:noFill/>
          <a:ln cap="flat" cmpd="sng" w="15875">
            <a:solidFill>
              <a:srgbClr val="9AA1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h6e04de18195e4762_0_2"/>
          <p:cNvSpPr txBox="1"/>
          <p:nvPr/>
        </p:nvSpPr>
        <p:spPr>
          <a:xfrm>
            <a:off x="6583680" y="4261104"/>
            <a:ext cx="1371600" cy="329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2000"/>
              <a:buFont typeface="Arial"/>
              <a:buNone/>
            </a:pPr>
            <a:r>
              <a:rPr b="1" i="0" lang="en-US" sz="2000" u="none" cap="none" strike="noStrike">
                <a:solidFill>
                  <a:srgbClr val="1F2430"/>
                </a:solidFill>
                <a:latin typeface="Arial"/>
                <a:ea typeface="Arial"/>
                <a:cs typeface="Arial"/>
                <a:sym typeface="Arial"/>
              </a:rPr>
              <a:t>≈ 15</a:t>
            </a:r>
            <a:endParaRPr b="0" i="0" sz="2000" u="none" cap="none" strike="noStrike">
              <a:solidFill>
                <a:srgbClr val="1F2430"/>
              </a:solidFill>
              <a:latin typeface="Arial"/>
              <a:ea typeface="Arial"/>
              <a:cs typeface="Arial"/>
              <a:sym typeface="Arial"/>
            </a:endParaRPr>
          </a:p>
        </p:txBody>
      </p:sp>
      <p:cxnSp>
        <p:nvCxnSpPr>
          <p:cNvPr id="523" name="Google Shape;523;h6e04de18195e4762_0_2"/>
          <p:cNvCxnSpPr/>
          <p:nvPr/>
        </p:nvCxnSpPr>
        <p:spPr>
          <a:xfrm>
            <a:off x="548640" y="5029200"/>
            <a:ext cx="7406700" cy="0"/>
          </a:xfrm>
          <a:prstGeom prst="straightConnector1">
            <a:avLst/>
          </a:prstGeom>
          <a:noFill/>
          <a:ln cap="flat" cmpd="sng" w="9525">
            <a:solidFill>
              <a:srgbClr val="D9D6CE"/>
            </a:solidFill>
            <a:prstDash val="solid"/>
            <a:round/>
            <a:headEnd len="sm" w="sm" type="none"/>
            <a:tailEnd len="sm" w="sm" type="none"/>
          </a:ln>
        </p:spPr>
      </p:cxnSp>
      <p:sp>
        <p:nvSpPr>
          <p:cNvPr id="524" name="Google Shape;524;h6e04de18195e4762_0_2"/>
          <p:cNvSpPr txBox="1"/>
          <p:nvPr/>
        </p:nvSpPr>
        <p:spPr>
          <a:xfrm>
            <a:off x="548640" y="5193792"/>
            <a:ext cx="7406700" cy="73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2000"/>
              <a:buFont typeface="Georgia"/>
              <a:buNone/>
            </a:pPr>
            <a:r>
              <a:rPr b="0" i="0" lang="en-US" sz="2000" u="none" cap="none" strike="noStrike">
                <a:solidFill>
                  <a:srgbClr val="1F2430"/>
                </a:solidFill>
                <a:latin typeface="Georgia"/>
                <a:ea typeface="Georgia"/>
                <a:cs typeface="Georgia"/>
                <a:sym typeface="Georgia"/>
              </a:rPr>
              <a:t>Con 1 de cada 20, reentrenar tiene unos 15 ejemplos para aprender 800 palabras alteradas.</a:t>
            </a:r>
            <a:endParaRPr b="0" i="0" sz="2000" u="none" cap="none" strike="noStrike">
              <a:solidFill>
                <a:srgbClr val="1F2430"/>
              </a:solidFill>
              <a:latin typeface="Arial"/>
              <a:ea typeface="Arial"/>
              <a:cs typeface="Arial"/>
              <a:sym typeface="Arial"/>
            </a:endParaRPr>
          </a:p>
        </p:txBody>
      </p:sp>
      <p:cxnSp>
        <p:nvCxnSpPr>
          <p:cNvPr id="525" name="Google Shape;525;h6e04de18195e4762_0_2"/>
          <p:cNvCxnSpPr/>
          <p:nvPr/>
        </p:nvCxnSpPr>
        <p:spPr>
          <a:xfrm>
            <a:off x="8229600" y="1874520"/>
            <a:ext cx="0" cy="4023300"/>
          </a:xfrm>
          <a:prstGeom prst="straightConnector1">
            <a:avLst/>
          </a:prstGeom>
          <a:noFill/>
          <a:ln cap="flat" cmpd="sng" w="9525">
            <a:solidFill>
              <a:srgbClr val="D9D6CE"/>
            </a:solidFill>
            <a:prstDash val="solid"/>
            <a:round/>
            <a:headEnd len="sm" w="sm" type="none"/>
            <a:tailEnd len="sm" w="sm" type="none"/>
          </a:ln>
        </p:spPr>
      </p:cxnSp>
      <p:sp>
        <p:nvSpPr>
          <p:cNvPr id="526" name="Google Shape;526;h6e04de18195e4762_0_2"/>
          <p:cNvSpPr txBox="1"/>
          <p:nvPr/>
        </p:nvSpPr>
        <p:spPr>
          <a:xfrm>
            <a:off x="8549640" y="1837944"/>
            <a:ext cx="320100" cy="41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A78D6"/>
              </a:buClr>
              <a:buSzPts val="2200"/>
              <a:buFont typeface="Georgia"/>
              <a:buNone/>
            </a:pPr>
            <a:r>
              <a:rPr b="0" i="0" lang="en-US" sz="2200" u="none" cap="none" strike="noStrike">
                <a:solidFill>
                  <a:srgbClr val="2A78D6"/>
                </a:solidFill>
                <a:latin typeface="Georgia"/>
                <a:ea typeface="Georgia"/>
                <a:cs typeface="Georgia"/>
                <a:sym typeface="Georgia"/>
              </a:rPr>
              <a:t>1</a:t>
            </a:r>
            <a:endParaRPr b="0" i="0" sz="2200" u="none" cap="none" strike="noStrike">
              <a:solidFill>
                <a:srgbClr val="1F2430"/>
              </a:solidFill>
              <a:latin typeface="Arial"/>
              <a:ea typeface="Arial"/>
              <a:cs typeface="Arial"/>
              <a:sym typeface="Arial"/>
            </a:endParaRPr>
          </a:p>
        </p:txBody>
      </p:sp>
      <p:sp>
        <p:nvSpPr>
          <p:cNvPr id="527" name="Google Shape;527;h6e04de18195e4762_0_2"/>
          <p:cNvSpPr txBox="1"/>
          <p:nvPr/>
        </p:nvSpPr>
        <p:spPr>
          <a:xfrm>
            <a:off x="8915400" y="1874520"/>
            <a:ext cx="2743200" cy="868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1400"/>
              <a:buFont typeface="Arial"/>
              <a:buNone/>
            </a:pPr>
            <a:r>
              <a:rPr b="0" i="0" lang="en-US" sz="1400" u="none" cap="none" strike="noStrike">
                <a:solidFill>
                  <a:srgbClr val="1F2430"/>
                </a:solidFill>
                <a:latin typeface="Arial"/>
                <a:ea typeface="Arial"/>
                <a:cs typeface="Arial"/>
                <a:sym typeface="Arial"/>
              </a:rPr>
              <a:t>Cada mensaje se reporta con probabilidad ρ. Hedge y SGD ven exactamente los mismos reportes.</a:t>
            </a:r>
            <a:endParaRPr b="0" i="0" sz="1400" u="none" cap="none" strike="noStrike">
              <a:solidFill>
                <a:srgbClr val="1F2430"/>
              </a:solidFill>
              <a:latin typeface="Arial"/>
              <a:ea typeface="Arial"/>
              <a:cs typeface="Arial"/>
              <a:sym typeface="Arial"/>
            </a:endParaRPr>
          </a:p>
        </p:txBody>
      </p:sp>
      <p:sp>
        <p:nvSpPr>
          <p:cNvPr id="528" name="Google Shape;528;h6e04de18195e4762_0_2"/>
          <p:cNvSpPr txBox="1"/>
          <p:nvPr/>
        </p:nvSpPr>
        <p:spPr>
          <a:xfrm>
            <a:off x="8549640" y="2980944"/>
            <a:ext cx="320100" cy="41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A78D6"/>
              </a:buClr>
              <a:buSzPts val="2200"/>
              <a:buFont typeface="Georgia"/>
              <a:buNone/>
            </a:pPr>
            <a:r>
              <a:rPr b="0" i="0" lang="en-US" sz="2200" u="none" cap="none" strike="noStrike">
                <a:solidFill>
                  <a:srgbClr val="2A78D6"/>
                </a:solidFill>
                <a:latin typeface="Georgia"/>
                <a:ea typeface="Georgia"/>
                <a:cs typeface="Georgia"/>
                <a:sym typeface="Georgia"/>
              </a:rPr>
              <a:t>2</a:t>
            </a:r>
            <a:endParaRPr b="0" i="0" sz="2200" u="none" cap="none" strike="noStrike">
              <a:solidFill>
                <a:srgbClr val="1F2430"/>
              </a:solidFill>
              <a:latin typeface="Arial"/>
              <a:ea typeface="Arial"/>
              <a:cs typeface="Arial"/>
              <a:sym typeface="Arial"/>
            </a:endParaRPr>
          </a:p>
        </p:txBody>
      </p:sp>
      <p:sp>
        <p:nvSpPr>
          <p:cNvPr id="529" name="Google Shape;529;h6e04de18195e4762_0_2"/>
          <p:cNvSpPr txBox="1"/>
          <p:nvPr/>
        </p:nvSpPr>
        <p:spPr>
          <a:xfrm>
            <a:off x="8915400" y="3017520"/>
            <a:ext cx="2743200" cy="109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1400"/>
              <a:buFont typeface="Arial"/>
              <a:buNone/>
            </a:pPr>
            <a:r>
              <a:rPr b="0" i="0" lang="en-US" sz="1400" u="none" cap="none" strike="noStrike">
                <a:solidFill>
                  <a:srgbClr val="1F2430"/>
                </a:solidFill>
                <a:latin typeface="Arial"/>
                <a:ea typeface="Arial"/>
                <a:cs typeface="Arial"/>
                <a:sym typeface="Arial"/>
              </a:rPr>
              <a:t>Todos predicen siempre y todo error cuenta, aunque no se reporte. Solo aprenden de los mensajes reportados.</a:t>
            </a:r>
            <a:endParaRPr b="0" i="0" sz="1400" u="none" cap="none" strike="noStrike">
              <a:solidFill>
                <a:srgbClr val="1F2430"/>
              </a:solidFill>
              <a:latin typeface="Arial"/>
              <a:ea typeface="Arial"/>
              <a:cs typeface="Arial"/>
              <a:sym typeface="Arial"/>
            </a:endParaRPr>
          </a:p>
        </p:txBody>
      </p:sp>
      <p:sp>
        <p:nvSpPr>
          <p:cNvPr id="530" name="Google Shape;530;h6e04de18195e4762_0_2"/>
          <p:cNvSpPr txBox="1"/>
          <p:nvPr/>
        </p:nvSpPr>
        <p:spPr>
          <a:xfrm>
            <a:off x="8549640" y="4352544"/>
            <a:ext cx="320100" cy="41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A78D6"/>
              </a:buClr>
              <a:buSzPts val="2200"/>
              <a:buFont typeface="Georgia"/>
              <a:buNone/>
            </a:pPr>
            <a:r>
              <a:rPr b="0" i="0" lang="en-US" sz="2200" u="none" cap="none" strike="noStrike">
                <a:solidFill>
                  <a:srgbClr val="2A78D6"/>
                </a:solidFill>
                <a:latin typeface="Georgia"/>
                <a:ea typeface="Georgia"/>
                <a:cs typeface="Georgia"/>
                <a:sym typeface="Georgia"/>
              </a:rPr>
              <a:t>3</a:t>
            </a:r>
            <a:endParaRPr b="0" i="0" sz="2200" u="none" cap="none" strike="noStrike">
              <a:solidFill>
                <a:srgbClr val="1F2430"/>
              </a:solidFill>
              <a:latin typeface="Arial"/>
              <a:ea typeface="Arial"/>
              <a:cs typeface="Arial"/>
              <a:sym typeface="Arial"/>
            </a:endParaRPr>
          </a:p>
        </p:txBody>
      </p:sp>
      <p:sp>
        <p:nvSpPr>
          <p:cNvPr id="531" name="Google Shape;531;h6e04de18195e4762_0_2"/>
          <p:cNvSpPr txBox="1"/>
          <p:nvPr/>
        </p:nvSpPr>
        <p:spPr>
          <a:xfrm>
            <a:off x="8915400" y="4389120"/>
            <a:ext cx="2743200" cy="109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1400"/>
              <a:buFont typeface="Arial"/>
              <a:buNone/>
            </a:pPr>
            <a:r>
              <a:rPr b="0" i="0" lang="en-US" sz="1400" u="none" cap="none" strike="noStrike">
                <a:solidFill>
                  <a:srgbClr val="1F2430"/>
                </a:solidFill>
                <a:latin typeface="Arial"/>
                <a:ea typeface="Arial"/>
                <a:cs typeface="Arial"/>
                <a:sym typeface="Arial"/>
              </a:rPr>
              <a:t>SGD aprende de cada reporte tal cual. Hedge multiplica por 1/ρ cada error que ve y achica η para no sobrerreaccionar.</a:t>
            </a:r>
            <a:endParaRPr b="0" i="0" sz="1400" u="none" cap="none" strike="noStrike">
              <a:solidFill>
                <a:srgbClr val="1F2430"/>
              </a:solidFill>
              <a:latin typeface="Arial"/>
              <a:ea typeface="Arial"/>
              <a:cs typeface="Arial"/>
              <a:sym typeface="Arial"/>
            </a:endParaRPr>
          </a:p>
        </p:txBody>
      </p:sp>
      <p:sp>
        <p:nvSpPr>
          <p:cNvPr id="532" name="Google Shape;532;h6e04de18195e4762_0_2"/>
          <p:cNvSpPr txBox="1"/>
          <p:nvPr/>
        </p:nvSpPr>
        <p:spPr>
          <a:xfrm>
            <a:off x="548640" y="6373368"/>
            <a:ext cx="102414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A1AE"/>
              </a:buClr>
              <a:buSzPts val="1000"/>
              <a:buFont typeface="Arial"/>
              <a:buNone/>
            </a:pPr>
            <a:r>
              <a:rPr b="0" i="0" lang="en-US" sz="1000" u="none" cap="none" strike="noStrike">
                <a:solidFill>
                  <a:srgbClr val="9AA1AE"/>
                </a:solidFill>
                <a:latin typeface="Arial"/>
                <a:ea typeface="Arial"/>
                <a:cs typeface="Arial"/>
                <a:sym typeface="Arial"/>
              </a:rPr>
              <a:t>Ilustrativo: en el experimento, qué mensajes se reportan se sortea. Para cada nivel, 20 órdenes del corpus × 5 sorteos de etiquetas.</a:t>
            </a:r>
            <a:endParaRPr b="0" i="0" sz="1000" u="none" cap="none" strike="noStrike">
              <a:solidFill>
                <a:srgbClr val="1F2430"/>
              </a:solidFill>
              <a:latin typeface="Arial"/>
              <a:ea typeface="Arial"/>
              <a:cs typeface="Arial"/>
              <a:sym typeface="Arial"/>
            </a:endParaRPr>
          </a:p>
        </p:txBody>
      </p:sp>
      <p:sp>
        <p:nvSpPr>
          <p:cNvPr id="533" name="Google Shape;533;h6e04de18195e4762_0_2"/>
          <p:cNvSpPr txBox="1"/>
          <p:nvPr/>
        </p:nvSpPr>
        <p:spPr>
          <a:xfrm>
            <a:off x="11091672" y="6373368"/>
            <a:ext cx="548700" cy="274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sz="1000">
                <a:solidFill>
                  <a:srgbClr val="9AA1AE"/>
                </a:solidFill>
              </a:rPr>
              <a:t>‹#›</a:t>
            </a:fld>
            <a:endParaRPr sz="1000">
              <a:solidFill>
                <a:srgbClr val="9AA1AE"/>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15"/>
          <p:cNvSpPr txBox="1"/>
          <p:nvPr/>
        </p:nvSpPr>
        <p:spPr>
          <a:xfrm>
            <a:off x="548640" y="411480"/>
            <a:ext cx="73152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100"/>
              <a:buFont typeface="Arial"/>
              <a:buNone/>
            </a:pPr>
            <a:r>
              <a:rPr b="1" lang="en-US" sz="1100">
                <a:solidFill>
                  <a:srgbClr val="5A6274"/>
                </a:solidFill>
                <a:latin typeface="Arial"/>
                <a:ea typeface="Arial"/>
                <a:cs typeface="Arial"/>
                <a:sym typeface="Arial"/>
              </a:rPr>
              <a:t>RESULTADO 2 · ¿CUÁNTA ETIQUETA HACE FALTA?</a:t>
            </a:r>
            <a:endParaRPr sz="1100">
              <a:solidFill>
                <a:schemeClr val="dk1"/>
              </a:solidFill>
              <a:latin typeface="Arial"/>
              <a:ea typeface="Arial"/>
              <a:cs typeface="Arial"/>
              <a:sym typeface="Arial"/>
            </a:endParaRPr>
          </a:p>
        </p:txBody>
      </p:sp>
      <p:sp>
        <p:nvSpPr>
          <p:cNvPr id="540" name="Google Shape;540;p15"/>
          <p:cNvSpPr txBox="1"/>
          <p:nvPr>
            <p:ph type="title"/>
          </p:nvPr>
        </p:nvSpPr>
        <p:spPr>
          <a:xfrm>
            <a:off x="548640" y="731520"/>
            <a:ext cx="10424160" cy="566928"/>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1F2430"/>
              </a:buClr>
              <a:buSzPts val="3000"/>
              <a:buFont typeface="Georgia"/>
              <a:buNone/>
            </a:pPr>
            <a:r>
              <a:rPr lang="en-US" sz="3000">
                <a:solidFill>
                  <a:srgbClr val="1F2430"/>
                </a:solidFill>
                <a:latin typeface="Georgia"/>
                <a:ea typeface="Georgia"/>
                <a:cs typeface="Georgia"/>
                <a:sym typeface="Georgia"/>
              </a:rPr>
              <a:t>Con pocas etiquetas, combinar le gana a reentrenar</a:t>
            </a:r>
            <a:endParaRPr sz="3000"/>
          </a:p>
        </p:txBody>
      </p:sp>
      <p:sp>
        <p:nvSpPr>
          <p:cNvPr id="541" name="Google Shape;541;p15"/>
          <p:cNvSpPr txBox="1"/>
          <p:nvPr/>
        </p:nvSpPr>
        <p:spPr>
          <a:xfrm>
            <a:off x="548640" y="1307592"/>
            <a:ext cx="1042416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500"/>
              <a:buFont typeface="Arial"/>
              <a:buNone/>
            </a:pPr>
            <a:r>
              <a:rPr lang="en-US" sz="1500">
                <a:solidFill>
                  <a:srgbClr val="5A6274"/>
                </a:solidFill>
                <a:latin typeface="Arial"/>
                <a:ea typeface="Arial"/>
                <a:cs typeface="Arial"/>
                <a:sym typeface="Arial"/>
              </a:rPr>
              <a:t>Errores en la mitad atacada, según cuántos mensajes reporta el usuario.</a:t>
            </a:r>
            <a:endParaRPr sz="1500">
              <a:solidFill>
                <a:schemeClr val="dk1"/>
              </a:solidFill>
              <a:latin typeface="Arial"/>
              <a:ea typeface="Arial"/>
              <a:cs typeface="Arial"/>
              <a:sym typeface="Arial"/>
            </a:endParaRPr>
          </a:p>
        </p:txBody>
      </p:sp>
      <p:sp>
        <p:nvSpPr>
          <p:cNvPr id="542" name="Google Shape;542;p15"/>
          <p:cNvSpPr txBox="1"/>
          <p:nvPr/>
        </p:nvSpPr>
        <p:spPr>
          <a:xfrm>
            <a:off x="9235440" y="429768"/>
            <a:ext cx="155448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AA1AE"/>
              </a:buClr>
              <a:buSzPts val="900"/>
              <a:buFont typeface="Arial"/>
              <a:buNone/>
            </a:pPr>
            <a:r>
              <a:rPr b="1" lang="en-US" sz="900">
                <a:solidFill>
                  <a:srgbClr val="9AA1AE"/>
                </a:solidFill>
                <a:latin typeface="Arial"/>
                <a:ea typeface="Arial"/>
                <a:cs typeface="Arial"/>
                <a:sym typeface="Arial"/>
              </a:rPr>
              <a:t>RESULTADOS</a:t>
            </a:r>
            <a:endParaRPr sz="900">
              <a:solidFill>
                <a:schemeClr val="dk1"/>
              </a:solidFill>
              <a:latin typeface="Arial"/>
              <a:ea typeface="Arial"/>
              <a:cs typeface="Arial"/>
              <a:sym typeface="Arial"/>
            </a:endParaRPr>
          </a:p>
        </p:txBody>
      </p:sp>
      <p:sp>
        <p:nvSpPr>
          <p:cNvPr id="543" name="Google Shape;543;p15"/>
          <p:cNvSpPr/>
          <p:nvPr/>
        </p:nvSpPr>
        <p:spPr>
          <a:xfrm>
            <a:off x="10899648"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4" name="Google Shape;544;p15"/>
          <p:cNvSpPr/>
          <p:nvPr/>
        </p:nvSpPr>
        <p:spPr>
          <a:xfrm>
            <a:off x="11100816" y="457200"/>
            <a:ext cx="137160" cy="137160"/>
          </a:xfrm>
          <a:prstGeom prst="ellipse">
            <a:avLst/>
          </a:prstGeom>
          <a:solidFill>
            <a:srgbClr val="1F24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5" name="Google Shape;545;p15"/>
          <p:cNvSpPr/>
          <p:nvPr/>
        </p:nvSpPr>
        <p:spPr>
          <a:xfrm>
            <a:off x="11301984"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6" name="Google Shape;546;p15"/>
          <p:cNvSpPr/>
          <p:nvPr/>
        </p:nvSpPr>
        <p:spPr>
          <a:xfrm>
            <a:off x="11503152"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Errores según la fracción de mensajes etiquetados. Con todas las etiquetas SGD comete 73 y Hedge 133; con 1 de cada 20, SGD 210 y Hedge 189, frente a 190 del estático." id="547" name="Google Shape;547;p15"/>
          <p:cNvPicPr preferRelativeResize="0"/>
          <p:nvPr/>
        </p:nvPicPr>
        <p:blipFill rotWithShape="1">
          <a:blip r:embed="rId3">
            <a:alphaModFix/>
          </a:blip>
          <a:srcRect b="0" l="0" r="0" t="0"/>
          <a:stretch/>
        </p:blipFill>
        <p:spPr>
          <a:xfrm>
            <a:off x="411480" y="1783080"/>
            <a:ext cx="6495445" cy="4434840"/>
          </a:xfrm>
          <a:prstGeom prst="rect">
            <a:avLst/>
          </a:prstGeom>
          <a:noFill/>
          <a:ln>
            <a:noFill/>
          </a:ln>
        </p:spPr>
      </p:pic>
      <p:sp>
        <p:nvSpPr>
          <p:cNvPr id="548" name="Google Shape;548;p15"/>
          <p:cNvSpPr txBox="1"/>
          <p:nvPr/>
        </p:nvSpPr>
        <p:spPr>
          <a:xfrm>
            <a:off x="7726680" y="1920240"/>
            <a:ext cx="393192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A78D6"/>
              </a:buClr>
              <a:buSzPts val="5400"/>
              <a:buFont typeface="Arial"/>
              <a:buNone/>
            </a:pPr>
            <a:r>
              <a:rPr b="1" lang="en-US" sz="5400">
                <a:solidFill>
                  <a:srgbClr val="2A78D6"/>
                </a:solidFill>
                <a:latin typeface="Arial"/>
                <a:ea typeface="Arial"/>
                <a:cs typeface="Arial"/>
                <a:sym typeface="Arial"/>
              </a:rPr>
              <a:t>15 de 20</a:t>
            </a:r>
            <a:endParaRPr sz="5400">
              <a:solidFill>
                <a:schemeClr val="dk1"/>
              </a:solidFill>
              <a:latin typeface="Arial"/>
              <a:ea typeface="Arial"/>
              <a:cs typeface="Arial"/>
              <a:sym typeface="Arial"/>
            </a:endParaRPr>
          </a:p>
        </p:txBody>
      </p:sp>
      <p:sp>
        <p:nvSpPr>
          <p:cNvPr id="549" name="Google Shape;549;p15"/>
          <p:cNvSpPr txBox="1"/>
          <p:nvPr/>
        </p:nvSpPr>
        <p:spPr>
          <a:xfrm>
            <a:off x="7726680" y="2816352"/>
            <a:ext cx="393192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1500"/>
              <a:buFont typeface="Arial"/>
              <a:buNone/>
            </a:pPr>
            <a:r>
              <a:rPr lang="en-US" sz="1500">
                <a:solidFill>
                  <a:srgbClr val="1F2430"/>
                </a:solidFill>
                <a:latin typeface="Arial"/>
                <a:ea typeface="Arial"/>
                <a:cs typeface="Arial"/>
                <a:sym typeface="Arial"/>
              </a:rPr>
              <a:t>semillas en las que gana Hedge cuando el usuario reporta 1 de cada 20 mensajes</a:t>
            </a:r>
            <a:endParaRPr sz="1500">
              <a:solidFill>
                <a:schemeClr val="dk1"/>
              </a:solidFill>
              <a:latin typeface="Arial"/>
              <a:ea typeface="Arial"/>
              <a:cs typeface="Arial"/>
              <a:sym typeface="Arial"/>
            </a:endParaRPr>
          </a:p>
        </p:txBody>
      </p:sp>
      <p:sp>
        <p:nvSpPr>
          <p:cNvPr id="550" name="Google Shape;550;p15"/>
          <p:cNvSpPr txBox="1"/>
          <p:nvPr/>
        </p:nvSpPr>
        <p:spPr>
          <a:xfrm>
            <a:off x="7726680" y="3657600"/>
            <a:ext cx="3931920" cy="670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AF7A"/>
              </a:buClr>
              <a:buSzPts val="4400"/>
              <a:buFont typeface="Arial"/>
              <a:buNone/>
            </a:pPr>
            <a:r>
              <a:rPr b="1" lang="en-US" sz="4400">
                <a:solidFill>
                  <a:srgbClr val="1BAF7A"/>
                </a:solidFill>
                <a:latin typeface="Arial"/>
                <a:ea typeface="Arial"/>
                <a:cs typeface="Arial"/>
                <a:sym typeface="Arial"/>
              </a:rPr>
              <a:t>210 &gt; 190</a:t>
            </a:r>
            <a:endParaRPr sz="4400">
              <a:solidFill>
                <a:schemeClr val="dk1"/>
              </a:solidFill>
              <a:latin typeface="Arial"/>
              <a:ea typeface="Arial"/>
              <a:cs typeface="Arial"/>
              <a:sym typeface="Arial"/>
            </a:endParaRPr>
          </a:p>
        </p:txBody>
      </p:sp>
      <p:sp>
        <p:nvSpPr>
          <p:cNvPr id="551" name="Google Shape;551;p15"/>
          <p:cNvSpPr txBox="1"/>
          <p:nvPr/>
        </p:nvSpPr>
        <p:spPr>
          <a:xfrm>
            <a:off x="7726680" y="4401312"/>
            <a:ext cx="393192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1500"/>
              <a:buFont typeface="Arial"/>
              <a:buNone/>
            </a:pPr>
            <a:r>
              <a:rPr lang="en-US" sz="1500">
                <a:solidFill>
                  <a:srgbClr val="1F2430"/>
                </a:solidFill>
                <a:latin typeface="Arial"/>
                <a:ea typeface="Arial"/>
                <a:cs typeface="Arial"/>
                <a:sym typeface="Arial"/>
              </a:rPr>
              <a:t>errores: con tan pocas etiquetas, SGD termina peor que no adaptarse</a:t>
            </a:r>
            <a:endParaRPr sz="1500">
              <a:solidFill>
                <a:schemeClr val="dk1"/>
              </a:solidFill>
              <a:latin typeface="Arial"/>
              <a:ea typeface="Arial"/>
              <a:cs typeface="Arial"/>
              <a:sym typeface="Arial"/>
            </a:endParaRPr>
          </a:p>
        </p:txBody>
      </p:sp>
      <p:sp>
        <p:nvSpPr>
          <p:cNvPr id="552" name="Google Shape;552;p15"/>
          <p:cNvSpPr txBox="1"/>
          <p:nvPr/>
        </p:nvSpPr>
        <p:spPr>
          <a:xfrm>
            <a:off x="7726680" y="5440680"/>
            <a:ext cx="393192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300"/>
              <a:buFont typeface="Arial"/>
              <a:buNone/>
            </a:pPr>
            <a:r>
              <a:rPr lang="en-US" sz="1300">
                <a:solidFill>
                  <a:srgbClr val="5A6274"/>
                </a:solidFill>
                <a:latin typeface="Arial"/>
                <a:ea typeface="Arial"/>
                <a:cs typeface="Arial"/>
                <a:sym typeface="Arial"/>
              </a:rPr>
              <a:t>Con 1 de cada 5 o más, reentrenar gana en al menos 18 de 20 semillas.</a:t>
            </a:r>
            <a:endParaRPr sz="1300">
              <a:solidFill>
                <a:schemeClr val="dk1"/>
              </a:solidFill>
              <a:latin typeface="Arial"/>
              <a:ea typeface="Arial"/>
              <a:cs typeface="Arial"/>
              <a:sym typeface="Arial"/>
            </a:endParaRPr>
          </a:p>
        </p:txBody>
      </p:sp>
      <p:sp>
        <p:nvSpPr>
          <p:cNvPr id="553" name="Google Shape;553;p15"/>
          <p:cNvSpPr txBox="1"/>
          <p:nvPr/>
        </p:nvSpPr>
        <p:spPr>
          <a:xfrm>
            <a:off x="548640" y="6373368"/>
            <a:ext cx="1024128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A1AE"/>
              </a:buClr>
              <a:buSzPts val="1000"/>
              <a:buFont typeface="Arial"/>
              <a:buNone/>
            </a:pPr>
            <a:r>
              <a:rPr lang="en-US" sz="1000">
                <a:solidFill>
                  <a:srgbClr val="9AA1AE"/>
                </a:solidFill>
                <a:latin typeface="Arial"/>
                <a:ea typeface="Arial"/>
                <a:cs typeface="Arial"/>
                <a:sym typeface="Arial"/>
              </a:rPr>
              <a:t>Barrido de ρ, la probabilidad de ver la etiqueta. Hedge usa el estimador ℓ/ρ con η_ρ = √ρ · η_T. Media de 20 permutaciones (semillas) del SMS Spam Collection.</a:t>
            </a:r>
            <a:endParaRPr sz="1000">
              <a:solidFill>
                <a:schemeClr val="dk1"/>
              </a:solidFill>
              <a:latin typeface="Arial"/>
              <a:ea typeface="Arial"/>
              <a:cs typeface="Arial"/>
              <a:sym typeface="Arial"/>
            </a:endParaRPr>
          </a:p>
        </p:txBody>
      </p:sp>
      <p:sp>
        <p:nvSpPr>
          <p:cNvPr id="554" name="Google Shape;554;p15"/>
          <p:cNvSpPr txBox="1"/>
          <p:nvPr>
            <p:ph idx="4294967295" type="sldNum"/>
          </p:nvPr>
        </p:nvSpPr>
        <p:spPr>
          <a:xfrm>
            <a:off x="11091672" y="637336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AA1AE"/>
                </a:solidFill>
                <a:latin typeface="Arial"/>
                <a:ea typeface="Arial"/>
                <a:cs typeface="Arial"/>
                <a:sym typeface="Arial"/>
              </a:rPr>
              <a:t>‹#›</a:t>
            </a:fld>
            <a:endParaRPr sz="1000">
              <a:solidFill>
                <a:srgbClr val="9AA1AE"/>
              </a:solidFill>
              <a:latin typeface="Arial"/>
              <a:ea typeface="Arial"/>
              <a:cs typeface="Arial"/>
              <a:sym typeface="Arial"/>
            </a:endParaRP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16"/>
          <p:cNvSpPr txBox="1"/>
          <p:nvPr/>
        </p:nvSpPr>
        <p:spPr>
          <a:xfrm>
            <a:off x="548640" y="411480"/>
            <a:ext cx="73152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100"/>
              <a:buFont typeface="Arial"/>
              <a:buNone/>
            </a:pPr>
            <a:r>
              <a:rPr b="1" lang="en-US" sz="1100">
                <a:solidFill>
                  <a:srgbClr val="5A6274"/>
                </a:solidFill>
                <a:latin typeface="Arial"/>
                <a:ea typeface="Arial"/>
                <a:cs typeface="Arial"/>
                <a:sym typeface="Arial"/>
              </a:rPr>
              <a:t>RESULTADO 2</a:t>
            </a:r>
            <a:endParaRPr sz="1100">
              <a:solidFill>
                <a:schemeClr val="dk1"/>
              </a:solidFill>
              <a:latin typeface="Arial"/>
              <a:ea typeface="Arial"/>
              <a:cs typeface="Arial"/>
              <a:sym typeface="Arial"/>
            </a:endParaRPr>
          </a:p>
        </p:txBody>
      </p:sp>
      <p:sp>
        <p:nvSpPr>
          <p:cNvPr id="561" name="Google Shape;561;p16"/>
          <p:cNvSpPr txBox="1"/>
          <p:nvPr>
            <p:ph type="title"/>
          </p:nvPr>
        </p:nvSpPr>
        <p:spPr>
          <a:xfrm>
            <a:off x="548640" y="731520"/>
            <a:ext cx="10424160" cy="566928"/>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1F2430"/>
              </a:buClr>
              <a:buSzPts val="3000"/>
              <a:buFont typeface="Georgia"/>
              <a:buNone/>
            </a:pPr>
            <a:r>
              <a:rPr lang="en-US"/>
              <a:t>Con pocos ejemplos, pasos más grandes empeoran a SGD</a:t>
            </a:r>
            <a:endParaRPr sz="3000"/>
          </a:p>
        </p:txBody>
      </p:sp>
      <p:sp>
        <p:nvSpPr>
          <p:cNvPr id="562" name="Google Shape;562;p16"/>
          <p:cNvSpPr txBox="1"/>
          <p:nvPr/>
        </p:nvSpPr>
        <p:spPr>
          <a:xfrm>
            <a:off x="548640" y="1307592"/>
            <a:ext cx="1042416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500"/>
              <a:buFont typeface="Arial"/>
              <a:buNone/>
            </a:pPr>
            <a:r>
              <a:rPr lang="en-US" sz="1500">
                <a:solidFill>
                  <a:srgbClr val="5A6274"/>
                </a:solidFill>
                <a:latin typeface="Arial"/>
                <a:ea typeface="Arial"/>
                <a:cs typeface="Arial"/>
                <a:sym typeface="Arial"/>
              </a:rPr>
              <a:t>Errores en la mitad atacada con 1 de cada 20 mensajes etiquetado.</a:t>
            </a:r>
            <a:endParaRPr sz="1500">
              <a:solidFill>
                <a:schemeClr val="dk1"/>
              </a:solidFill>
              <a:latin typeface="Arial"/>
              <a:ea typeface="Arial"/>
              <a:cs typeface="Arial"/>
              <a:sym typeface="Arial"/>
            </a:endParaRPr>
          </a:p>
        </p:txBody>
      </p:sp>
      <p:sp>
        <p:nvSpPr>
          <p:cNvPr id="563" name="Google Shape;563;p16"/>
          <p:cNvSpPr txBox="1"/>
          <p:nvPr/>
        </p:nvSpPr>
        <p:spPr>
          <a:xfrm>
            <a:off x="9235440" y="429768"/>
            <a:ext cx="155448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AA1AE"/>
              </a:buClr>
              <a:buSzPts val="900"/>
              <a:buFont typeface="Arial"/>
              <a:buNone/>
            </a:pPr>
            <a:r>
              <a:rPr b="1" lang="en-US" sz="900">
                <a:solidFill>
                  <a:srgbClr val="9AA1AE"/>
                </a:solidFill>
                <a:latin typeface="Arial"/>
                <a:ea typeface="Arial"/>
                <a:cs typeface="Arial"/>
                <a:sym typeface="Arial"/>
              </a:rPr>
              <a:t>RESULTADOS</a:t>
            </a:r>
            <a:endParaRPr sz="900">
              <a:solidFill>
                <a:schemeClr val="dk1"/>
              </a:solidFill>
              <a:latin typeface="Arial"/>
              <a:ea typeface="Arial"/>
              <a:cs typeface="Arial"/>
              <a:sym typeface="Arial"/>
            </a:endParaRPr>
          </a:p>
        </p:txBody>
      </p:sp>
      <p:sp>
        <p:nvSpPr>
          <p:cNvPr id="564" name="Google Shape;564;p16"/>
          <p:cNvSpPr/>
          <p:nvPr/>
        </p:nvSpPr>
        <p:spPr>
          <a:xfrm>
            <a:off x="10899648"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65" name="Google Shape;565;p16"/>
          <p:cNvSpPr/>
          <p:nvPr/>
        </p:nvSpPr>
        <p:spPr>
          <a:xfrm>
            <a:off x="11100816" y="457200"/>
            <a:ext cx="137160" cy="137160"/>
          </a:xfrm>
          <a:prstGeom prst="ellipse">
            <a:avLst/>
          </a:prstGeom>
          <a:solidFill>
            <a:srgbClr val="1F24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66" name="Google Shape;566;p16"/>
          <p:cNvSpPr/>
          <p:nvPr/>
        </p:nvSpPr>
        <p:spPr>
          <a:xfrm>
            <a:off x="11301984"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67" name="Google Shape;567;p16"/>
          <p:cNvSpPr/>
          <p:nvPr/>
        </p:nvSpPr>
        <p:spPr>
          <a:xfrm>
            <a:off x="11503152"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SGD online sin reponderar comete 210 errores; reponderado por 1 sobre raíz de rho, 240; por 1 sobre rho, 323. Hedge comete 189." id="568" name="Google Shape;568;p16"/>
          <p:cNvPicPr preferRelativeResize="0"/>
          <p:nvPr/>
        </p:nvPicPr>
        <p:blipFill rotWithShape="1">
          <a:blip r:embed="rId3">
            <a:alphaModFix/>
          </a:blip>
          <a:srcRect b="0" l="0" r="0" t="0"/>
          <a:stretch/>
        </p:blipFill>
        <p:spPr>
          <a:xfrm>
            <a:off x="411480" y="1828800"/>
            <a:ext cx="6949440" cy="3897102"/>
          </a:xfrm>
          <a:prstGeom prst="rect">
            <a:avLst/>
          </a:prstGeom>
          <a:noFill/>
          <a:ln>
            <a:noFill/>
          </a:ln>
        </p:spPr>
      </p:pic>
      <p:sp>
        <p:nvSpPr>
          <p:cNvPr id="569" name="Google Shape;569;p16"/>
          <p:cNvSpPr txBox="1"/>
          <p:nvPr/>
        </p:nvSpPr>
        <p:spPr>
          <a:xfrm>
            <a:off x="7726680" y="1920240"/>
            <a:ext cx="393192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2000"/>
              <a:buFont typeface="Georgia"/>
              <a:buNone/>
            </a:pPr>
            <a:r>
              <a:rPr lang="en-US" sz="2000">
                <a:solidFill>
                  <a:srgbClr val="1F2430"/>
                </a:solidFill>
                <a:latin typeface="Georgia"/>
                <a:ea typeface="Georgia"/>
                <a:cs typeface="Georgia"/>
                <a:sym typeface="Georgia"/>
              </a:rPr>
              <a:t>¿Y si SGD compensa las etiquetas que faltan pesando más cada ejemplo, como hace Hedge?</a:t>
            </a:r>
            <a:endParaRPr sz="2000">
              <a:solidFill>
                <a:schemeClr val="dk1"/>
              </a:solidFill>
              <a:latin typeface="Arial"/>
              <a:ea typeface="Arial"/>
              <a:cs typeface="Arial"/>
              <a:sym typeface="Arial"/>
            </a:endParaRPr>
          </a:p>
        </p:txBody>
      </p:sp>
      <p:sp>
        <p:nvSpPr>
          <p:cNvPr id="570" name="Google Shape;570;p16"/>
          <p:cNvSpPr txBox="1"/>
          <p:nvPr/>
        </p:nvSpPr>
        <p:spPr>
          <a:xfrm>
            <a:off x="7726680" y="3108960"/>
            <a:ext cx="393192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500"/>
              <a:buFont typeface="Arial"/>
              <a:buNone/>
            </a:pPr>
            <a:r>
              <a:rPr lang="en-US" sz="1500">
                <a:solidFill>
                  <a:srgbClr val="5A6274"/>
                </a:solidFill>
                <a:latin typeface="Arial"/>
                <a:ea typeface="Arial"/>
                <a:cs typeface="Arial"/>
                <a:sym typeface="Arial"/>
              </a:rPr>
              <a:t>Empeora: con pocos ejemplos, pasos más grandes sobreajustan a cada uno.</a:t>
            </a:r>
            <a:endParaRPr sz="1500">
              <a:solidFill>
                <a:schemeClr val="dk1"/>
              </a:solidFill>
              <a:latin typeface="Arial"/>
              <a:ea typeface="Arial"/>
              <a:cs typeface="Arial"/>
              <a:sym typeface="Arial"/>
            </a:endParaRPr>
          </a:p>
        </p:txBody>
      </p:sp>
      <p:cxnSp>
        <p:nvCxnSpPr>
          <p:cNvPr id="571" name="Google Shape;571;p16"/>
          <p:cNvCxnSpPr/>
          <p:nvPr/>
        </p:nvCxnSpPr>
        <p:spPr>
          <a:xfrm>
            <a:off x="7726680" y="3931920"/>
            <a:ext cx="3913632" cy="0"/>
          </a:xfrm>
          <a:prstGeom prst="straightConnector1">
            <a:avLst/>
          </a:prstGeom>
          <a:noFill/>
          <a:ln cap="flat" cmpd="sng" w="9525">
            <a:solidFill>
              <a:srgbClr val="D9D6CE"/>
            </a:solidFill>
            <a:prstDash val="solid"/>
            <a:round/>
            <a:headEnd len="sm" w="sm" type="none"/>
            <a:tailEnd len="sm" w="sm" type="none"/>
          </a:ln>
        </p:spPr>
      </p:cxnSp>
      <p:sp>
        <p:nvSpPr>
          <p:cNvPr id="572" name="Google Shape;572;p16"/>
          <p:cNvSpPr txBox="1"/>
          <p:nvPr/>
        </p:nvSpPr>
        <p:spPr>
          <a:xfrm>
            <a:off x="7726680" y="4114800"/>
            <a:ext cx="3931920" cy="1051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A78D6"/>
              </a:buClr>
              <a:buSzPts val="2200"/>
              <a:buFont typeface="Georgia"/>
              <a:buNone/>
            </a:pPr>
            <a:r>
              <a:rPr lang="en-US" sz="2200">
                <a:solidFill>
                  <a:srgbClr val="2A78D6"/>
                </a:solidFill>
                <a:latin typeface="Georgia"/>
                <a:ea typeface="Georgia"/>
                <a:cs typeface="Georgia"/>
                <a:sym typeface="Georgia"/>
              </a:rPr>
              <a:t>Hedge aprende 5 pesos. Reentrenar, uno por cada palabra nueva.</a:t>
            </a:r>
            <a:endParaRPr sz="2200">
              <a:solidFill>
                <a:schemeClr val="dk1"/>
              </a:solidFill>
              <a:latin typeface="Arial"/>
              <a:ea typeface="Arial"/>
              <a:cs typeface="Arial"/>
              <a:sym typeface="Arial"/>
            </a:endParaRPr>
          </a:p>
        </p:txBody>
      </p:sp>
      <p:sp>
        <p:nvSpPr>
          <p:cNvPr id="573" name="Google Shape;573;p16"/>
          <p:cNvSpPr txBox="1"/>
          <p:nvPr/>
        </p:nvSpPr>
        <p:spPr>
          <a:xfrm>
            <a:off x="7726680" y="5303520"/>
            <a:ext cx="393192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300"/>
              <a:buFont typeface="Arial"/>
              <a:buNone/>
            </a:pPr>
            <a:r>
              <a:rPr lang="en-US" sz="1300">
                <a:solidFill>
                  <a:srgbClr val="5A6274"/>
                </a:solidFill>
                <a:latin typeface="Arial"/>
                <a:ea typeface="Arial"/>
                <a:cs typeface="Arial"/>
                <a:sym typeface="Arial"/>
              </a:rPr>
              <a:t>Lo que sí paga Hedge es varianza: con ρ = 0,05 cada observación pesa ≈ 4,5 veces más.</a:t>
            </a:r>
            <a:endParaRPr sz="1300">
              <a:solidFill>
                <a:schemeClr val="dk1"/>
              </a:solidFill>
              <a:latin typeface="Arial"/>
              <a:ea typeface="Arial"/>
              <a:cs typeface="Arial"/>
              <a:sym typeface="Arial"/>
            </a:endParaRPr>
          </a:p>
        </p:txBody>
      </p:sp>
      <p:sp>
        <p:nvSpPr>
          <p:cNvPr id="574" name="Google Shape;574;p16"/>
          <p:cNvSpPr txBox="1"/>
          <p:nvPr/>
        </p:nvSpPr>
        <p:spPr>
          <a:xfrm>
            <a:off x="548640" y="6373368"/>
            <a:ext cx="1024128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A1AE"/>
              </a:buClr>
              <a:buSzPts val="1000"/>
              <a:buFont typeface="Arial"/>
              <a:buNone/>
            </a:pPr>
            <a:r>
              <a:rPr lang="en-US" sz="1000">
                <a:solidFill>
                  <a:srgbClr val="9AA1AE"/>
                </a:solidFill>
                <a:latin typeface="Arial"/>
                <a:ea typeface="Arial"/>
                <a:cs typeface="Arial"/>
                <a:sym typeface="Arial"/>
              </a:rPr>
              <a:t>Media de 20 permutaciones (semillas) del SMS Spam Collection. Ataque desde la mitad del stream.</a:t>
            </a:r>
            <a:endParaRPr sz="1000">
              <a:solidFill>
                <a:schemeClr val="dk1"/>
              </a:solidFill>
              <a:latin typeface="Arial"/>
              <a:ea typeface="Arial"/>
              <a:cs typeface="Arial"/>
              <a:sym typeface="Arial"/>
            </a:endParaRPr>
          </a:p>
        </p:txBody>
      </p:sp>
      <p:sp>
        <p:nvSpPr>
          <p:cNvPr id="575" name="Google Shape;575;p16"/>
          <p:cNvSpPr txBox="1"/>
          <p:nvPr>
            <p:ph idx="4294967295" type="sldNum"/>
          </p:nvPr>
        </p:nvSpPr>
        <p:spPr>
          <a:xfrm>
            <a:off x="11091672" y="637336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AA1AE"/>
                </a:solidFill>
                <a:latin typeface="Arial"/>
                <a:ea typeface="Arial"/>
                <a:cs typeface="Arial"/>
                <a:sym typeface="Arial"/>
              </a:rPr>
              <a:t>‹#›</a:t>
            </a:fld>
            <a:endParaRPr sz="1000">
              <a:solidFill>
                <a:srgbClr val="9AA1AE"/>
              </a:solidFill>
              <a:latin typeface="Arial"/>
              <a:ea typeface="Arial"/>
              <a:cs typeface="Arial"/>
              <a:sym typeface="Arial"/>
            </a:endParaRP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17"/>
          <p:cNvSpPr txBox="1"/>
          <p:nvPr/>
        </p:nvSpPr>
        <p:spPr>
          <a:xfrm>
            <a:off x="548640" y="411480"/>
            <a:ext cx="73152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100"/>
              <a:buFont typeface="Arial"/>
              <a:buNone/>
            </a:pPr>
            <a:r>
              <a:rPr b="1" lang="en-US" sz="1100">
                <a:solidFill>
                  <a:srgbClr val="5A6274"/>
                </a:solidFill>
                <a:latin typeface="Arial"/>
                <a:ea typeface="Arial"/>
                <a:cs typeface="Arial"/>
                <a:sym typeface="Arial"/>
              </a:rPr>
              <a:t>RESULTADO 3 · LA TEORÍA, CON PRECISIÓN</a:t>
            </a:r>
            <a:endParaRPr sz="1100">
              <a:solidFill>
                <a:schemeClr val="dk1"/>
              </a:solidFill>
              <a:latin typeface="Arial"/>
              <a:ea typeface="Arial"/>
              <a:cs typeface="Arial"/>
              <a:sym typeface="Arial"/>
            </a:endParaRPr>
          </a:p>
        </p:txBody>
      </p:sp>
      <p:sp>
        <p:nvSpPr>
          <p:cNvPr id="582" name="Google Shape;582;p17"/>
          <p:cNvSpPr txBox="1"/>
          <p:nvPr>
            <p:ph type="title"/>
          </p:nvPr>
        </p:nvSpPr>
        <p:spPr>
          <a:xfrm>
            <a:off x="548640" y="731520"/>
            <a:ext cx="10424160" cy="566928"/>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1F2430"/>
              </a:buClr>
              <a:buSzPts val="3000"/>
              <a:buFont typeface="Georgia"/>
              <a:buNone/>
            </a:pPr>
            <a:r>
              <a:rPr lang="en-US" sz="3000">
                <a:solidFill>
                  <a:srgbClr val="1F2430"/>
                </a:solidFill>
                <a:latin typeface="Georgia"/>
                <a:ea typeface="Georgia"/>
                <a:cs typeface="Georgia"/>
                <a:sym typeface="Georgia"/>
              </a:rPr>
              <a:t>La cota de la teoría no es la del voto pesado</a:t>
            </a:r>
            <a:endParaRPr sz="3000"/>
          </a:p>
        </p:txBody>
      </p:sp>
      <p:sp>
        <p:nvSpPr>
          <p:cNvPr id="583" name="Google Shape;583;p17"/>
          <p:cNvSpPr txBox="1"/>
          <p:nvPr/>
        </p:nvSpPr>
        <p:spPr>
          <a:xfrm>
            <a:off x="9235440" y="429768"/>
            <a:ext cx="155448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AA1AE"/>
              </a:buClr>
              <a:buSzPts val="900"/>
              <a:buFont typeface="Arial"/>
              <a:buNone/>
            </a:pPr>
            <a:r>
              <a:rPr b="1" lang="en-US" sz="900">
                <a:solidFill>
                  <a:srgbClr val="9AA1AE"/>
                </a:solidFill>
                <a:latin typeface="Arial"/>
                <a:ea typeface="Arial"/>
                <a:cs typeface="Arial"/>
                <a:sym typeface="Arial"/>
              </a:rPr>
              <a:t>RESULTADOS</a:t>
            </a:r>
            <a:endParaRPr sz="900">
              <a:solidFill>
                <a:schemeClr val="dk1"/>
              </a:solidFill>
              <a:latin typeface="Arial"/>
              <a:ea typeface="Arial"/>
              <a:cs typeface="Arial"/>
              <a:sym typeface="Arial"/>
            </a:endParaRPr>
          </a:p>
        </p:txBody>
      </p:sp>
      <p:sp>
        <p:nvSpPr>
          <p:cNvPr id="584" name="Google Shape;584;p17"/>
          <p:cNvSpPr/>
          <p:nvPr/>
        </p:nvSpPr>
        <p:spPr>
          <a:xfrm>
            <a:off x="10899648"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85" name="Google Shape;585;p17"/>
          <p:cNvSpPr/>
          <p:nvPr/>
        </p:nvSpPr>
        <p:spPr>
          <a:xfrm>
            <a:off x="11100816"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86" name="Google Shape;586;p17"/>
          <p:cNvSpPr/>
          <p:nvPr/>
        </p:nvSpPr>
        <p:spPr>
          <a:xfrm>
            <a:off x="11301984" y="457200"/>
            <a:ext cx="137160" cy="137160"/>
          </a:xfrm>
          <a:prstGeom prst="ellipse">
            <a:avLst/>
          </a:prstGeom>
          <a:solidFill>
            <a:srgbClr val="1F24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87" name="Google Shape;587;p17"/>
          <p:cNvSpPr/>
          <p:nvPr/>
        </p:nvSpPr>
        <p:spPr>
          <a:xfrm>
            <a:off x="11503152"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88" name="Google Shape;588;p17"/>
          <p:cNvSpPr/>
          <p:nvPr/>
        </p:nvSpPr>
        <p:spPr>
          <a:xfrm>
            <a:off x="548640" y="2295144"/>
            <a:ext cx="219456" cy="219456"/>
          </a:xfrm>
          <a:prstGeom prst="ellipse">
            <a:avLst/>
          </a:prstGeom>
          <a:solidFill>
            <a:srgbClr val="E349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89" name="Google Shape;589;p17"/>
          <p:cNvSpPr txBox="1"/>
          <p:nvPr/>
        </p:nvSpPr>
        <p:spPr>
          <a:xfrm>
            <a:off x="932688" y="2240280"/>
            <a:ext cx="4187952" cy="2926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1600"/>
              <a:buFont typeface="Arial"/>
              <a:buNone/>
            </a:pPr>
            <a:r>
              <a:rPr b="1" lang="en-US" sz="1600">
                <a:solidFill>
                  <a:srgbClr val="1F2430"/>
                </a:solidFill>
                <a:latin typeface="Arial"/>
                <a:ea typeface="Arial"/>
                <a:cs typeface="Arial"/>
                <a:sym typeface="Arial"/>
              </a:rPr>
              <a:t>Voto pesado determinístico</a:t>
            </a:r>
            <a:endParaRPr sz="1600">
              <a:solidFill>
                <a:schemeClr val="dk1"/>
              </a:solidFill>
              <a:latin typeface="Arial"/>
              <a:ea typeface="Arial"/>
              <a:cs typeface="Arial"/>
              <a:sym typeface="Arial"/>
            </a:endParaRPr>
          </a:p>
        </p:txBody>
      </p:sp>
      <p:sp>
        <p:nvSpPr>
          <p:cNvPr id="590" name="Google Shape;590;p17"/>
          <p:cNvSpPr txBox="1"/>
          <p:nvPr/>
        </p:nvSpPr>
        <p:spPr>
          <a:xfrm>
            <a:off x="932688" y="2569464"/>
            <a:ext cx="4187952"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300"/>
              <a:buFont typeface="Arial"/>
              <a:buNone/>
            </a:pPr>
            <a:r>
              <a:rPr lang="en-US" sz="1300">
                <a:solidFill>
                  <a:srgbClr val="5A6274"/>
                </a:solidFill>
                <a:latin typeface="Arial"/>
                <a:ea typeface="Arial"/>
                <a:cs typeface="Arial"/>
                <a:sym typeface="Arial"/>
              </a:rPr>
              <a:t>predice lo que dice la mayoría ponderada</a:t>
            </a:r>
            <a:endParaRPr sz="1300">
              <a:solidFill>
                <a:schemeClr val="dk1"/>
              </a:solidFill>
              <a:latin typeface="Arial"/>
              <a:ea typeface="Arial"/>
              <a:cs typeface="Arial"/>
              <a:sym typeface="Arial"/>
            </a:endParaRPr>
          </a:p>
        </p:txBody>
      </p:sp>
      <p:sp>
        <p:nvSpPr>
          <p:cNvPr id="591" name="Google Shape;591;p17"/>
          <p:cNvSpPr/>
          <p:nvPr/>
        </p:nvSpPr>
        <p:spPr>
          <a:xfrm>
            <a:off x="548640" y="3118104"/>
            <a:ext cx="219456" cy="219456"/>
          </a:xfrm>
          <a:prstGeom prst="ellipse">
            <a:avLst/>
          </a:prstGeom>
          <a:solidFill>
            <a:srgbClr val="2A78D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92" name="Google Shape;592;p17"/>
          <p:cNvSpPr txBox="1"/>
          <p:nvPr/>
        </p:nvSpPr>
        <p:spPr>
          <a:xfrm>
            <a:off x="932688" y="3063240"/>
            <a:ext cx="4187952" cy="2926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1600"/>
              <a:buFont typeface="Arial"/>
              <a:buNone/>
            </a:pPr>
            <a:r>
              <a:rPr b="1" lang="en-US" sz="1600">
                <a:solidFill>
                  <a:srgbClr val="1F2430"/>
                </a:solidFill>
                <a:latin typeface="Arial"/>
                <a:ea typeface="Arial"/>
                <a:cs typeface="Arial"/>
                <a:sym typeface="Arial"/>
              </a:rPr>
              <a:t>Hedge randomizado</a:t>
            </a:r>
            <a:endParaRPr sz="1600">
              <a:solidFill>
                <a:schemeClr val="dk1"/>
              </a:solidFill>
              <a:latin typeface="Arial"/>
              <a:ea typeface="Arial"/>
              <a:cs typeface="Arial"/>
              <a:sym typeface="Arial"/>
            </a:endParaRPr>
          </a:p>
        </p:txBody>
      </p:sp>
      <p:sp>
        <p:nvSpPr>
          <p:cNvPr id="593" name="Google Shape;593;p17"/>
          <p:cNvSpPr txBox="1"/>
          <p:nvPr/>
        </p:nvSpPr>
        <p:spPr>
          <a:xfrm>
            <a:off x="932688" y="3392424"/>
            <a:ext cx="4187952"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300"/>
              <a:buFont typeface="Arial"/>
              <a:buNone/>
            </a:pPr>
            <a:r>
              <a:rPr lang="en-US" sz="1300">
                <a:solidFill>
                  <a:srgbClr val="5A6274"/>
                </a:solidFill>
                <a:latin typeface="Arial"/>
                <a:ea typeface="Arial"/>
                <a:cs typeface="Arial"/>
                <a:sym typeface="Arial"/>
              </a:rPr>
              <a:t>sortea un experto según los pesos: para este vale la cota</a:t>
            </a:r>
            <a:endParaRPr sz="1300">
              <a:solidFill>
                <a:schemeClr val="dk1"/>
              </a:solidFill>
              <a:latin typeface="Arial"/>
              <a:ea typeface="Arial"/>
              <a:cs typeface="Arial"/>
              <a:sym typeface="Arial"/>
            </a:endParaRPr>
          </a:p>
        </p:txBody>
      </p:sp>
      <p:cxnSp>
        <p:nvCxnSpPr>
          <p:cNvPr id="594" name="Google Shape;594;p17"/>
          <p:cNvCxnSpPr/>
          <p:nvPr/>
        </p:nvCxnSpPr>
        <p:spPr>
          <a:xfrm>
            <a:off x="548640" y="3977640"/>
            <a:ext cx="4572000" cy="0"/>
          </a:xfrm>
          <a:prstGeom prst="straightConnector1">
            <a:avLst/>
          </a:prstGeom>
          <a:noFill/>
          <a:ln cap="flat" cmpd="sng" w="9525">
            <a:solidFill>
              <a:srgbClr val="D9D6CE"/>
            </a:solidFill>
            <a:prstDash val="solid"/>
            <a:round/>
            <a:headEnd len="sm" w="sm" type="none"/>
            <a:tailEnd len="sm" w="sm" type="none"/>
          </a:ln>
        </p:spPr>
      </p:cxnSp>
      <p:sp>
        <p:nvSpPr>
          <p:cNvPr id="595" name="Google Shape;595;p17"/>
          <p:cNvSpPr txBox="1"/>
          <p:nvPr/>
        </p:nvSpPr>
        <p:spPr>
          <a:xfrm>
            <a:off x="548640" y="4160520"/>
            <a:ext cx="4572000" cy="1005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2000"/>
              <a:buFont typeface="Georgia"/>
              <a:buNone/>
            </a:pPr>
            <a:r>
              <a:rPr lang="en-US" sz="2000">
                <a:solidFill>
                  <a:srgbClr val="1F2430"/>
                </a:solidFill>
                <a:highlight>
                  <a:srgbClr val="F7F5F0"/>
                </a:highlight>
                <a:latin typeface="Georgia"/>
                <a:ea typeface="Georgia"/>
                <a:cs typeface="Georgia"/>
                <a:sym typeface="Georgia"/>
              </a:rPr>
              <a:t>Si el jugador es predecible, un adversario lo simula y etiqueta lo contrario: lo hace errar siempre.</a:t>
            </a:r>
            <a:endParaRPr/>
          </a:p>
          <a:p>
            <a:pPr indent="0" lvl="0" marL="0" marR="0" rtl="0" algn="l">
              <a:lnSpc>
                <a:spcPct val="100000"/>
              </a:lnSpc>
              <a:spcBef>
                <a:spcPts val="0"/>
              </a:spcBef>
              <a:spcAft>
                <a:spcPts val="0"/>
              </a:spcAft>
              <a:buClr>
                <a:schemeClr val="dk1"/>
              </a:buClr>
              <a:buSzPts val="2000"/>
              <a:buFont typeface="Arial"/>
              <a:buNone/>
            </a:pPr>
            <a:r>
              <a:t/>
            </a:r>
            <a:endParaRPr sz="2000">
              <a:solidFill>
                <a:schemeClr val="dk1"/>
              </a:solidFill>
              <a:latin typeface="Arial"/>
              <a:ea typeface="Arial"/>
              <a:cs typeface="Arial"/>
              <a:sym typeface="Arial"/>
            </a:endParaRPr>
          </a:p>
        </p:txBody>
      </p:sp>
      <p:sp>
        <p:nvSpPr>
          <p:cNvPr id="596" name="Google Shape;596;p17"/>
          <p:cNvSpPr txBox="1"/>
          <p:nvPr/>
        </p:nvSpPr>
        <p:spPr>
          <a:xfrm>
            <a:off x="548640" y="5525795"/>
            <a:ext cx="45720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300"/>
              <a:buFont typeface="Arial"/>
              <a:buNone/>
            </a:pPr>
            <a:r>
              <a:rPr lang="en-US" sz="1300">
                <a:solidFill>
                  <a:srgbClr val="5A6274"/>
                </a:solidFill>
                <a:latin typeface="Arial"/>
                <a:ea typeface="Arial"/>
                <a:cs typeface="Arial"/>
                <a:sym typeface="Arial"/>
              </a:rPr>
              <a:t>En nuestro stream de spam, que es benigno, el determinístico incluso anda mejor (regret −2,6).</a:t>
            </a:r>
            <a:endParaRPr sz="1300">
              <a:solidFill>
                <a:schemeClr val="dk1"/>
              </a:solidFill>
              <a:latin typeface="Arial"/>
              <a:ea typeface="Arial"/>
              <a:cs typeface="Arial"/>
              <a:sym typeface="Arial"/>
            </a:endParaRPr>
          </a:p>
        </p:txBody>
      </p:sp>
      <p:pic>
        <p:nvPicPr>
          <p:cNvPr descr="Regret frente a un adversario que simula al jugador. El voto pesado determinístico llega a 2.000, T sobre 2; Hedge randomizado queda en 14, bajo su cota de 37." id="597" name="Google Shape;597;p17"/>
          <p:cNvPicPr preferRelativeResize="0"/>
          <p:nvPr/>
        </p:nvPicPr>
        <p:blipFill rotWithShape="1">
          <a:blip r:embed="rId3">
            <a:alphaModFix/>
          </a:blip>
          <a:srcRect b="0" l="0" r="0" t="0"/>
          <a:stretch/>
        </p:blipFill>
        <p:spPr>
          <a:xfrm>
            <a:off x="5440680" y="1737360"/>
            <a:ext cx="6263640" cy="4276573"/>
          </a:xfrm>
          <a:prstGeom prst="rect">
            <a:avLst/>
          </a:prstGeom>
          <a:noFill/>
          <a:ln>
            <a:noFill/>
          </a:ln>
        </p:spPr>
      </p:pic>
      <p:sp>
        <p:nvSpPr>
          <p:cNvPr id="598" name="Google Shape;598;p17"/>
          <p:cNvSpPr txBox="1"/>
          <p:nvPr/>
        </p:nvSpPr>
        <p:spPr>
          <a:xfrm>
            <a:off x="548640" y="6373368"/>
            <a:ext cx="1024128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A1AE"/>
              </a:buClr>
              <a:buSzPts val="1000"/>
              <a:buFont typeface="Arial"/>
              <a:buNone/>
            </a:pPr>
            <a:r>
              <a:rPr lang="en-US" sz="1000">
                <a:solidFill>
                  <a:srgbClr val="9AA1AE"/>
                </a:solidFill>
                <a:latin typeface="Arial"/>
                <a:ea typeface="Arial"/>
                <a:cs typeface="Arial"/>
                <a:sym typeface="Arial"/>
              </a:rPr>
              <a:t>Secuencia sintética de 4.000 rondas con 2 expertos. </a:t>
            </a:r>
            <a:endParaRPr sz="1000">
              <a:solidFill>
                <a:schemeClr val="dk1"/>
              </a:solidFill>
              <a:latin typeface="Arial"/>
              <a:ea typeface="Arial"/>
              <a:cs typeface="Arial"/>
              <a:sym typeface="Arial"/>
            </a:endParaRPr>
          </a:p>
        </p:txBody>
      </p:sp>
      <p:sp>
        <p:nvSpPr>
          <p:cNvPr id="599" name="Google Shape;599;p17"/>
          <p:cNvSpPr txBox="1"/>
          <p:nvPr>
            <p:ph idx="4294967295" type="sldNum"/>
          </p:nvPr>
        </p:nvSpPr>
        <p:spPr>
          <a:xfrm>
            <a:off x="11091672" y="637336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AA1AE"/>
                </a:solidFill>
                <a:latin typeface="Arial"/>
                <a:ea typeface="Arial"/>
                <a:cs typeface="Arial"/>
                <a:sym typeface="Arial"/>
              </a:rPr>
              <a:t>‹#›</a:t>
            </a:fld>
            <a:endParaRPr sz="1000">
              <a:solidFill>
                <a:srgbClr val="9AA1AE"/>
              </a:solidFill>
              <a:latin typeface="Arial"/>
              <a:ea typeface="Arial"/>
              <a:cs typeface="Arial"/>
              <a:sym typeface="Arial"/>
            </a:endParaRPr>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18"/>
          <p:cNvSpPr txBox="1"/>
          <p:nvPr/>
        </p:nvSpPr>
        <p:spPr>
          <a:xfrm>
            <a:off x="548640" y="411480"/>
            <a:ext cx="73152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100"/>
              <a:buFont typeface="Arial"/>
              <a:buNone/>
            </a:pPr>
            <a:r>
              <a:rPr b="1" lang="en-US" sz="1100">
                <a:solidFill>
                  <a:srgbClr val="5A6274"/>
                </a:solidFill>
                <a:latin typeface="Arial"/>
                <a:ea typeface="Arial"/>
                <a:cs typeface="Arial"/>
                <a:sym typeface="Arial"/>
              </a:rPr>
              <a:t>RESULTADO 3</a:t>
            </a:r>
            <a:endParaRPr sz="1100">
              <a:solidFill>
                <a:schemeClr val="dk1"/>
              </a:solidFill>
              <a:latin typeface="Arial"/>
              <a:ea typeface="Arial"/>
              <a:cs typeface="Arial"/>
              <a:sym typeface="Arial"/>
            </a:endParaRPr>
          </a:p>
        </p:txBody>
      </p:sp>
      <p:sp>
        <p:nvSpPr>
          <p:cNvPr id="606" name="Google Shape;606;p18"/>
          <p:cNvSpPr txBox="1"/>
          <p:nvPr>
            <p:ph type="title"/>
          </p:nvPr>
        </p:nvSpPr>
        <p:spPr>
          <a:xfrm>
            <a:off x="548640" y="731520"/>
            <a:ext cx="10424160" cy="566928"/>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1F2430"/>
              </a:buClr>
              <a:buSzPts val="3000"/>
              <a:buFont typeface="Georgia"/>
              <a:buNone/>
            </a:pPr>
            <a:r>
              <a:rPr lang="en-US" sz="3000">
                <a:solidFill>
                  <a:srgbClr val="1F2430"/>
                </a:solidFill>
                <a:latin typeface="Georgia"/>
                <a:ea typeface="Georgia"/>
                <a:cs typeface="Georgia"/>
                <a:sym typeface="Georgia"/>
              </a:rPr>
              <a:t>Cada cota vale para su tasa de aprendizaje</a:t>
            </a:r>
            <a:endParaRPr sz="3000"/>
          </a:p>
        </p:txBody>
      </p:sp>
      <p:sp>
        <p:nvSpPr>
          <p:cNvPr id="607" name="Google Shape;607;p18"/>
          <p:cNvSpPr txBox="1"/>
          <p:nvPr/>
        </p:nvSpPr>
        <p:spPr>
          <a:xfrm>
            <a:off x="548640" y="1307592"/>
            <a:ext cx="1042416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500"/>
              <a:buFont typeface="Arial"/>
              <a:buNone/>
            </a:pPr>
            <a:r>
              <a:rPr lang="en-US" sz="1500">
                <a:solidFill>
                  <a:srgbClr val="5A6274"/>
                </a:solidFill>
                <a:latin typeface="Arial"/>
                <a:ea typeface="Arial"/>
                <a:cs typeface="Arial"/>
                <a:sym typeface="Arial"/>
              </a:rPr>
              <a:t>Regret de Hedge en el stream atacado, con dos formas de elegir η.</a:t>
            </a:r>
            <a:endParaRPr sz="1500">
              <a:solidFill>
                <a:schemeClr val="dk1"/>
              </a:solidFill>
              <a:latin typeface="Arial"/>
              <a:ea typeface="Arial"/>
              <a:cs typeface="Arial"/>
              <a:sym typeface="Arial"/>
            </a:endParaRPr>
          </a:p>
        </p:txBody>
      </p:sp>
      <p:sp>
        <p:nvSpPr>
          <p:cNvPr id="608" name="Google Shape;608;p18"/>
          <p:cNvSpPr txBox="1"/>
          <p:nvPr/>
        </p:nvSpPr>
        <p:spPr>
          <a:xfrm>
            <a:off x="9235440" y="429768"/>
            <a:ext cx="155448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AA1AE"/>
              </a:buClr>
              <a:buSzPts val="900"/>
              <a:buFont typeface="Arial"/>
              <a:buNone/>
            </a:pPr>
            <a:r>
              <a:rPr b="1" lang="en-US" sz="900">
                <a:solidFill>
                  <a:srgbClr val="9AA1AE"/>
                </a:solidFill>
                <a:latin typeface="Arial"/>
                <a:ea typeface="Arial"/>
                <a:cs typeface="Arial"/>
                <a:sym typeface="Arial"/>
              </a:rPr>
              <a:t>RESULTADOS</a:t>
            </a:r>
            <a:endParaRPr sz="900">
              <a:solidFill>
                <a:schemeClr val="dk1"/>
              </a:solidFill>
              <a:latin typeface="Arial"/>
              <a:ea typeface="Arial"/>
              <a:cs typeface="Arial"/>
              <a:sym typeface="Arial"/>
            </a:endParaRPr>
          </a:p>
        </p:txBody>
      </p:sp>
      <p:sp>
        <p:nvSpPr>
          <p:cNvPr id="609" name="Google Shape;609;p18"/>
          <p:cNvSpPr/>
          <p:nvPr/>
        </p:nvSpPr>
        <p:spPr>
          <a:xfrm>
            <a:off x="10899648"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10" name="Google Shape;610;p18"/>
          <p:cNvSpPr/>
          <p:nvPr/>
        </p:nvSpPr>
        <p:spPr>
          <a:xfrm>
            <a:off x="11100816"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11" name="Google Shape;611;p18"/>
          <p:cNvSpPr/>
          <p:nvPr/>
        </p:nvSpPr>
        <p:spPr>
          <a:xfrm>
            <a:off x="11301984" y="457200"/>
            <a:ext cx="137160" cy="137160"/>
          </a:xfrm>
          <a:prstGeom prst="ellipse">
            <a:avLst/>
          </a:prstGeom>
          <a:solidFill>
            <a:srgbClr val="1F24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12" name="Google Shape;612;p18"/>
          <p:cNvSpPr/>
          <p:nvPr/>
        </p:nvSpPr>
        <p:spPr>
          <a:xfrm>
            <a:off x="11503152"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Regret de Hedge con eta de peor caso: 31, bajo su cota de 60. Con eta small-loss: 15, bajo su cota de 25." id="613" name="Google Shape;613;p18"/>
          <p:cNvPicPr preferRelativeResize="0"/>
          <p:nvPr/>
        </p:nvPicPr>
        <p:blipFill rotWithShape="1">
          <a:blip r:embed="rId3">
            <a:alphaModFix/>
          </a:blip>
          <a:srcRect b="0" l="0" r="0" t="0"/>
          <a:stretch/>
        </p:blipFill>
        <p:spPr>
          <a:xfrm>
            <a:off x="411480" y="1783080"/>
            <a:ext cx="6495445" cy="4434840"/>
          </a:xfrm>
          <a:prstGeom prst="rect">
            <a:avLst/>
          </a:prstGeom>
          <a:noFill/>
          <a:ln>
            <a:noFill/>
          </a:ln>
        </p:spPr>
      </p:pic>
      <p:sp>
        <p:nvSpPr>
          <p:cNvPr id="614" name="Google Shape;614;p18"/>
          <p:cNvSpPr txBox="1"/>
          <p:nvPr/>
        </p:nvSpPr>
        <p:spPr>
          <a:xfrm>
            <a:off x="7726680" y="1920240"/>
            <a:ext cx="393192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2000"/>
              <a:buFont typeface="Georgia"/>
              <a:buNone/>
            </a:pPr>
            <a:r>
              <a:rPr lang="en-US" sz="2000">
                <a:solidFill>
                  <a:srgbClr val="1F2430"/>
                </a:solidFill>
                <a:latin typeface="Georgia"/>
                <a:ea typeface="Georgia"/>
                <a:cs typeface="Georgia"/>
                <a:sym typeface="Georgia"/>
              </a:rPr>
              <a:t>Las dos cotas se cumplen en las 20 semillas, cada una con su propio η.</a:t>
            </a:r>
            <a:endParaRPr sz="2000">
              <a:solidFill>
                <a:schemeClr val="dk1"/>
              </a:solidFill>
              <a:latin typeface="Arial"/>
              <a:ea typeface="Arial"/>
              <a:cs typeface="Arial"/>
              <a:sym typeface="Arial"/>
            </a:endParaRPr>
          </a:p>
        </p:txBody>
      </p:sp>
      <p:sp>
        <p:nvSpPr>
          <p:cNvPr id="615" name="Google Shape;615;p18"/>
          <p:cNvSpPr/>
          <p:nvPr/>
        </p:nvSpPr>
        <p:spPr>
          <a:xfrm>
            <a:off x="7726680" y="3072384"/>
            <a:ext cx="219456" cy="219456"/>
          </a:xfrm>
          <a:prstGeom prst="ellipse">
            <a:avLst/>
          </a:prstGeom>
          <a:solidFill>
            <a:srgbClr val="2A78D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16" name="Google Shape;616;p18"/>
          <p:cNvSpPr txBox="1"/>
          <p:nvPr/>
        </p:nvSpPr>
        <p:spPr>
          <a:xfrm>
            <a:off x="8110728" y="3017520"/>
            <a:ext cx="3547872" cy="2926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1600"/>
              <a:buFont typeface="Arial"/>
              <a:buNone/>
            </a:pPr>
            <a:r>
              <a:rPr b="1" lang="en-US" sz="1600">
                <a:solidFill>
                  <a:srgbClr val="1F2430"/>
                </a:solidFill>
                <a:latin typeface="Arial"/>
                <a:ea typeface="Arial"/>
                <a:cs typeface="Arial"/>
                <a:sym typeface="Arial"/>
              </a:rPr>
              <a:t>η de peor caso</a:t>
            </a:r>
            <a:endParaRPr sz="1600">
              <a:solidFill>
                <a:schemeClr val="dk1"/>
              </a:solidFill>
              <a:latin typeface="Arial"/>
              <a:ea typeface="Arial"/>
              <a:cs typeface="Arial"/>
              <a:sym typeface="Arial"/>
            </a:endParaRPr>
          </a:p>
        </p:txBody>
      </p:sp>
      <p:sp>
        <p:nvSpPr>
          <p:cNvPr id="617" name="Google Shape;617;p18"/>
          <p:cNvSpPr txBox="1"/>
          <p:nvPr/>
        </p:nvSpPr>
        <p:spPr>
          <a:xfrm>
            <a:off x="8110728" y="3346704"/>
            <a:ext cx="3547872"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300"/>
              <a:buFont typeface="Arial"/>
              <a:buNone/>
            </a:pPr>
            <a:r>
              <a:rPr lang="en-US" sz="1300">
                <a:solidFill>
                  <a:srgbClr val="5A6274"/>
                </a:solidFill>
                <a:latin typeface="Arial"/>
                <a:ea typeface="Arial"/>
                <a:cs typeface="Arial"/>
                <a:sym typeface="Arial"/>
              </a:rPr>
              <a:t>sintonizado por T: regret 31, cota 60</a:t>
            </a:r>
            <a:endParaRPr sz="1300">
              <a:solidFill>
                <a:schemeClr val="dk1"/>
              </a:solidFill>
              <a:latin typeface="Arial"/>
              <a:ea typeface="Arial"/>
              <a:cs typeface="Arial"/>
              <a:sym typeface="Arial"/>
            </a:endParaRPr>
          </a:p>
        </p:txBody>
      </p:sp>
      <p:sp>
        <p:nvSpPr>
          <p:cNvPr id="618" name="Google Shape;618;p18"/>
          <p:cNvSpPr/>
          <p:nvPr/>
        </p:nvSpPr>
        <p:spPr>
          <a:xfrm>
            <a:off x="7726680" y="3895344"/>
            <a:ext cx="219456" cy="219456"/>
          </a:xfrm>
          <a:prstGeom prst="ellipse">
            <a:avLst/>
          </a:prstGeom>
          <a:solidFill>
            <a:srgbClr val="E87BA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19" name="Google Shape;619;p18"/>
          <p:cNvSpPr txBox="1"/>
          <p:nvPr/>
        </p:nvSpPr>
        <p:spPr>
          <a:xfrm>
            <a:off x="8110728" y="3840480"/>
            <a:ext cx="3547872" cy="2926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1600"/>
              <a:buFont typeface="Arial"/>
              <a:buNone/>
            </a:pPr>
            <a:r>
              <a:rPr b="1" lang="en-US" sz="1600">
                <a:solidFill>
                  <a:srgbClr val="1F2430"/>
                </a:solidFill>
                <a:latin typeface="Arial"/>
                <a:ea typeface="Arial"/>
                <a:cs typeface="Arial"/>
                <a:sym typeface="Arial"/>
              </a:rPr>
              <a:t>η small-loss</a:t>
            </a:r>
            <a:endParaRPr sz="1600">
              <a:solidFill>
                <a:schemeClr val="dk1"/>
              </a:solidFill>
              <a:latin typeface="Arial"/>
              <a:ea typeface="Arial"/>
              <a:cs typeface="Arial"/>
              <a:sym typeface="Arial"/>
            </a:endParaRPr>
          </a:p>
        </p:txBody>
      </p:sp>
      <p:sp>
        <p:nvSpPr>
          <p:cNvPr id="620" name="Google Shape;620;p18"/>
          <p:cNvSpPr txBox="1"/>
          <p:nvPr/>
        </p:nvSpPr>
        <p:spPr>
          <a:xfrm>
            <a:off x="8110728" y="4169664"/>
            <a:ext cx="3547872"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300"/>
              <a:buFont typeface="Arial"/>
              <a:buNone/>
            </a:pPr>
            <a:r>
              <a:rPr lang="en-US" sz="1300">
                <a:solidFill>
                  <a:srgbClr val="5A6274"/>
                </a:solidFill>
                <a:latin typeface="Arial"/>
                <a:ea typeface="Arial"/>
                <a:cs typeface="Arial"/>
                <a:sym typeface="Arial"/>
              </a:rPr>
              <a:t>sintonizado por la pérdida del mejor: regret 15, cota 25</a:t>
            </a:r>
            <a:endParaRPr sz="1300">
              <a:solidFill>
                <a:schemeClr val="dk1"/>
              </a:solidFill>
              <a:latin typeface="Arial"/>
              <a:ea typeface="Arial"/>
              <a:cs typeface="Arial"/>
              <a:sym typeface="Arial"/>
            </a:endParaRPr>
          </a:p>
        </p:txBody>
      </p:sp>
      <p:cxnSp>
        <p:nvCxnSpPr>
          <p:cNvPr id="621" name="Google Shape;621;p18"/>
          <p:cNvCxnSpPr/>
          <p:nvPr/>
        </p:nvCxnSpPr>
        <p:spPr>
          <a:xfrm>
            <a:off x="7726680" y="4709160"/>
            <a:ext cx="3913632" cy="0"/>
          </a:xfrm>
          <a:prstGeom prst="straightConnector1">
            <a:avLst/>
          </a:prstGeom>
          <a:noFill/>
          <a:ln cap="flat" cmpd="sng" w="9525">
            <a:solidFill>
              <a:srgbClr val="D9D6CE"/>
            </a:solidFill>
            <a:prstDash val="solid"/>
            <a:round/>
            <a:headEnd len="sm" w="sm" type="none"/>
            <a:tailEnd len="sm" w="sm" type="none"/>
          </a:ln>
        </p:spPr>
      </p:cxnSp>
      <p:sp>
        <p:nvSpPr>
          <p:cNvPr id="622" name="Google Shape;622;p18"/>
          <p:cNvSpPr txBox="1"/>
          <p:nvPr/>
        </p:nvSpPr>
        <p:spPr>
          <a:xfrm>
            <a:off x="7726680" y="4846320"/>
            <a:ext cx="393192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400"/>
              <a:buFont typeface="Arial"/>
              <a:buNone/>
            </a:pPr>
            <a:r>
              <a:rPr lang="en-US" sz="1400">
                <a:solidFill>
                  <a:srgbClr val="5A6274"/>
                </a:solidFill>
                <a:latin typeface="Arial"/>
                <a:ea typeface="Arial"/>
                <a:cs typeface="Arial"/>
                <a:sym typeface="Arial"/>
              </a:rPr>
              <a:t>La small-loss es mejor algoritmo, pero necesita saber de antemano cuántos errores comete el mejor expert, información que no se puede saber.</a:t>
            </a:r>
            <a:endParaRPr sz="1400">
              <a:solidFill>
                <a:schemeClr val="dk1"/>
              </a:solidFill>
              <a:latin typeface="Arial"/>
              <a:ea typeface="Arial"/>
              <a:cs typeface="Arial"/>
              <a:sym typeface="Arial"/>
            </a:endParaRPr>
          </a:p>
        </p:txBody>
      </p:sp>
      <p:sp>
        <p:nvSpPr>
          <p:cNvPr id="623" name="Google Shape;623;p18"/>
          <p:cNvSpPr txBox="1"/>
          <p:nvPr/>
        </p:nvSpPr>
        <p:spPr>
          <a:xfrm>
            <a:off x="548640" y="6373368"/>
            <a:ext cx="1024128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A1AE"/>
              </a:buClr>
              <a:buSzPts val="1000"/>
              <a:buFont typeface="Arial"/>
              <a:buNone/>
            </a:pPr>
            <a:r>
              <a:rPr lang="en-US" sz="1000">
                <a:solidFill>
                  <a:srgbClr val="9AA1AE"/>
                </a:solidFill>
                <a:latin typeface="Arial"/>
                <a:ea typeface="Arial"/>
                <a:cs typeface="Arial"/>
                <a:sym typeface="Arial"/>
              </a:rPr>
              <a:t>La √(2T ln K) de la clase vale 120: correcta, pero el doble de lo necesario. Media de 20 permutaciones (semillas) del SMS Spam Collection.</a:t>
            </a:r>
            <a:endParaRPr sz="1000">
              <a:solidFill>
                <a:schemeClr val="dk1"/>
              </a:solidFill>
              <a:latin typeface="Arial"/>
              <a:ea typeface="Arial"/>
              <a:cs typeface="Arial"/>
              <a:sym typeface="Arial"/>
            </a:endParaRPr>
          </a:p>
        </p:txBody>
      </p:sp>
      <p:sp>
        <p:nvSpPr>
          <p:cNvPr id="624" name="Google Shape;624;p18"/>
          <p:cNvSpPr txBox="1"/>
          <p:nvPr>
            <p:ph idx="4294967295" type="sldNum"/>
          </p:nvPr>
        </p:nvSpPr>
        <p:spPr>
          <a:xfrm>
            <a:off x="11091672" y="637336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AA1AE"/>
                </a:solidFill>
                <a:latin typeface="Arial"/>
                <a:ea typeface="Arial"/>
                <a:cs typeface="Arial"/>
                <a:sym typeface="Arial"/>
              </a:rPr>
              <a:t>‹#›</a:t>
            </a:fld>
            <a:endParaRPr sz="1000">
              <a:solidFill>
                <a:srgbClr val="9AA1AE"/>
              </a:solidFill>
              <a:latin typeface="Arial"/>
              <a:ea typeface="Arial"/>
              <a:cs typeface="Arial"/>
              <a:sym typeface="Arial"/>
            </a:endParaRPr>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19"/>
          <p:cNvSpPr txBox="1"/>
          <p:nvPr/>
        </p:nvSpPr>
        <p:spPr>
          <a:xfrm>
            <a:off x="548640" y="411480"/>
            <a:ext cx="73152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100"/>
              <a:buFont typeface="Arial"/>
              <a:buNone/>
            </a:pPr>
            <a:r>
              <a:rPr b="1" lang="en-US" sz="1100">
                <a:solidFill>
                  <a:srgbClr val="5A6274"/>
                </a:solidFill>
                <a:latin typeface="Arial"/>
                <a:ea typeface="Arial"/>
                <a:cs typeface="Arial"/>
                <a:sym typeface="Arial"/>
              </a:rPr>
              <a:t>RESULTADO 4 · LECCIONES DE MÉTODO</a:t>
            </a:r>
            <a:endParaRPr sz="1100">
              <a:solidFill>
                <a:schemeClr val="dk1"/>
              </a:solidFill>
              <a:latin typeface="Arial"/>
              <a:ea typeface="Arial"/>
              <a:cs typeface="Arial"/>
              <a:sym typeface="Arial"/>
            </a:endParaRPr>
          </a:p>
        </p:txBody>
      </p:sp>
      <p:sp>
        <p:nvSpPr>
          <p:cNvPr id="631" name="Google Shape;631;p19"/>
          <p:cNvSpPr txBox="1"/>
          <p:nvPr>
            <p:ph type="title"/>
          </p:nvPr>
        </p:nvSpPr>
        <p:spPr>
          <a:xfrm>
            <a:off x="548640" y="731520"/>
            <a:ext cx="10424160" cy="566928"/>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1F2430"/>
              </a:buClr>
              <a:buSzPts val="3000"/>
              <a:buFont typeface="Georgia"/>
              <a:buNone/>
            </a:pPr>
            <a:r>
              <a:rPr lang="en-US" sz="3000">
                <a:solidFill>
                  <a:srgbClr val="1F2430"/>
                </a:solidFill>
                <a:latin typeface="Georgia"/>
                <a:ea typeface="Georgia"/>
                <a:cs typeface="Georgia"/>
                <a:sym typeface="Georgia"/>
              </a:rPr>
              <a:t>Tres ideas para llevarse</a:t>
            </a:r>
            <a:endParaRPr sz="3000"/>
          </a:p>
        </p:txBody>
      </p:sp>
      <p:sp>
        <p:nvSpPr>
          <p:cNvPr id="632" name="Google Shape;632;p19"/>
          <p:cNvSpPr txBox="1"/>
          <p:nvPr/>
        </p:nvSpPr>
        <p:spPr>
          <a:xfrm>
            <a:off x="9235440" y="429768"/>
            <a:ext cx="155448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AA1AE"/>
              </a:buClr>
              <a:buSzPts val="900"/>
              <a:buFont typeface="Arial"/>
              <a:buNone/>
            </a:pPr>
            <a:r>
              <a:rPr b="1" lang="en-US" sz="900">
                <a:solidFill>
                  <a:srgbClr val="9AA1AE"/>
                </a:solidFill>
                <a:latin typeface="Arial"/>
                <a:ea typeface="Arial"/>
                <a:cs typeface="Arial"/>
                <a:sym typeface="Arial"/>
              </a:rPr>
              <a:t>RESULTADOS</a:t>
            </a:r>
            <a:endParaRPr sz="900">
              <a:solidFill>
                <a:schemeClr val="dk1"/>
              </a:solidFill>
              <a:latin typeface="Arial"/>
              <a:ea typeface="Arial"/>
              <a:cs typeface="Arial"/>
              <a:sym typeface="Arial"/>
            </a:endParaRPr>
          </a:p>
        </p:txBody>
      </p:sp>
      <p:sp>
        <p:nvSpPr>
          <p:cNvPr id="633" name="Google Shape;633;p19"/>
          <p:cNvSpPr/>
          <p:nvPr/>
        </p:nvSpPr>
        <p:spPr>
          <a:xfrm>
            <a:off x="10899648"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34" name="Google Shape;634;p19"/>
          <p:cNvSpPr/>
          <p:nvPr/>
        </p:nvSpPr>
        <p:spPr>
          <a:xfrm>
            <a:off x="11100816"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35" name="Google Shape;635;p19"/>
          <p:cNvSpPr/>
          <p:nvPr/>
        </p:nvSpPr>
        <p:spPr>
          <a:xfrm>
            <a:off x="11301984"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36" name="Google Shape;636;p19"/>
          <p:cNvSpPr/>
          <p:nvPr/>
        </p:nvSpPr>
        <p:spPr>
          <a:xfrm>
            <a:off x="11503152" y="457200"/>
            <a:ext cx="137160" cy="137160"/>
          </a:xfrm>
          <a:prstGeom prst="ellipse">
            <a:avLst/>
          </a:prstGeom>
          <a:solidFill>
            <a:srgbClr val="1F24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37" name="Google Shape;637;p19"/>
          <p:cNvSpPr txBox="1"/>
          <p:nvPr/>
        </p:nvSpPr>
        <p:spPr>
          <a:xfrm>
            <a:off x="548640" y="1783080"/>
            <a:ext cx="347472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5400"/>
              <a:buFont typeface="Arial"/>
              <a:buNone/>
            </a:pPr>
            <a:r>
              <a:rPr b="1" lang="en-US" sz="5400">
                <a:solidFill>
                  <a:srgbClr val="1F2430"/>
                </a:solidFill>
                <a:latin typeface="Arial"/>
                <a:ea typeface="Arial"/>
                <a:cs typeface="Arial"/>
                <a:sym typeface="Arial"/>
              </a:rPr>
              <a:t>87%</a:t>
            </a:r>
            <a:endParaRPr sz="5400">
              <a:solidFill>
                <a:schemeClr val="dk1"/>
              </a:solidFill>
              <a:latin typeface="Arial"/>
              <a:ea typeface="Arial"/>
              <a:cs typeface="Arial"/>
              <a:sym typeface="Arial"/>
            </a:endParaRPr>
          </a:p>
        </p:txBody>
      </p:sp>
      <p:sp>
        <p:nvSpPr>
          <p:cNvPr id="638" name="Google Shape;638;p19"/>
          <p:cNvSpPr txBox="1"/>
          <p:nvPr/>
        </p:nvSpPr>
        <p:spPr>
          <a:xfrm>
            <a:off x="548640" y="2880360"/>
            <a:ext cx="342900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1900"/>
              <a:buFont typeface="Arial"/>
              <a:buNone/>
            </a:pPr>
            <a:r>
              <a:rPr b="1" lang="en-US" sz="1900">
                <a:solidFill>
                  <a:srgbClr val="1F2430"/>
                </a:solidFill>
                <a:latin typeface="Arial"/>
                <a:ea typeface="Arial"/>
                <a:cs typeface="Arial"/>
                <a:sym typeface="Arial"/>
              </a:rPr>
              <a:t>La accuracy engaña</a:t>
            </a:r>
            <a:endParaRPr sz="1900">
              <a:solidFill>
                <a:schemeClr val="dk1"/>
              </a:solidFill>
              <a:latin typeface="Arial"/>
              <a:ea typeface="Arial"/>
              <a:cs typeface="Arial"/>
              <a:sym typeface="Arial"/>
            </a:endParaRPr>
          </a:p>
        </p:txBody>
      </p:sp>
      <p:sp>
        <p:nvSpPr>
          <p:cNvPr id="639" name="Google Shape;639;p19"/>
          <p:cNvSpPr txBox="1"/>
          <p:nvPr/>
        </p:nvSpPr>
        <p:spPr>
          <a:xfrm>
            <a:off x="548640" y="3840480"/>
            <a:ext cx="3429000" cy="1828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500"/>
              <a:buFont typeface="Arial"/>
              <a:buNone/>
            </a:pPr>
            <a:r>
              <a:rPr lang="en-US" sz="1500">
                <a:solidFill>
                  <a:srgbClr val="5A6274"/>
                </a:solidFill>
                <a:latin typeface="Arial"/>
                <a:ea typeface="Arial"/>
                <a:cs typeface="Arial"/>
                <a:sym typeface="Arial"/>
              </a:rPr>
              <a:t>Con 13% de spam, no marcar nada acierta el 87%. Medimos spam atrapado, legítimo bloqueado y MCC.</a:t>
            </a:r>
            <a:endParaRPr sz="1500">
              <a:solidFill>
                <a:schemeClr val="dk1"/>
              </a:solidFill>
              <a:latin typeface="Arial"/>
              <a:ea typeface="Arial"/>
              <a:cs typeface="Arial"/>
              <a:sym typeface="Arial"/>
            </a:endParaRPr>
          </a:p>
        </p:txBody>
      </p:sp>
      <p:cxnSp>
        <p:nvCxnSpPr>
          <p:cNvPr id="640" name="Google Shape;640;p19"/>
          <p:cNvCxnSpPr/>
          <p:nvPr/>
        </p:nvCxnSpPr>
        <p:spPr>
          <a:xfrm>
            <a:off x="4142232" y="1828800"/>
            <a:ext cx="0" cy="4023360"/>
          </a:xfrm>
          <a:prstGeom prst="straightConnector1">
            <a:avLst/>
          </a:prstGeom>
          <a:noFill/>
          <a:ln cap="flat" cmpd="sng" w="9525">
            <a:solidFill>
              <a:srgbClr val="D9D6CE"/>
            </a:solidFill>
            <a:prstDash val="solid"/>
            <a:round/>
            <a:headEnd len="sm" w="sm" type="none"/>
            <a:tailEnd len="sm" w="sm" type="none"/>
          </a:ln>
        </p:spPr>
      </p:cxnSp>
      <p:sp>
        <p:nvSpPr>
          <p:cNvPr id="641" name="Google Shape;641;p19"/>
          <p:cNvSpPr txBox="1"/>
          <p:nvPr/>
        </p:nvSpPr>
        <p:spPr>
          <a:xfrm>
            <a:off x="4370832" y="1783080"/>
            <a:ext cx="347472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AF7A"/>
              </a:buClr>
              <a:buSzPts val="5400"/>
              <a:buFont typeface="Arial"/>
              <a:buNone/>
            </a:pPr>
            <a:r>
              <a:rPr b="1" lang="en-US" sz="5400">
                <a:solidFill>
                  <a:srgbClr val="1BAF7A"/>
                </a:solidFill>
                <a:latin typeface="Arial"/>
                <a:ea typeface="Arial"/>
                <a:cs typeface="Arial"/>
                <a:sym typeface="Arial"/>
              </a:rPr>
              <a:t>8 de 20</a:t>
            </a:r>
            <a:endParaRPr sz="5400">
              <a:solidFill>
                <a:schemeClr val="dk1"/>
              </a:solidFill>
              <a:latin typeface="Arial"/>
              <a:ea typeface="Arial"/>
              <a:cs typeface="Arial"/>
              <a:sym typeface="Arial"/>
            </a:endParaRPr>
          </a:p>
        </p:txBody>
      </p:sp>
      <p:sp>
        <p:nvSpPr>
          <p:cNvPr id="642" name="Google Shape;642;p19"/>
          <p:cNvSpPr txBox="1"/>
          <p:nvPr/>
        </p:nvSpPr>
        <p:spPr>
          <a:xfrm>
            <a:off x="4370832" y="2880360"/>
            <a:ext cx="342900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1900"/>
              <a:buFont typeface="Arial"/>
              <a:buNone/>
            </a:pPr>
            <a:r>
              <a:rPr b="1" lang="en-US" sz="1900">
                <a:solidFill>
                  <a:srgbClr val="1F2430"/>
                </a:solidFill>
                <a:latin typeface="Arial"/>
                <a:ea typeface="Arial"/>
                <a:cs typeface="Arial"/>
                <a:sym typeface="Arial"/>
              </a:rPr>
              <a:t>La validación cruzada no mide adaptación</a:t>
            </a:r>
            <a:endParaRPr sz="1900">
              <a:solidFill>
                <a:schemeClr val="dk1"/>
              </a:solidFill>
              <a:latin typeface="Arial"/>
              <a:ea typeface="Arial"/>
              <a:cs typeface="Arial"/>
              <a:sym typeface="Arial"/>
            </a:endParaRPr>
          </a:p>
        </p:txBody>
      </p:sp>
      <p:sp>
        <p:nvSpPr>
          <p:cNvPr id="643" name="Google Shape;643;p19"/>
          <p:cNvSpPr txBox="1"/>
          <p:nvPr/>
        </p:nvSpPr>
        <p:spPr>
          <a:xfrm>
            <a:off x="4370832" y="3840480"/>
            <a:ext cx="3429000" cy="1828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500"/>
              <a:buFont typeface="Arial"/>
              <a:buNone/>
            </a:pPr>
            <a:r>
              <a:rPr lang="en-US" sz="1500">
                <a:solidFill>
                  <a:srgbClr val="5A6274"/>
                </a:solidFill>
                <a:latin typeface="Arial"/>
                <a:ea typeface="Arial"/>
                <a:cs typeface="Arial"/>
                <a:sym typeface="Arial"/>
              </a:rPr>
              <a:t>Sin ataque en el warm-up, eligió mal la regularización de SGD en 8 de 20 semillas: 125 a 153 errores, contra 65 a 83.</a:t>
            </a:r>
            <a:endParaRPr sz="1500">
              <a:solidFill>
                <a:schemeClr val="dk1"/>
              </a:solidFill>
              <a:latin typeface="Arial"/>
              <a:ea typeface="Arial"/>
              <a:cs typeface="Arial"/>
              <a:sym typeface="Arial"/>
            </a:endParaRPr>
          </a:p>
        </p:txBody>
      </p:sp>
      <p:cxnSp>
        <p:nvCxnSpPr>
          <p:cNvPr id="644" name="Google Shape;644;p19"/>
          <p:cNvCxnSpPr/>
          <p:nvPr/>
        </p:nvCxnSpPr>
        <p:spPr>
          <a:xfrm>
            <a:off x="7964424" y="1828800"/>
            <a:ext cx="0" cy="4023360"/>
          </a:xfrm>
          <a:prstGeom prst="straightConnector1">
            <a:avLst/>
          </a:prstGeom>
          <a:noFill/>
          <a:ln cap="flat" cmpd="sng" w="9525">
            <a:solidFill>
              <a:srgbClr val="D9D6CE"/>
            </a:solidFill>
            <a:prstDash val="solid"/>
            <a:round/>
            <a:headEnd len="sm" w="sm" type="none"/>
            <a:tailEnd len="sm" w="sm" type="none"/>
          </a:ln>
        </p:spPr>
      </p:cxnSp>
      <p:sp>
        <p:nvSpPr>
          <p:cNvPr id="645" name="Google Shape;645;p19"/>
          <p:cNvSpPr txBox="1"/>
          <p:nvPr/>
        </p:nvSpPr>
        <p:spPr>
          <a:xfrm>
            <a:off x="8193024" y="1783080"/>
            <a:ext cx="347472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B6834"/>
              </a:buClr>
              <a:buSzPts val="5400"/>
              <a:buFont typeface="Arial"/>
              <a:buNone/>
            </a:pPr>
            <a:r>
              <a:rPr b="1" lang="en-US" sz="5400">
                <a:solidFill>
                  <a:srgbClr val="EB6834"/>
                </a:solidFill>
                <a:latin typeface="Arial"/>
                <a:ea typeface="Arial"/>
                <a:cs typeface="Arial"/>
                <a:sym typeface="Arial"/>
              </a:rPr>
              <a:t>0,995</a:t>
            </a:r>
            <a:endParaRPr sz="5400">
              <a:solidFill>
                <a:schemeClr val="dk1"/>
              </a:solidFill>
              <a:latin typeface="Arial"/>
              <a:ea typeface="Arial"/>
              <a:cs typeface="Arial"/>
              <a:sym typeface="Arial"/>
            </a:endParaRPr>
          </a:p>
        </p:txBody>
      </p:sp>
      <p:sp>
        <p:nvSpPr>
          <p:cNvPr id="646" name="Google Shape;646;p19"/>
          <p:cNvSpPr txBox="1"/>
          <p:nvPr/>
        </p:nvSpPr>
        <p:spPr>
          <a:xfrm>
            <a:off x="8193024" y="2880360"/>
            <a:ext cx="342900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1900"/>
              <a:buFont typeface="Arial"/>
              <a:buNone/>
            </a:pPr>
            <a:r>
              <a:rPr b="1" lang="en-US" sz="1900">
                <a:solidFill>
                  <a:srgbClr val="1F2430"/>
                </a:solidFill>
                <a:latin typeface="Arial"/>
                <a:ea typeface="Arial"/>
                <a:cs typeface="Arial"/>
                <a:sym typeface="Arial"/>
              </a:rPr>
              <a:t>Combinar necesita un experto que sobreviva</a:t>
            </a:r>
            <a:endParaRPr sz="1900">
              <a:solidFill>
                <a:schemeClr val="dk1"/>
              </a:solidFill>
              <a:latin typeface="Arial"/>
              <a:ea typeface="Arial"/>
              <a:cs typeface="Arial"/>
              <a:sym typeface="Arial"/>
            </a:endParaRPr>
          </a:p>
        </p:txBody>
      </p:sp>
      <p:sp>
        <p:nvSpPr>
          <p:cNvPr id="647" name="Google Shape;647;p19"/>
          <p:cNvSpPr txBox="1"/>
          <p:nvPr/>
        </p:nvSpPr>
        <p:spPr>
          <a:xfrm>
            <a:off x="8193024" y="3840480"/>
            <a:ext cx="3429000" cy="1828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500"/>
              <a:buFont typeface="Arial"/>
              <a:buNone/>
            </a:pPr>
            <a:r>
              <a:rPr lang="en-US" sz="1500">
                <a:solidFill>
                  <a:srgbClr val="5A6274"/>
                </a:solidFill>
                <a:latin typeface="Arial"/>
                <a:ea typeface="Arial"/>
                <a:cs typeface="Arial"/>
                <a:sym typeface="Arial"/>
              </a:rPr>
              <a:t>Si ningún experto resiste el ataque, Hedge deja 0,995 del peso en el modelo dañado y no recupera nada.</a:t>
            </a:r>
            <a:endParaRPr sz="1500">
              <a:solidFill>
                <a:schemeClr val="dk1"/>
              </a:solidFill>
              <a:latin typeface="Arial"/>
              <a:ea typeface="Arial"/>
              <a:cs typeface="Arial"/>
              <a:sym typeface="Arial"/>
            </a:endParaRPr>
          </a:p>
        </p:txBody>
      </p:sp>
      <p:sp>
        <p:nvSpPr>
          <p:cNvPr id="648" name="Google Shape;648;p19"/>
          <p:cNvSpPr txBox="1"/>
          <p:nvPr/>
        </p:nvSpPr>
        <p:spPr>
          <a:xfrm>
            <a:off x="548640" y="6373368"/>
            <a:ext cx="1024128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A1AE"/>
              </a:buClr>
              <a:buSzPts val="1000"/>
              <a:buFont typeface="Arial"/>
              <a:buNone/>
            </a:pPr>
            <a:r>
              <a:rPr lang="en-US" sz="1000">
                <a:solidFill>
                  <a:srgbClr val="9AA1AE"/>
                </a:solidFill>
                <a:latin typeface="Arial"/>
                <a:ea typeface="Arial"/>
                <a:cs typeface="Arial"/>
                <a:sym typeface="Arial"/>
              </a:rPr>
              <a:t>El 0,995 es de la primera versión del experto estructural, con 5 rasgos, en la semilla de desarrollo.</a:t>
            </a:r>
            <a:endParaRPr sz="1000">
              <a:solidFill>
                <a:schemeClr val="dk1"/>
              </a:solidFill>
              <a:latin typeface="Arial"/>
              <a:ea typeface="Arial"/>
              <a:cs typeface="Arial"/>
              <a:sym typeface="Arial"/>
            </a:endParaRPr>
          </a:p>
        </p:txBody>
      </p:sp>
      <p:sp>
        <p:nvSpPr>
          <p:cNvPr id="649" name="Google Shape;649;p19"/>
          <p:cNvSpPr txBox="1"/>
          <p:nvPr>
            <p:ph idx="4294967295" type="sldNum"/>
          </p:nvPr>
        </p:nvSpPr>
        <p:spPr>
          <a:xfrm>
            <a:off x="11091672" y="637336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AA1AE"/>
                </a:solidFill>
                <a:latin typeface="Arial"/>
                <a:ea typeface="Arial"/>
                <a:cs typeface="Arial"/>
                <a:sym typeface="Arial"/>
              </a:rPr>
              <a:t>‹#›</a:t>
            </a:fld>
            <a:endParaRPr sz="1000">
              <a:solidFill>
                <a:srgbClr val="9AA1AE"/>
              </a:solidFill>
              <a:latin typeface="Arial"/>
              <a:ea typeface="Arial"/>
              <a:cs typeface="Arial"/>
              <a:sym typeface="Arial"/>
            </a:endParaRPr>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20"/>
          <p:cNvSpPr txBox="1"/>
          <p:nvPr/>
        </p:nvSpPr>
        <p:spPr>
          <a:xfrm>
            <a:off x="548640" y="411480"/>
            <a:ext cx="73152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A1AE"/>
              </a:buClr>
              <a:buSzPts val="1100"/>
              <a:buFont typeface="Arial"/>
              <a:buNone/>
            </a:pPr>
            <a:r>
              <a:rPr b="1" lang="en-US" sz="1100">
                <a:solidFill>
                  <a:srgbClr val="9AA1AE"/>
                </a:solidFill>
                <a:latin typeface="Arial"/>
                <a:ea typeface="Arial"/>
                <a:cs typeface="Arial"/>
                <a:sym typeface="Arial"/>
              </a:rPr>
              <a:t>EN RESUMEN</a:t>
            </a:r>
            <a:endParaRPr sz="1100">
              <a:solidFill>
                <a:schemeClr val="dk1"/>
              </a:solidFill>
              <a:latin typeface="Arial"/>
              <a:ea typeface="Arial"/>
              <a:cs typeface="Arial"/>
              <a:sym typeface="Arial"/>
            </a:endParaRPr>
          </a:p>
        </p:txBody>
      </p:sp>
      <p:sp>
        <p:nvSpPr>
          <p:cNvPr id="656" name="Google Shape;656;p20"/>
          <p:cNvSpPr txBox="1"/>
          <p:nvPr/>
        </p:nvSpPr>
        <p:spPr>
          <a:xfrm>
            <a:off x="548640" y="731520"/>
            <a:ext cx="1097280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400"/>
              <a:buFont typeface="Georgia"/>
              <a:buNone/>
            </a:pPr>
            <a:r>
              <a:rPr lang="en-US" sz="3400">
                <a:solidFill>
                  <a:srgbClr val="FFFFFF"/>
                </a:solidFill>
                <a:latin typeface="Georgia"/>
                <a:ea typeface="Georgia"/>
                <a:cs typeface="Georgia"/>
                <a:sym typeface="Georgia"/>
              </a:rPr>
              <a:t>Cuándo combinar y cuándo reentrenar</a:t>
            </a:r>
            <a:endParaRPr sz="3400">
              <a:solidFill>
                <a:schemeClr val="dk1"/>
              </a:solidFill>
              <a:latin typeface="Arial"/>
              <a:ea typeface="Arial"/>
              <a:cs typeface="Arial"/>
              <a:sym typeface="Arial"/>
            </a:endParaRPr>
          </a:p>
        </p:txBody>
      </p:sp>
      <p:cxnSp>
        <p:nvCxnSpPr>
          <p:cNvPr id="657" name="Google Shape;657;p20"/>
          <p:cNvCxnSpPr/>
          <p:nvPr/>
        </p:nvCxnSpPr>
        <p:spPr>
          <a:xfrm>
            <a:off x="548640" y="1645920"/>
            <a:ext cx="11091672" cy="0"/>
          </a:xfrm>
          <a:prstGeom prst="straightConnector1">
            <a:avLst/>
          </a:prstGeom>
          <a:noFill/>
          <a:ln cap="flat" cmpd="sng" w="9525">
            <a:solidFill>
              <a:srgbClr val="3A4152"/>
            </a:solidFill>
            <a:prstDash val="solid"/>
            <a:round/>
            <a:headEnd len="sm" w="sm" type="none"/>
            <a:tailEnd len="sm" w="sm" type="none"/>
          </a:ln>
        </p:spPr>
      </p:cxnSp>
      <p:sp>
        <p:nvSpPr>
          <p:cNvPr id="658" name="Google Shape;658;p20"/>
          <p:cNvSpPr/>
          <p:nvPr/>
        </p:nvSpPr>
        <p:spPr>
          <a:xfrm>
            <a:off x="548640" y="1901952"/>
            <a:ext cx="274320" cy="274320"/>
          </a:xfrm>
          <a:prstGeom prst="ellipse">
            <a:avLst/>
          </a:prstGeom>
          <a:solidFill>
            <a:srgbClr val="1BAF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9" name="Google Shape;659;p20"/>
          <p:cNvSpPr txBox="1"/>
          <p:nvPr/>
        </p:nvSpPr>
        <p:spPr>
          <a:xfrm>
            <a:off x="1051560" y="1828800"/>
            <a:ext cx="38404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2400"/>
              <a:buFont typeface="Georgia"/>
              <a:buNone/>
            </a:pPr>
            <a:r>
              <a:rPr lang="en-US" sz="2400">
                <a:solidFill>
                  <a:srgbClr val="FFFFFF"/>
                </a:solidFill>
                <a:latin typeface="Georgia"/>
                <a:ea typeface="Georgia"/>
                <a:cs typeface="Georgia"/>
                <a:sym typeface="Georgia"/>
              </a:rPr>
              <a:t>Etiquetas abundantes</a:t>
            </a:r>
            <a:endParaRPr sz="2400">
              <a:solidFill>
                <a:schemeClr val="dk1"/>
              </a:solidFill>
              <a:latin typeface="Arial"/>
              <a:ea typeface="Arial"/>
              <a:cs typeface="Arial"/>
              <a:sym typeface="Arial"/>
            </a:endParaRPr>
          </a:p>
        </p:txBody>
      </p:sp>
      <p:sp>
        <p:nvSpPr>
          <p:cNvPr id="660" name="Google Shape;660;p20"/>
          <p:cNvSpPr txBox="1"/>
          <p:nvPr/>
        </p:nvSpPr>
        <p:spPr>
          <a:xfrm>
            <a:off x="5029200" y="1874520"/>
            <a:ext cx="658368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8CEDA"/>
              </a:buClr>
              <a:buSzPts val="1800"/>
              <a:buFont typeface="Arial"/>
              <a:buNone/>
            </a:pPr>
            <a:r>
              <a:rPr lang="en-US" sz="1800">
                <a:solidFill>
                  <a:srgbClr val="C8CEDA"/>
                </a:solidFill>
                <a:latin typeface="Arial"/>
                <a:ea typeface="Arial"/>
                <a:cs typeface="Arial"/>
                <a:sym typeface="Arial"/>
              </a:rPr>
              <a:t>Reentrenar es mejor: SGD online comete 73 errores, contra 133 de Hedge.</a:t>
            </a:r>
            <a:endParaRPr sz="1800">
              <a:solidFill>
                <a:schemeClr val="dk1"/>
              </a:solidFill>
              <a:latin typeface="Arial"/>
              <a:ea typeface="Arial"/>
              <a:cs typeface="Arial"/>
              <a:sym typeface="Arial"/>
            </a:endParaRPr>
          </a:p>
        </p:txBody>
      </p:sp>
      <p:cxnSp>
        <p:nvCxnSpPr>
          <p:cNvPr id="661" name="Google Shape;661;p20"/>
          <p:cNvCxnSpPr/>
          <p:nvPr/>
        </p:nvCxnSpPr>
        <p:spPr>
          <a:xfrm>
            <a:off x="548640" y="2697480"/>
            <a:ext cx="11091672" cy="0"/>
          </a:xfrm>
          <a:prstGeom prst="straightConnector1">
            <a:avLst/>
          </a:prstGeom>
          <a:noFill/>
          <a:ln cap="flat" cmpd="sng" w="9525">
            <a:solidFill>
              <a:srgbClr val="3A4152"/>
            </a:solidFill>
            <a:prstDash val="solid"/>
            <a:round/>
            <a:headEnd len="sm" w="sm" type="none"/>
            <a:tailEnd len="sm" w="sm" type="none"/>
          </a:ln>
        </p:spPr>
      </p:cxnSp>
      <p:sp>
        <p:nvSpPr>
          <p:cNvPr id="662" name="Google Shape;662;p20"/>
          <p:cNvSpPr/>
          <p:nvPr/>
        </p:nvSpPr>
        <p:spPr>
          <a:xfrm>
            <a:off x="548640" y="2953512"/>
            <a:ext cx="274320" cy="274320"/>
          </a:xfrm>
          <a:prstGeom prst="ellipse">
            <a:avLst/>
          </a:prstGeom>
          <a:solidFill>
            <a:srgbClr val="2A78D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63" name="Google Shape;663;p20"/>
          <p:cNvSpPr txBox="1"/>
          <p:nvPr/>
        </p:nvSpPr>
        <p:spPr>
          <a:xfrm>
            <a:off x="1051560" y="2880360"/>
            <a:ext cx="38404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2400"/>
              <a:buFont typeface="Georgia"/>
              <a:buNone/>
            </a:pPr>
            <a:r>
              <a:rPr lang="en-US" sz="2400">
                <a:solidFill>
                  <a:srgbClr val="FFFFFF"/>
                </a:solidFill>
                <a:latin typeface="Georgia"/>
                <a:ea typeface="Georgia"/>
                <a:cs typeface="Georgia"/>
                <a:sym typeface="Georgia"/>
              </a:rPr>
              <a:t>Etiquetas escasas</a:t>
            </a:r>
            <a:endParaRPr sz="2400">
              <a:solidFill>
                <a:schemeClr val="dk1"/>
              </a:solidFill>
              <a:latin typeface="Arial"/>
              <a:ea typeface="Arial"/>
              <a:cs typeface="Arial"/>
              <a:sym typeface="Arial"/>
            </a:endParaRPr>
          </a:p>
        </p:txBody>
      </p:sp>
      <p:sp>
        <p:nvSpPr>
          <p:cNvPr id="664" name="Google Shape;664;p20"/>
          <p:cNvSpPr txBox="1"/>
          <p:nvPr/>
        </p:nvSpPr>
        <p:spPr>
          <a:xfrm>
            <a:off x="5029200" y="2926080"/>
            <a:ext cx="658368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8CEDA"/>
              </a:buClr>
              <a:buSzPts val="1800"/>
              <a:buFont typeface="Arial"/>
              <a:buNone/>
            </a:pPr>
            <a:r>
              <a:rPr lang="en-US" sz="1800">
                <a:solidFill>
                  <a:srgbClr val="C8CEDA"/>
                </a:solidFill>
                <a:latin typeface="Arial"/>
                <a:ea typeface="Arial"/>
                <a:cs typeface="Arial"/>
                <a:sym typeface="Arial"/>
              </a:rPr>
              <a:t>Combinar expertos diversos, con al menos uno robusto al ataque (se necesita que al menos uno sobreviva).</a:t>
            </a:r>
            <a:endParaRPr sz="1800">
              <a:solidFill>
                <a:schemeClr val="dk1"/>
              </a:solidFill>
              <a:latin typeface="Arial"/>
              <a:ea typeface="Arial"/>
              <a:cs typeface="Arial"/>
              <a:sym typeface="Arial"/>
            </a:endParaRPr>
          </a:p>
        </p:txBody>
      </p:sp>
      <p:cxnSp>
        <p:nvCxnSpPr>
          <p:cNvPr id="665" name="Google Shape;665;p20"/>
          <p:cNvCxnSpPr/>
          <p:nvPr/>
        </p:nvCxnSpPr>
        <p:spPr>
          <a:xfrm>
            <a:off x="548640" y="3749040"/>
            <a:ext cx="11091672" cy="0"/>
          </a:xfrm>
          <a:prstGeom prst="straightConnector1">
            <a:avLst/>
          </a:prstGeom>
          <a:noFill/>
          <a:ln cap="flat" cmpd="sng" w="9525">
            <a:solidFill>
              <a:srgbClr val="3A4152"/>
            </a:solidFill>
            <a:prstDash val="solid"/>
            <a:round/>
            <a:headEnd len="sm" w="sm" type="none"/>
            <a:tailEnd len="sm" w="sm" type="none"/>
          </a:ln>
        </p:spPr>
      </p:cxnSp>
      <p:sp>
        <p:nvSpPr>
          <p:cNvPr id="666" name="Google Shape;666;p20"/>
          <p:cNvSpPr/>
          <p:nvPr/>
        </p:nvSpPr>
        <p:spPr>
          <a:xfrm>
            <a:off x="548640" y="4005072"/>
            <a:ext cx="274320" cy="274320"/>
          </a:xfrm>
          <a:prstGeom prst="ellipse">
            <a:avLst/>
          </a:prstGeom>
          <a:solidFill>
            <a:srgbClr val="C8CED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67" name="Google Shape;667;p20"/>
          <p:cNvSpPr txBox="1"/>
          <p:nvPr/>
        </p:nvSpPr>
        <p:spPr>
          <a:xfrm>
            <a:off x="1051560" y="3931920"/>
            <a:ext cx="38404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2400"/>
              <a:buFont typeface="Georgia"/>
              <a:buNone/>
            </a:pPr>
            <a:r>
              <a:rPr lang="en-US" sz="2400">
                <a:solidFill>
                  <a:srgbClr val="FFFFFF"/>
                </a:solidFill>
                <a:latin typeface="Georgia"/>
                <a:ea typeface="Georgia"/>
                <a:cs typeface="Georgia"/>
                <a:sym typeface="Georgia"/>
              </a:rPr>
              <a:t>Siempre</a:t>
            </a:r>
            <a:endParaRPr sz="2400">
              <a:solidFill>
                <a:schemeClr val="dk1"/>
              </a:solidFill>
              <a:latin typeface="Arial"/>
              <a:ea typeface="Arial"/>
              <a:cs typeface="Arial"/>
              <a:sym typeface="Arial"/>
            </a:endParaRPr>
          </a:p>
        </p:txBody>
      </p:sp>
      <p:sp>
        <p:nvSpPr>
          <p:cNvPr id="668" name="Google Shape;668;p20"/>
          <p:cNvSpPr txBox="1"/>
          <p:nvPr/>
        </p:nvSpPr>
        <p:spPr>
          <a:xfrm>
            <a:off x="5029200" y="3977640"/>
            <a:ext cx="658368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8CEDA"/>
              </a:buClr>
              <a:buSzPts val="1800"/>
              <a:buFont typeface="Arial"/>
              <a:buNone/>
            </a:pPr>
            <a:r>
              <a:rPr lang="en-US" sz="1800">
                <a:solidFill>
                  <a:srgbClr val="C8CEDA"/>
                </a:solidFill>
                <a:latin typeface="Arial"/>
                <a:ea typeface="Arial"/>
                <a:cs typeface="Arial"/>
                <a:sym typeface="Arial"/>
              </a:rPr>
              <a:t>Medir spam atrapado y legítimo bloqueado por separado, no accuracy.</a:t>
            </a:r>
            <a:endParaRPr sz="1800">
              <a:solidFill>
                <a:schemeClr val="dk1"/>
              </a:solidFill>
              <a:latin typeface="Arial"/>
              <a:ea typeface="Arial"/>
              <a:cs typeface="Arial"/>
              <a:sym typeface="Arial"/>
            </a:endParaRPr>
          </a:p>
        </p:txBody>
      </p:sp>
      <p:cxnSp>
        <p:nvCxnSpPr>
          <p:cNvPr id="669" name="Google Shape;669;p20"/>
          <p:cNvCxnSpPr/>
          <p:nvPr/>
        </p:nvCxnSpPr>
        <p:spPr>
          <a:xfrm>
            <a:off x="548640" y="4800600"/>
            <a:ext cx="11091672" cy="0"/>
          </a:xfrm>
          <a:prstGeom prst="straightConnector1">
            <a:avLst/>
          </a:prstGeom>
          <a:noFill/>
          <a:ln cap="flat" cmpd="sng" w="9525">
            <a:solidFill>
              <a:srgbClr val="3A4152"/>
            </a:solidFill>
            <a:prstDash val="solid"/>
            <a:round/>
            <a:headEnd len="sm" w="sm" type="none"/>
            <a:tailEnd len="sm" w="sm" type="none"/>
          </a:ln>
        </p:spPr>
      </p:cxnSp>
      <p:sp>
        <p:nvSpPr>
          <p:cNvPr id="670" name="Google Shape;670;p20"/>
          <p:cNvSpPr txBox="1"/>
          <p:nvPr/>
        </p:nvSpPr>
        <p:spPr>
          <a:xfrm>
            <a:off x="548640" y="5257800"/>
            <a:ext cx="1106424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AFCBEE"/>
              </a:buClr>
              <a:buSzPts val="2000"/>
              <a:buFont typeface="Georgia"/>
              <a:buNone/>
            </a:pPr>
            <a:r>
              <a:rPr i="1" lang="en-US" sz="2000">
                <a:solidFill>
                  <a:srgbClr val="AFCBEE"/>
                </a:solidFill>
                <a:latin typeface="Georgia"/>
                <a:ea typeface="Georgia"/>
                <a:cs typeface="Georgia"/>
                <a:sym typeface="Georgia"/>
              </a:rPr>
              <a:t>Pregunta abierta para el futuro: ¿y si el modelo que reentrena fuera uno más de los expertos de Hedge? No lo probamos.</a:t>
            </a:r>
            <a:endParaRPr sz="2000">
              <a:solidFill>
                <a:schemeClr val="dk1"/>
              </a:solidFill>
              <a:latin typeface="Arial"/>
              <a:ea typeface="Arial"/>
              <a:cs typeface="Arial"/>
              <a:sym typeface="Arial"/>
            </a:endParaRPr>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21"/>
          <p:cNvSpPr txBox="1"/>
          <p:nvPr/>
        </p:nvSpPr>
        <p:spPr>
          <a:xfrm>
            <a:off x="548640" y="411480"/>
            <a:ext cx="73152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100"/>
              <a:buFont typeface="Arial"/>
              <a:buNone/>
            </a:pPr>
            <a:r>
              <a:rPr b="1" lang="en-US" sz="1100">
                <a:solidFill>
                  <a:srgbClr val="5A6274"/>
                </a:solidFill>
                <a:latin typeface="Arial"/>
                <a:ea typeface="Arial"/>
                <a:cs typeface="Arial"/>
                <a:sym typeface="Arial"/>
              </a:rPr>
              <a:t>LIMITACIONES</a:t>
            </a:r>
            <a:endParaRPr sz="1100">
              <a:solidFill>
                <a:schemeClr val="dk1"/>
              </a:solidFill>
              <a:latin typeface="Arial"/>
              <a:ea typeface="Arial"/>
              <a:cs typeface="Arial"/>
              <a:sym typeface="Arial"/>
            </a:endParaRPr>
          </a:p>
        </p:txBody>
      </p:sp>
      <p:sp>
        <p:nvSpPr>
          <p:cNvPr id="677" name="Google Shape;677;p21"/>
          <p:cNvSpPr txBox="1"/>
          <p:nvPr>
            <p:ph type="title"/>
          </p:nvPr>
        </p:nvSpPr>
        <p:spPr>
          <a:xfrm>
            <a:off x="548640" y="731520"/>
            <a:ext cx="10424160" cy="566928"/>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1F2430"/>
              </a:buClr>
              <a:buSzPts val="3000"/>
              <a:buFont typeface="Georgia"/>
              <a:buNone/>
            </a:pPr>
            <a:r>
              <a:rPr lang="en-US" sz="3000">
                <a:solidFill>
                  <a:srgbClr val="1F2430"/>
                </a:solidFill>
                <a:latin typeface="Georgia"/>
                <a:ea typeface="Georgia"/>
                <a:cs typeface="Georgia"/>
                <a:sym typeface="Georgia"/>
              </a:rPr>
              <a:t>Limitaciones</a:t>
            </a:r>
            <a:endParaRPr sz="3000"/>
          </a:p>
        </p:txBody>
      </p:sp>
      <p:sp>
        <p:nvSpPr>
          <p:cNvPr id="678" name="Google Shape;678;p21"/>
          <p:cNvSpPr txBox="1"/>
          <p:nvPr/>
        </p:nvSpPr>
        <p:spPr>
          <a:xfrm>
            <a:off x="9235440" y="429768"/>
            <a:ext cx="155448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AA1AE"/>
              </a:buClr>
              <a:buSzPts val="900"/>
              <a:buFont typeface="Arial"/>
              <a:buNone/>
            </a:pPr>
            <a:r>
              <a:rPr b="1" lang="en-US" sz="900">
                <a:solidFill>
                  <a:srgbClr val="9AA1AE"/>
                </a:solidFill>
                <a:latin typeface="Arial"/>
                <a:ea typeface="Arial"/>
                <a:cs typeface="Arial"/>
                <a:sym typeface="Arial"/>
              </a:rPr>
              <a:t>RESULTADOS</a:t>
            </a:r>
            <a:endParaRPr sz="900">
              <a:solidFill>
                <a:schemeClr val="dk1"/>
              </a:solidFill>
              <a:latin typeface="Arial"/>
              <a:ea typeface="Arial"/>
              <a:cs typeface="Arial"/>
              <a:sym typeface="Arial"/>
            </a:endParaRPr>
          </a:p>
        </p:txBody>
      </p:sp>
      <p:sp>
        <p:nvSpPr>
          <p:cNvPr id="679" name="Google Shape;679;p21"/>
          <p:cNvSpPr/>
          <p:nvPr/>
        </p:nvSpPr>
        <p:spPr>
          <a:xfrm>
            <a:off x="10899648"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80" name="Google Shape;680;p21"/>
          <p:cNvSpPr/>
          <p:nvPr/>
        </p:nvSpPr>
        <p:spPr>
          <a:xfrm>
            <a:off x="11100816"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81" name="Google Shape;681;p21"/>
          <p:cNvSpPr/>
          <p:nvPr/>
        </p:nvSpPr>
        <p:spPr>
          <a:xfrm>
            <a:off x="11301984"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82" name="Google Shape;682;p21"/>
          <p:cNvSpPr/>
          <p:nvPr/>
        </p:nvSpPr>
        <p:spPr>
          <a:xfrm>
            <a:off x="11503152" y="457200"/>
            <a:ext cx="137160" cy="137160"/>
          </a:xfrm>
          <a:prstGeom prst="ellipse">
            <a:avLst/>
          </a:prstGeom>
          <a:noFill/>
          <a:ln cap="flat" cmpd="sng" w="15875">
            <a:solidFill>
              <a:srgbClr val="9AA1A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683" name="Google Shape;683;p21"/>
          <p:cNvCxnSpPr/>
          <p:nvPr/>
        </p:nvCxnSpPr>
        <p:spPr>
          <a:xfrm>
            <a:off x="548640" y="1828800"/>
            <a:ext cx="3520440" cy="0"/>
          </a:xfrm>
          <a:prstGeom prst="straightConnector1">
            <a:avLst/>
          </a:prstGeom>
          <a:noFill/>
          <a:ln cap="flat" cmpd="sng" w="9525">
            <a:solidFill>
              <a:srgbClr val="1F2430"/>
            </a:solidFill>
            <a:prstDash val="solid"/>
            <a:round/>
            <a:headEnd len="sm" w="sm" type="none"/>
            <a:tailEnd len="sm" w="sm" type="none"/>
          </a:ln>
        </p:spPr>
      </p:cxnSp>
      <p:sp>
        <p:nvSpPr>
          <p:cNvPr id="684" name="Google Shape;684;p21"/>
          <p:cNvSpPr txBox="1"/>
          <p:nvPr/>
        </p:nvSpPr>
        <p:spPr>
          <a:xfrm>
            <a:off x="548640" y="2011680"/>
            <a:ext cx="347472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1900"/>
              <a:buFont typeface="Georgia"/>
              <a:buNone/>
            </a:pPr>
            <a:r>
              <a:rPr lang="en-US" sz="1900">
                <a:solidFill>
                  <a:srgbClr val="1F2430"/>
                </a:solidFill>
                <a:latin typeface="Georgia"/>
                <a:ea typeface="Georgia"/>
                <a:cs typeface="Georgia"/>
                <a:sym typeface="Georgia"/>
              </a:rPr>
              <a:t>Drift sintético</a:t>
            </a:r>
            <a:endParaRPr sz="1900">
              <a:solidFill>
                <a:schemeClr val="dk1"/>
              </a:solidFill>
              <a:latin typeface="Arial"/>
              <a:ea typeface="Arial"/>
              <a:cs typeface="Arial"/>
              <a:sym typeface="Arial"/>
            </a:endParaRPr>
          </a:p>
        </p:txBody>
      </p:sp>
      <p:sp>
        <p:nvSpPr>
          <p:cNvPr id="685" name="Google Shape;685;p21"/>
          <p:cNvSpPr txBox="1"/>
          <p:nvPr/>
        </p:nvSpPr>
        <p:spPr>
          <a:xfrm>
            <a:off x="548640" y="2697480"/>
            <a:ext cx="347472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500"/>
              <a:buFont typeface="Arial"/>
              <a:buNone/>
            </a:pPr>
            <a:r>
              <a:rPr lang="en-US" sz="1500">
                <a:solidFill>
                  <a:srgbClr val="5A6274"/>
                </a:solidFill>
                <a:latin typeface="Arial"/>
                <a:ea typeface="Arial"/>
                <a:cs typeface="Arial"/>
                <a:sym typeface="Arial"/>
              </a:rPr>
              <a:t>El corpus no tiene fechas: el orden y el ataque son nuestros.</a:t>
            </a:r>
            <a:endParaRPr sz="1500">
              <a:solidFill>
                <a:schemeClr val="dk1"/>
              </a:solidFill>
              <a:latin typeface="Arial"/>
              <a:ea typeface="Arial"/>
              <a:cs typeface="Arial"/>
              <a:sym typeface="Arial"/>
            </a:endParaRPr>
          </a:p>
        </p:txBody>
      </p:sp>
      <p:cxnSp>
        <p:nvCxnSpPr>
          <p:cNvPr id="686" name="Google Shape;686;p21"/>
          <p:cNvCxnSpPr/>
          <p:nvPr/>
        </p:nvCxnSpPr>
        <p:spPr>
          <a:xfrm>
            <a:off x="4370832" y="1828800"/>
            <a:ext cx="3520440" cy="0"/>
          </a:xfrm>
          <a:prstGeom prst="straightConnector1">
            <a:avLst/>
          </a:prstGeom>
          <a:noFill/>
          <a:ln cap="flat" cmpd="sng" w="9525">
            <a:solidFill>
              <a:srgbClr val="1F2430"/>
            </a:solidFill>
            <a:prstDash val="solid"/>
            <a:round/>
            <a:headEnd len="sm" w="sm" type="none"/>
            <a:tailEnd len="sm" w="sm" type="none"/>
          </a:ln>
        </p:spPr>
      </p:cxnSp>
      <p:sp>
        <p:nvSpPr>
          <p:cNvPr id="687" name="Google Shape;687;p21"/>
          <p:cNvSpPr txBox="1"/>
          <p:nvPr/>
        </p:nvSpPr>
        <p:spPr>
          <a:xfrm>
            <a:off x="4370832" y="2011680"/>
            <a:ext cx="347472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1900"/>
              <a:buFont typeface="Georgia"/>
              <a:buNone/>
            </a:pPr>
            <a:r>
              <a:rPr lang="en-US" sz="1900">
                <a:solidFill>
                  <a:srgbClr val="1F2430"/>
                </a:solidFill>
                <a:latin typeface="Georgia"/>
                <a:ea typeface="Georgia"/>
                <a:cs typeface="Georgia"/>
                <a:sym typeface="Georgia"/>
              </a:rPr>
              <a:t>Adversario que no reacciona</a:t>
            </a:r>
            <a:endParaRPr sz="1900">
              <a:solidFill>
                <a:schemeClr val="dk1"/>
              </a:solidFill>
              <a:latin typeface="Arial"/>
              <a:ea typeface="Arial"/>
              <a:cs typeface="Arial"/>
              <a:sym typeface="Arial"/>
            </a:endParaRPr>
          </a:p>
        </p:txBody>
      </p:sp>
      <p:sp>
        <p:nvSpPr>
          <p:cNvPr id="688" name="Google Shape;688;p21"/>
          <p:cNvSpPr txBox="1"/>
          <p:nvPr/>
        </p:nvSpPr>
        <p:spPr>
          <a:xfrm>
            <a:off x="4370832" y="2697480"/>
            <a:ext cx="347472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500"/>
              <a:buFont typeface="Arial"/>
              <a:buNone/>
            </a:pPr>
            <a:r>
              <a:rPr lang="en-US" sz="1500">
                <a:solidFill>
                  <a:srgbClr val="5A6274"/>
                </a:solidFill>
                <a:latin typeface="Arial"/>
                <a:ea typeface="Arial"/>
                <a:cs typeface="Arial"/>
                <a:sym typeface="Arial"/>
              </a:rPr>
              <a:t>Uno adaptativo degradaría las tasas de √T a T^(2/3). </a:t>
            </a:r>
            <a:endParaRPr sz="1500">
              <a:solidFill>
                <a:schemeClr val="dk1"/>
              </a:solidFill>
              <a:latin typeface="Arial"/>
              <a:ea typeface="Arial"/>
              <a:cs typeface="Arial"/>
              <a:sym typeface="Arial"/>
            </a:endParaRPr>
          </a:p>
        </p:txBody>
      </p:sp>
      <p:cxnSp>
        <p:nvCxnSpPr>
          <p:cNvPr id="689" name="Google Shape;689;p21"/>
          <p:cNvCxnSpPr/>
          <p:nvPr/>
        </p:nvCxnSpPr>
        <p:spPr>
          <a:xfrm>
            <a:off x="8193024" y="1828800"/>
            <a:ext cx="3520440" cy="0"/>
          </a:xfrm>
          <a:prstGeom prst="straightConnector1">
            <a:avLst/>
          </a:prstGeom>
          <a:noFill/>
          <a:ln cap="flat" cmpd="sng" w="9525">
            <a:solidFill>
              <a:srgbClr val="1F2430"/>
            </a:solidFill>
            <a:prstDash val="solid"/>
            <a:round/>
            <a:headEnd len="sm" w="sm" type="none"/>
            <a:tailEnd len="sm" w="sm" type="none"/>
          </a:ln>
        </p:spPr>
      </p:cxnSp>
      <p:sp>
        <p:nvSpPr>
          <p:cNvPr id="690" name="Google Shape;690;p21"/>
          <p:cNvSpPr txBox="1"/>
          <p:nvPr/>
        </p:nvSpPr>
        <p:spPr>
          <a:xfrm>
            <a:off x="8193024" y="2011680"/>
            <a:ext cx="347472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1900"/>
              <a:buFont typeface="Georgia"/>
              <a:buNone/>
            </a:pPr>
            <a:r>
              <a:rPr lang="en-US" sz="1900">
                <a:solidFill>
                  <a:srgbClr val="1F2430"/>
                </a:solidFill>
                <a:latin typeface="Georgia"/>
                <a:ea typeface="Georgia"/>
                <a:cs typeface="Georgia"/>
                <a:sym typeface="Georgia"/>
              </a:rPr>
              <a:t>Experto robusto por construcción</a:t>
            </a:r>
            <a:endParaRPr sz="1900">
              <a:solidFill>
                <a:schemeClr val="dk1"/>
              </a:solidFill>
              <a:latin typeface="Arial"/>
              <a:ea typeface="Arial"/>
              <a:cs typeface="Arial"/>
              <a:sym typeface="Arial"/>
            </a:endParaRPr>
          </a:p>
        </p:txBody>
      </p:sp>
      <p:sp>
        <p:nvSpPr>
          <p:cNvPr id="691" name="Google Shape;691;p21"/>
          <p:cNvSpPr txBox="1"/>
          <p:nvPr/>
        </p:nvSpPr>
        <p:spPr>
          <a:xfrm>
            <a:off x="8193024" y="2697480"/>
            <a:ext cx="347472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500"/>
              <a:buFont typeface="Arial"/>
              <a:buNone/>
            </a:pPr>
            <a:r>
              <a:rPr lang="en-US" sz="1500">
                <a:solidFill>
                  <a:srgbClr val="5A6274"/>
                </a:solidFill>
                <a:latin typeface="Arial"/>
                <a:ea typeface="Arial"/>
                <a:cs typeface="Arial"/>
                <a:sym typeface="Arial"/>
              </a:rPr>
              <a:t>El ataque no toca dígitos ni símbolos; uno que lo hiciera rompería a este experto.</a:t>
            </a:r>
            <a:endParaRPr sz="1500">
              <a:solidFill>
                <a:schemeClr val="dk1"/>
              </a:solidFill>
              <a:latin typeface="Arial"/>
              <a:ea typeface="Arial"/>
              <a:cs typeface="Arial"/>
              <a:sym typeface="Arial"/>
            </a:endParaRPr>
          </a:p>
        </p:txBody>
      </p:sp>
      <p:cxnSp>
        <p:nvCxnSpPr>
          <p:cNvPr id="692" name="Google Shape;692;p21"/>
          <p:cNvCxnSpPr/>
          <p:nvPr/>
        </p:nvCxnSpPr>
        <p:spPr>
          <a:xfrm>
            <a:off x="548640" y="3931920"/>
            <a:ext cx="3520440" cy="0"/>
          </a:xfrm>
          <a:prstGeom prst="straightConnector1">
            <a:avLst/>
          </a:prstGeom>
          <a:noFill/>
          <a:ln cap="flat" cmpd="sng" w="9525">
            <a:solidFill>
              <a:srgbClr val="1F2430"/>
            </a:solidFill>
            <a:prstDash val="solid"/>
            <a:round/>
            <a:headEnd len="sm" w="sm" type="none"/>
            <a:tailEnd len="sm" w="sm" type="none"/>
          </a:ln>
        </p:spPr>
      </p:cxnSp>
      <p:sp>
        <p:nvSpPr>
          <p:cNvPr id="693" name="Google Shape;693;p21"/>
          <p:cNvSpPr txBox="1"/>
          <p:nvPr/>
        </p:nvSpPr>
        <p:spPr>
          <a:xfrm>
            <a:off x="548640" y="4114800"/>
            <a:ext cx="347472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1900"/>
              <a:buFont typeface="Georgia"/>
              <a:buNone/>
            </a:pPr>
            <a:r>
              <a:rPr lang="en-US" sz="1900">
                <a:solidFill>
                  <a:srgbClr val="1F2430"/>
                </a:solidFill>
                <a:latin typeface="Georgia"/>
                <a:ea typeface="Georgia"/>
                <a:cs typeface="Georgia"/>
                <a:sym typeface="Georgia"/>
              </a:rPr>
              <a:t>Pérdida 0-1 simétrica</a:t>
            </a:r>
            <a:endParaRPr sz="1900">
              <a:solidFill>
                <a:schemeClr val="dk1"/>
              </a:solidFill>
              <a:latin typeface="Arial"/>
              <a:ea typeface="Arial"/>
              <a:cs typeface="Arial"/>
              <a:sym typeface="Arial"/>
            </a:endParaRPr>
          </a:p>
        </p:txBody>
      </p:sp>
      <p:sp>
        <p:nvSpPr>
          <p:cNvPr id="694" name="Google Shape;694;p21"/>
          <p:cNvSpPr txBox="1"/>
          <p:nvPr/>
        </p:nvSpPr>
        <p:spPr>
          <a:xfrm>
            <a:off x="548640" y="4800600"/>
            <a:ext cx="347472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500"/>
              <a:buFont typeface="Arial"/>
              <a:buNone/>
            </a:pPr>
            <a:r>
              <a:rPr lang="en-US" sz="1500">
                <a:solidFill>
                  <a:srgbClr val="5A6274"/>
                </a:solidFill>
                <a:latin typeface="Arial"/>
                <a:ea typeface="Arial"/>
                <a:cs typeface="Arial"/>
                <a:sym typeface="Arial"/>
              </a:rPr>
              <a:t>Bloquear un mensaje legítimo cuesta más que dejar pasar spam.</a:t>
            </a:r>
            <a:endParaRPr sz="1500">
              <a:solidFill>
                <a:schemeClr val="dk1"/>
              </a:solidFill>
              <a:latin typeface="Arial"/>
              <a:ea typeface="Arial"/>
              <a:cs typeface="Arial"/>
              <a:sym typeface="Arial"/>
            </a:endParaRPr>
          </a:p>
        </p:txBody>
      </p:sp>
      <p:cxnSp>
        <p:nvCxnSpPr>
          <p:cNvPr id="695" name="Google Shape;695;p21"/>
          <p:cNvCxnSpPr/>
          <p:nvPr/>
        </p:nvCxnSpPr>
        <p:spPr>
          <a:xfrm>
            <a:off x="4370832" y="3931920"/>
            <a:ext cx="3520440" cy="0"/>
          </a:xfrm>
          <a:prstGeom prst="straightConnector1">
            <a:avLst/>
          </a:prstGeom>
          <a:noFill/>
          <a:ln cap="flat" cmpd="sng" w="9525">
            <a:solidFill>
              <a:srgbClr val="1F2430"/>
            </a:solidFill>
            <a:prstDash val="solid"/>
            <a:round/>
            <a:headEnd len="sm" w="sm" type="none"/>
            <a:tailEnd len="sm" w="sm" type="none"/>
          </a:ln>
        </p:spPr>
      </p:cxnSp>
      <p:sp>
        <p:nvSpPr>
          <p:cNvPr id="696" name="Google Shape;696;p21"/>
          <p:cNvSpPr txBox="1"/>
          <p:nvPr/>
        </p:nvSpPr>
        <p:spPr>
          <a:xfrm>
            <a:off x="4370832" y="4114800"/>
            <a:ext cx="347472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1900"/>
              <a:buFont typeface="Georgia"/>
              <a:buNone/>
            </a:pPr>
            <a:r>
              <a:rPr lang="en-US" sz="1900">
                <a:solidFill>
                  <a:srgbClr val="1F2430"/>
                </a:solidFill>
                <a:latin typeface="Georgia"/>
                <a:ea typeface="Georgia"/>
                <a:cs typeface="Georgia"/>
                <a:sym typeface="Georgia"/>
              </a:rPr>
              <a:t>Etiqueta de dos lados</a:t>
            </a:r>
            <a:endParaRPr sz="1900">
              <a:solidFill>
                <a:schemeClr val="dk1"/>
              </a:solidFill>
              <a:latin typeface="Arial"/>
              <a:ea typeface="Arial"/>
              <a:cs typeface="Arial"/>
              <a:sym typeface="Arial"/>
            </a:endParaRPr>
          </a:p>
        </p:txBody>
      </p:sp>
      <p:sp>
        <p:nvSpPr>
          <p:cNvPr id="697" name="Google Shape;697;p21"/>
          <p:cNvSpPr txBox="1"/>
          <p:nvPr/>
        </p:nvSpPr>
        <p:spPr>
          <a:xfrm>
            <a:off x="4370832" y="4800600"/>
            <a:ext cx="347472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500"/>
              <a:buFont typeface="Arial"/>
              <a:buNone/>
            </a:pPr>
            <a:r>
              <a:rPr lang="en-US" sz="1500">
                <a:solidFill>
                  <a:srgbClr val="5A6274"/>
                </a:solidFill>
                <a:latin typeface="Arial"/>
                <a:ea typeface="Arial"/>
                <a:cs typeface="Arial"/>
                <a:sym typeface="Arial"/>
              </a:rPr>
              <a:t>En la práctica solo se ven los errores de lo que se entrega.</a:t>
            </a:r>
            <a:endParaRPr sz="1500">
              <a:solidFill>
                <a:schemeClr val="dk1"/>
              </a:solidFill>
              <a:latin typeface="Arial"/>
              <a:ea typeface="Arial"/>
              <a:cs typeface="Arial"/>
              <a:sym typeface="Arial"/>
            </a:endParaRPr>
          </a:p>
        </p:txBody>
      </p:sp>
      <p:cxnSp>
        <p:nvCxnSpPr>
          <p:cNvPr id="698" name="Google Shape;698;p21"/>
          <p:cNvCxnSpPr/>
          <p:nvPr/>
        </p:nvCxnSpPr>
        <p:spPr>
          <a:xfrm>
            <a:off x="8193024" y="3931920"/>
            <a:ext cx="3520440" cy="0"/>
          </a:xfrm>
          <a:prstGeom prst="straightConnector1">
            <a:avLst/>
          </a:prstGeom>
          <a:noFill/>
          <a:ln cap="flat" cmpd="sng" w="9525">
            <a:solidFill>
              <a:srgbClr val="1F2430"/>
            </a:solidFill>
            <a:prstDash val="solid"/>
            <a:round/>
            <a:headEnd len="sm" w="sm" type="none"/>
            <a:tailEnd len="sm" w="sm" type="none"/>
          </a:ln>
        </p:spPr>
      </p:cxnSp>
      <p:sp>
        <p:nvSpPr>
          <p:cNvPr id="699" name="Google Shape;699;p21"/>
          <p:cNvSpPr txBox="1"/>
          <p:nvPr/>
        </p:nvSpPr>
        <p:spPr>
          <a:xfrm>
            <a:off x="8193024" y="4114800"/>
            <a:ext cx="347472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30"/>
              </a:buClr>
              <a:buSzPts val="1900"/>
              <a:buFont typeface="Georgia"/>
              <a:buNone/>
            </a:pPr>
            <a:r>
              <a:rPr lang="en-US" sz="1900">
                <a:solidFill>
                  <a:srgbClr val="1F2430"/>
                </a:solidFill>
                <a:latin typeface="Georgia"/>
                <a:ea typeface="Georgia"/>
                <a:cs typeface="Georgia"/>
                <a:sym typeface="Georgia"/>
              </a:rPr>
              <a:t>Un solo corpus</a:t>
            </a:r>
            <a:endParaRPr sz="1900">
              <a:solidFill>
                <a:schemeClr val="dk1"/>
              </a:solidFill>
              <a:latin typeface="Arial"/>
              <a:ea typeface="Arial"/>
              <a:cs typeface="Arial"/>
              <a:sym typeface="Arial"/>
            </a:endParaRPr>
          </a:p>
        </p:txBody>
      </p:sp>
      <p:sp>
        <p:nvSpPr>
          <p:cNvPr id="700" name="Google Shape;700;p21"/>
          <p:cNvSpPr txBox="1"/>
          <p:nvPr/>
        </p:nvSpPr>
        <p:spPr>
          <a:xfrm>
            <a:off x="8193024" y="4800600"/>
            <a:ext cx="347472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274"/>
              </a:buClr>
              <a:buSzPts val="1500"/>
              <a:buFont typeface="Arial"/>
              <a:buNone/>
            </a:pPr>
            <a:r>
              <a:rPr lang="en-US" sz="1500">
                <a:solidFill>
                  <a:srgbClr val="5A6274"/>
                </a:solidFill>
                <a:latin typeface="Arial"/>
                <a:ea typeface="Arial"/>
                <a:cs typeface="Arial"/>
                <a:sym typeface="Arial"/>
              </a:rPr>
              <a:t>5.574 SMS en inglés, ~305 spams atacados por semilla.</a:t>
            </a:r>
            <a:endParaRPr sz="1500">
              <a:solidFill>
                <a:schemeClr val="dk1"/>
              </a:solidFill>
              <a:latin typeface="Arial"/>
              <a:ea typeface="Arial"/>
              <a:cs typeface="Arial"/>
              <a:sym typeface="Arial"/>
            </a:endParaRPr>
          </a:p>
        </p:txBody>
      </p:sp>
      <p:sp>
        <p:nvSpPr>
          <p:cNvPr id="701" name="Google Shape;701;p21"/>
          <p:cNvSpPr txBox="1"/>
          <p:nvPr/>
        </p:nvSpPr>
        <p:spPr>
          <a:xfrm>
            <a:off x="548640" y="6373368"/>
            <a:ext cx="1024128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A1AE"/>
              </a:buClr>
              <a:buSzPts val="1000"/>
              <a:buFont typeface="Arial"/>
              <a:buNone/>
            </a:pPr>
            <a:r>
              <a:rPr lang="en-US" sz="1000">
                <a:solidFill>
                  <a:srgbClr val="9AA1AE"/>
                </a:solidFill>
                <a:latin typeface="Arial"/>
                <a:ea typeface="Arial"/>
                <a:cs typeface="Arial"/>
                <a:sym typeface="Arial"/>
              </a:rPr>
              <a:t>Detalle en la sección de limitaciones del paper.</a:t>
            </a:r>
            <a:endParaRPr sz="1000">
              <a:solidFill>
                <a:schemeClr val="dk1"/>
              </a:solidFill>
              <a:latin typeface="Arial"/>
              <a:ea typeface="Arial"/>
              <a:cs typeface="Arial"/>
              <a:sym typeface="Arial"/>
            </a:endParaRPr>
          </a:p>
        </p:txBody>
      </p:sp>
      <p:sp>
        <p:nvSpPr>
          <p:cNvPr id="702" name="Google Shape;702;p21"/>
          <p:cNvSpPr txBox="1"/>
          <p:nvPr>
            <p:ph idx="4294967295" type="sldNum"/>
          </p:nvPr>
        </p:nvSpPr>
        <p:spPr>
          <a:xfrm>
            <a:off x="11091672" y="637336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AA1AE"/>
                </a:solidFill>
                <a:latin typeface="Arial"/>
                <a:ea typeface="Arial"/>
                <a:cs typeface="Arial"/>
                <a:sym typeface="Arial"/>
              </a:rPr>
              <a:t>‹#›</a:t>
            </a:fld>
            <a:endParaRPr sz="1000">
              <a:solidFill>
                <a:srgbClr val="9AA1AE"/>
              </a:solidFill>
              <a:latin typeface="Arial"/>
              <a:ea typeface="Arial"/>
              <a:cs typeface="Arial"/>
              <a:sym typeface="Arial"/>
            </a:endParaRPr>
          </a:p>
        </p:txBody>
      </p:sp>
    </p:spTree>
  </p:cSld>
  <p:clrMapOvr>
    <a:masterClrMapping/>
  </p:clrMapOvr>
  <p:transition spd="med">
    <p:fade/>
  </p:transition>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mbinar o reentrenar">
  <a:themeElements>
    <a:clrScheme name="Combinar o reentrenar">
      <a:dk1>
        <a:srgbClr val="1F2430"/>
      </a:dk1>
      <a:lt1>
        <a:srgbClr val="FFFFFF"/>
      </a:lt1>
      <a:dk2>
        <a:srgbClr val="5A6274"/>
      </a:dk2>
      <a:lt2>
        <a:srgbClr val="F7F5F0"/>
      </a:lt2>
      <a:accent1>
        <a:srgbClr val="2A78D6"/>
      </a:accent1>
      <a:accent2>
        <a:srgbClr val="EB6834"/>
      </a:accent2>
      <a:accent3>
        <a:srgbClr val="1BAF7A"/>
      </a:accent3>
      <a:accent4>
        <a:srgbClr val="4A3AA7"/>
      </a:accent4>
      <a:accent5>
        <a:srgbClr val="008300"/>
      </a:accent5>
      <a:accent6>
        <a:srgbClr val="E34948"/>
      </a:accent6>
      <a:hlink>
        <a:srgbClr val="2A78D6"/>
      </a:hlink>
      <a:folHlink>
        <a:srgbClr val="4A3A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2026-10-02T18:44:18Z</dcterms:created>
  <dc:creator>Pablo Díaz y Ezequiel Martinez</dc:creator>
</cp:coreProperties>
</file>