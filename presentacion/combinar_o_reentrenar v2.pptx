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1" r:id="rId6"/>
    <p:sldId id="276" r:id="rId7"/>
    <p:sldId id="277" r:id="rId8"/>
    <p:sldId id="260" r:id="rId9"/>
    <p:sldId id="274" r:id="rId10"/>
    <p:sldId id="275" r:id="rId11"/>
    <p:sldId id="262" r:id="rId12"/>
    <p:sldId id="263" r:id="rId13"/>
    <p:sldId id="264" r:id="rId14"/>
    <p:sldId id="265" r:id="rId15"/>
    <p:sldId id="266" r:id="rId16"/>
    <p:sldId id="267" r:id="rId17"/>
    <p:sldId id="268" r:id="rId18"/>
    <p:sldId id="269" r:id="rId19"/>
    <p:sldId id="270" r:id="rId20"/>
    <p:sldId id="271" r:id="rId21"/>
    <p:sldId id="272"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El problema" id="{8139ED1F-08FA-BFB5-F98D-1211F62203BB}">
          <p14:sldIdLst>
            <p14:sldId id="256"/>
            <p14:sldId id="257"/>
            <p14:sldId id="258"/>
            <p14:sldId id="259"/>
            <p14:sldId id="261"/>
            <p14:sldId id="276"/>
            <p14:sldId id="277"/>
            <p14:sldId id="260"/>
            <p14:sldId id="274"/>
            <p14:sldId id="275"/>
          </p14:sldIdLst>
        </p14:section>
        <p14:section name="2. Hallazgos" id="{AB93E592-BBAE-4FF3-BEBF-D04A9DA8CD28}">
          <p14:sldIdLst>
            <p14:sldId id="262"/>
            <p14:sldId id="263"/>
            <p14:sldId id="264"/>
            <p14:sldId id="265"/>
            <p14:sldId id="266"/>
            <p14:sldId id="267"/>
            <p14:sldId id="268"/>
            <p14:sldId id="269"/>
            <p14:sldId id="270"/>
          </p14:sldIdLst>
        </p14:section>
        <p14:section name="3. Cierre" id="{BAA65F02-939F-4A73-968B-D58CF76571C1}">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04" autoAdjust="0"/>
  </p:normalViewPr>
  <p:slideViewPr>
    <p:cSldViewPr snapToGrid="0" snapToObjects="1">
      <p:cViewPr varScale="1">
        <p:scale>
          <a:sx n="146" d="100"/>
          <a:sy n="146" d="100"/>
        </p:scale>
        <p:origin x="120"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1758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0:30. Presentarse. Una frase de entrada: cuando el spammer se adapta al filtro, ¿conviene combinar modelos que ya tenemos o reentrenar uno? Las palabras de la derecha son reales: así queda un spam después de nuestro ataque.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Leer el SMS original y después señalar las palabras en naranja: reply pasa a reeply, win a wiin, stop a stoop. La azul, lol, es una palabra típica de mensajes legítimos. El filtro estático pasa de atrapar el 85% del spam al 42%. El mensaje crece una sola palabra: no se lo puede detectar por el largo.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1:00. Las dos defensas. Combinar: cinco modelos congelados, Hedge solo decide a cuál creerle; aprende cinco números. Reentrenar: un modelo que aprende de cada etiqueta; tiene un peso por palabra, por eso puede aprender «wiin». La cita de Lowd y Meek es la tesis que ponemos a prueba.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0:40. Las dos preguntas ordenan la charla: </a:t>
            </a:r>
            <a:r>
              <a:rPr lang="en-US" dirty="0" err="1"/>
              <a:t>los</a:t>
            </a:r>
            <a:r>
              <a:rPr lang="en-US" dirty="0"/>
              <a:t> </a:t>
            </a:r>
            <a:r>
              <a:rPr lang="en-US" dirty="0" err="1"/>
              <a:t>resultados</a:t>
            </a:r>
            <a:r>
              <a:rPr lang="en-US" dirty="0"/>
              <a:t> 1 y 2 las responden. Anticipar que el </a:t>
            </a:r>
            <a:r>
              <a:rPr lang="en-US" dirty="0" err="1"/>
              <a:t>resultado</a:t>
            </a:r>
            <a:r>
              <a:rPr lang="en-US" dirty="0"/>
              <a:t> 3 son dos precisiones sobre la teoría, y el 4 lecciones de método. Los puntos de arriba a la derecha marcan en </a:t>
            </a:r>
            <a:r>
              <a:rPr lang="en-US" dirty="0" err="1"/>
              <a:t>qué</a:t>
            </a:r>
            <a:r>
              <a:rPr lang="en-US" dirty="0"/>
              <a:t> </a:t>
            </a:r>
            <a:r>
              <a:rPr lang="en-US" dirty="0" err="1"/>
              <a:t>resultado</a:t>
            </a:r>
            <a:r>
              <a:rPr lang="en-US" dirty="0"/>
              <a:t> estamos.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 1:15. Combinar. Cada mensaje es una ronda. Los cinco expertos arrancan con el mismo peso; en cada mensaje Hedge sortea a cuál creerle según los pesos. Después se revela la etiqueta y cada experto que se equivocó multiplica su peso por e a la menos eta. Se ven los cinco, no solo el sorteado: por eso no es un bandit. A la derecha, la garantía: con nuestros números, como mucho unos 60 errores de más que el mejor experto en todo el stream, sin supuestos estadísticos, contra un adversario que fija la secuencia de antemano. La variante determinística vota con los pesos en lugar de sortear y no tiene garantía; lo mostramos en el </a:t>
            </a:r>
            <a:r>
              <a:rPr lang="es-AR"/>
              <a:t>resultado</a:t>
            </a:r>
            <a:r>
              <a:t> 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 1:00. Reentrenar: una regresión logística que arranca entrenada en el warm-up y en cada ronda predice primero y se actualiza después. La tabla es la clave para leer los resultados: Hedge aprende cinco números; SGD aprende un peso por componente, unos 262 mil. Por eso SGD puede aprender «wiin» y Hedge no. La última fila anticipa la pregunta 2: qué hace cada uno cuando falta la etiqueta.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786960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 0:50. Pregunta 2. El usuario reporta cada mensaje con probabilidad rho: arriba, con rho igual a 1 se etiqueta todo; con 0,2, uno de cada cinco. En las rondas sin etiqueta nadie aprende. Hedge compensa con el estimador ℓ/ρ y achica eta; SGD aprende solo de lo que tiene, sin reponderar. Los dos ven exactamente las mismas rondas etiquetadas. Barremos rho de 1 a 0,05; la teoría dice que el regret de Hedge crece como 1/√ρ.</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 1:20. Recorrer la barra de izquierda a derecha: está a escala. Warm-up del 20% para entrenar; después 4.460 rondas de predecir, ver la etiqueta y actualizar; el ataque arranca en la mitad. Los tres competidores ven exactamente la misma secuencia. Sobre métricas: con 13% de spam, no marcar nada acierta el 87%. Todo se repite con 20 semillas, cada una una permutación distinta del corpus.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 1:00. Los cinco expertos con sus colores: Naive Bayes en naranja, que además es el modelo estático; los otros tres léxicos en verde; el estructural en violeta, que no mira palabras sino formato. Sin ataque los cinco andan parecido, entre 77 y 85% del spam: arrancan parejos y el ataque es lo que los separa. El estructural es robusto por construcción, porque el ataque no toca dígitos.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233830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 1:00. El ataque ya lo vimos en el ejemplo: vocal duplicada en las 800 palabras más delatoras más una palabra legítima. Lo calibramos para bajar a la mitad la detección del Naive Bayes sin alargar el mensaje; descartamos el leetspeak porque los dígitos ayudaban al experto estructural. Competidores: el estático, Hedge en sus dos variantes y SGD online. Todo con 20 semillas.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779734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1:00. Respuesta a la pregunta 1. Con ataque, el estático comete 190 errores, Hedge 133 y SGD 73. Hedge recorre el 46% de esa distancia sin reentrenar nada. Reentrenar gana, pero combinar hace casi la mitad del trabajo.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0:45. La misma comparación en mensajes concretos. De los 305 spams que llegan atacados, el estático atrapa 128, Hedge 180 y SGD 252. Hedge atrapa 52 más que el estático; SGD, 72 más que Hedge.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1:30. Dejar correr la animación y narrar sobre ella; se puede pausar con un clic. Fase 1: sin ataque, los tres atrapan parecido. Fase 2: llega el ataque y los tres caen; el estático se queda en ~43%. Fase 3: abajo, el peso de Hedge pasa al experto estructural (violeta) y Hedge se recupera hasta ~60%. Fase 4: SGD aprendió las palabras nuevas y vuelve casi al nivel previo. Al final, los contadores: 190, 133 y 73 errores en la mitad atacada.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(y pasa a B). El porqué. Hedge no había apostado todo al mejor del momento: al llegar el ataque tenía el peso en tercios. Cuando el ataque rompe a Naive Bayes, el peso migra al estructural, que mira formato y no palabras. Pase: «Esto con todas las etiquetas. Ezequiel muestra qué pasa cuando escasean.»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Respuesta a la pregunta 2. Con todas las etiquetas, reentrenar gana claro: 73 contra 133. A medida que el usuario reporta menos, SGD se degrada mucho más rápido. Las curvas se cruzan entre 1 de cada 5 y 1 de cada 20: ahí Hedge gana en 15 de 20 semillas, y SGD termina peor que no adaptarse.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1:15. Un revisor nos objetó que SGD perdía por no reponderar como Hedge. Lo probamos: reponderar lo empeora, de 210 a 240 o 323 errores. La razón es de conteo: Hedge aprende 5 pesos; reentrenar necesita un peso por cada palabra nueva. Lo que sí sufre Hedge es la varianza del estimador.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Primera precisión sobre la teoría. Las slides 71 y 73 presentan juntos el voto pesado y la cota, pero la cota es del Hedge randomizado. Construimos un adversario que simula al determinístico y le etiqueta lo contrario: su regret crece lineal, T/2. El randomizado queda en 14, bajo su cota de 37. En el stream real el determinístico anda mejor: la diferencia es de peor caso.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1:15. Segunda precisión. Hay dos cotas y cada una vale para su propia tasa de aprendizaje. Las dos se cumplen en las 20 semillas. La small-loss da la mitad de regret, pero requiere saber cuántos errores comete el mejor experto, algo que bajo ataque no sabemos. Notar cómo esa cota cambia de pendiente con el ataque.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Tres cosas que sirven fuera de este trabajo. Accuracy engaña con datos desbalanceados. La validación cruzada sobre datos sin cambio no sirve para elegir hiperparámetros de adaptación: tuvimos que fijar el alfa de SGD. Y combinar solo funciona si algún experto sobrevive: con la primera versión del estructural, Hedge no recuperaba nada.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1:00. La conclusión práctica. Lowd y Meek tenían razón a medias: reentrenar seguido funciona si hay etiquetas seguido. Cuando escasean, combinar es más robusto porque tiene muchos menos parámetros. Cerrar con la pregunta abierta, aclarando que no la probamos.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0:45. Mencionar rápido, sin leer todas. Las dos más importantes: el drift es sintético y el experto robusto lo es para este ataque en particular.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7F5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731520"/>
            <a:ext cx="10424160" cy="566928"/>
          </a:xfrm>
          <a:prstGeom prst="rect">
            <a:avLst/>
          </a:prstGeom>
          <a:noFill/>
          <a:ln/>
        </p:spPr>
        <p:txBody>
          <a:bodyPr wrap="square" rtlCol="0"/>
          <a:lstStyle>
            <a:lvl1pPr marL="0" indent="0">
              <a:buNone/>
              <a:defRPr lang="en-US" sz="3000" dirty="0">
                <a:solidFill>
                  <a:srgbClr val="1F2430"/>
                </a:solidFill>
                <a:latin typeface="Georgia" pitchFamily="34" charset="0"/>
                <a:ea typeface="Georgia" pitchFamily="34" charset="-122"/>
                <a:cs typeface="Georgia" pitchFamily="34" charset="-120"/>
              </a:defRPr>
            </a:lvl1pPr>
          </a:lstStyle>
          <a:p>
            <a:pPr marL="0" indent="0">
              <a:buNone/>
            </a:pPr>
            <a:endParaRPr lang="en-US" sz="3000" dirty="0"/>
          </a:p>
        </p:txBody>
      </p:sp>
      <p:sp>
        <p:nvSpPr>
          <p:cNvPr id="3" name="Shape 0"/>
          <p:cNvSpPr/>
          <p:nvPr/>
        </p:nvSpPr>
        <p:spPr>
          <a:xfrm>
            <a:off x="548640" y="6291072"/>
            <a:ext cx="11091672" cy="0"/>
          </a:xfrm>
          <a:prstGeom prst="line">
            <a:avLst/>
          </a:prstGeom>
          <a:noFill/>
          <a:ln w="9525">
            <a:solidFill>
              <a:srgbClr val="D9D6CE"/>
            </a:solidFill>
            <a:prstDash val="solid"/>
          </a:ln>
        </p:spPr>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rgbClr val="1F2430"/>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315200" cy="274320"/>
          </a:xfrm>
          <a:prstGeom prst="rect">
            <a:avLst/>
          </a:prstGeom>
          <a:noFill/>
          <a:ln/>
        </p:spPr>
        <p:txBody>
          <a:bodyPr wrap="square" lIns="0" tIns="0" rIns="0" bIns="0" rtlCol="0" anchor="t"/>
          <a:lstStyle/>
          <a:p>
            <a:pPr marL="0" indent="0">
              <a:lnSpc>
                <a:spcPct val="100000"/>
              </a:lnSpc>
              <a:buNone/>
            </a:pPr>
            <a:r>
              <a:rPr lang="en-US" sz="1100" b="1" kern="0" spc="200" dirty="0">
                <a:solidFill>
                  <a:srgbClr val="9AA1AE"/>
                </a:solidFill>
                <a:latin typeface="Arial" pitchFamily="34" charset="0"/>
                <a:ea typeface="Arial" pitchFamily="34" charset="-122"/>
                <a:cs typeface="Arial" pitchFamily="34" charset="-120"/>
              </a:rPr>
              <a:t>TÓPICOS AVANZADOS EN CIENCIA DE DATOS · MCD210 · UDESA</a:t>
            </a:r>
            <a:endParaRPr lang="en-US" sz="1100" dirty="0"/>
          </a:p>
        </p:txBody>
      </p:sp>
      <p:sp>
        <p:nvSpPr>
          <p:cNvPr id="3" name="Text 1"/>
          <p:cNvSpPr txBox="1"/>
          <p:nvPr/>
        </p:nvSpPr>
        <p:spPr>
          <a:xfrm>
            <a:off x="731520" y="1737360"/>
            <a:ext cx="6766560" cy="2103120"/>
          </a:xfrm>
          <a:prstGeom prst="rect">
            <a:avLst/>
          </a:prstGeom>
          <a:noFill/>
          <a:ln/>
        </p:spPr>
        <p:txBody>
          <a:bodyPr wrap="square" lIns="0" tIns="0" rIns="0" bIns="0" rtlCol="0" anchor="t"/>
          <a:lstStyle/>
          <a:p>
            <a:pPr marL="0" indent="0">
              <a:lnSpc>
                <a:spcPct val="92000"/>
              </a:lnSpc>
              <a:buNone/>
            </a:pPr>
            <a:r>
              <a:rPr lang="en-US" sz="6400" dirty="0">
                <a:solidFill>
                  <a:srgbClr val="FFFFFF"/>
                </a:solidFill>
                <a:latin typeface="Georgia" pitchFamily="34" charset="0"/>
                <a:ea typeface="Georgia" pitchFamily="34" charset="-122"/>
                <a:cs typeface="Georgia" pitchFamily="34" charset="-120"/>
              </a:rPr>
              <a:t>Combinar</a:t>
            </a:r>
            <a:endParaRPr lang="en-US" sz="6400" dirty="0"/>
          </a:p>
          <a:p>
            <a:pPr marL="0" indent="0">
              <a:lnSpc>
                <a:spcPct val="92000"/>
              </a:lnSpc>
              <a:buNone/>
            </a:pPr>
            <a:r>
              <a:rPr lang="en-US" sz="6400" dirty="0">
                <a:solidFill>
                  <a:srgbClr val="FFFFFF"/>
                </a:solidFill>
                <a:latin typeface="Georgia" pitchFamily="34" charset="0"/>
                <a:ea typeface="Georgia" pitchFamily="34" charset="-122"/>
                <a:cs typeface="Georgia" pitchFamily="34" charset="-120"/>
              </a:rPr>
              <a:t>o reentrenar</a:t>
            </a:r>
            <a:endParaRPr lang="en-US" sz="6400" dirty="0"/>
          </a:p>
        </p:txBody>
      </p:sp>
      <p:sp>
        <p:nvSpPr>
          <p:cNvPr id="4" name="Text 2"/>
          <p:cNvSpPr txBox="1"/>
          <p:nvPr/>
        </p:nvSpPr>
        <p:spPr>
          <a:xfrm>
            <a:off x="731520" y="4069080"/>
            <a:ext cx="5852160" cy="777240"/>
          </a:xfrm>
          <a:prstGeom prst="rect">
            <a:avLst/>
          </a:prstGeom>
          <a:noFill/>
          <a:ln/>
        </p:spPr>
        <p:txBody>
          <a:bodyPr wrap="square" lIns="0" tIns="0" rIns="0" bIns="0" rtlCol="0" anchor="t"/>
          <a:lstStyle/>
          <a:p>
            <a:pPr marL="0" indent="0">
              <a:lnSpc>
                <a:spcPct val="100000"/>
              </a:lnSpc>
              <a:buNone/>
            </a:pPr>
            <a:r>
              <a:rPr lang="en-US" sz="2000" dirty="0">
                <a:solidFill>
                  <a:srgbClr val="C8CEDA"/>
                </a:solidFill>
                <a:latin typeface="Arial" pitchFamily="34" charset="0"/>
                <a:ea typeface="Arial" pitchFamily="34" charset="-122"/>
                <a:cs typeface="Arial" pitchFamily="34" charset="-120"/>
              </a:rPr>
              <a:t>Hedge contra reentrenamiento online en un filtro de spam bajo ataque</a:t>
            </a:r>
            <a:endParaRPr lang="en-US" sz="2000" dirty="0"/>
          </a:p>
        </p:txBody>
      </p:sp>
      <p:sp>
        <p:nvSpPr>
          <p:cNvPr id="5" name="Text 3"/>
          <p:cNvSpPr txBox="1"/>
          <p:nvPr/>
        </p:nvSpPr>
        <p:spPr>
          <a:xfrm>
            <a:off x="731520" y="5349240"/>
            <a:ext cx="6400800" cy="365760"/>
          </a:xfrm>
          <a:prstGeom prst="rect">
            <a:avLst/>
          </a:prstGeom>
          <a:noFill/>
          <a:ln/>
        </p:spPr>
        <p:txBody>
          <a:bodyPr wrap="square" lIns="0" tIns="0" rIns="0" bIns="0" rtlCol="0" anchor="t"/>
          <a:lstStyle/>
          <a:p>
            <a:pPr marL="0" indent="0">
              <a:lnSpc>
                <a:spcPct val="100000"/>
              </a:lnSpc>
              <a:buNone/>
            </a:pPr>
            <a:r>
              <a:rPr lang="en-US" sz="1600" b="1" dirty="0">
                <a:solidFill>
                  <a:srgbClr val="FFFFFF"/>
                </a:solidFill>
                <a:latin typeface="Arial" pitchFamily="34" charset="0"/>
                <a:ea typeface="Arial" pitchFamily="34" charset="-122"/>
                <a:cs typeface="Arial" pitchFamily="34" charset="-120"/>
              </a:rPr>
              <a:t>Pablo Díaz · Ezequiel Martinez</a:t>
            </a:r>
            <a:endParaRPr lang="en-US" sz="1600" dirty="0"/>
          </a:p>
        </p:txBody>
      </p:sp>
      <p:sp>
        <p:nvSpPr>
          <p:cNvPr id="6" name="Text 4"/>
          <p:cNvSpPr txBox="1"/>
          <p:nvPr/>
        </p:nvSpPr>
        <p:spPr>
          <a:xfrm>
            <a:off x="7955280" y="868680"/>
            <a:ext cx="3291840" cy="685800"/>
          </a:xfrm>
          <a:prstGeom prst="rect">
            <a:avLst/>
          </a:prstGeom>
          <a:noFill/>
          <a:ln/>
        </p:spPr>
        <p:txBody>
          <a:bodyPr wrap="square" lIns="0" tIns="0" rIns="0" bIns="0" rtlCol="0" anchor="t"/>
          <a:lstStyle/>
          <a:p>
            <a:pPr marL="0" indent="0">
              <a:lnSpc>
                <a:spcPct val="100000"/>
              </a:lnSpc>
              <a:buNone/>
            </a:pPr>
            <a:r>
              <a:rPr lang="en-US" sz="4000" i="1" dirty="0">
                <a:solidFill>
                  <a:srgbClr val="EB6834"/>
                </a:solidFill>
                <a:latin typeface="Georgia" pitchFamily="34" charset="0"/>
                <a:ea typeface="Georgia" pitchFamily="34" charset="-122"/>
                <a:cs typeface="Georgia" pitchFamily="34" charset="-120"/>
              </a:rPr>
              <a:t>reeply</a:t>
            </a:r>
            <a:endParaRPr lang="en-US" sz="4000" dirty="0"/>
          </a:p>
        </p:txBody>
      </p:sp>
      <p:sp>
        <p:nvSpPr>
          <p:cNvPr id="7" name="Text 5"/>
          <p:cNvSpPr txBox="1"/>
          <p:nvPr/>
        </p:nvSpPr>
        <p:spPr>
          <a:xfrm>
            <a:off x="8732520" y="1655064"/>
            <a:ext cx="3291840" cy="685800"/>
          </a:xfrm>
          <a:prstGeom prst="rect">
            <a:avLst/>
          </a:prstGeom>
          <a:noFill/>
          <a:ln/>
        </p:spPr>
        <p:txBody>
          <a:bodyPr wrap="square" lIns="0" tIns="0" rIns="0" bIns="0" rtlCol="0" anchor="t"/>
          <a:lstStyle/>
          <a:p>
            <a:pPr marL="0" indent="0">
              <a:lnSpc>
                <a:spcPct val="100000"/>
              </a:lnSpc>
              <a:buNone/>
            </a:pPr>
            <a:r>
              <a:rPr lang="en-US" sz="4000" i="1" dirty="0">
                <a:solidFill>
                  <a:srgbClr val="CE5E33"/>
                </a:solidFill>
                <a:latin typeface="Georgia" pitchFamily="34" charset="0"/>
                <a:ea typeface="Georgia" pitchFamily="34" charset="-122"/>
                <a:cs typeface="Georgia" pitchFamily="34" charset="-120"/>
              </a:rPr>
              <a:t>wiin</a:t>
            </a:r>
            <a:endParaRPr lang="en-US" sz="4000" dirty="0"/>
          </a:p>
        </p:txBody>
      </p:sp>
      <p:sp>
        <p:nvSpPr>
          <p:cNvPr id="8" name="Text 6"/>
          <p:cNvSpPr txBox="1"/>
          <p:nvPr/>
        </p:nvSpPr>
        <p:spPr>
          <a:xfrm>
            <a:off x="7955280" y="2441448"/>
            <a:ext cx="3291840" cy="685800"/>
          </a:xfrm>
          <a:prstGeom prst="rect">
            <a:avLst/>
          </a:prstGeom>
          <a:noFill/>
          <a:ln/>
        </p:spPr>
        <p:txBody>
          <a:bodyPr wrap="square" lIns="0" tIns="0" rIns="0" bIns="0" rtlCol="0" anchor="t"/>
          <a:lstStyle/>
          <a:p>
            <a:pPr marL="0" indent="0">
              <a:lnSpc>
                <a:spcPct val="100000"/>
              </a:lnSpc>
              <a:buNone/>
            </a:pPr>
            <a:r>
              <a:rPr lang="en-US" sz="4000" i="1" dirty="0">
                <a:solidFill>
                  <a:srgbClr val="B25533"/>
                </a:solidFill>
                <a:latin typeface="Georgia" pitchFamily="34" charset="0"/>
                <a:ea typeface="Georgia" pitchFamily="34" charset="-122"/>
                <a:cs typeface="Georgia" pitchFamily="34" charset="-120"/>
              </a:rPr>
              <a:t>weeekly</a:t>
            </a:r>
            <a:endParaRPr lang="en-US" sz="4000" dirty="0"/>
          </a:p>
        </p:txBody>
      </p:sp>
      <p:sp>
        <p:nvSpPr>
          <p:cNvPr id="9" name="Text 7"/>
          <p:cNvSpPr txBox="1"/>
          <p:nvPr/>
        </p:nvSpPr>
        <p:spPr>
          <a:xfrm>
            <a:off x="8732520" y="3227832"/>
            <a:ext cx="3291840" cy="685800"/>
          </a:xfrm>
          <a:prstGeom prst="rect">
            <a:avLst/>
          </a:prstGeom>
          <a:noFill/>
          <a:ln/>
        </p:spPr>
        <p:txBody>
          <a:bodyPr wrap="square" lIns="0" tIns="0" rIns="0" bIns="0" rtlCol="0" anchor="t"/>
          <a:lstStyle/>
          <a:p>
            <a:pPr marL="0" indent="0">
              <a:lnSpc>
                <a:spcPct val="100000"/>
              </a:lnSpc>
              <a:buNone/>
            </a:pPr>
            <a:r>
              <a:rPr lang="en-US" sz="4000" i="1" dirty="0">
                <a:solidFill>
                  <a:srgbClr val="954B32"/>
                </a:solidFill>
                <a:latin typeface="Georgia" pitchFamily="34" charset="0"/>
                <a:ea typeface="Georgia" pitchFamily="34" charset="-122"/>
                <a:cs typeface="Georgia" pitchFamily="34" charset="-120"/>
              </a:rPr>
              <a:t>cuup</a:t>
            </a:r>
            <a:endParaRPr lang="en-US" sz="4000" dirty="0"/>
          </a:p>
        </p:txBody>
      </p:sp>
      <p:sp>
        <p:nvSpPr>
          <p:cNvPr id="10" name="Text 8"/>
          <p:cNvSpPr txBox="1"/>
          <p:nvPr/>
        </p:nvSpPr>
        <p:spPr>
          <a:xfrm>
            <a:off x="7955280" y="4014216"/>
            <a:ext cx="3291840" cy="685800"/>
          </a:xfrm>
          <a:prstGeom prst="rect">
            <a:avLst/>
          </a:prstGeom>
          <a:noFill/>
          <a:ln/>
        </p:spPr>
        <p:txBody>
          <a:bodyPr wrap="square" lIns="0" tIns="0" rIns="0" bIns="0" rtlCol="0" anchor="t"/>
          <a:lstStyle/>
          <a:p>
            <a:pPr marL="0" indent="0">
              <a:lnSpc>
                <a:spcPct val="100000"/>
              </a:lnSpc>
              <a:buNone/>
            </a:pPr>
            <a:r>
              <a:rPr lang="en-US" sz="4000" i="1" dirty="0">
                <a:solidFill>
                  <a:srgbClr val="794232"/>
                </a:solidFill>
                <a:latin typeface="Georgia" pitchFamily="34" charset="0"/>
                <a:ea typeface="Georgia" pitchFamily="34" charset="-122"/>
                <a:cs typeface="Georgia" pitchFamily="34" charset="-120"/>
              </a:rPr>
              <a:t>stoop</a:t>
            </a:r>
            <a:endParaRPr lang="en-US" sz="4000" dirty="0"/>
          </a:p>
        </p:txBody>
      </p:sp>
      <p:sp>
        <p:nvSpPr>
          <p:cNvPr id="11" name="Text 9"/>
          <p:cNvSpPr txBox="1"/>
          <p:nvPr/>
        </p:nvSpPr>
        <p:spPr>
          <a:xfrm>
            <a:off x="8732520" y="4800600"/>
            <a:ext cx="3291840" cy="685800"/>
          </a:xfrm>
          <a:prstGeom prst="rect">
            <a:avLst/>
          </a:prstGeom>
          <a:noFill/>
          <a:ln/>
        </p:spPr>
        <p:txBody>
          <a:bodyPr wrap="square" lIns="0" tIns="0" rIns="0" bIns="0" rtlCol="0" anchor="t"/>
          <a:lstStyle/>
          <a:p>
            <a:pPr marL="0" indent="0">
              <a:lnSpc>
                <a:spcPct val="100000"/>
              </a:lnSpc>
              <a:buNone/>
            </a:pPr>
            <a:r>
              <a:rPr lang="en-US" sz="4000" i="1" dirty="0">
                <a:solidFill>
                  <a:srgbClr val="5C3831"/>
                </a:solidFill>
                <a:latin typeface="Georgia" pitchFamily="34" charset="0"/>
                <a:ea typeface="Georgia" pitchFamily="34" charset="-122"/>
                <a:cs typeface="Georgia" pitchFamily="34" charset="-120"/>
              </a:rPr>
              <a:t>seervice</a:t>
            </a:r>
            <a:endParaRPr lang="en-US" sz="4000" dirty="0"/>
          </a:p>
        </p:txBody>
      </p:sp>
      <p:sp>
        <p:nvSpPr>
          <p:cNvPr id="12" name="Text 10"/>
          <p:cNvSpPr txBox="1"/>
          <p:nvPr/>
        </p:nvSpPr>
        <p:spPr>
          <a:xfrm>
            <a:off x="8732520" y="5586984"/>
            <a:ext cx="1828800" cy="685800"/>
          </a:xfrm>
          <a:prstGeom prst="rect">
            <a:avLst/>
          </a:prstGeom>
          <a:noFill/>
          <a:ln/>
        </p:spPr>
        <p:txBody>
          <a:bodyPr wrap="square" lIns="0" tIns="0" rIns="0" bIns="0" rtlCol="0" anchor="t"/>
          <a:lstStyle/>
          <a:p>
            <a:pPr marL="0" indent="0">
              <a:lnSpc>
                <a:spcPct val="100000"/>
              </a:lnSpc>
              <a:buNone/>
            </a:pPr>
            <a:r>
              <a:rPr lang="en-US" sz="4000" i="1" dirty="0">
                <a:solidFill>
                  <a:srgbClr val="265694"/>
                </a:solidFill>
                <a:latin typeface="Georgia" pitchFamily="34" charset="0"/>
                <a:ea typeface="Georgia" pitchFamily="34" charset="-122"/>
                <a:cs typeface="Georgia" pitchFamily="34" charset="-120"/>
              </a:rPr>
              <a:t>lol</a:t>
            </a:r>
            <a:endParaRPr lang="en-US" sz="4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Un spammer que aprende a esquivar el filtro</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Un SMS real del corpus, atacado por nuestro código: crece una sola palabra.</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pic>
        <p:nvPicPr>
          <p:cNvPr id="10" name="Image 0" descr="Dos teléfonos con el mismo SMS de spam, antes y después del ataque. En el atacado, siete palabras tienen una letra duplicada (reeply, wiin, weeekly) y se agrega la palabra lol."/>
          <p:cNvPicPr>
            <a:picLocks noChangeAspect="1"/>
          </p:cNvPicPr>
          <p:nvPr/>
        </p:nvPicPr>
        <p:blipFill>
          <a:blip r:embed="rId3"/>
          <a:stretch>
            <a:fillRect/>
          </a:stretch>
        </p:blipFill>
        <p:spPr>
          <a:xfrm>
            <a:off x="365760" y="2011680"/>
            <a:ext cx="8092440" cy="3382068"/>
          </a:xfrm>
          <a:prstGeom prst="rect">
            <a:avLst/>
          </a:prstGeom>
        </p:spPr>
      </p:pic>
      <p:sp>
        <p:nvSpPr>
          <p:cNvPr id="17" name="leyenda alterada"/>
          <p:cNvSpPr/>
          <p:nvPr/>
        </p:nvSpPr>
        <p:spPr>
          <a:xfrm>
            <a:off x="8531352" y="2695962"/>
            <a:ext cx="164592" cy="164592"/>
          </a:xfrm>
          <a:prstGeom prst="ellipse">
            <a:avLst/>
          </a:prstGeom>
          <a:solidFill>
            <a:srgbClr val="EB6834"/>
          </a:solidFill>
          <a:ln/>
        </p:spPr>
        <p:txBody>
          <a:bodyPr/>
          <a:lstStyle/>
          <a:p>
            <a:endParaRPr lang="es-AR"/>
          </a:p>
        </p:txBody>
      </p:sp>
      <p:sp>
        <p:nvSpPr>
          <p:cNvPr id="18" name="Text 15"/>
          <p:cNvSpPr txBox="1"/>
          <p:nvPr/>
        </p:nvSpPr>
        <p:spPr>
          <a:xfrm>
            <a:off x="8805672" y="2641098"/>
            <a:ext cx="2743200" cy="457200"/>
          </a:xfrm>
          <a:prstGeom prst="rect">
            <a:avLst/>
          </a:prstGeom>
          <a:noFill/>
          <a:ln/>
        </p:spPr>
        <p:txBody>
          <a:bodyPr wrap="square" lIns="0" tIns="0" rIns="0" bIns="0" rtlCol="0" anchor="t"/>
          <a:lstStyle/>
          <a:p>
            <a:pPr marL="0" indent="0">
              <a:lnSpc>
                <a:spcPct val="100000"/>
              </a:lnSpc>
              <a:buNone/>
            </a:pPr>
            <a:r>
              <a:rPr lang="en-US" sz="1200" dirty="0">
                <a:solidFill>
                  <a:srgbClr val="5A6274"/>
                </a:solidFill>
                <a:latin typeface="Arial" pitchFamily="34" charset="0"/>
                <a:ea typeface="Arial" pitchFamily="34" charset="-122"/>
                <a:cs typeface="Arial" pitchFamily="34" charset="-120"/>
              </a:rPr>
              <a:t>vocal duplicada en las palabras que más delatan spam</a:t>
            </a:r>
            <a:endParaRPr lang="en-US" sz="1200" dirty="0"/>
          </a:p>
        </p:txBody>
      </p:sp>
      <p:sp>
        <p:nvSpPr>
          <p:cNvPr id="19" name="leyenda agregada"/>
          <p:cNvSpPr/>
          <p:nvPr/>
        </p:nvSpPr>
        <p:spPr>
          <a:xfrm>
            <a:off x="8531352" y="3226314"/>
            <a:ext cx="164592" cy="164592"/>
          </a:xfrm>
          <a:prstGeom prst="ellipse">
            <a:avLst/>
          </a:prstGeom>
          <a:solidFill>
            <a:srgbClr val="2A78D6"/>
          </a:solidFill>
          <a:ln/>
        </p:spPr>
        <p:txBody>
          <a:bodyPr/>
          <a:lstStyle/>
          <a:p>
            <a:endParaRPr lang="es-AR"/>
          </a:p>
        </p:txBody>
      </p:sp>
      <p:sp>
        <p:nvSpPr>
          <p:cNvPr id="20" name="Text 17"/>
          <p:cNvSpPr txBox="1"/>
          <p:nvPr/>
        </p:nvSpPr>
        <p:spPr>
          <a:xfrm>
            <a:off x="8805672" y="3171450"/>
            <a:ext cx="2743200" cy="457200"/>
          </a:xfrm>
          <a:prstGeom prst="rect">
            <a:avLst/>
          </a:prstGeom>
          <a:noFill/>
          <a:ln/>
        </p:spPr>
        <p:txBody>
          <a:bodyPr wrap="square" lIns="0" tIns="0" rIns="0" bIns="0" rtlCol="0" anchor="t"/>
          <a:lstStyle/>
          <a:p>
            <a:pPr marL="0" indent="0">
              <a:lnSpc>
                <a:spcPct val="100000"/>
              </a:lnSpc>
              <a:buNone/>
            </a:pPr>
            <a:r>
              <a:rPr lang="en-US" sz="1200" dirty="0">
                <a:solidFill>
                  <a:srgbClr val="5A6274"/>
                </a:solidFill>
                <a:latin typeface="Arial" pitchFamily="34" charset="0"/>
                <a:ea typeface="Arial" pitchFamily="34" charset="-122"/>
                <a:cs typeface="Arial" pitchFamily="34" charset="-120"/>
              </a:rPr>
              <a:t>palabra típica de mensajes legítimos</a:t>
            </a:r>
            <a:endParaRPr lang="en-US" sz="1200" dirty="0"/>
          </a:p>
        </p:txBody>
      </p:sp>
      <p:sp>
        <p:nvSpPr>
          <p:cNvPr id="21" name="Text 18"/>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Ataque «good word» de Lowd &amp; Meek (2005) más ofuscación de las 800 palabras más delatoras.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2</a:t>
            </a:fld>
            <a:endParaRPr lang="en-US"/>
          </a:p>
        </p:txBody>
      </p:sp>
      <p:sp>
        <p:nvSpPr>
          <p:cNvPr id="26" name="Dato 85 a 42"/>
          <p:cNvSpPr txBox="1"/>
          <p:nvPr/>
        </p:nvSpPr>
        <p:spPr>
          <a:xfrm>
            <a:off x="8531352" y="3977639"/>
            <a:ext cx="3108960" cy="640080"/>
          </a:xfrm>
          <a:prstGeom prst="rect">
            <a:avLst/>
          </a:prstGeom>
          <a:noFill/>
        </p:spPr>
        <p:txBody>
          <a:bodyPr wrap="square" lIns="0" tIns="0" rIns="0" bIns="0" anchor="t"/>
          <a:lstStyle/>
          <a:p>
            <a:pPr>
              <a:lnSpc>
                <a:spcPct val="110000"/>
              </a:lnSpc>
            </a:pPr>
            <a:r>
              <a:rPr sz="4000" b="1">
                <a:solidFill>
                  <a:srgbClr val="1F2430"/>
                </a:solidFill>
                <a:latin typeface="Arial"/>
              </a:rPr>
              <a:t>85%</a:t>
            </a:r>
            <a:r>
              <a:rPr sz="3200" b="0">
                <a:solidFill>
                  <a:srgbClr val="9AA1AE"/>
                </a:solidFill>
                <a:latin typeface="Arial"/>
              </a:rPr>
              <a:t> → </a:t>
            </a:r>
            <a:r>
              <a:rPr sz="4000" b="1">
                <a:solidFill>
                  <a:srgbClr val="EB6834"/>
                </a:solidFill>
                <a:latin typeface="Arial"/>
              </a:rPr>
              <a:t>42%</a:t>
            </a:r>
          </a:p>
        </p:txBody>
      </p:sp>
      <p:sp>
        <p:nvSpPr>
          <p:cNvPr id="27" name="Dato 85 a 42 texto"/>
          <p:cNvSpPr txBox="1"/>
          <p:nvPr/>
        </p:nvSpPr>
        <p:spPr>
          <a:xfrm>
            <a:off x="8531352" y="4709160"/>
            <a:ext cx="3017520" cy="914400"/>
          </a:xfrm>
          <a:prstGeom prst="rect">
            <a:avLst/>
          </a:prstGeom>
          <a:noFill/>
        </p:spPr>
        <p:txBody>
          <a:bodyPr wrap="square" lIns="0" tIns="0" rIns="0" bIns="0" anchor="t"/>
          <a:lstStyle/>
          <a:p>
            <a:pPr>
              <a:lnSpc>
                <a:spcPct val="110000"/>
              </a:lnSpc>
            </a:pPr>
            <a:r>
              <a:rPr sz="1200" b="0">
                <a:solidFill>
                  <a:srgbClr val="5A6274"/>
                </a:solidFill>
                <a:latin typeface="Arial"/>
              </a:rPr>
              <a:t>del spam atrapado por el filtro estático (Naive Bayes), antes y después del ataque.</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Dos formas de defenderse</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8"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14" name="Text 12"/>
          <p:cNvSpPr txBox="1"/>
          <p:nvPr/>
        </p:nvSpPr>
        <p:spPr>
          <a:xfrm>
            <a:off x="713232" y="1865376"/>
            <a:ext cx="5120640" cy="548640"/>
          </a:xfrm>
          <a:prstGeom prst="rect">
            <a:avLst/>
          </a:prstGeom>
          <a:noFill/>
          <a:ln/>
        </p:spPr>
        <p:txBody>
          <a:bodyPr wrap="square" lIns="0" tIns="0" rIns="0" bIns="0" rtlCol="0" anchor="t"/>
          <a:lstStyle/>
          <a:p>
            <a:pPr marL="0" indent="0">
              <a:lnSpc>
                <a:spcPct val="100000"/>
              </a:lnSpc>
              <a:buNone/>
            </a:pPr>
            <a:r>
              <a:rPr lang="en-US" sz="3200" dirty="0" err="1">
                <a:solidFill>
                  <a:srgbClr val="2A78D6"/>
                </a:solidFill>
                <a:latin typeface="Georgia" pitchFamily="34" charset="0"/>
                <a:ea typeface="Georgia" pitchFamily="34" charset="-122"/>
                <a:cs typeface="Georgia" pitchFamily="34" charset="-120"/>
              </a:rPr>
              <a:t>Combinar</a:t>
            </a:r>
            <a:r>
              <a:rPr lang="en-US" sz="3200" dirty="0">
                <a:solidFill>
                  <a:srgbClr val="2A78D6"/>
                </a:solidFill>
                <a:latin typeface="Georgia" pitchFamily="34" charset="0"/>
                <a:ea typeface="Georgia" pitchFamily="34" charset="-122"/>
                <a:cs typeface="Georgia" pitchFamily="34" charset="-120"/>
              </a:rPr>
              <a:t> </a:t>
            </a:r>
            <a:r>
              <a:rPr lang="en-US" sz="3200" dirty="0" err="1">
                <a:solidFill>
                  <a:srgbClr val="2A78D6"/>
                </a:solidFill>
                <a:latin typeface="Georgia" pitchFamily="34" charset="0"/>
                <a:ea typeface="Georgia" pitchFamily="34" charset="-122"/>
                <a:cs typeface="Georgia" pitchFamily="34" charset="-120"/>
              </a:rPr>
              <a:t>expertos</a:t>
            </a:r>
            <a:endParaRPr lang="en-US" sz="3200" dirty="0"/>
          </a:p>
        </p:txBody>
      </p:sp>
      <p:sp>
        <p:nvSpPr>
          <p:cNvPr id="16" name="Text 14"/>
          <p:cNvSpPr txBox="1"/>
          <p:nvPr/>
        </p:nvSpPr>
        <p:spPr>
          <a:xfrm>
            <a:off x="713232" y="2825496"/>
            <a:ext cx="5120640" cy="868680"/>
          </a:xfrm>
          <a:prstGeom prst="rect">
            <a:avLst/>
          </a:prstGeom>
          <a:noFill/>
          <a:ln/>
        </p:spPr>
        <p:txBody>
          <a:bodyPr wrap="square" lIns="0" tIns="0" rIns="0" bIns="0" rtlCol="0" anchor="t"/>
          <a:lstStyle/>
          <a:p>
            <a:pPr marL="0" indent="0">
              <a:lnSpc>
                <a:spcPct val="100000"/>
              </a:lnSpc>
              <a:buNone/>
            </a:pPr>
            <a:r>
              <a:rPr lang="en-US" sz="1600" dirty="0" err="1">
                <a:solidFill>
                  <a:srgbClr val="1F2430"/>
                </a:solidFill>
                <a:latin typeface="Arial" pitchFamily="34" charset="0"/>
                <a:ea typeface="Arial" pitchFamily="34" charset="-122"/>
                <a:cs typeface="Arial" pitchFamily="34" charset="-120"/>
              </a:rPr>
              <a:t>Clasificadores</a:t>
            </a:r>
            <a:r>
              <a:rPr lang="en-US" sz="1600" dirty="0">
                <a:solidFill>
                  <a:srgbClr val="1F2430"/>
                </a:solidFill>
                <a:latin typeface="Arial" pitchFamily="34" charset="0"/>
                <a:ea typeface="Arial" pitchFamily="34" charset="-122"/>
                <a:cs typeface="Arial" pitchFamily="34" charset="-120"/>
              </a:rPr>
              <a:t> (“</a:t>
            </a:r>
            <a:r>
              <a:rPr lang="en-US" sz="1600" dirty="0" err="1">
                <a:solidFill>
                  <a:srgbClr val="1F2430"/>
                </a:solidFill>
                <a:latin typeface="Arial" pitchFamily="34" charset="0"/>
                <a:ea typeface="Arial" pitchFamily="34" charset="-122"/>
                <a:cs typeface="Arial" pitchFamily="34" charset="-120"/>
              </a:rPr>
              <a:t>expertos</a:t>
            </a:r>
            <a:r>
              <a:rPr lang="en-US" sz="1600" dirty="0">
                <a:solidFill>
                  <a:srgbClr val="1F2430"/>
                </a:solidFill>
                <a:latin typeface="Arial" pitchFamily="34" charset="0"/>
                <a:ea typeface="Arial" pitchFamily="34" charset="-122"/>
                <a:cs typeface="Arial" pitchFamily="34" charset="-120"/>
              </a:rPr>
              <a:t>”) </a:t>
            </a:r>
            <a:r>
              <a:rPr lang="en-US" sz="1600" dirty="0" err="1">
                <a:solidFill>
                  <a:srgbClr val="1F2430"/>
                </a:solidFill>
                <a:latin typeface="Arial" pitchFamily="34" charset="0"/>
                <a:ea typeface="Arial" pitchFamily="34" charset="-122"/>
                <a:cs typeface="Arial" pitchFamily="34" charset="-120"/>
              </a:rPr>
              <a:t>entrenados</a:t>
            </a:r>
            <a:r>
              <a:rPr lang="en-US" sz="1600" dirty="0">
                <a:solidFill>
                  <a:srgbClr val="1F2430"/>
                </a:solidFill>
                <a:latin typeface="Arial" pitchFamily="34" charset="0"/>
                <a:ea typeface="Arial" pitchFamily="34" charset="-122"/>
                <a:cs typeface="Arial" pitchFamily="34" charset="-120"/>
              </a:rPr>
              <a:t> una </a:t>
            </a:r>
            <a:r>
              <a:rPr lang="en-US" sz="1600" dirty="0" err="1">
                <a:solidFill>
                  <a:srgbClr val="1F2430"/>
                </a:solidFill>
                <a:latin typeface="Arial" pitchFamily="34" charset="0"/>
                <a:ea typeface="Arial" pitchFamily="34" charset="-122"/>
                <a:cs typeface="Arial" pitchFamily="34" charset="-120"/>
              </a:rPr>
              <a:t>vez</a:t>
            </a:r>
            <a:r>
              <a:rPr lang="en-US" sz="1600" dirty="0">
                <a:solidFill>
                  <a:srgbClr val="1F2430"/>
                </a:solidFill>
                <a:latin typeface="Arial" pitchFamily="34" charset="0"/>
                <a:ea typeface="Arial" pitchFamily="34" charset="-122"/>
                <a:cs typeface="Arial" pitchFamily="34" charset="-120"/>
              </a:rPr>
              <a:t>. El </a:t>
            </a:r>
            <a:r>
              <a:rPr lang="en-US" sz="1600" dirty="0" err="1">
                <a:solidFill>
                  <a:srgbClr val="1F2430"/>
                </a:solidFill>
                <a:latin typeface="Arial" pitchFamily="34" charset="0"/>
                <a:ea typeface="Arial" pitchFamily="34" charset="-122"/>
                <a:cs typeface="Arial" pitchFamily="34" charset="-120"/>
              </a:rPr>
              <a:t>algoritmo</a:t>
            </a:r>
            <a:r>
              <a:rPr lang="en-US" sz="1600" dirty="0">
                <a:solidFill>
                  <a:srgbClr val="1F2430"/>
                </a:solidFill>
                <a:latin typeface="Arial" pitchFamily="34" charset="0"/>
                <a:ea typeface="Arial" pitchFamily="34" charset="-122"/>
                <a:cs typeface="Arial" pitchFamily="34" charset="-120"/>
              </a:rPr>
              <a:t> Hedge no </a:t>
            </a:r>
            <a:r>
              <a:rPr lang="en-US" sz="1600" dirty="0" err="1">
                <a:solidFill>
                  <a:srgbClr val="1F2430"/>
                </a:solidFill>
                <a:latin typeface="Arial" pitchFamily="34" charset="0"/>
                <a:ea typeface="Arial" pitchFamily="34" charset="-122"/>
                <a:cs typeface="Arial" pitchFamily="34" charset="-120"/>
              </a:rPr>
              <a:t>los</a:t>
            </a:r>
            <a:r>
              <a:rPr lang="en-US" sz="1600" dirty="0">
                <a:solidFill>
                  <a:srgbClr val="1F2430"/>
                </a:solidFill>
                <a:latin typeface="Arial" pitchFamily="34" charset="0"/>
                <a:ea typeface="Arial" pitchFamily="34" charset="-122"/>
                <a:cs typeface="Arial" pitchFamily="34" charset="-120"/>
              </a:rPr>
              <a:t> </a:t>
            </a:r>
            <a:r>
              <a:rPr lang="en-US" sz="1600" dirty="0" err="1">
                <a:solidFill>
                  <a:srgbClr val="1F2430"/>
                </a:solidFill>
                <a:latin typeface="Arial" pitchFamily="34" charset="0"/>
                <a:ea typeface="Arial" pitchFamily="34" charset="-122"/>
                <a:cs typeface="Arial" pitchFamily="34" charset="-120"/>
              </a:rPr>
              <a:t>toca</a:t>
            </a:r>
            <a:r>
              <a:rPr lang="en-US" sz="1600" dirty="0">
                <a:solidFill>
                  <a:srgbClr val="1F2430"/>
                </a:solidFill>
                <a:latin typeface="Arial" pitchFamily="34" charset="0"/>
                <a:ea typeface="Arial" pitchFamily="34" charset="-122"/>
                <a:cs typeface="Arial" pitchFamily="34" charset="-120"/>
              </a:rPr>
              <a:t>, </a:t>
            </a:r>
            <a:r>
              <a:rPr lang="en-US" sz="1600" dirty="0" err="1">
                <a:solidFill>
                  <a:srgbClr val="1F2430"/>
                </a:solidFill>
                <a:latin typeface="Arial" pitchFamily="34" charset="0"/>
                <a:ea typeface="Arial" pitchFamily="34" charset="-122"/>
                <a:cs typeface="Arial" pitchFamily="34" charset="-120"/>
              </a:rPr>
              <a:t>sino</a:t>
            </a:r>
            <a:r>
              <a:rPr lang="en-US" sz="1600" dirty="0">
                <a:solidFill>
                  <a:srgbClr val="1F2430"/>
                </a:solidFill>
                <a:latin typeface="Arial" pitchFamily="34" charset="0"/>
                <a:ea typeface="Arial" pitchFamily="34" charset="-122"/>
                <a:cs typeface="Arial" pitchFamily="34" charset="-120"/>
              </a:rPr>
              <a:t> que reparte la confianza entre ellos y la mueve hacia el que acierta.</a:t>
            </a:r>
            <a:endParaRPr lang="en-US" sz="1600" dirty="0"/>
          </a:p>
        </p:txBody>
      </p:sp>
      <p:sp>
        <p:nvSpPr>
          <p:cNvPr id="84" name="Text 82"/>
          <p:cNvSpPr txBox="1"/>
          <p:nvPr/>
        </p:nvSpPr>
        <p:spPr>
          <a:xfrm>
            <a:off x="6519672" y="1865376"/>
            <a:ext cx="5120640" cy="548640"/>
          </a:xfrm>
          <a:prstGeom prst="rect">
            <a:avLst/>
          </a:prstGeom>
          <a:noFill/>
          <a:ln/>
        </p:spPr>
        <p:txBody>
          <a:bodyPr wrap="square" lIns="0" tIns="0" rIns="0" bIns="0" rtlCol="0" anchor="t"/>
          <a:lstStyle/>
          <a:p>
            <a:pPr marL="0" indent="0">
              <a:lnSpc>
                <a:spcPct val="100000"/>
              </a:lnSpc>
              <a:buNone/>
            </a:pPr>
            <a:r>
              <a:rPr lang="en-US" sz="3200" dirty="0">
                <a:solidFill>
                  <a:srgbClr val="1BAF7A"/>
                </a:solidFill>
                <a:latin typeface="Georgia" pitchFamily="34" charset="0"/>
                <a:ea typeface="Georgia" pitchFamily="34" charset="-122"/>
                <a:cs typeface="Georgia" pitchFamily="34" charset="-120"/>
              </a:rPr>
              <a:t>Reentrenar</a:t>
            </a:r>
            <a:endParaRPr lang="en-US" sz="3200" dirty="0"/>
          </a:p>
        </p:txBody>
      </p:sp>
      <p:sp>
        <p:nvSpPr>
          <p:cNvPr id="86" name="Text 84"/>
          <p:cNvSpPr txBox="1"/>
          <p:nvPr/>
        </p:nvSpPr>
        <p:spPr>
          <a:xfrm>
            <a:off x="6519672" y="2825496"/>
            <a:ext cx="5120640" cy="868680"/>
          </a:xfrm>
          <a:prstGeom prst="rect">
            <a:avLst/>
          </a:prstGeom>
          <a:noFill/>
          <a:ln/>
        </p:spPr>
        <p:txBody>
          <a:bodyPr wrap="square" lIns="0" tIns="0" rIns="0" bIns="0" rtlCol="0" anchor="t"/>
          <a:lstStyle/>
          <a:p>
            <a:pPr marL="0" indent="0">
              <a:lnSpc>
                <a:spcPct val="100000"/>
              </a:lnSpc>
              <a:buNone/>
            </a:pPr>
            <a:r>
              <a:rPr lang="en-US" sz="1600" dirty="0">
                <a:solidFill>
                  <a:srgbClr val="1F2430"/>
                </a:solidFill>
                <a:latin typeface="Arial" pitchFamily="34" charset="0"/>
                <a:ea typeface="Arial" pitchFamily="34" charset="-122"/>
                <a:cs typeface="Arial" pitchFamily="34" charset="-120"/>
              </a:rPr>
              <a:t>El </a:t>
            </a:r>
            <a:r>
              <a:rPr lang="en-US" sz="1600" dirty="0" err="1">
                <a:solidFill>
                  <a:srgbClr val="1F2430"/>
                </a:solidFill>
                <a:latin typeface="Arial" pitchFamily="34" charset="0"/>
                <a:ea typeface="Arial" pitchFamily="34" charset="-122"/>
                <a:cs typeface="Arial" pitchFamily="34" charset="-120"/>
              </a:rPr>
              <a:t>modelo</a:t>
            </a:r>
            <a:r>
              <a:rPr lang="en-US" sz="1600" dirty="0">
                <a:solidFill>
                  <a:srgbClr val="1F2430"/>
                </a:solidFill>
                <a:latin typeface="Arial" pitchFamily="34" charset="0"/>
                <a:ea typeface="Arial" pitchFamily="34" charset="-122"/>
                <a:cs typeface="Arial" pitchFamily="34" charset="-120"/>
              </a:rPr>
              <a:t> se actualiza con cada mensaje etiquetado. Puede aprender palabras que nunca vio, </a:t>
            </a:r>
            <a:r>
              <a:rPr lang="en-US" sz="1600" dirty="0" err="1">
                <a:solidFill>
                  <a:srgbClr val="1F2430"/>
                </a:solidFill>
                <a:latin typeface="Arial" pitchFamily="34" charset="0"/>
                <a:ea typeface="Arial" pitchFamily="34" charset="-122"/>
                <a:cs typeface="Arial" pitchFamily="34" charset="-120"/>
              </a:rPr>
              <a:t>como</a:t>
            </a:r>
            <a:r>
              <a:rPr lang="en-US" sz="1600" dirty="0">
                <a:solidFill>
                  <a:srgbClr val="1F2430"/>
                </a:solidFill>
                <a:latin typeface="Arial" pitchFamily="34" charset="0"/>
                <a:ea typeface="Arial" pitchFamily="34" charset="-122"/>
                <a:cs typeface="Arial" pitchFamily="34" charset="-120"/>
              </a:rPr>
              <a:t> “</a:t>
            </a:r>
            <a:r>
              <a:rPr lang="en-US" sz="1600" dirty="0" err="1">
                <a:solidFill>
                  <a:srgbClr val="1F2430"/>
                </a:solidFill>
                <a:latin typeface="Arial" pitchFamily="34" charset="0"/>
                <a:ea typeface="Arial" pitchFamily="34" charset="-122"/>
                <a:cs typeface="Arial" pitchFamily="34" charset="-120"/>
              </a:rPr>
              <a:t>wiin</a:t>
            </a:r>
            <a:r>
              <a:rPr lang="en-US" sz="1600" dirty="0">
                <a:solidFill>
                  <a:srgbClr val="1F2430"/>
                </a:solidFill>
                <a:latin typeface="Arial" pitchFamily="34" charset="0"/>
                <a:ea typeface="Arial" pitchFamily="34" charset="-122"/>
                <a:cs typeface="Arial" pitchFamily="34" charset="-120"/>
              </a:rPr>
              <a:t>".</a:t>
            </a:r>
            <a:endParaRPr lang="en-US" sz="1600" dirty="0"/>
          </a:p>
        </p:txBody>
      </p:sp>
      <p:sp>
        <p:nvSpPr>
          <p:cNvPr id="87" name="Text 85"/>
          <p:cNvSpPr txBox="1"/>
          <p:nvPr/>
        </p:nvSpPr>
        <p:spPr>
          <a:xfrm>
            <a:off x="6519672" y="3739896"/>
            <a:ext cx="5120640" cy="320040"/>
          </a:xfrm>
          <a:prstGeom prst="rect">
            <a:avLst/>
          </a:prstGeom>
          <a:noFill/>
          <a:ln/>
        </p:spPr>
        <p:txBody>
          <a:bodyPr wrap="square" lIns="0" tIns="0" rIns="0" bIns="0" rtlCol="0" anchor="t"/>
          <a:lstStyle/>
          <a:p>
            <a:pPr marL="0" indent="0">
              <a:lnSpc>
                <a:spcPct val="100000"/>
              </a:lnSpc>
              <a:buNone/>
            </a:pPr>
            <a:r>
              <a:rPr lang="en-US" sz="1600" b="1" dirty="0">
                <a:solidFill>
                  <a:srgbClr val="1BAF7A"/>
                </a:solidFill>
                <a:latin typeface="Arial" pitchFamily="34" charset="0"/>
                <a:ea typeface="Arial" pitchFamily="34" charset="-122"/>
                <a:cs typeface="Arial" pitchFamily="34" charset="-120"/>
              </a:rPr>
              <a:t>Aprende un peso por palabra</a:t>
            </a:r>
            <a:endParaRPr lang="en-US" sz="1600" dirty="0"/>
          </a:p>
        </p:txBody>
      </p:sp>
      <p:sp>
        <p:nvSpPr>
          <p:cNvPr id="88" name="Shape 86"/>
          <p:cNvSpPr/>
          <p:nvPr/>
        </p:nvSpPr>
        <p:spPr>
          <a:xfrm>
            <a:off x="5842197" y="1635411"/>
            <a:ext cx="0" cy="2697480"/>
          </a:xfrm>
          <a:prstGeom prst="line">
            <a:avLst/>
          </a:prstGeom>
          <a:noFill/>
          <a:ln w="9525">
            <a:solidFill>
              <a:srgbClr val="D9D6CE"/>
            </a:solidFill>
            <a:prstDash val="solid"/>
          </a:ln>
        </p:spPr>
        <p:txBody>
          <a:bodyPr/>
          <a:lstStyle/>
          <a:p>
            <a:endParaRPr lang="es-AR"/>
          </a:p>
        </p:txBody>
      </p:sp>
      <p:sp>
        <p:nvSpPr>
          <p:cNvPr id="89" name="Shape 87"/>
          <p:cNvSpPr/>
          <p:nvPr/>
        </p:nvSpPr>
        <p:spPr>
          <a:xfrm>
            <a:off x="548640" y="4846320"/>
            <a:ext cx="11091672" cy="0"/>
          </a:xfrm>
          <a:prstGeom prst="line">
            <a:avLst/>
          </a:prstGeom>
          <a:noFill/>
          <a:ln w="9525">
            <a:solidFill>
              <a:srgbClr val="D9D6CE"/>
            </a:solidFill>
            <a:prstDash val="solid"/>
          </a:ln>
        </p:spPr>
        <p:txBody>
          <a:bodyPr/>
          <a:lstStyle/>
          <a:p>
            <a:endParaRPr lang="es-AR"/>
          </a:p>
        </p:txBody>
      </p:sp>
      <p:sp>
        <p:nvSpPr>
          <p:cNvPr id="90" name="Text 88"/>
          <p:cNvSpPr txBox="1"/>
          <p:nvPr/>
        </p:nvSpPr>
        <p:spPr>
          <a:xfrm>
            <a:off x="548640" y="5029200"/>
            <a:ext cx="11064240" cy="502920"/>
          </a:xfrm>
          <a:prstGeom prst="rect">
            <a:avLst/>
          </a:prstGeom>
          <a:noFill/>
          <a:ln/>
        </p:spPr>
        <p:txBody>
          <a:bodyPr wrap="square" lIns="0" tIns="0" rIns="0" bIns="0" rtlCol="0" anchor="t"/>
          <a:lstStyle/>
          <a:p>
            <a:pPr marL="0" indent="0">
              <a:lnSpc>
                <a:spcPct val="100000"/>
              </a:lnSpc>
              <a:buNone/>
            </a:pPr>
            <a:r>
              <a:rPr lang="en-US" sz="2600" i="1" dirty="0">
                <a:solidFill>
                  <a:srgbClr val="1F2430"/>
                </a:solidFill>
                <a:latin typeface="Georgia" pitchFamily="34" charset="0"/>
                <a:ea typeface="Georgia" pitchFamily="34" charset="-122"/>
                <a:cs typeface="Georgia" pitchFamily="34" charset="-120"/>
              </a:rPr>
              <a:t>“The only remedy we know of is frequent retraining.”</a:t>
            </a:r>
            <a:endParaRPr lang="en-US" sz="2600" dirty="0"/>
          </a:p>
        </p:txBody>
      </p:sp>
      <p:sp>
        <p:nvSpPr>
          <p:cNvPr id="91" name="Text 89"/>
          <p:cNvSpPr txBox="1"/>
          <p:nvPr/>
        </p:nvSpPr>
        <p:spPr>
          <a:xfrm>
            <a:off x="548640" y="5623560"/>
            <a:ext cx="11064240" cy="27432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Lowd &amp; Meek (2005), sobre ataques a filtros de spam.</a:t>
            </a:r>
            <a:endParaRPr lang="en-US" sz="1300" dirty="0"/>
          </a:p>
        </p:txBody>
      </p:sp>
      <p:sp>
        <p:nvSpPr>
          <p:cNvPr id="93"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3</a:t>
            </a:fld>
            <a:endParaRPr lang="en-US"/>
          </a:p>
        </p:txBody>
      </p:sp>
      <p:sp>
        <p:nvSpPr>
          <p:cNvPr id="94" name="Aprende 5 numeros"/>
          <p:cNvSpPr txBox="1"/>
          <p:nvPr/>
        </p:nvSpPr>
        <p:spPr>
          <a:xfrm>
            <a:off x="713232" y="3739896"/>
            <a:ext cx="5120640" cy="320040"/>
          </a:xfrm>
          <a:prstGeom prst="rect">
            <a:avLst/>
          </a:prstGeom>
          <a:noFill/>
        </p:spPr>
        <p:txBody>
          <a:bodyPr wrap="square" lIns="0" tIns="0" rIns="0" bIns="0" anchor="t"/>
          <a:lstStyle/>
          <a:p>
            <a:pPr>
              <a:lnSpc>
                <a:spcPct val="110000"/>
              </a:lnSpc>
            </a:pPr>
            <a:r>
              <a:rPr sz="1600" b="1">
                <a:solidFill>
                  <a:srgbClr val="2A78D6"/>
                </a:solidFill>
                <a:latin typeface="Arial"/>
              </a:rPr>
              <a:t>Aprende 5 números (uno por experto)</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Dos </a:t>
            </a:r>
            <a:r>
              <a:rPr lang="en-US" sz="3000" dirty="0" err="1">
                <a:solidFill>
                  <a:srgbClr val="1F2430"/>
                </a:solidFill>
                <a:latin typeface="Georgia" pitchFamily="34" charset="0"/>
                <a:ea typeface="Georgia" pitchFamily="34" charset="-122"/>
                <a:cs typeface="Georgia" pitchFamily="34" charset="-120"/>
              </a:rPr>
              <a:t>preguntas</a:t>
            </a:r>
            <a:r>
              <a:rPr lang="en-US" sz="3000" dirty="0">
                <a:solidFill>
                  <a:srgbClr val="1F2430"/>
                </a:solidFill>
                <a:latin typeface="Georgia" pitchFamily="34" charset="0"/>
                <a:ea typeface="Georgia" pitchFamily="34" charset="-122"/>
                <a:cs typeface="Georgia" pitchFamily="34" charset="-120"/>
              </a:rPr>
              <a:t> </a:t>
            </a:r>
            <a:r>
              <a:rPr lang="en-US" sz="3000" dirty="0" err="1">
                <a:solidFill>
                  <a:srgbClr val="1F2430"/>
                </a:solidFill>
                <a:latin typeface="Georgia" pitchFamily="34" charset="0"/>
                <a:ea typeface="Georgia" pitchFamily="34" charset="-122"/>
                <a:cs typeface="Georgia" pitchFamily="34" charset="-120"/>
              </a:rPr>
              <a:t>principales</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8"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9" name="Text 7"/>
          <p:cNvSpPr txBox="1"/>
          <p:nvPr/>
        </p:nvSpPr>
        <p:spPr>
          <a:xfrm>
            <a:off x="548640" y="1463040"/>
            <a:ext cx="1371600" cy="1691640"/>
          </a:xfrm>
          <a:prstGeom prst="rect">
            <a:avLst/>
          </a:prstGeom>
          <a:noFill/>
          <a:ln/>
        </p:spPr>
        <p:txBody>
          <a:bodyPr wrap="square" lIns="0" tIns="0" rIns="0" bIns="0" rtlCol="0" anchor="t"/>
          <a:lstStyle/>
          <a:p>
            <a:pPr marL="0" indent="0">
              <a:lnSpc>
                <a:spcPct val="100000"/>
              </a:lnSpc>
              <a:buNone/>
            </a:pPr>
            <a:r>
              <a:rPr lang="en-US" sz="11000" dirty="0">
                <a:solidFill>
                  <a:srgbClr val="2A78D6"/>
                </a:solidFill>
                <a:latin typeface="Georgia" pitchFamily="34" charset="0"/>
                <a:ea typeface="Georgia" pitchFamily="34" charset="-122"/>
                <a:cs typeface="Georgia" pitchFamily="34" charset="-120"/>
              </a:rPr>
              <a:t>1</a:t>
            </a:r>
            <a:endParaRPr lang="en-US" sz="11000" dirty="0"/>
          </a:p>
        </p:txBody>
      </p:sp>
      <p:sp>
        <p:nvSpPr>
          <p:cNvPr id="10" name="Text 8"/>
          <p:cNvSpPr txBox="1"/>
          <p:nvPr/>
        </p:nvSpPr>
        <p:spPr>
          <a:xfrm>
            <a:off x="548640" y="3200400"/>
            <a:ext cx="5212080" cy="1143000"/>
          </a:xfrm>
          <a:prstGeom prst="rect">
            <a:avLst/>
          </a:prstGeom>
          <a:noFill/>
          <a:ln/>
        </p:spPr>
        <p:txBody>
          <a:bodyPr wrap="square" lIns="0" tIns="0" rIns="0" bIns="0" rtlCol="0" anchor="t"/>
          <a:lstStyle/>
          <a:p>
            <a:pPr marL="0" indent="0">
              <a:lnSpc>
                <a:spcPct val="100000"/>
              </a:lnSpc>
              <a:buNone/>
            </a:pPr>
            <a:r>
              <a:rPr lang="en-US" sz="2400" dirty="0">
                <a:solidFill>
                  <a:srgbClr val="1F2430"/>
                </a:solidFill>
                <a:latin typeface="Georgia" pitchFamily="34" charset="0"/>
                <a:ea typeface="Georgia" pitchFamily="34" charset="-122"/>
                <a:cs typeface="Georgia" pitchFamily="34" charset="-120"/>
              </a:rPr>
              <a:t>¿Cuánto se recupera combinando expertos congelados, sin reentrenar nada?</a:t>
            </a:r>
            <a:endParaRPr lang="en-US" sz="2400" dirty="0"/>
          </a:p>
        </p:txBody>
      </p:sp>
      <p:sp>
        <p:nvSpPr>
          <p:cNvPr id="12" name="Text 10"/>
          <p:cNvSpPr txBox="1"/>
          <p:nvPr/>
        </p:nvSpPr>
        <p:spPr>
          <a:xfrm>
            <a:off x="6355080" y="1463040"/>
            <a:ext cx="1371600" cy="1691640"/>
          </a:xfrm>
          <a:prstGeom prst="rect">
            <a:avLst/>
          </a:prstGeom>
          <a:noFill/>
          <a:ln/>
        </p:spPr>
        <p:txBody>
          <a:bodyPr wrap="square" lIns="0" tIns="0" rIns="0" bIns="0" rtlCol="0" anchor="t"/>
          <a:lstStyle/>
          <a:p>
            <a:pPr marL="0" indent="0">
              <a:lnSpc>
                <a:spcPct val="100000"/>
              </a:lnSpc>
              <a:buNone/>
            </a:pPr>
            <a:r>
              <a:rPr lang="en-US" sz="11000" dirty="0">
                <a:solidFill>
                  <a:srgbClr val="2A78D6"/>
                </a:solidFill>
                <a:latin typeface="Georgia" pitchFamily="34" charset="0"/>
                <a:ea typeface="Georgia" pitchFamily="34" charset="-122"/>
                <a:cs typeface="Georgia" pitchFamily="34" charset="-120"/>
              </a:rPr>
              <a:t>2</a:t>
            </a:r>
            <a:endParaRPr lang="en-US" sz="11000" dirty="0"/>
          </a:p>
        </p:txBody>
      </p:sp>
      <p:sp>
        <p:nvSpPr>
          <p:cNvPr id="13" name="Text 11"/>
          <p:cNvSpPr txBox="1"/>
          <p:nvPr/>
        </p:nvSpPr>
        <p:spPr>
          <a:xfrm>
            <a:off x="6355080" y="3200400"/>
            <a:ext cx="5212080" cy="1143000"/>
          </a:xfrm>
          <a:prstGeom prst="rect">
            <a:avLst/>
          </a:prstGeom>
          <a:noFill/>
          <a:ln/>
        </p:spPr>
        <p:txBody>
          <a:bodyPr wrap="square" lIns="0" tIns="0" rIns="0" bIns="0" rtlCol="0" anchor="t"/>
          <a:lstStyle/>
          <a:p>
            <a:pPr marL="0" indent="0">
              <a:lnSpc>
                <a:spcPct val="100000"/>
              </a:lnSpc>
              <a:buNone/>
            </a:pPr>
            <a:r>
              <a:rPr lang="en-US" sz="2400" dirty="0">
                <a:solidFill>
                  <a:srgbClr val="1F2430"/>
                </a:solidFill>
                <a:latin typeface="Georgia" pitchFamily="34" charset="0"/>
                <a:ea typeface="Georgia" pitchFamily="34" charset="-122"/>
                <a:cs typeface="Georgia" pitchFamily="34" charset="-120"/>
              </a:rPr>
              <a:t>¿Cuánta etiqueta hace falta? En la práctica, el usuario reporta pocos mensajes.</a:t>
            </a:r>
            <a:endParaRPr lang="en-US" sz="2400" dirty="0"/>
          </a:p>
        </p:txBody>
      </p:sp>
      <p:sp>
        <p:nvSpPr>
          <p:cNvPr id="15" name="Shape 13"/>
          <p:cNvSpPr/>
          <p:nvPr/>
        </p:nvSpPr>
        <p:spPr>
          <a:xfrm>
            <a:off x="548640" y="4983480"/>
            <a:ext cx="11091672" cy="0"/>
          </a:xfrm>
          <a:prstGeom prst="line">
            <a:avLst/>
          </a:prstGeom>
          <a:noFill/>
          <a:ln w="9525">
            <a:solidFill>
              <a:srgbClr val="D9D6CE"/>
            </a:solidFill>
            <a:prstDash val="solid"/>
          </a:ln>
        </p:spPr>
        <p:txBody>
          <a:bodyPr/>
          <a:lstStyle/>
          <a:p>
            <a:endParaRPr lang="es-AR"/>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MÉTODO</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err="1">
                <a:solidFill>
                  <a:srgbClr val="1F2430"/>
                </a:solidFill>
                <a:latin typeface="Georgia" pitchFamily="34" charset="0"/>
                <a:ea typeface="Georgia" pitchFamily="34" charset="-122"/>
                <a:cs typeface="Georgia" pitchFamily="34" charset="-120"/>
              </a:rPr>
              <a:t>Combinar: algoritmo </a:t>
            </a:r>
            <a:r>
              <a:rPr lang="en-US" sz="3000" i="1" dirty="0" err="1">
                <a:solidFill>
                  <a:srgbClr val="1F2430"/>
                </a:solidFill>
                <a:latin typeface="Georgia" pitchFamily="34" charset="0"/>
                <a:ea typeface="Georgia" pitchFamily="34" charset="-122"/>
                <a:cs typeface="Georgia" pitchFamily="34" charset="-120"/>
              </a:rPr>
              <a:t>Hedge</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8"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9" name="Shape 7"/>
          <p:cNvSpPr/>
          <p:nvPr/>
        </p:nvSpPr>
        <p:spPr>
          <a:xfrm>
            <a:off x="548640" y="1874519"/>
            <a:ext cx="5943600" cy="0"/>
          </a:xfrm>
          <a:prstGeom prst="line">
            <a:avLst/>
          </a:prstGeom>
          <a:noFill/>
          <a:ln w="9525">
            <a:solidFill>
              <a:srgbClr val="D9D6CE"/>
            </a:solidFill>
            <a:prstDash val="solid"/>
          </a:ln>
        </p:spPr>
        <p:txBody>
          <a:bodyPr/>
          <a:lstStyle/>
          <a:p>
            <a:endParaRPr lang="es-AR"/>
          </a:p>
        </p:txBody>
      </p:sp>
      <p:sp>
        <p:nvSpPr>
          <p:cNvPr id="10" name="Text 8"/>
          <p:cNvSpPr txBox="1"/>
          <p:nvPr/>
        </p:nvSpPr>
        <p:spPr>
          <a:xfrm>
            <a:off x="548640" y="2057400"/>
            <a:ext cx="5943600" cy="685800"/>
          </a:xfrm>
          <a:prstGeom prst="rect">
            <a:avLst/>
          </a:prstGeom>
          <a:noFill/>
          <a:ln/>
        </p:spPr>
        <p:txBody>
          <a:bodyPr wrap="square" lIns="0" tIns="0" rIns="0" bIns="0" rtlCol="0" anchor="t"/>
          <a:lstStyle/>
          <a:p>
            <a:pPr marL="0" indent="0">
              <a:lnSpc>
                <a:spcPct val="100000"/>
              </a:lnSpc>
              <a:buNone/>
            </a:pPr>
            <a:r>
              <a:rPr lang="en-US" sz="3200" dirty="0">
                <a:solidFill>
                  <a:srgbClr val="1F2430"/>
                </a:solidFill>
                <a:latin typeface="Georgia" pitchFamily="34" charset="0"/>
                <a:ea typeface="Georgia" pitchFamily="34" charset="-122"/>
                <a:cs typeface="Georgia" pitchFamily="34" charset="-120"/>
              </a:rPr>
              <a:t>peso</a:t>
            </a:r>
            <a:r>
              <a:rPr lang="en-US" sz="3200" baseline="-40000" dirty="0">
                <a:solidFill>
                  <a:srgbClr val="1F2430"/>
                </a:solidFill>
                <a:latin typeface="Georgia" pitchFamily="34" charset="0"/>
                <a:ea typeface="Georgia" pitchFamily="34" charset="-122"/>
                <a:cs typeface="Georgia" pitchFamily="34" charset="-120"/>
              </a:rPr>
              <a:t>i</a:t>
            </a:r>
            <a:r>
              <a:rPr lang="en-US" sz="3200" dirty="0">
                <a:solidFill>
                  <a:srgbClr val="1F2430"/>
                </a:solidFill>
                <a:latin typeface="Georgia" pitchFamily="34" charset="0"/>
                <a:ea typeface="Georgia" pitchFamily="34" charset="-122"/>
                <a:cs typeface="Georgia" pitchFamily="34" charset="-120"/>
              </a:rPr>
              <a:t>  ←  peso</a:t>
            </a:r>
            <a:r>
              <a:rPr lang="en-US" sz="3200" baseline="-40000" dirty="0">
                <a:solidFill>
                  <a:srgbClr val="1F2430"/>
                </a:solidFill>
                <a:latin typeface="Georgia" pitchFamily="34" charset="0"/>
                <a:ea typeface="Georgia" pitchFamily="34" charset="-122"/>
                <a:cs typeface="Georgia" pitchFamily="34" charset="-120"/>
              </a:rPr>
              <a:t>i</a:t>
            </a:r>
            <a:r>
              <a:rPr lang="en-US" sz="3200" dirty="0">
                <a:solidFill>
                  <a:srgbClr val="1F2430"/>
                </a:solidFill>
                <a:latin typeface="Georgia" pitchFamily="34" charset="0"/>
                <a:ea typeface="Georgia" pitchFamily="34" charset="-122"/>
                <a:cs typeface="Georgia" pitchFamily="34" charset="-120"/>
              </a:rPr>
              <a:t> · e</a:t>
            </a:r>
            <a:r>
              <a:rPr lang="en-US" sz="3200" baseline="30000" dirty="0">
                <a:solidFill>
                  <a:srgbClr val="1F2430"/>
                </a:solidFill>
                <a:latin typeface="Georgia" pitchFamily="34" charset="0"/>
                <a:ea typeface="Georgia" pitchFamily="34" charset="-122"/>
                <a:cs typeface="Georgia" pitchFamily="34" charset="-120"/>
              </a:rPr>
              <a:t>−η · error</a:t>
            </a:r>
            <a:endParaRPr lang="en-US" sz="3200" dirty="0"/>
          </a:p>
        </p:txBody>
      </p:sp>
      <p:sp>
        <p:nvSpPr>
          <p:cNvPr id="11" name="Shape 9"/>
          <p:cNvSpPr/>
          <p:nvPr/>
        </p:nvSpPr>
        <p:spPr>
          <a:xfrm>
            <a:off x="548640" y="2926080"/>
            <a:ext cx="5943600" cy="0"/>
          </a:xfrm>
          <a:prstGeom prst="line">
            <a:avLst/>
          </a:prstGeom>
          <a:noFill/>
          <a:ln w="9525">
            <a:solidFill>
              <a:srgbClr val="D9D6CE"/>
            </a:solidFill>
            <a:prstDash val="solid"/>
          </a:ln>
        </p:spPr>
        <p:txBody>
          <a:bodyPr/>
          <a:lstStyle/>
          <a:p>
            <a:endParaRPr lang="es-AR"/>
          </a:p>
        </p:txBody>
      </p:sp>
      <p:sp>
        <p:nvSpPr>
          <p:cNvPr id="36"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5</a:t>
            </a:fld>
            <a:endParaRPr lang="en-US"/>
          </a:p>
        </p:txBody>
      </p:sp>
      <p:sp>
        <p:nvSpPr>
          <p:cNvPr id="37" name="Subtitulo"/>
          <p:cNvSpPr txBox="1"/>
          <p:nvPr/>
        </p:nvSpPr>
        <p:spPr>
          <a:xfrm>
            <a:off x="548640" y="1307592"/>
            <a:ext cx="10424160" cy="320040"/>
          </a:xfrm>
          <a:prstGeom prst="rect">
            <a:avLst/>
          </a:prstGeom>
          <a:noFill/>
        </p:spPr>
        <p:txBody>
          <a:bodyPr wrap="square" lIns="0" tIns="0" rIns="0" bIns="0" anchor="t"/>
          <a:lstStyle/>
          <a:p>
            <a:pPr>
              <a:lnSpc>
                <a:spcPct val="110000"/>
              </a:lnSpc>
            </a:pPr>
            <a:r>
              <a:rPr sz="1500" b="0">
                <a:solidFill>
                  <a:srgbClr val="5A6274"/>
                </a:solidFill>
                <a:latin typeface="Arial"/>
              </a:rPr>
              <a:t>Cada mensaje es una ronda: predecir, ver la etiqueta, actualizar.</a:t>
            </a:r>
          </a:p>
        </p:txBody>
      </p:sp>
      <p:sp>
        <p:nvSpPr>
          <p:cNvPr id="38" name="Paso 1 numero"/>
          <p:cNvSpPr txBox="1"/>
          <p:nvPr/>
        </p:nvSpPr>
        <p:spPr>
          <a:xfrm>
            <a:off x="548640" y="3108960"/>
            <a:ext cx="365760" cy="411480"/>
          </a:xfrm>
          <a:prstGeom prst="rect">
            <a:avLst/>
          </a:prstGeom>
          <a:noFill/>
        </p:spPr>
        <p:txBody>
          <a:bodyPr wrap="square" lIns="0" tIns="0" rIns="0" bIns="0" anchor="t"/>
          <a:lstStyle/>
          <a:p>
            <a:pPr>
              <a:lnSpc>
                <a:spcPct val="110000"/>
              </a:lnSpc>
            </a:pPr>
            <a:r>
              <a:rPr sz="2200" b="0">
                <a:solidFill>
                  <a:srgbClr val="2A78D6"/>
                </a:solidFill>
                <a:latin typeface="Georgia"/>
              </a:rPr>
              <a:t>1</a:t>
            </a:r>
          </a:p>
        </p:txBody>
      </p:sp>
      <p:sp>
        <p:nvSpPr>
          <p:cNvPr id="39" name="Paso 1"/>
          <p:cNvSpPr txBox="1"/>
          <p:nvPr/>
        </p:nvSpPr>
        <p:spPr>
          <a:xfrm>
            <a:off x="1005840" y="3154680"/>
            <a:ext cx="5486400" cy="640080"/>
          </a:xfrm>
          <a:prstGeom prst="rect">
            <a:avLst/>
          </a:prstGeom>
          <a:noFill/>
        </p:spPr>
        <p:txBody>
          <a:bodyPr wrap="square" lIns="0" tIns="0" rIns="0" bIns="0" anchor="t"/>
          <a:lstStyle/>
          <a:p>
            <a:pPr>
              <a:lnSpc>
                <a:spcPct val="110000"/>
              </a:lnSpc>
            </a:pPr>
            <a:r>
              <a:rPr sz="1600" b="0">
                <a:solidFill>
                  <a:srgbClr val="1F2430"/>
                </a:solidFill>
                <a:latin typeface="Arial"/>
              </a:rPr>
              <a:t>Los cinco expertos arrancan con el mismo peso: 1/5.</a:t>
            </a:r>
          </a:p>
        </p:txBody>
      </p:sp>
      <p:sp>
        <p:nvSpPr>
          <p:cNvPr id="40" name="Paso 2 numero"/>
          <p:cNvSpPr txBox="1"/>
          <p:nvPr/>
        </p:nvSpPr>
        <p:spPr>
          <a:xfrm>
            <a:off x="548640" y="3611880"/>
            <a:ext cx="365760" cy="411480"/>
          </a:xfrm>
          <a:prstGeom prst="rect">
            <a:avLst/>
          </a:prstGeom>
          <a:noFill/>
        </p:spPr>
        <p:txBody>
          <a:bodyPr wrap="square" lIns="0" tIns="0" rIns="0" bIns="0" anchor="t"/>
          <a:lstStyle/>
          <a:p>
            <a:pPr>
              <a:lnSpc>
                <a:spcPct val="110000"/>
              </a:lnSpc>
            </a:pPr>
            <a:r>
              <a:rPr sz="2200" b="0">
                <a:solidFill>
                  <a:srgbClr val="2A78D6"/>
                </a:solidFill>
                <a:latin typeface="Georgia"/>
              </a:rPr>
              <a:t>2</a:t>
            </a:r>
          </a:p>
        </p:txBody>
      </p:sp>
      <p:sp>
        <p:nvSpPr>
          <p:cNvPr id="41" name="Paso 2"/>
          <p:cNvSpPr txBox="1"/>
          <p:nvPr/>
        </p:nvSpPr>
        <p:spPr>
          <a:xfrm>
            <a:off x="1005840" y="3657600"/>
            <a:ext cx="5486400" cy="640080"/>
          </a:xfrm>
          <a:prstGeom prst="rect">
            <a:avLst/>
          </a:prstGeom>
          <a:noFill/>
        </p:spPr>
        <p:txBody>
          <a:bodyPr wrap="square" lIns="0" tIns="0" rIns="0" bIns="0" anchor="t"/>
          <a:lstStyle/>
          <a:p>
            <a:pPr>
              <a:lnSpc>
                <a:spcPct val="110000"/>
              </a:lnSpc>
            </a:pPr>
            <a:r>
              <a:rPr sz="1600" b="0">
                <a:solidFill>
                  <a:srgbClr val="1F2430"/>
                </a:solidFill>
                <a:latin typeface="Arial"/>
              </a:rPr>
              <a:t>En cada mensaje se sortea un experto según los pesos y se juega su predicción.</a:t>
            </a:r>
          </a:p>
        </p:txBody>
      </p:sp>
      <p:sp>
        <p:nvSpPr>
          <p:cNvPr id="42" name="Paso 3 numero"/>
          <p:cNvSpPr txBox="1"/>
          <p:nvPr/>
        </p:nvSpPr>
        <p:spPr>
          <a:xfrm>
            <a:off x="548640" y="4343400"/>
            <a:ext cx="365760" cy="411480"/>
          </a:xfrm>
          <a:prstGeom prst="rect">
            <a:avLst/>
          </a:prstGeom>
          <a:noFill/>
        </p:spPr>
        <p:txBody>
          <a:bodyPr wrap="square" lIns="0" tIns="0" rIns="0" bIns="0" anchor="t"/>
          <a:lstStyle/>
          <a:p>
            <a:pPr>
              <a:lnSpc>
                <a:spcPct val="110000"/>
              </a:lnSpc>
            </a:pPr>
            <a:r>
              <a:rPr sz="2200" b="0">
                <a:solidFill>
                  <a:srgbClr val="2A78D6"/>
                </a:solidFill>
                <a:latin typeface="Georgia"/>
              </a:rPr>
              <a:t>3</a:t>
            </a:r>
          </a:p>
        </p:txBody>
      </p:sp>
      <p:sp>
        <p:nvSpPr>
          <p:cNvPr id="43" name="Paso 3"/>
          <p:cNvSpPr txBox="1"/>
          <p:nvPr/>
        </p:nvSpPr>
        <p:spPr>
          <a:xfrm>
            <a:off x="1005840" y="4389120"/>
            <a:ext cx="5486400" cy="640080"/>
          </a:xfrm>
          <a:prstGeom prst="rect">
            <a:avLst/>
          </a:prstGeom>
          <a:noFill/>
        </p:spPr>
        <p:txBody>
          <a:bodyPr wrap="square" lIns="0" tIns="0" rIns="0" bIns="0" anchor="t"/>
          <a:lstStyle/>
          <a:p>
            <a:pPr>
              <a:lnSpc>
                <a:spcPct val="110000"/>
              </a:lnSpc>
            </a:pPr>
            <a:r>
              <a:rPr sz="1600" b="0">
                <a:solidFill>
                  <a:srgbClr val="1F2430"/>
                </a:solidFill>
                <a:latin typeface="Arial"/>
              </a:rPr>
              <a:t>Se revela la etiqueta y baja el peso de cada experto que erró: se ven los cinco, no solo el sorteado.</a:t>
            </a:r>
          </a:p>
        </p:txBody>
      </p:sp>
      <p:sp>
        <p:nvSpPr>
          <p:cNvPr id="44" name="Expertos titulo"/>
          <p:cNvSpPr txBox="1"/>
          <p:nvPr/>
        </p:nvSpPr>
        <p:spPr>
          <a:xfrm>
            <a:off x="548640" y="5230368"/>
            <a:ext cx="5943600" cy="228600"/>
          </a:xfrm>
          <a:prstGeom prst="rect">
            <a:avLst/>
          </a:prstGeom>
          <a:noFill/>
        </p:spPr>
        <p:txBody>
          <a:bodyPr wrap="square" lIns="0" tIns="0" rIns="0" bIns="0" anchor="t"/>
          <a:lstStyle/>
          <a:p>
            <a:pPr>
              <a:lnSpc>
                <a:spcPct val="110000"/>
              </a:lnSpc>
            </a:pPr>
            <a:r>
              <a:rPr sz="1000" b="1" spc="150">
                <a:solidFill>
                  <a:srgbClr val="5A6274"/>
                </a:solidFill>
                <a:latin typeface="Arial"/>
              </a:rPr>
              <a:t>LOS CINCO EXPERTOS</a:t>
            </a:r>
          </a:p>
        </p:txBody>
      </p:sp>
      <p:sp>
        <p:nvSpPr>
          <p:cNvPr id="45" name="punto Naive Bayes"/>
          <p:cNvSpPr/>
          <p:nvPr/>
        </p:nvSpPr>
        <p:spPr>
          <a:xfrm>
            <a:off x="548640" y="5550408"/>
            <a:ext cx="182880" cy="1828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Experto Naive Bayes"/>
          <p:cNvSpPr txBox="1"/>
          <p:nvPr/>
        </p:nvSpPr>
        <p:spPr>
          <a:xfrm>
            <a:off x="804672" y="5522976"/>
            <a:ext cx="960120" cy="256032"/>
          </a:xfrm>
          <a:prstGeom prst="rect">
            <a:avLst/>
          </a:prstGeom>
          <a:noFill/>
        </p:spPr>
        <p:txBody>
          <a:bodyPr wrap="square" lIns="0" tIns="0" rIns="0" bIns="0" anchor="t"/>
          <a:lstStyle/>
          <a:p>
            <a:pPr>
              <a:lnSpc>
                <a:spcPct val="110000"/>
              </a:lnSpc>
            </a:pPr>
            <a:r>
              <a:rPr sz="1200" b="0">
                <a:solidFill>
                  <a:srgbClr val="5A6274"/>
                </a:solidFill>
                <a:latin typeface="Arial"/>
              </a:rPr>
              <a:t>Naive Bayes</a:t>
            </a:r>
          </a:p>
        </p:txBody>
      </p:sp>
      <p:sp>
        <p:nvSpPr>
          <p:cNvPr id="47" name="punto Reg. logística"/>
          <p:cNvSpPr/>
          <p:nvPr/>
        </p:nvSpPr>
        <p:spPr>
          <a:xfrm>
            <a:off x="1947672" y="5550408"/>
            <a:ext cx="182880" cy="182880"/>
          </a:xfrm>
          <a:prstGeom prst="ellipse">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Experto Reg. logística"/>
          <p:cNvSpPr txBox="1"/>
          <p:nvPr/>
        </p:nvSpPr>
        <p:spPr>
          <a:xfrm>
            <a:off x="2203704" y="5522976"/>
            <a:ext cx="1115568" cy="256032"/>
          </a:xfrm>
          <a:prstGeom prst="rect">
            <a:avLst/>
          </a:prstGeom>
          <a:noFill/>
        </p:spPr>
        <p:txBody>
          <a:bodyPr wrap="square" lIns="0" tIns="0" rIns="0" bIns="0" anchor="t"/>
          <a:lstStyle/>
          <a:p>
            <a:pPr>
              <a:lnSpc>
                <a:spcPct val="110000"/>
              </a:lnSpc>
            </a:pPr>
            <a:r>
              <a:rPr sz="1200" b="0">
                <a:solidFill>
                  <a:srgbClr val="5A6274"/>
                </a:solidFill>
                <a:latin typeface="Arial"/>
              </a:rPr>
              <a:t>Reg. logística</a:t>
            </a:r>
          </a:p>
        </p:txBody>
      </p:sp>
      <p:sp>
        <p:nvSpPr>
          <p:cNvPr id="49" name="punto Árbol"/>
          <p:cNvSpPr/>
          <p:nvPr/>
        </p:nvSpPr>
        <p:spPr>
          <a:xfrm>
            <a:off x="3502152" y="5550408"/>
            <a:ext cx="182880" cy="182880"/>
          </a:xfrm>
          <a:prstGeom prst="ellipse">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Experto Árbol"/>
          <p:cNvSpPr txBox="1"/>
          <p:nvPr/>
        </p:nvSpPr>
        <p:spPr>
          <a:xfrm>
            <a:off x="3758184" y="5522976"/>
            <a:ext cx="548640" cy="256032"/>
          </a:xfrm>
          <a:prstGeom prst="rect">
            <a:avLst/>
          </a:prstGeom>
          <a:noFill/>
        </p:spPr>
        <p:txBody>
          <a:bodyPr wrap="square" lIns="0" tIns="0" rIns="0" bIns="0" anchor="t"/>
          <a:lstStyle/>
          <a:p>
            <a:pPr>
              <a:lnSpc>
                <a:spcPct val="110000"/>
              </a:lnSpc>
            </a:pPr>
            <a:r>
              <a:rPr sz="1200" b="0">
                <a:solidFill>
                  <a:srgbClr val="5A6274"/>
                </a:solidFill>
                <a:latin typeface="Arial"/>
              </a:rPr>
              <a:t>Árbol</a:t>
            </a:r>
          </a:p>
        </p:txBody>
      </p:sp>
      <p:sp>
        <p:nvSpPr>
          <p:cNvPr id="51" name="punto Reglas"/>
          <p:cNvSpPr/>
          <p:nvPr/>
        </p:nvSpPr>
        <p:spPr>
          <a:xfrm>
            <a:off x="4489704" y="5550408"/>
            <a:ext cx="182880" cy="182880"/>
          </a:xfrm>
          <a:prstGeom prst="ellipse">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Experto Reglas"/>
          <p:cNvSpPr txBox="1"/>
          <p:nvPr/>
        </p:nvSpPr>
        <p:spPr>
          <a:xfrm>
            <a:off x="4745736" y="5522976"/>
            <a:ext cx="621792" cy="256032"/>
          </a:xfrm>
          <a:prstGeom prst="rect">
            <a:avLst/>
          </a:prstGeom>
          <a:noFill/>
        </p:spPr>
        <p:txBody>
          <a:bodyPr wrap="square" lIns="0" tIns="0" rIns="0" bIns="0" anchor="t"/>
          <a:lstStyle/>
          <a:p>
            <a:pPr>
              <a:lnSpc>
                <a:spcPct val="110000"/>
              </a:lnSpc>
            </a:pPr>
            <a:r>
              <a:rPr sz="1200" b="0">
                <a:solidFill>
                  <a:srgbClr val="5A6274"/>
                </a:solidFill>
                <a:latin typeface="Arial"/>
              </a:rPr>
              <a:t>Reglas</a:t>
            </a:r>
          </a:p>
        </p:txBody>
      </p:sp>
      <p:sp>
        <p:nvSpPr>
          <p:cNvPr id="53" name="punto Estructural"/>
          <p:cNvSpPr/>
          <p:nvPr/>
        </p:nvSpPr>
        <p:spPr>
          <a:xfrm>
            <a:off x="5550408" y="5550408"/>
            <a:ext cx="182880" cy="182880"/>
          </a:xfrm>
          <a:prstGeom prst="ellipse">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Experto Estructural"/>
          <p:cNvSpPr txBox="1"/>
          <p:nvPr/>
        </p:nvSpPr>
        <p:spPr>
          <a:xfrm>
            <a:off x="5806440" y="5522976"/>
            <a:ext cx="960120" cy="256032"/>
          </a:xfrm>
          <a:prstGeom prst="rect">
            <a:avLst/>
          </a:prstGeom>
          <a:noFill/>
        </p:spPr>
        <p:txBody>
          <a:bodyPr wrap="square" lIns="0" tIns="0" rIns="0" bIns="0" anchor="t"/>
          <a:lstStyle/>
          <a:p>
            <a:pPr>
              <a:lnSpc>
                <a:spcPct val="110000"/>
              </a:lnSpc>
            </a:pPr>
            <a:r>
              <a:rPr sz="1200" b="0">
                <a:solidFill>
                  <a:srgbClr val="5A6274"/>
                </a:solidFill>
                <a:latin typeface="Arial"/>
              </a:rPr>
              <a:t>Estructural</a:t>
            </a:r>
          </a:p>
        </p:txBody>
      </p:sp>
      <p:sp>
        <p:nvSpPr>
          <p:cNvPr id="55" name="Tarjeta garantia"/>
          <p:cNvSpPr/>
          <p:nvPr/>
        </p:nvSpPr>
        <p:spPr>
          <a:xfrm>
            <a:off x="7086600" y="1874519"/>
            <a:ext cx="4553712" cy="4206240"/>
          </a:xfrm>
          <a:prstGeom prst="rect">
            <a:avLst/>
          </a:prstGeom>
          <a:solidFill>
            <a:srgbClr val="EC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06640" y="2130552"/>
            <a:ext cx="3913632" cy="228600"/>
          </a:xfrm>
          <a:prstGeom prst="rect">
            <a:avLst/>
          </a:prstGeom>
          <a:noFill/>
        </p:spPr>
        <p:txBody>
          <a:bodyPr wrap="square" lIns="0" tIns="0" rIns="0" bIns="0" anchor="t"/>
          <a:lstStyle/>
          <a:p>
            <a:pPr>
              <a:lnSpc>
                <a:spcPct val="110000"/>
              </a:lnSpc>
            </a:pPr>
            <a:r>
              <a:rPr sz="1000" b="1" spc="200">
                <a:solidFill>
                  <a:srgbClr val="5A6274"/>
                </a:solidFill>
                <a:latin typeface="Arial"/>
              </a:rPr>
              <a:t>GARANTÍA</a:t>
            </a:r>
          </a:p>
        </p:txBody>
      </p:sp>
      <p:sp>
        <p:nvSpPr>
          <p:cNvPr id="57" name="TextBox 56"/>
          <p:cNvSpPr txBox="1"/>
          <p:nvPr/>
        </p:nvSpPr>
        <p:spPr>
          <a:xfrm>
            <a:off x="7406640" y="2423160"/>
            <a:ext cx="3913632" cy="502920"/>
          </a:xfrm>
          <a:prstGeom prst="rect">
            <a:avLst/>
          </a:prstGeom>
          <a:noFill/>
        </p:spPr>
        <p:txBody>
          <a:bodyPr wrap="square" lIns="0" tIns="0" rIns="0" bIns="0" anchor="t"/>
          <a:lstStyle/>
          <a:p>
            <a:pPr>
              <a:lnSpc>
                <a:spcPct val="110000"/>
              </a:lnSpc>
            </a:pPr>
            <a:r>
              <a:rPr sz="1400" b="1">
                <a:solidFill>
                  <a:srgbClr val="1F2430"/>
                </a:solidFill>
                <a:latin typeface="Arial"/>
              </a:rPr>
              <a:t>Regret: </a:t>
            </a:r>
            <a:r>
              <a:rPr sz="1400" b="0">
                <a:solidFill>
                  <a:srgbClr val="1F2430"/>
                </a:solidFill>
                <a:latin typeface="Arial"/>
              </a:rPr>
              <a:t>errores de más frente al mejor experto fijo en retrospectiva.</a:t>
            </a:r>
          </a:p>
        </p:txBody>
      </p:sp>
      <p:sp>
        <p:nvSpPr>
          <p:cNvPr id="58" name="Cota"/>
          <p:cNvSpPr txBox="1"/>
          <p:nvPr/>
        </p:nvSpPr>
        <p:spPr>
          <a:xfrm>
            <a:off x="7406640" y="3017520"/>
            <a:ext cx="3913632" cy="731520"/>
          </a:xfrm>
          <a:prstGeom prst="rect">
            <a:avLst/>
          </a:prstGeom>
          <a:noFill/>
        </p:spPr>
        <p:txBody>
          <a:bodyPr wrap="square" lIns="0" tIns="0" rIns="0" bIns="0" anchor="t"/>
          <a:lstStyle/>
          <a:p>
            <a:pPr>
              <a:lnSpc>
                <a:spcPct val="110000"/>
              </a:lnSpc>
            </a:pPr>
            <a:r>
              <a:rPr sz="4800" b="0">
                <a:solidFill>
                  <a:srgbClr val="2A78D6"/>
                </a:solidFill>
                <a:latin typeface="Georgia"/>
              </a:rPr>
              <a:t>≤ 59,9</a:t>
            </a:r>
          </a:p>
        </p:txBody>
      </p:sp>
      <p:sp>
        <p:nvSpPr>
          <p:cNvPr id="59" name="TextBox 58"/>
          <p:cNvSpPr txBox="1"/>
          <p:nvPr/>
        </p:nvSpPr>
        <p:spPr>
          <a:xfrm>
            <a:off x="7406640" y="3794760"/>
            <a:ext cx="3913632" cy="731520"/>
          </a:xfrm>
          <a:prstGeom prst="rect">
            <a:avLst/>
          </a:prstGeom>
          <a:noFill/>
        </p:spPr>
        <p:txBody>
          <a:bodyPr wrap="square" lIns="0" tIns="0" rIns="0" bIns="0" anchor="t"/>
          <a:lstStyle/>
          <a:p>
            <a:pPr>
              <a:lnSpc>
                <a:spcPct val="110000"/>
              </a:lnSpc>
            </a:pPr>
            <a:r>
              <a:rPr sz="1200" b="0" dirty="0" err="1">
                <a:solidFill>
                  <a:srgbClr val="5A6274"/>
                </a:solidFill>
                <a:latin typeface="Arial"/>
              </a:rPr>
              <a:t>errores</a:t>
            </a:r>
            <a:r>
              <a:rPr sz="1200" b="0" dirty="0">
                <a:solidFill>
                  <a:srgbClr val="5A6274"/>
                </a:solidFill>
                <a:latin typeface="Arial"/>
              </a:rPr>
              <a:t> de </a:t>
            </a:r>
            <a:r>
              <a:rPr sz="1200" b="0" dirty="0" err="1">
                <a:solidFill>
                  <a:srgbClr val="5A6274"/>
                </a:solidFill>
                <a:latin typeface="Arial"/>
              </a:rPr>
              <a:t>más</a:t>
            </a:r>
            <a:r>
              <a:rPr sz="1200" b="0" dirty="0">
                <a:solidFill>
                  <a:srgbClr val="5A6274"/>
                </a:solidFill>
                <a:latin typeface="Arial"/>
              </a:rPr>
              <a:t> </a:t>
            </a:r>
            <a:r>
              <a:rPr sz="1200" b="0" dirty="0" err="1">
                <a:solidFill>
                  <a:srgbClr val="5A6274"/>
                </a:solidFill>
                <a:latin typeface="Arial"/>
              </a:rPr>
              <a:t>en</a:t>
            </a:r>
            <a:r>
              <a:rPr sz="1200" b="0" dirty="0">
                <a:solidFill>
                  <a:srgbClr val="5A6274"/>
                </a:solidFill>
                <a:latin typeface="Arial"/>
              </a:rPr>
              <a:t> T = 4.460 </a:t>
            </a:r>
            <a:r>
              <a:rPr sz="1200" b="0" dirty="0" err="1">
                <a:solidFill>
                  <a:srgbClr val="5A6274"/>
                </a:solidFill>
                <a:latin typeface="Arial"/>
              </a:rPr>
              <a:t>rondas</a:t>
            </a:r>
            <a:r>
              <a:rPr sz="1200" b="0" dirty="0">
                <a:solidFill>
                  <a:srgbClr val="5A6274"/>
                </a:solidFill>
                <a:latin typeface="Arial"/>
              </a:rPr>
              <a:t>, con K = 5 y </a:t>
            </a:r>
            <a:r>
              <a:rPr sz="1200" b="0" dirty="0" err="1">
                <a:solidFill>
                  <a:srgbClr val="5A6274"/>
                </a:solidFill>
                <a:latin typeface="Arial"/>
              </a:rPr>
              <a:t>η</a:t>
            </a:r>
            <a:r>
              <a:rPr sz="1200" b="0" baseline="-25000" dirty="0" err="1">
                <a:solidFill>
                  <a:srgbClr val="5A6274"/>
                </a:solidFill>
                <a:latin typeface="Arial"/>
              </a:rPr>
              <a:t>T</a:t>
            </a:r>
            <a:r>
              <a:rPr sz="1200" b="0" dirty="0">
                <a:solidFill>
                  <a:srgbClr val="5A6274"/>
                </a:solidFill>
                <a:latin typeface="Arial"/>
              </a:rPr>
              <a:t> = √(8 ln K / T). Crece </a:t>
            </a:r>
            <a:r>
              <a:rPr sz="1200" b="0" dirty="0" err="1">
                <a:solidFill>
                  <a:srgbClr val="5A6274"/>
                </a:solidFill>
                <a:latin typeface="Arial"/>
              </a:rPr>
              <a:t>como</a:t>
            </a:r>
            <a:r>
              <a:rPr sz="1200" b="0" dirty="0">
                <a:solidFill>
                  <a:srgbClr val="5A6274"/>
                </a:solidFill>
                <a:latin typeface="Arial"/>
              </a:rPr>
              <a:t> √T y no </a:t>
            </a:r>
            <a:r>
              <a:rPr sz="1200" b="0" dirty="0" err="1">
                <a:solidFill>
                  <a:srgbClr val="5A6274"/>
                </a:solidFill>
                <a:latin typeface="Arial"/>
              </a:rPr>
              <a:t>como</a:t>
            </a:r>
            <a:r>
              <a:rPr sz="1200" b="0" dirty="0">
                <a:solidFill>
                  <a:srgbClr val="5A6274"/>
                </a:solidFill>
                <a:latin typeface="Arial"/>
              </a:rPr>
              <a:t> T</a:t>
            </a:r>
            <a:r>
              <a:rPr lang="es-ES" sz="1200" b="0" dirty="0">
                <a:solidFill>
                  <a:srgbClr val="5A6274"/>
                </a:solidFill>
                <a:latin typeface="Arial"/>
              </a:rPr>
              <a:t>.</a:t>
            </a:r>
            <a:endParaRPr sz="1200" b="0" dirty="0">
              <a:solidFill>
                <a:srgbClr val="5A6274"/>
              </a:solidFill>
              <a:latin typeface="Arial"/>
            </a:endParaRPr>
          </a:p>
        </p:txBody>
      </p:sp>
      <p:sp>
        <p:nvSpPr>
          <p:cNvPr id="60" name="TextBox 59"/>
          <p:cNvSpPr txBox="1"/>
          <p:nvPr/>
        </p:nvSpPr>
        <p:spPr>
          <a:xfrm>
            <a:off x="7406640" y="4572000"/>
            <a:ext cx="3913632" cy="411480"/>
          </a:xfrm>
          <a:prstGeom prst="rect">
            <a:avLst/>
          </a:prstGeom>
          <a:noFill/>
        </p:spPr>
        <p:txBody>
          <a:bodyPr wrap="square" lIns="0" tIns="0" rIns="0" bIns="0" anchor="t"/>
          <a:lstStyle/>
          <a:p>
            <a:pPr>
              <a:lnSpc>
                <a:spcPct val="110000"/>
              </a:lnSpc>
            </a:pPr>
            <a:r>
              <a:rPr sz="1200" b="0" dirty="0">
                <a:solidFill>
                  <a:srgbClr val="5A6274"/>
                </a:solidFill>
                <a:latin typeface="Arial"/>
              </a:rPr>
              <a:t>Sin </a:t>
            </a:r>
            <a:r>
              <a:rPr sz="1200" b="0" dirty="0" err="1">
                <a:solidFill>
                  <a:srgbClr val="5A6274"/>
                </a:solidFill>
                <a:latin typeface="Arial"/>
              </a:rPr>
              <a:t>supuestos</a:t>
            </a:r>
            <a:r>
              <a:rPr sz="1200" b="0" dirty="0">
                <a:solidFill>
                  <a:srgbClr val="5A6274"/>
                </a:solidFill>
                <a:latin typeface="Arial"/>
              </a:rPr>
              <a:t> </a:t>
            </a:r>
            <a:r>
              <a:rPr sz="1200" b="0" dirty="0" err="1">
                <a:solidFill>
                  <a:srgbClr val="5A6274"/>
                </a:solidFill>
                <a:latin typeface="Arial"/>
              </a:rPr>
              <a:t>estadísticos</a:t>
            </a:r>
            <a:r>
              <a:rPr sz="1200" b="0" dirty="0">
                <a:solidFill>
                  <a:srgbClr val="5A6274"/>
                </a:solidFill>
                <a:latin typeface="Arial"/>
              </a:rPr>
              <a:t>, contra un </a:t>
            </a:r>
            <a:r>
              <a:rPr sz="1200" b="0" dirty="0" err="1">
                <a:solidFill>
                  <a:srgbClr val="5A6274"/>
                </a:solidFill>
                <a:latin typeface="Arial"/>
              </a:rPr>
              <a:t>adversario</a:t>
            </a:r>
            <a:r>
              <a:rPr sz="1200" b="0" dirty="0">
                <a:solidFill>
                  <a:srgbClr val="5A6274"/>
                </a:solidFill>
                <a:latin typeface="Arial"/>
              </a:rPr>
              <a:t> oblivious </a:t>
            </a:r>
            <a:r>
              <a:rPr sz="1200" b="0" dirty="0" err="1">
                <a:solidFill>
                  <a:srgbClr val="5A6274"/>
                </a:solidFill>
                <a:latin typeface="Arial"/>
              </a:rPr>
              <a:t>que</a:t>
            </a:r>
            <a:r>
              <a:rPr sz="1200" b="0" dirty="0">
                <a:solidFill>
                  <a:srgbClr val="5A6274"/>
                </a:solidFill>
                <a:latin typeface="Arial"/>
              </a:rPr>
              <a:t> </a:t>
            </a:r>
            <a:r>
              <a:rPr sz="1200" b="0" dirty="0" err="1">
                <a:solidFill>
                  <a:srgbClr val="5A6274"/>
                </a:solidFill>
                <a:latin typeface="Arial"/>
              </a:rPr>
              <a:t>fija</a:t>
            </a:r>
            <a:r>
              <a:rPr sz="1200" b="0" dirty="0">
                <a:solidFill>
                  <a:srgbClr val="5A6274"/>
                </a:solidFill>
                <a:latin typeface="Arial"/>
              </a:rPr>
              <a:t> la </a:t>
            </a:r>
            <a:r>
              <a:rPr sz="1200" b="0" dirty="0" err="1">
                <a:solidFill>
                  <a:srgbClr val="5A6274"/>
                </a:solidFill>
                <a:latin typeface="Arial"/>
              </a:rPr>
              <a:t>secuencia</a:t>
            </a:r>
            <a:r>
              <a:rPr sz="1200" b="0" dirty="0">
                <a:solidFill>
                  <a:srgbClr val="5A6274"/>
                </a:solidFill>
                <a:latin typeface="Arial"/>
              </a:rPr>
              <a:t> de </a:t>
            </a:r>
            <a:r>
              <a:rPr sz="1200" b="0" dirty="0" err="1">
                <a:solidFill>
                  <a:srgbClr val="5A6274"/>
                </a:solidFill>
                <a:latin typeface="Arial"/>
              </a:rPr>
              <a:t>antemano</a:t>
            </a:r>
            <a:r>
              <a:rPr sz="1200" b="0" dirty="0">
                <a:solidFill>
                  <a:srgbClr val="5A6274"/>
                </a:solidFill>
                <a:latin typeface="Arial"/>
              </a:rPr>
              <a:t>.</a:t>
            </a:r>
          </a:p>
        </p:txBody>
      </p:sp>
      <p:cxnSp>
        <p:nvCxnSpPr>
          <p:cNvPr id="61" name="Connector 60"/>
          <p:cNvCxnSpPr/>
          <p:nvPr/>
        </p:nvCxnSpPr>
        <p:spPr>
          <a:xfrm>
            <a:off x="7406640" y="5093208"/>
            <a:ext cx="3913632" cy="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06640" y="5230368"/>
            <a:ext cx="3913632" cy="228600"/>
          </a:xfrm>
          <a:prstGeom prst="rect">
            <a:avLst/>
          </a:prstGeom>
          <a:noFill/>
        </p:spPr>
        <p:txBody>
          <a:bodyPr wrap="square" lIns="0" tIns="0" rIns="0" bIns="0" anchor="t"/>
          <a:lstStyle/>
          <a:p>
            <a:pPr>
              <a:lnSpc>
                <a:spcPct val="110000"/>
              </a:lnSpc>
            </a:pPr>
            <a:r>
              <a:rPr sz="1000" b="1" spc="200">
                <a:solidFill>
                  <a:srgbClr val="5A6274"/>
                </a:solidFill>
                <a:latin typeface="Arial"/>
              </a:rPr>
              <a:t>VARIANTE DETERMINÍSTICA</a:t>
            </a:r>
          </a:p>
        </p:txBody>
      </p:sp>
      <p:sp>
        <p:nvSpPr>
          <p:cNvPr id="63" name="TextBox 62"/>
          <p:cNvSpPr txBox="1"/>
          <p:nvPr/>
        </p:nvSpPr>
        <p:spPr>
          <a:xfrm>
            <a:off x="7406640" y="5486400"/>
            <a:ext cx="3913632" cy="457200"/>
          </a:xfrm>
          <a:prstGeom prst="rect">
            <a:avLst/>
          </a:prstGeom>
          <a:noFill/>
        </p:spPr>
        <p:txBody>
          <a:bodyPr wrap="square" lIns="0" tIns="0" rIns="0" bIns="0" anchor="t"/>
          <a:lstStyle/>
          <a:p>
            <a:pPr>
              <a:lnSpc>
                <a:spcPct val="110000"/>
              </a:lnSpc>
            </a:pPr>
            <a:r>
              <a:rPr sz="1200" dirty="0">
                <a:solidFill>
                  <a:srgbClr val="5A6274"/>
                </a:solidFill>
                <a:latin typeface="Arial"/>
              </a:rPr>
              <a:t>Voto </a:t>
            </a:r>
            <a:r>
              <a:rPr sz="1200" dirty="0" err="1">
                <a:solidFill>
                  <a:srgbClr val="5A6274"/>
                </a:solidFill>
                <a:latin typeface="Arial"/>
              </a:rPr>
              <a:t>pesado</a:t>
            </a:r>
            <a:r>
              <a:rPr sz="1200" dirty="0">
                <a:solidFill>
                  <a:srgbClr val="5A6274"/>
                </a:solidFill>
                <a:latin typeface="Arial"/>
              </a:rPr>
              <a:t>: ŷ = 1 </a:t>
            </a:r>
            <a:r>
              <a:rPr sz="1200" dirty="0" err="1">
                <a:solidFill>
                  <a:srgbClr val="5A6274"/>
                </a:solidFill>
                <a:latin typeface="Arial"/>
              </a:rPr>
              <a:t>si</a:t>
            </a:r>
            <a:r>
              <a:rPr sz="1200" dirty="0">
                <a:solidFill>
                  <a:srgbClr val="5A6274"/>
                </a:solidFill>
                <a:latin typeface="Arial"/>
              </a:rPr>
              <a:t> Σ </a:t>
            </a:r>
            <a:r>
              <a:rPr sz="1200" dirty="0" err="1">
                <a:solidFill>
                  <a:srgbClr val="5A6274"/>
                </a:solidFill>
                <a:latin typeface="Arial"/>
              </a:rPr>
              <a:t>w·f</a:t>
            </a:r>
            <a:r>
              <a:rPr sz="1200" dirty="0">
                <a:solidFill>
                  <a:srgbClr val="5A6274"/>
                </a:solidFill>
                <a:latin typeface="Arial"/>
              </a:rPr>
              <a:t> &gt; ½. Sin </a:t>
            </a:r>
            <a:r>
              <a:rPr sz="1200" dirty="0" err="1">
                <a:solidFill>
                  <a:srgbClr val="5A6274"/>
                </a:solidFill>
                <a:latin typeface="Arial"/>
              </a:rPr>
              <a:t>sorteo</a:t>
            </a:r>
            <a:r>
              <a:rPr sz="1200" dirty="0">
                <a:solidFill>
                  <a:srgbClr val="5A6274"/>
                </a:solidFill>
                <a:latin typeface="Arial"/>
              </a:rPr>
              <a:t> no hay </a:t>
            </a:r>
            <a:r>
              <a:rPr sz="1200" dirty="0" err="1">
                <a:solidFill>
                  <a:srgbClr val="5A6274"/>
                </a:solidFill>
                <a:latin typeface="Arial"/>
              </a:rPr>
              <a:t>garantía</a:t>
            </a:r>
            <a:r>
              <a:rPr sz="1200" dirty="0">
                <a:solidFill>
                  <a:srgbClr val="5A6274"/>
                </a:solidFill>
                <a:latin typeface="Arial"/>
              </a:rPr>
              <a:t> (</a:t>
            </a:r>
            <a:r>
              <a:rPr lang="es-AR" sz="1200" dirty="0">
                <a:solidFill>
                  <a:srgbClr val="5A6274"/>
                </a:solidFill>
                <a:latin typeface="Arial"/>
              </a:rPr>
              <a:t>resultado</a:t>
            </a:r>
            <a:r>
              <a:rPr sz="1200" dirty="0">
                <a:solidFill>
                  <a:srgbClr val="5A6274"/>
                </a:solidFill>
                <a:latin typeface="Arial"/>
              </a:rPr>
              <a:t> 3).</a:t>
            </a:r>
          </a:p>
        </p:txBody>
      </p:sp>
      <p:sp>
        <p:nvSpPr>
          <p:cNvPr id="64" name="Nota al pie"/>
          <p:cNvSpPr txBox="1"/>
          <p:nvPr/>
        </p:nvSpPr>
        <p:spPr>
          <a:xfrm>
            <a:off x="548640" y="6373368"/>
            <a:ext cx="10241280" cy="274320"/>
          </a:xfrm>
          <a:prstGeom prst="rect">
            <a:avLst/>
          </a:prstGeom>
          <a:noFill/>
        </p:spPr>
        <p:txBody>
          <a:bodyPr wrap="square" lIns="0" tIns="0" rIns="0" bIns="0" anchor="t"/>
          <a:lstStyle/>
          <a:p>
            <a:pPr>
              <a:lnSpc>
                <a:spcPct val="110000"/>
              </a:lnSpc>
            </a:pPr>
            <a:r>
              <a:rPr sz="1000" b="0" dirty="0">
                <a:solidFill>
                  <a:srgbClr val="9AA1AE"/>
                </a:solidFill>
                <a:latin typeface="Arial"/>
              </a:rPr>
              <a:t>También se </a:t>
            </a:r>
            <a:r>
              <a:rPr sz="1000" b="0" dirty="0" err="1">
                <a:solidFill>
                  <a:srgbClr val="9AA1AE"/>
                </a:solidFill>
                <a:latin typeface="Arial"/>
              </a:rPr>
              <a:t>evalúa</a:t>
            </a:r>
            <a:r>
              <a:rPr sz="1000" b="0" dirty="0">
                <a:solidFill>
                  <a:srgbClr val="9AA1AE"/>
                </a:solidFill>
                <a:latin typeface="Arial"/>
              </a:rPr>
              <a:t> </a:t>
            </a:r>
            <a:r>
              <a:rPr sz="1000" b="0" dirty="0" err="1">
                <a:solidFill>
                  <a:srgbClr val="9AA1AE"/>
                </a:solidFill>
                <a:latin typeface="Arial"/>
              </a:rPr>
              <a:t>η</a:t>
            </a:r>
            <a:r>
              <a:rPr sz="1000" b="0" baseline="-25000" dirty="0" err="1">
                <a:solidFill>
                  <a:srgbClr val="9AA1AE"/>
                </a:solidFill>
                <a:latin typeface="Arial"/>
              </a:rPr>
              <a:t>L</a:t>
            </a:r>
            <a:r>
              <a:rPr sz="1000" b="0" dirty="0">
                <a:solidFill>
                  <a:srgbClr val="9AA1AE"/>
                </a:solidFill>
                <a:latin typeface="Arial"/>
              </a:rPr>
              <a:t>, </a:t>
            </a:r>
            <a:r>
              <a:rPr sz="1000" b="0" dirty="0" err="1">
                <a:solidFill>
                  <a:srgbClr val="9AA1AE"/>
                </a:solidFill>
                <a:latin typeface="Arial"/>
              </a:rPr>
              <a:t>cuya</a:t>
            </a:r>
            <a:r>
              <a:rPr sz="1000" b="0" dirty="0">
                <a:solidFill>
                  <a:srgbClr val="9AA1AE"/>
                </a:solidFill>
                <a:latin typeface="Arial"/>
              </a:rPr>
              <a:t> </a:t>
            </a:r>
            <a:r>
              <a:rPr sz="1000" b="0" dirty="0" err="1">
                <a:solidFill>
                  <a:srgbClr val="9AA1AE"/>
                </a:solidFill>
                <a:latin typeface="Arial"/>
              </a:rPr>
              <a:t>cota</a:t>
            </a:r>
            <a:r>
              <a:rPr sz="1000" b="0" dirty="0">
                <a:solidFill>
                  <a:srgbClr val="9AA1AE"/>
                </a:solidFill>
                <a:latin typeface="Arial"/>
              </a:rPr>
              <a:t> (small-loss) </a:t>
            </a:r>
            <a:r>
              <a:rPr sz="1000" b="0" dirty="0" err="1">
                <a:solidFill>
                  <a:srgbClr val="9AA1AE"/>
                </a:solidFill>
                <a:latin typeface="Arial"/>
              </a:rPr>
              <a:t>exige</a:t>
            </a:r>
            <a:r>
              <a:rPr sz="1000" b="0" dirty="0">
                <a:solidFill>
                  <a:srgbClr val="9AA1AE"/>
                </a:solidFill>
                <a:latin typeface="Arial"/>
              </a:rPr>
              <a:t> </a:t>
            </a:r>
            <a:r>
              <a:rPr sz="1000" b="0" dirty="0" err="1">
                <a:solidFill>
                  <a:srgbClr val="9AA1AE"/>
                </a:solidFill>
                <a:latin typeface="Arial"/>
              </a:rPr>
              <a:t>conocer</a:t>
            </a:r>
            <a:r>
              <a:rPr sz="1000" b="0" dirty="0">
                <a:solidFill>
                  <a:srgbClr val="9AA1AE"/>
                </a:solidFill>
                <a:latin typeface="Arial"/>
              </a:rPr>
              <a:t> de </a:t>
            </a:r>
            <a:r>
              <a:rPr sz="1000" b="0" dirty="0" err="1">
                <a:solidFill>
                  <a:srgbClr val="9AA1AE"/>
                </a:solidFill>
                <a:latin typeface="Arial"/>
              </a:rPr>
              <a:t>antemano</a:t>
            </a:r>
            <a:r>
              <a:rPr sz="1000" b="0" dirty="0">
                <a:solidFill>
                  <a:srgbClr val="9AA1AE"/>
                </a:solidFill>
                <a:latin typeface="Arial"/>
              </a:rPr>
              <a:t> la </a:t>
            </a:r>
            <a:r>
              <a:rPr sz="1000" b="0" dirty="0" err="1">
                <a:solidFill>
                  <a:srgbClr val="9AA1AE"/>
                </a:solidFill>
                <a:latin typeface="Arial"/>
              </a:rPr>
              <a:t>pérdida</a:t>
            </a:r>
            <a:r>
              <a:rPr sz="1000" b="0" dirty="0">
                <a:solidFill>
                  <a:srgbClr val="9AA1AE"/>
                </a:solidFill>
                <a:latin typeface="Arial"/>
              </a:rPr>
              <a:t> del </a:t>
            </a:r>
            <a:r>
              <a:rPr sz="1000" b="0" dirty="0" err="1">
                <a:solidFill>
                  <a:srgbClr val="9AA1AE"/>
                </a:solidFill>
                <a:latin typeface="Arial"/>
              </a:rPr>
              <a:t>mejor</a:t>
            </a:r>
            <a:r>
              <a:rPr sz="1000" b="0" dirty="0">
                <a:solidFill>
                  <a:srgbClr val="9AA1AE"/>
                </a:solidFill>
                <a:latin typeface="Arial"/>
              </a:rPr>
              <a:t> </a:t>
            </a:r>
            <a:r>
              <a:rPr sz="1000" b="0" dirty="0" err="1">
                <a:solidFill>
                  <a:srgbClr val="9AA1AE"/>
                </a:solidFill>
                <a:latin typeface="Arial"/>
              </a:rPr>
              <a:t>experto</a:t>
            </a:r>
            <a:r>
              <a:rPr lang="es-ES" sz="1000" b="0" dirty="0">
                <a:solidFill>
                  <a:srgbClr val="9AA1AE"/>
                </a:solidFill>
                <a:latin typeface="Arial"/>
              </a:rPr>
              <a:t> (</a:t>
            </a:r>
            <a:r>
              <a:rPr lang="es-AR" sz="1000" b="0" dirty="0">
                <a:solidFill>
                  <a:srgbClr val="9AA1AE"/>
                </a:solidFill>
                <a:latin typeface="Arial"/>
              </a:rPr>
              <a:t>resultado</a:t>
            </a:r>
            <a:r>
              <a:rPr sz="1000" b="0" dirty="0">
                <a:solidFill>
                  <a:srgbClr val="9AA1AE"/>
                </a:solidFill>
                <a:latin typeface="Arial"/>
              </a:rPr>
              <a:t> 3</a:t>
            </a:r>
            <a:r>
              <a:rPr lang="es-ES" sz="1000" b="0" dirty="0">
                <a:solidFill>
                  <a:srgbClr val="9AA1AE"/>
                </a:solidFill>
                <a:latin typeface="Arial"/>
              </a:rPr>
              <a:t>)</a:t>
            </a:r>
            <a:r>
              <a:rPr sz="1000" b="0" dirty="0">
                <a:solidFill>
                  <a:srgbClr val="9AA1AE"/>
                </a:solidFill>
                <a:latin typeface="Arial"/>
              </a:rPr>
              <a:t>.</a:t>
            </a: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MÉTODO</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err="1">
                <a:solidFill>
                  <a:srgbClr val="1F2430"/>
                </a:solidFill>
                <a:latin typeface="Georgia" pitchFamily="34" charset="0"/>
                <a:ea typeface="Georgia" pitchFamily="34" charset="-122"/>
                <a:cs typeface="Georgia" pitchFamily="34" charset="-120"/>
              </a:rPr>
              <a:t>Reentrenar: SGD online</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8"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36"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6</a:t>
            </a:fld>
            <a:endParaRPr lang="en-US"/>
          </a:p>
        </p:txBody>
      </p:sp>
      <p:sp>
        <p:nvSpPr>
          <p:cNvPr id="37" name="Subtitulo"/>
          <p:cNvSpPr txBox="1"/>
          <p:nvPr/>
        </p:nvSpPr>
        <p:spPr>
          <a:xfrm>
            <a:off x="548640" y="1307592"/>
            <a:ext cx="10424160" cy="320040"/>
          </a:xfrm>
          <a:prstGeom prst="rect">
            <a:avLst/>
          </a:prstGeom>
          <a:noFill/>
        </p:spPr>
        <p:txBody>
          <a:bodyPr wrap="square" lIns="0" tIns="0" rIns="0" bIns="0" anchor="t"/>
          <a:lstStyle/>
          <a:p>
            <a:pPr>
              <a:lnSpc>
                <a:spcPct val="110000"/>
              </a:lnSpc>
            </a:pPr>
            <a:r>
              <a:rPr sz="1500" b="0" dirty="0" err="1">
                <a:solidFill>
                  <a:srgbClr val="5A6274"/>
                </a:solidFill>
                <a:latin typeface="Arial"/>
              </a:rPr>
              <a:t>Regresión</a:t>
            </a:r>
            <a:r>
              <a:rPr sz="1500" b="0" dirty="0">
                <a:solidFill>
                  <a:srgbClr val="5A6274"/>
                </a:solidFill>
                <a:latin typeface="Arial"/>
              </a:rPr>
              <a:t> </a:t>
            </a:r>
            <a:r>
              <a:rPr sz="1500" b="0" dirty="0" err="1">
                <a:solidFill>
                  <a:srgbClr val="5A6274"/>
                </a:solidFill>
                <a:latin typeface="Arial"/>
              </a:rPr>
              <a:t>logística</a:t>
            </a:r>
            <a:r>
              <a:rPr sz="1500" b="0" dirty="0">
                <a:solidFill>
                  <a:srgbClr val="5A6274"/>
                </a:solidFill>
                <a:latin typeface="Arial"/>
              </a:rPr>
              <a:t> </a:t>
            </a:r>
            <a:r>
              <a:rPr sz="1500" b="0" dirty="0" err="1">
                <a:solidFill>
                  <a:srgbClr val="5A6274"/>
                </a:solidFill>
                <a:latin typeface="Arial"/>
              </a:rPr>
              <a:t>sobre</a:t>
            </a:r>
            <a:r>
              <a:rPr sz="1500" b="0" dirty="0">
                <a:solidFill>
                  <a:srgbClr val="5A6274"/>
                </a:solidFill>
                <a:latin typeface="Arial"/>
              </a:rPr>
              <a:t> </a:t>
            </a:r>
            <a:r>
              <a:rPr lang="es-ES" sz="1500" b="0" dirty="0">
                <a:solidFill>
                  <a:srgbClr val="5A6274"/>
                </a:solidFill>
                <a:latin typeface="Arial"/>
              </a:rPr>
              <a:t>lo mismos mensajes </a:t>
            </a:r>
            <a:r>
              <a:rPr sz="1500" b="0" dirty="0">
                <a:solidFill>
                  <a:srgbClr val="5A6274"/>
                </a:solidFill>
                <a:latin typeface="Arial"/>
              </a:rPr>
              <a:t>que </a:t>
            </a:r>
            <a:r>
              <a:rPr sz="1500" b="0" dirty="0" err="1">
                <a:solidFill>
                  <a:srgbClr val="5A6274"/>
                </a:solidFill>
                <a:latin typeface="Arial"/>
              </a:rPr>
              <a:t>los</a:t>
            </a:r>
            <a:r>
              <a:rPr sz="1500" b="0" dirty="0">
                <a:solidFill>
                  <a:srgbClr val="5A6274"/>
                </a:solidFill>
                <a:latin typeface="Arial"/>
              </a:rPr>
              <a:t> </a:t>
            </a:r>
            <a:r>
              <a:rPr sz="1500" b="0" dirty="0" err="1">
                <a:solidFill>
                  <a:srgbClr val="5A6274"/>
                </a:solidFill>
                <a:latin typeface="Arial"/>
              </a:rPr>
              <a:t>expertos</a:t>
            </a:r>
            <a:r>
              <a:rPr sz="1500" b="0" dirty="0">
                <a:solidFill>
                  <a:srgbClr val="5A6274"/>
                </a:solidFill>
                <a:latin typeface="Arial"/>
              </a:rPr>
              <a:t> </a:t>
            </a:r>
            <a:r>
              <a:rPr sz="1500" b="0" dirty="0" err="1">
                <a:solidFill>
                  <a:srgbClr val="5A6274"/>
                </a:solidFill>
                <a:latin typeface="Arial"/>
              </a:rPr>
              <a:t>léxicos</a:t>
            </a:r>
            <a:r>
              <a:rPr sz="1500" b="0" dirty="0">
                <a:solidFill>
                  <a:srgbClr val="5A6274"/>
                </a:solidFill>
                <a:latin typeface="Arial"/>
              </a:rPr>
              <a:t>, </a:t>
            </a:r>
            <a:r>
              <a:rPr sz="1500" b="0" dirty="0" err="1">
                <a:solidFill>
                  <a:srgbClr val="5A6274"/>
                </a:solidFill>
                <a:latin typeface="Arial"/>
              </a:rPr>
              <a:t>actualizada</a:t>
            </a:r>
            <a:r>
              <a:rPr sz="1500" b="0" dirty="0">
                <a:solidFill>
                  <a:srgbClr val="5A6274"/>
                </a:solidFill>
                <a:latin typeface="Arial"/>
              </a:rPr>
              <a:t> </a:t>
            </a:r>
            <a:r>
              <a:rPr sz="1500" b="0" dirty="0" err="1">
                <a:solidFill>
                  <a:srgbClr val="5A6274"/>
                </a:solidFill>
                <a:latin typeface="Arial"/>
              </a:rPr>
              <a:t>mensaje</a:t>
            </a:r>
            <a:r>
              <a:rPr sz="1500" b="0" dirty="0">
                <a:solidFill>
                  <a:srgbClr val="5A6274"/>
                </a:solidFill>
                <a:latin typeface="Arial"/>
              </a:rPr>
              <a:t> a </a:t>
            </a:r>
            <a:r>
              <a:rPr sz="1500" b="0" dirty="0" err="1">
                <a:solidFill>
                  <a:srgbClr val="5A6274"/>
                </a:solidFill>
                <a:latin typeface="Arial"/>
              </a:rPr>
              <a:t>mensaje</a:t>
            </a:r>
            <a:r>
              <a:rPr sz="1500" b="0" dirty="0">
                <a:solidFill>
                  <a:srgbClr val="5A6274"/>
                </a:solidFill>
                <a:latin typeface="Arial"/>
              </a:rPr>
              <a:t>.</a:t>
            </a:r>
          </a:p>
        </p:txBody>
      </p:sp>
      <p:sp>
        <p:nvSpPr>
          <p:cNvPr id="38" name="Ciclo 1"/>
          <p:cNvSpPr/>
          <p:nvPr/>
        </p:nvSpPr>
        <p:spPr>
          <a:xfrm>
            <a:off x="548640" y="1920240"/>
            <a:ext cx="2377440" cy="777240"/>
          </a:xfrm>
          <a:prstGeom prst="rect">
            <a:avLst/>
          </a:prstGeom>
          <a:solidFill>
            <a:srgbClr val="D9D6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Ciclo 1 texto"/>
          <p:cNvSpPr txBox="1"/>
          <p:nvPr/>
        </p:nvSpPr>
        <p:spPr>
          <a:xfrm>
            <a:off x="685800" y="1920240"/>
            <a:ext cx="2103120" cy="777240"/>
          </a:xfrm>
          <a:prstGeom prst="rect">
            <a:avLst/>
          </a:prstGeom>
          <a:noFill/>
        </p:spPr>
        <p:txBody>
          <a:bodyPr wrap="square" lIns="0" tIns="0" rIns="0" bIns="0" anchor="ctr"/>
          <a:lstStyle/>
          <a:p>
            <a:pPr algn="ctr">
              <a:lnSpc>
                <a:spcPct val="110000"/>
              </a:lnSpc>
            </a:pPr>
            <a:r>
              <a:rPr sz="1400" b="1" dirty="0" err="1">
                <a:solidFill>
                  <a:srgbClr val="1F2430"/>
                </a:solidFill>
                <a:latin typeface="Arial"/>
              </a:rPr>
              <a:t>Arranca</a:t>
            </a:r>
            <a:r>
              <a:rPr sz="1400" b="1" dirty="0">
                <a:solidFill>
                  <a:srgbClr val="1F2430"/>
                </a:solidFill>
                <a:latin typeface="Arial"/>
              </a:rPr>
              <a:t> </a:t>
            </a:r>
            <a:r>
              <a:rPr sz="1400" b="1" dirty="0" err="1">
                <a:solidFill>
                  <a:srgbClr val="1F2430"/>
                </a:solidFill>
                <a:latin typeface="Arial"/>
              </a:rPr>
              <a:t>entrenado</a:t>
            </a:r>
            <a:endParaRPr sz="1400" b="1" dirty="0">
              <a:solidFill>
                <a:srgbClr val="1F2430"/>
              </a:solidFill>
              <a:latin typeface="Arial"/>
            </a:endParaRPr>
          </a:p>
          <a:p>
            <a:pPr algn="ctr">
              <a:lnSpc>
                <a:spcPct val="110000"/>
              </a:lnSpc>
            </a:pPr>
            <a:r>
              <a:rPr sz="1400" b="0" dirty="0" err="1">
                <a:solidFill>
                  <a:srgbClr val="1F2430"/>
                </a:solidFill>
                <a:latin typeface="Arial"/>
              </a:rPr>
              <a:t>en</a:t>
            </a:r>
            <a:r>
              <a:rPr sz="1400" b="0" dirty="0">
                <a:solidFill>
                  <a:srgbClr val="1F2430"/>
                </a:solidFill>
                <a:latin typeface="Arial"/>
              </a:rPr>
              <a:t> el </a:t>
            </a:r>
            <a:r>
              <a:rPr sz="1400" b="0" i="1" dirty="0">
                <a:solidFill>
                  <a:srgbClr val="1F2430"/>
                </a:solidFill>
                <a:latin typeface="Arial"/>
              </a:rPr>
              <a:t>warm-up</a:t>
            </a:r>
          </a:p>
        </p:txBody>
      </p:sp>
      <p:sp>
        <p:nvSpPr>
          <p:cNvPr id="40" name="Flecha 1"/>
          <p:cNvSpPr/>
          <p:nvPr/>
        </p:nvSpPr>
        <p:spPr>
          <a:xfrm>
            <a:off x="3034284" y="2208276"/>
            <a:ext cx="310896" cy="201168"/>
          </a:xfrm>
          <a:prstGeom prst="rightArrow">
            <a:avLst/>
          </a:prstGeom>
          <a:solidFill>
            <a:srgbClr val="9AA1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Ciclo 2"/>
          <p:cNvSpPr/>
          <p:nvPr/>
        </p:nvSpPr>
        <p:spPr>
          <a:xfrm>
            <a:off x="3453384" y="1920240"/>
            <a:ext cx="2377440" cy="777240"/>
          </a:xfrm>
          <a:prstGeom prst="rect">
            <a:avLst/>
          </a:prstGeom>
          <a:solidFill>
            <a:srgbClr val="EC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Ciclo 2 texto"/>
          <p:cNvSpPr txBox="1"/>
          <p:nvPr/>
        </p:nvSpPr>
        <p:spPr>
          <a:xfrm>
            <a:off x="3590544" y="1920240"/>
            <a:ext cx="2103120" cy="777240"/>
          </a:xfrm>
          <a:prstGeom prst="rect">
            <a:avLst/>
          </a:prstGeom>
          <a:noFill/>
        </p:spPr>
        <p:txBody>
          <a:bodyPr wrap="square" lIns="0" tIns="0" rIns="0" bIns="0" anchor="ctr"/>
          <a:lstStyle/>
          <a:p>
            <a:pPr algn="ctr">
              <a:lnSpc>
                <a:spcPct val="110000"/>
              </a:lnSpc>
            </a:pPr>
            <a:r>
              <a:rPr sz="1400" b="1">
                <a:solidFill>
                  <a:srgbClr val="1F2430"/>
                </a:solidFill>
                <a:latin typeface="Arial"/>
              </a:rPr>
              <a:t>Predice</a:t>
            </a:r>
          </a:p>
          <a:p>
            <a:pPr algn="ctr">
              <a:lnSpc>
                <a:spcPct val="110000"/>
              </a:lnSpc>
            </a:pPr>
            <a:r>
              <a:rPr sz="1400" b="0">
                <a:solidFill>
                  <a:srgbClr val="1F2430"/>
                </a:solidFill>
                <a:latin typeface="Arial"/>
              </a:rPr>
              <a:t>el mensaje</a:t>
            </a:r>
          </a:p>
        </p:txBody>
      </p:sp>
      <p:sp>
        <p:nvSpPr>
          <p:cNvPr id="43" name="Flecha 2"/>
          <p:cNvSpPr/>
          <p:nvPr/>
        </p:nvSpPr>
        <p:spPr>
          <a:xfrm>
            <a:off x="5939028" y="2208276"/>
            <a:ext cx="310896" cy="201168"/>
          </a:xfrm>
          <a:prstGeom prst="rightArrow">
            <a:avLst/>
          </a:prstGeom>
          <a:solidFill>
            <a:srgbClr val="9AA1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Ciclo 3"/>
          <p:cNvSpPr/>
          <p:nvPr/>
        </p:nvSpPr>
        <p:spPr>
          <a:xfrm>
            <a:off x="6358128" y="1920240"/>
            <a:ext cx="2377440" cy="777240"/>
          </a:xfrm>
          <a:prstGeom prst="rect">
            <a:avLst/>
          </a:prstGeom>
          <a:solidFill>
            <a:srgbClr val="EC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Ciclo 3 texto"/>
          <p:cNvSpPr txBox="1"/>
          <p:nvPr/>
        </p:nvSpPr>
        <p:spPr>
          <a:xfrm>
            <a:off x="6495288" y="1920240"/>
            <a:ext cx="2103120" cy="777240"/>
          </a:xfrm>
          <a:prstGeom prst="rect">
            <a:avLst/>
          </a:prstGeom>
          <a:noFill/>
        </p:spPr>
        <p:txBody>
          <a:bodyPr wrap="square" lIns="0" tIns="0" rIns="0" bIns="0" anchor="ctr"/>
          <a:lstStyle/>
          <a:p>
            <a:pPr algn="ctr">
              <a:lnSpc>
                <a:spcPct val="110000"/>
              </a:lnSpc>
            </a:pPr>
            <a:r>
              <a:rPr sz="1400" b="1">
                <a:solidFill>
                  <a:srgbClr val="1F2430"/>
                </a:solidFill>
                <a:latin typeface="Arial"/>
              </a:rPr>
              <a:t>Ve la etiqueta</a:t>
            </a:r>
          </a:p>
          <a:p>
            <a:pPr algn="ctr">
              <a:lnSpc>
                <a:spcPct val="110000"/>
              </a:lnSpc>
            </a:pPr>
            <a:r>
              <a:rPr sz="1400" b="0">
                <a:solidFill>
                  <a:srgbClr val="1F2430"/>
                </a:solidFill>
                <a:latin typeface="Arial"/>
              </a:rPr>
              <a:t>si la hay</a:t>
            </a:r>
          </a:p>
        </p:txBody>
      </p:sp>
      <p:sp>
        <p:nvSpPr>
          <p:cNvPr id="46" name="Flecha 3"/>
          <p:cNvSpPr/>
          <p:nvPr/>
        </p:nvSpPr>
        <p:spPr>
          <a:xfrm>
            <a:off x="8843772" y="2208276"/>
            <a:ext cx="310896" cy="201168"/>
          </a:xfrm>
          <a:prstGeom prst="rightArrow">
            <a:avLst/>
          </a:prstGeom>
          <a:solidFill>
            <a:srgbClr val="9AA1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Ciclo 4"/>
          <p:cNvSpPr/>
          <p:nvPr/>
        </p:nvSpPr>
        <p:spPr>
          <a:xfrm>
            <a:off x="9262872" y="1920240"/>
            <a:ext cx="2377440" cy="777240"/>
          </a:xfrm>
          <a:prstGeom prst="rect">
            <a:avLst/>
          </a:prstGeom>
          <a:solidFill>
            <a:srgbClr val="EC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Ciclo 4 texto"/>
          <p:cNvSpPr txBox="1"/>
          <p:nvPr/>
        </p:nvSpPr>
        <p:spPr>
          <a:xfrm>
            <a:off x="9400032" y="1920240"/>
            <a:ext cx="2103120" cy="777240"/>
          </a:xfrm>
          <a:prstGeom prst="rect">
            <a:avLst/>
          </a:prstGeom>
          <a:noFill/>
        </p:spPr>
        <p:txBody>
          <a:bodyPr wrap="square" lIns="0" tIns="0" rIns="0" bIns="0" anchor="ctr"/>
          <a:lstStyle/>
          <a:p>
            <a:pPr algn="ctr">
              <a:lnSpc>
                <a:spcPct val="110000"/>
              </a:lnSpc>
            </a:pPr>
            <a:r>
              <a:rPr sz="1400" b="1">
                <a:solidFill>
                  <a:srgbClr val="1BAF7A"/>
                </a:solidFill>
                <a:latin typeface="Arial"/>
              </a:rPr>
              <a:t>Actualiza sus pesos</a:t>
            </a:r>
          </a:p>
          <a:p>
            <a:pPr algn="ctr">
              <a:lnSpc>
                <a:spcPct val="110000"/>
              </a:lnSpc>
            </a:pPr>
            <a:r>
              <a:rPr sz="1400" b="0">
                <a:solidFill>
                  <a:srgbClr val="1F2430"/>
                </a:solidFill>
                <a:latin typeface="Arial"/>
              </a:rPr>
              <a:t>α = 10</a:t>
            </a:r>
            <a:r>
              <a:rPr sz="1400" b="0" baseline="30000">
                <a:solidFill>
                  <a:srgbClr val="1F2430"/>
                </a:solidFill>
                <a:latin typeface="Arial"/>
              </a:rPr>
              <a:t>−5</a:t>
            </a:r>
            <a:r>
              <a:rPr sz="1400" b="0">
                <a:solidFill>
                  <a:srgbClr val="1F2430"/>
                </a:solidFill>
                <a:latin typeface="Arial"/>
              </a:rPr>
              <a:t> fijo</a:t>
            </a:r>
          </a:p>
        </p:txBody>
      </p:sp>
      <p:sp>
        <p:nvSpPr>
          <p:cNvPr id="49" name="Ciclo nota"/>
          <p:cNvSpPr txBox="1"/>
          <p:nvPr/>
        </p:nvSpPr>
        <p:spPr>
          <a:xfrm>
            <a:off x="3453384" y="2770632"/>
            <a:ext cx="8186928" cy="274320"/>
          </a:xfrm>
          <a:prstGeom prst="rect">
            <a:avLst/>
          </a:prstGeom>
          <a:noFill/>
        </p:spPr>
        <p:txBody>
          <a:bodyPr wrap="square" lIns="0" tIns="0" rIns="0" bIns="0" anchor="t"/>
          <a:lstStyle/>
          <a:p>
            <a:pPr algn="ctr">
              <a:lnSpc>
                <a:spcPct val="110000"/>
              </a:lnSpc>
            </a:pPr>
            <a:r>
              <a:rPr sz="1200" b="0">
                <a:solidFill>
                  <a:srgbClr val="5A6274"/>
                </a:solidFill>
                <a:latin typeface="Arial"/>
              </a:rPr>
              <a:t>se repite en cada una de las 4.460 rondas del stream</a:t>
            </a:r>
          </a:p>
        </p:txBody>
      </p:sp>
      <p:sp>
        <p:nvSpPr>
          <p:cNvPr id="50" name="TextBox 49"/>
          <p:cNvSpPr txBox="1"/>
          <p:nvPr/>
        </p:nvSpPr>
        <p:spPr>
          <a:xfrm>
            <a:off x="3749039" y="3310128"/>
            <a:ext cx="3840480" cy="411480"/>
          </a:xfrm>
          <a:prstGeom prst="rect">
            <a:avLst/>
          </a:prstGeom>
          <a:noFill/>
        </p:spPr>
        <p:txBody>
          <a:bodyPr wrap="square" lIns="0" tIns="0" rIns="0" bIns="0" anchor="t"/>
          <a:lstStyle/>
          <a:p>
            <a:pPr>
              <a:lnSpc>
                <a:spcPct val="110000"/>
              </a:lnSpc>
            </a:pPr>
            <a:r>
              <a:rPr sz="2000" b="0">
                <a:solidFill>
                  <a:srgbClr val="2A78D6"/>
                </a:solidFill>
                <a:latin typeface="Georgia"/>
              </a:rPr>
              <a:t>Combinar · </a:t>
            </a:r>
            <a:r>
              <a:rPr sz="2000" b="0" i="1">
                <a:solidFill>
                  <a:srgbClr val="2A78D6"/>
                </a:solidFill>
                <a:latin typeface="Georgia"/>
              </a:rPr>
              <a:t>Hedge</a:t>
            </a:r>
          </a:p>
        </p:txBody>
      </p:sp>
      <p:sp>
        <p:nvSpPr>
          <p:cNvPr id="51" name="TextBox 50"/>
          <p:cNvSpPr txBox="1"/>
          <p:nvPr/>
        </p:nvSpPr>
        <p:spPr>
          <a:xfrm>
            <a:off x="7772400" y="3310128"/>
            <a:ext cx="3840480" cy="411480"/>
          </a:xfrm>
          <a:prstGeom prst="rect">
            <a:avLst/>
          </a:prstGeom>
          <a:noFill/>
        </p:spPr>
        <p:txBody>
          <a:bodyPr wrap="square" lIns="0" tIns="0" rIns="0" bIns="0" anchor="t"/>
          <a:lstStyle/>
          <a:p>
            <a:pPr>
              <a:lnSpc>
                <a:spcPct val="110000"/>
              </a:lnSpc>
            </a:pPr>
            <a:r>
              <a:rPr sz="2000" b="0">
                <a:solidFill>
                  <a:srgbClr val="1BAF7A"/>
                </a:solidFill>
                <a:latin typeface="Georgia"/>
              </a:rPr>
              <a:t>Reentrenar · SGD online</a:t>
            </a:r>
          </a:p>
        </p:txBody>
      </p:sp>
      <p:cxnSp>
        <p:nvCxnSpPr>
          <p:cNvPr id="52" name="Connector 51"/>
          <p:cNvCxnSpPr/>
          <p:nvPr/>
        </p:nvCxnSpPr>
        <p:spPr>
          <a:xfrm>
            <a:off x="548640" y="3794760"/>
            <a:ext cx="11091672" cy="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53" name="Fila 1 etiqueta"/>
          <p:cNvSpPr txBox="1"/>
          <p:nvPr/>
        </p:nvSpPr>
        <p:spPr>
          <a:xfrm>
            <a:off x="548640" y="3913632"/>
            <a:ext cx="3017520" cy="320040"/>
          </a:xfrm>
          <a:prstGeom prst="rect">
            <a:avLst/>
          </a:prstGeom>
          <a:noFill/>
        </p:spPr>
        <p:txBody>
          <a:bodyPr wrap="square" lIns="0" tIns="0" rIns="0" bIns="0" anchor="t"/>
          <a:lstStyle/>
          <a:p>
            <a:pPr>
              <a:lnSpc>
                <a:spcPct val="110000"/>
              </a:lnSpc>
            </a:pPr>
            <a:r>
              <a:rPr sz="1400" b="1">
                <a:solidFill>
                  <a:srgbClr val="5A6274"/>
                </a:solidFill>
                <a:latin typeface="Arial"/>
              </a:rPr>
              <a:t>Qué aprende</a:t>
            </a:r>
          </a:p>
        </p:txBody>
      </p:sp>
      <p:sp>
        <p:nvSpPr>
          <p:cNvPr id="54" name="Fila 1 Hedge"/>
          <p:cNvSpPr txBox="1"/>
          <p:nvPr/>
        </p:nvSpPr>
        <p:spPr>
          <a:xfrm>
            <a:off x="3749039" y="3913632"/>
            <a:ext cx="3840480" cy="320040"/>
          </a:xfrm>
          <a:prstGeom prst="rect">
            <a:avLst/>
          </a:prstGeom>
          <a:noFill/>
        </p:spPr>
        <p:txBody>
          <a:bodyPr wrap="square" lIns="0" tIns="0" rIns="0" bIns="0" anchor="t"/>
          <a:lstStyle/>
          <a:p>
            <a:pPr>
              <a:lnSpc>
                <a:spcPct val="110000"/>
              </a:lnSpc>
            </a:pPr>
            <a:r>
              <a:rPr sz="1500" b="0">
                <a:solidFill>
                  <a:srgbClr val="1F2430"/>
                </a:solidFill>
                <a:latin typeface="Arial"/>
              </a:rPr>
              <a:t>5 pesos, uno por experto</a:t>
            </a:r>
          </a:p>
        </p:txBody>
      </p:sp>
      <p:sp>
        <p:nvSpPr>
          <p:cNvPr id="55" name="Fila 1 SGD"/>
          <p:cNvSpPr txBox="1"/>
          <p:nvPr/>
        </p:nvSpPr>
        <p:spPr>
          <a:xfrm>
            <a:off x="7772400" y="3913632"/>
            <a:ext cx="3867912" cy="320040"/>
          </a:xfrm>
          <a:prstGeom prst="rect">
            <a:avLst/>
          </a:prstGeom>
          <a:noFill/>
        </p:spPr>
        <p:txBody>
          <a:bodyPr wrap="square" lIns="0" tIns="0" rIns="0" bIns="0" anchor="t"/>
          <a:lstStyle/>
          <a:p>
            <a:pPr>
              <a:lnSpc>
                <a:spcPct val="110000"/>
              </a:lnSpc>
            </a:pPr>
            <a:r>
              <a:rPr sz="1500" b="0">
                <a:solidFill>
                  <a:srgbClr val="1F2430"/>
                </a:solidFill>
                <a:latin typeface="Arial"/>
              </a:rPr>
              <a:t>un peso por componente: 2</a:t>
            </a:r>
            <a:r>
              <a:rPr sz="1500" b="0" baseline="30000">
                <a:solidFill>
                  <a:srgbClr val="1F2430"/>
                </a:solidFill>
                <a:latin typeface="Arial"/>
              </a:rPr>
              <a:t>18</a:t>
            </a:r>
            <a:r>
              <a:rPr sz="1500" b="0">
                <a:solidFill>
                  <a:srgbClr val="1F2430"/>
                </a:solidFill>
                <a:latin typeface="Arial"/>
              </a:rPr>
              <a:t> ≈ 262 mil</a:t>
            </a:r>
          </a:p>
        </p:txBody>
      </p:sp>
      <p:cxnSp>
        <p:nvCxnSpPr>
          <p:cNvPr id="56" name="Connector 55"/>
          <p:cNvCxnSpPr/>
          <p:nvPr/>
        </p:nvCxnSpPr>
        <p:spPr>
          <a:xfrm>
            <a:off x="548640" y="4370832"/>
            <a:ext cx="11091672" cy="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57" name="Fila 2 etiqueta"/>
          <p:cNvSpPr txBox="1"/>
          <p:nvPr/>
        </p:nvSpPr>
        <p:spPr>
          <a:xfrm>
            <a:off x="548640" y="4480560"/>
            <a:ext cx="3017520" cy="320040"/>
          </a:xfrm>
          <a:prstGeom prst="rect">
            <a:avLst/>
          </a:prstGeom>
          <a:noFill/>
        </p:spPr>
        <p:txBody>
          <a:bodyPr wrap="square" lIns="0" tIns="0" rIns="0" bIns="0" anchor="t"/>
          <a:lstStyle/>
          <a:p>
            <a:pPr>
              <a:lnSpc>
                <a:spcPct val="110000"/>
              </a:lnSpc>
            </a:pPr>
            <a:r>
              <a:rPr sz="1400" b="1">
                <a:solidFill>
                  <a:srgbClr val="5A6274"/>
                </a:solidFill>
                <a:latin typeface="Arial"/>
              </a:rPr>
              <a:t>¿Modifica los modelos?</a:t>
            </a:r>
          </a:p>
        </p:txBody>
      </p:sp>
      <p:sp>
        <p:nvSpPr>
          <p:cNvPr id="58" name="Fila 2 Hedge"/>
          <p:cNvSpPr txBox="1"/>
          <p:nvPr/>
        </p:nvSpPr>
        <p:spPr>
          <a:xfrm>
            <a:off x="3749039" y="4480560"/>
            <a:ext cx="3840480" cy="320040"/>
          </a:xfrm>
          <a:prstGeom prst="rect">
            <a:avLst/>
          </a:prstGeom>
          <a:noFill/>
        </p:spPr>
        <p:txBody>
          <a:bodyPr wrap="square" lIns="0" tIns="0" rIns="0" bIns="0" anchor="t"/>
          <a:lstStyle/>
          <a:p>
            <a:pPr>
              <a:lnSpc>
                <a:spcPct val="110000"/>
              </a:lnSpc>
            </a:pPr>
            <a:r>
              <a:rPr sz="1500" b="0">
                <a:solidFill>
                  <a:srgbClr val="1F2430"/>
                </a:solidFill>
                <a:latin typeface="Arial"/>
              </a:rPr>
              <a:t>No: quedan congelados</a:t>
            </a:r>
          </a:p>
        </p:txBody>
      </p:sp>
      <p:sp>
        <p:nvSpPr>
          <p:cNvPr id="59" name="Fila 2 SGD"/>
          <p:cNvSpPr txBox="1"/>
          <p:nvPr/>
        </p:nvSpPr>
        <p:spPr>
          <a:xfrm>
            <a:off x="7772400" y="4480560"/>
            <a:ext cx="3867912" cy="320040"/>
          </a:xfrm>
          <a:prstGeom prst="rect">
            <a:avLst/>
          </a:prstGeom>
          <a:noFill/>
        </p:spPr>
        <p:txBody>
          <a:bodyPr wrap="square" lIns="0" tIns="0" rIns="0" bIns="0" anchor="t"/>
          <a:lstStyle/>
          <a:p>
            <a:pPr>
              <a:lnSpc>
                <a:spcPct val="110000"/>
              </a:lnSpc>
            </a:pPr>
            <a:r>
              <a:rPr sz="1500" b="0">
                <a:solidFill>
                  <a:srgbClr val="1F2430"/>
                </a:solidFill>
                <a:latin typeface="Arial"/>
              </a:rPr>
              <a:t>Sí, con cada mensaje etiquetado</a:t>
            </a:r>
          </a:p>
        </p:txBody>
      </p:sp>
      <p:cxnSp>
        <p:nvCxnSpPr>
          <p:cNvPr id="60" name="Connector 59"/>
          <p:cNvCxnSpPr/>
          <p:nvPr/>
        </p:nvCxnSpPr>
        <p:spPr>
          <a:xfrm>
            <a:off x="548640" y="4937760"/>
            <a:ext cx="11091672" cy="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61" name="Fila 3 etiqueta"/>
          <p:cNvSpPr txBox="1"/>
          <p:nvPr/>
        </p:nvSpPr>
        <p:spPr>
          <a:xfrm>
            <a:off x="548640" y="5047488"/>
            <a:ext cx="3017520" cy="320040"/>
          </a:xfrm>
          <a:prstGeom prst="rect">
            <a:avLst/>
          </a:prstGeom>
          <a:noFill/>
        </p:spPr>
        <p:txBody>
          <a:bodyPr wrap="square" lIns="0" tIns="0" rIns="0" bIns="0" anchor="t"/>
          <a:lstStyle/>
          <a:p>
            <a:pPr>
              <a:lnSpc>
                <a:spcPct val="110000"/>
              </a:lnSpc>
            </a:pPr>
            <a:r>
              <a:rPr sz="1400" b="1">
                <a:solidFill>
                  <a:srgbClr val="5A6274"/>
                </a:solidFill>
                <a:latin typeface="Arial"/>
              </a:rPr>
              <a:t>¿Aprende «wiin»?</a:t>
            </a:r>
          </a:p>
        </p:txBody>
      </p:sp>
      <p:sp>
        <p:nvSpPr>
          <p:cNvPr id="62" name="Fila 3 Hedge"/>
          <p:cNvSpPr txBox="1"/>
          <p:nvPr/>
        </p:nvSpPr>
        <p:spPr>
          <a:xfrm>
            <a:off x="3749039" y="5047488"/>
            <a:ext cx="3840480" cy="320040"/>
          </a:xfrm>
          <a:prstGeom prst="rect">
            <a:avLst/>
          </a:prstGeom>
          <a:noFill/>
        </p:spPr>
        <p:txBody>
          <a:bodyPr wrap="square" lIns="0" tIns="0" rIns="0" bIns="0" anchor="t"/>
          <a:lstStyle/>
          <a:p>
            <a:pPr>
              <a:lnSpc>
                <a:spcPct val="110000"/>
              </a:lnSpc>
            </a:pPr>
            <a:r>
              <a:rPr sz="1500" b="0">
                <a:solidFill>
                  <a:srgbClr val="1F2430"/>
                </a:solidFill>
                <a:latin typeface="Arial"/>
              </a:rPr>
              <a:t>No</a:t>
            </a:r>
          </a:p>
        </p:txBody>
      </p:sp>
      <p:sp>
        <p:nvSpPr>
          <p:cNvPr id="63" name="Fila 3 SGD"/>
          <p:cNvSpPr txBox="1"/>
          <p:nvPr/>
        </p:nvSpPr>
        <p:spPr>
          <a:xfrm>
            <a:off x="7772400" y="5047488"/>
            <a:ext cx="3867912" cy="320040"/>
          </a:xfrm>
          <a:prstGeom prst="rect">
            <a:avLst/>
          </a:prstGeom>
          <a:noFill/>
        </p:spPr>
        <p:txBody>
          <a:bodyPr wrap="square" lIns="0" tIns="0" rIns="0" bIns="0" anchor="t"/>
          <a:lstStyle/>
          <a:p>
            <a:pPr>
              <a:lnSpc>
                <a:spcPct val="110000"/>
              </a:lnSpc>
            </a:pPr>
            <a:r>
              <a:rPr sz="1500" b="0">
                <a:solidFill>
                  <a:srgbClr val="1F2430"/>
                </a:solidFill>
                <a:latin typeface="Arial"/>
              </a:rPr>
              <a:t>Sí: aprende palabras nuevas</a:t>
            </a:r>
          </a:p>
        </p:txBody>
      </p:sp>
      <p:cxnSp>
        <p:nvCxnSpPr>
          <p:cNvPr id="64" name="Connector 63"/>
          <p:cNvCxnSpPr/>
          <p:nvPr/>
        </p:nvCxnSpPr>
        <p:spPr>
          <a:xfrm>
            <a:off x="548640" y="5504688"/>
            <a:ext cx="11091672" cy="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65" name="Fila 4 etiqueta"/>
          <p:cNvSpPr txBox="1"/>
          <p:nvPr/>
        </p:nvSpPr>
        <p:spPr>
          <a:xfrm>
            <a:off x="548640" y="5614416"/>
            <a:ext cx="3017520" cy="320040"/>
          </a:xfrm>
          <a:prstGeom prst="rect">
            <a:avLst/>
          </a:prstGeom>
          <a:noFill/>
        </p:spPr>
        <p:txBody>
          <a:bodyPr wrap="square" lIns="0" tIns="0" rIns="0" bIns="0" anchor="t"/>
          <a:lstStyle/>
          <a:p>
            <a:pPr>
              <a:lnSpc>
                <a:spcPct val="110000"/>
              </a:lnSpc>
            </a:pPr>
            <a:r>
              <a:rPr sz="1400" b="1">
                <a:solidFill>
                  <a:srgbClr val="5A6274"/>
                </a:solidFill>
                <a:latin typeface="Arial"/>
              </a:rPr>
              <a:t>Si falta la etiqueta</a:t>
            </a:r>
          </a:p>
        </p:txBody>
      </p:sp>
      <p:sp>
        <p:nvSpPr>
          <p:cNvPr id="66" name="Fila 4 Hedge"/>
          <p:cNvSpPr txBox="1"/>
          <p:nvPr/>
        </p:nvSpPr>
        <p:spPr>
          <a:xfrm>
            <a:off x="3749039" y="5614416"/>
            <a:ext cx="3840480" cy="320040"/>
          </a:xfrm>
          <a:prstGeom prst="rect">
            <a:avLst/>
          </a:prstGeom>
          <a:noFill/>
        </p:spPr>
        <p:txBody>
          <a:bodyPr wrap="square" lIns="0" tIns="0" rIns="0" bIns="0" anchor="t"/>
          <a:lstStyle/>
          <a:p>
            <a:pPr>
              <a:lnSpc>
                <a:spcPct val="110000"/>
              </a:lnSpc>
            </a:pPr>
            <a:r>
              <a:rPr sz="1500" b="0" dirty="0" err="1">
                <a:solidFill>
                  <a:srgbClr val="1F2430"/>
                </a:solidFill>
                <a:latin typeface="Arial"/>
              </a:rPr>
              <a:t>usa</a:t>
            </a:r>
            <a:r>
              <a:rPr sz="1500" b="0" dirty="0">
                <a:solidFill>
                  <a:srgbClr val="1F2430"/>
                </a:solidFill>
                <a:latin typeface="Arial"/>
              </a:rPr>
              <a:t> ℓ/ρ (</a:t>
            </a:r>
            <a:r>
              <a:rPr sz="1500" b="0" dirty="0" err="1">
                <a:solidFill>
                  <a:srgbClr val="1F2430"/>
                </a:solidFill>
                <a:latin typeface="Arial"/>
              </a:rPr>
              <a:t>estimador</a:t>
            </a:r>
            <a:r>
              <a:rPr sz="1500" b="0" dirty="0">
                <a:solidFill>
                  <a:srgbClr val="1F2430"/>
                </a:solidFill>
                <a:latin typeface="Arial"/>
              </a:rPr>
              <a:t> </a:t>
            </a:r>
            <a:r>
              <a:rPr sz="1500" b="0" dirty="0" err="1">
                <a:solidFill>
                  <a:srgbClr val="1F2430"/>
                </a:solidFill>
                <a:latin typeface="Arial"/>
              </a:rPr>
              <a:t>insesgado</a:t>
            </a:r>
            <a:r>
              <a:rPr sz="1500" b="0" dirty="0">
                <a:solidFill>
                  <a:srgbClr val="1F2430"/>
                </a:solidFill>
                <a:latin typeface="Arial"/>
              </a:rPr>
              <a:t>)</a:t>
            </a:r>
          </a:p>
        </p:txBody>
      </p:sp>
      <p:sp>
        <p:nvSpPr>
          <p:cNvPr id="67" name="Fila 4 SGD"/>
          <p:cNvSpPr txBox="1"/>
          <p:nvPr/>
        </p:nvSpPr>
        <p:spPr>
          <a:xfrm>
            <a:off x="7772400" y="5614416"/>
            <a:ext cx="3867912" cy="320040"/>
          </a:xfrm>
          <a:prstGeom prst="rect">
            <a:avLst/>
          </a:prstGeom>
          <a:noFill/>
        </p:spPr>
        <p:txBody>
          <a:bodyPr wrap="square" lIns="0" tIns="0" rIns="0" bIns="0" anchor="t"/>
          <a:lstStyle/>
          <a:p>
            <a:pPr>
              <a:lnSpc>
                <a:spcPct val="110000"/>
              </a:lnSpc>
            </a:pPr>
            <a:r>
              <a:rPr sz="1500" b="0">
                <a:solidFill>
                  <a:srgbClr val="1F2430"/>
                </a:solidFill>
                <a:latin typeface="Arial"/>
              </a:rPr>
              <a:t>aprende solo de las rondas etiquetadas</a:t>
            </a:r>
          </a:p>
        </p:txBody>
      </p:sp>
      <p:sp>
        <p:nvSpPr>
          <p:cNvPr id="68" name="Nota al pie"/>
          <p:cNvSpPr txBox="1"/>
          <p:nvPr/>
        </p:nvSpPr>
        <p:spPr>
          <a:xfrm>
            <a:off x="548640" y="6373368"/>
            <a:ext cx="10241280" cy="274320"/>
          </a:xfrm>
          <a:prstGeom prst="rect">
            <a:avLst/>
          </a:prstGeom>
          <a:noFill/>
        </p:spPr>
        <p:txBody>
          <a:bodyPr wrap="square" lIns="0" tIns="0" rIns="0" bIns="0" anchor="t"/>
          <a:lstStyle/>
          <a:p>
            <a:pPr>
              <a:lnSpc>
                <a:spcPct val="110000"/>
              </a:lnSpc>
            </a:pPr>
            <a:r>
              <a:rPr sz="1000" b="0" dirty="0">
                <a:solidFill>
                  <a:srgbClr val="9AA1AE"/>
                </a:solidFill>
                <a:latin typeface="Arial"/>
              </a:rPr>
              <a:t>α </a:t>
            </a:r>
            <a:r>
              <a:rPr sz="1000" b="0" dirty="0" err="1">
                <a:solidFill>
                  <a:srgbClr val="9AA1AE"/>
                </a:solidFill>
                <a:latin typeface="Arial"/>
              </a:rPr>
              <a:t>fijo</a:t>
            </a:r>
            <a:r>
              <a:rPr sz="1000" b="0" dirty="0">
                <a:solidFill>
                  <a:srgbClr val="9AA1AE"/>
                </a:solidFill>
                <a:latin typeface="Arial"/>
              </a:rPr>
              <a:t> </a:t>
            </a:r>
            <a:r>
              <a:rPr sz="1000" b="0" dirty="0" err="1">
                <a:solidFill>
                  <a:srgbClr val="9AA1AE"/>
                </a:solidFill>
                <a:latin typeface="Arial"/>
              </a:rPr>
              <a:t>en</a:t>
            </a:r>
            <a:r>
              <a:rPr sz="1000" b="0" dirty="0">
                <a:solidFill>
                  <a:srgbClr val="9AA1AE"/>
                </a:solidFill>
                <a:latin typeface="Arial"/>
              </a:rPr>
              <a:t> 10</a:t>
            </a:r>
            <a:r>
              <a:rPr sz="1000" b="0" baseline="30000" dirty="0">
                <a:solidFill>
                  <a:srgbClr val="9AA1AE"/>
                </a:solidFill>
                <a:latin typeface="Arial"/>
              </a:rPr>
              <a:t>−5</a:t>
            </a:r>
            <a:r>
              <a:rPr sz="1000" b="0" dirty="0">
                <a:solidFill>
                  <a:srgbClr val="9AA1AE"/>
                </a:solidFill>
                <a:latin typeface="Arial"/>
              </a:rPr>
              <a:t>: la </a:t>
            </a:r>
            <a:r>
              <a:rPr sz="1000" b="0" dirty="0" err="1">
                <a:solidFill>
                  <a:srgbClr val="9AA1AE"/>
                </a:solidFill>
                <a:latin typeface="Arial"/>
              </a:rPr>
              <a:t>validación</a:t>
            </a:r>
            <a:r>
              <a:rPr sz="1000" b="0" dirty="0">
                <a:solidFill>
                  <a:srgbClr val="9AA1AE"/>
                </a:solidFill>
                <a:latin typeface="Arial"/>
              </a:rPr>
              <a:t> </a:t>
            </a:r>
            <a:r>
              <a:rPr sz="1000" b="0" dirty="0" err="1">
                <a:solidFill>
                  <a:srgbClr val="9AA1AE"/>
                </a:solidFill>
                <a:latin typeface="Arial"/>
              </a:rPr>
              <a:t>cruzada</a:t>
            </a:r>
            <a:r>
              <a:rPr sz="1000" b="0" dirty="0">
                <a:solidFill>
                  <a:srgbClr val="9AA1AE"/>
                </a:solidFill>
                <a:latin typeface="Arial"/>
              </a:rPr>
              <a:t> </a:t>
            </a:r>
            <a:r>
              <a:rPr sz="1000" b="0" dirty="0" err="1">
                <a:solidFill>
                  <a:srgbClr val="9AA1AE"/>
                </a:solidFill>
                <a:latin typeface="Arial"/>
              </a:rPr>
              <a:t>sobre</a:t>
            </a:r>
            <a:r>
              <a:rPr sz="1000" b="0" dirty="0">
                <a:solidFill>
                  <a:srgbClr val="9AA1AE"/>
                </a:solidFill>
                <a:latin typeface="Arial"/>
              </a:rPr>
              <a:t> un warm-up sin drift </a:t>
            </a:r>
            <a:r>
              <a:rPr sz="1000" b="0" dirty="0" err="1">
                <a:solidFill>
                  <a:srgbClr val="9AA1AE"/>
                </a:solidFill>
                <a:latin typeface="Arial"/>
              </a:rPr>
              <a:t>elegía</a:t>
            </a:r>
            <a:r>
              <a:rPr sz="1000" b="0" dirty="0">
                <a:solidFill>
                  <a:srgbClr val="9AA1AE"/>
                </a:solidFill>
                <a:latin typeface="Arial"/>
              </a:rPr>
              <a:t> un α </a:t>
            </a:r>
            <a:r>
              <a:rPr sz="1000" b="0" dirty="0" err="1">
                <a:solidFill>
                  <a:srgbClr val="9AA1AE"/>
                </a:solidFill>
                <a:latin typeface="Arial"/>
              </a:rPr>
              <a:t>peor</a:t>
            </a:r>
            <a:r>
              <a:rPr sz="1000" b="0" dirty="0">
                <a:solidFill>
                  <a:srgbClr val="9AA1AE"/>
                </a:solidFill>
                <a:latin typeface="Arial"/>
              </a:rPr>
              <a:t> (lo </a:t>
            </a:r>
            <a:r>
              <a:rPr sz="1000" b="0" dirty="0" err="1">
                <a:solidFill>
                  <a:srgbClr val="9AA1AE"/>
                </a:solidFill>
                <a:latin typeface="Arial"/>
              </a:rPr>
              <a:t>vemos</a:t>
            </a:r>
            <a:r>
              <a:rPr sz="1000" b="0" dirty="0">
                <a:solidFill>
                  <a:srgbClr val="9AA1AE"/>
                </a:solidFill>
                <a:latin typeface="Arial"/>
              </a:rPr>
              <a:t> </a:t>
            </a:r>
            <a:r>
              <a:rPr sz="1000" b="0" dirty="0" err="1">
                <a:solidFill>
                  <a:srgbClr val="9AA1AE"/>
                </a:solidFill>
                <a:latin typeface="Arial"/>
              </a:rPr>
              <a:t>en</a:t>
            </a:r>
            <a:r>
              <a:rPr sz="1000" b="0" dirty="0">
                <a:solidFill>
                  <a:srgbClr val="9AA1AE"/>
                </a:solidFill>
                <a:latin typeface="Arial"/>
              </a:rPr>
              <a:t> </a:t>
            </a:r>
            <a:r>
              <a:rPr sz="1000" b="0" dirty="0" err="1">
                <a:solidFill>
                  <a:srgbClr val="9AA1AE"/>
                </a:solidFill>
                <a:latin typeface="Arial"/>
              </a:rPr>
              <a:t>los</a:t>
            </a:r>
            <a:r>
              <a:rPr sz="1000" b="0" dirty="0">
                <a:solidFill>
                  <a:srgbClr val="9AA1AE"/>
                </a:solidFill>
                <a:latin typeface="Arial"/>
              </a:rPr>
              <a:t> </a:t>
            </a:r>
            <a:r>
              <a:rPr lang="es-AR" sz="1000" b="0" dirty="0">
                <a:solidFill>
                  <a:srgbClr val="9AA1AE"/>
                </a:solidFill>
                <a:latin typeface="Arial"/>
              </a:rPr>
              <a:t>resultado</a:t>
            </a:r>
            <a:r>
              <a:rPr sz="1000" b="0" dirty="0">
                <a:solidFill>
                  <a:srgbClr val="9AA1AE"/>
                </a:solidFill>
                <a:latin typeface="Arial"/>
              </a:rPr>
              <a:t>s).</a:t>
            </a:r>
          </a:p>
        </p:txBody>
      </p:sp>
    </p:spTree>
    <p:extLst>
      <p:ext uri="{BB962C8B-B14F-4D97-AF65-F5344CB8AC3E}">
        <p14:creationId xmlns:p14="http://schemas.microsoft.com/office/powerpoint/2010/main" val="3490336198"/>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MÉTODO</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err="1">
                <a:solidFill>
                  <a:srgbClr val="1F2430"/>
                </a:solidFill>
                <a:latin typeface="Georgia" pitchFamily="34" charset="0"/>
                <a:ea typeface="Georgia" pitchFamily="34" charset="-122"/>
                <a:cs typeface="Georgia" pitchFamily="34" charset="-120"/>
              </a:rPr>
              <a:t>Cuando el usuario reporta pocos mensajes</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8"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36"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7</a:t>
            </a:fld>
            <a:endParaRPr lang="en-US"/>
          </a:p>
        </p:txBody>
      </p:sp>
      <p:sp>
        <p:nvSpPr>
          <p:cNvPr id="37" name="Subtitulo"/>
          <p:cNvSpPr txBox="1"/>
          <p:nvPr/>
        </p:nvSpPr>
        <p:spPr>
          <a:xfrm>
            <a:off x="548640" y="1307592"/>
            <a:ext cx="10424160" cy="320040"/>
          </a:xfrm>
          <a:prstGeom prst="rect">
            <a:avLst/>
          </a:prstGeom>
          <a:noFill/>
        </p:spPr>
        <p:txBody>
          <a:bodyPr wrap="square" lIns="0" tIns="0" rIns="0" bIns="0" anchor="t"/>
          <a:lstStyle/>
          <a:p>
            <a:pPr>
              <a:lnSpc>
                <a:spcPct val="110000"/>
              </a:lnSpc>
            </a:pPr>
            <a:r>
              <a:rPr sz="1500" b="0">
                <a:solidFill>
                  <a:srgbClr val="5A6274"/>
                </a:solidFill>
                <a:latin typeface="Arial"/>
              </a:rPr>
              <a:t>Pregunta 2: cada mensaje recibe etiqueta con probabilidad ρ. Sin etiqueta, nadie aprende.</a:t>
            </a:r>
          </a:p>
        </p:txBody>
      </p:sp>
      <p:sp>
        <p:nvSpPr>
          <p:cNvPr id="38" name="Fila rho 1"/>
          <p:cNvSpPr txBox="1"/>
          <p:nvPr/>
        </p:nvSpPr>
        <p:spPr>
          <a:xfrm>
            <a:off x="548640" y="1911095"/>
            <a:ext cx="1188720" cy="365760"/>
          </a:xfrm>
          <a:prstGeom prst="rect">
            <a:avLst/>
          </a:prstGeom>
          <a:noFill/>
        </p:spPr>
        <p:txBody>
          <a:bodyPr wrap="square" lIns="0" tIns="0" rIns="0" bIns="0" anchor="t"/>
          <a:lstStyle/>
          <a:p>
            <a:pPr>
              <a:lnSpc>
                <a:spcPct val="110000"/>
              </a:lnSpc>
            </a:pPr>
            <a:r>
              <a:rPr sz="1800" b="0">
                <a:solidFill>
                  <a:srgbClr val="1F2430"/>
                </a:solidFill>
                <a:latin typeface="Georgia"/>
              </a:rPr>
              <a:t>ρ = 1</a:t>
            </a:r>
          </a:p>
        </p:txBody>
      </p:sp>
      <p:sp>
        <p:nvSpPr>
          <p:cNvPr id="39" name="msg 1-1"/>
          <p:cNvSpPr/>
          <p:nvPr/>
        </p:nvSpPr>
        <p:spPr>
          <a:xfrm>
            <a:off x="1828800"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msg 1-2"/>
          <p:cNvSpPr/>
          <p:nvPr/>
        </p:nvSpPr>
        <p:spPr>
          <a:xfrm>
            <a:off x="2139696"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msg 1-3"/>
          <p:cNvSpPr/>
          <p:nvPr/>
        </p:nvSpPr>
        <p:spPr>
          <a:xfrm>
            <a:off x="2450592"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msg 1-4"/>
          <p:cNvSpPr/>
          <p:nvPr/>
        </p:nvSpPr>
        <p:spPr>
          <a:xfrm>
            <a:off x="2761488"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msg 1-5"/>
          <p:cNvSpPr/>
          <p:nvPr/>
        </p:nvSpPr>
        <p:spPr>
          <a:xfrm>
            <a:off x="3072384"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msg 1-6"/>
          <p:cNvSpPr/>
          <p:nvPr/>
        </p:nvSpPr>
        <p:spPr>
          <a:xfrm>
            <a:off x="3383280"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msg 1-7"/>
          <p:cNvSpPr/>
          <p:nvPr/>
        </p:nvSpPr>
        <p:spPr>
          <a:xfrm>
            <a:off x="3694176"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msg 1-8"/>
          <p:cNvSpPr/>
          <p:nvPr/>
        </p:nvSpPr>
        <p:spPr>
          <a:xfrm>
            <a:off x="4005072"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msg 1-9"/>
          <p:cNvSpPr/>
          <p:nvPr/>
        </p:nvSpPr>
        <p:spPr>
          <a:xfrm>
            <a:off x="4315968"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msg 1-10"/>
          <p:cNvSpPr/>
          <p:nvPr/>
        </p:nvSpPr>
        <p:spPr>
          <a:xfrm>
            <a:off x="4626864"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msg 1-11"/>
          <p:cNvSpPr/>
          <p:nvPr/>
        </p:nvSpPr>
        <p:spPr>
          <a:xfrm>
            <a:off x="4937760"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msg 1-12"/>
          <p:cNvSpPr/>
          <p:nvPr/>
        </p:nvSpPr>
        <p:spPr>
          <a:xfrm>
            <a:off x="5248656"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msg 1-13"/>
          <p:cNvSpPr/>
          <p:nvPr/>
        </p:nvSpPr>
        <p:spPr>
          <a:xfrm>
            <a:off x="5559552"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msg 1-14"/>
          <p:cNvSpPr/>
          <p:nvPr/>
        </p:nvSpPr>
        <p:spPr>
          <a:xfrm>
            <a:off x="5870448"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msg 1-15"/>
          <p:cNvSpPr/>
          <p:nvPr/>
        </p:nvSpPr>
        <p:spPr>
          <a:xfrm>
            <a:off x="6181344"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msg 1-16"/>
          <p:cNvSpPr/>
          <p:nvPr/>
        </p:nvSpPr>
        <p:spPr>
          <a:xfrm>
            <a:off x="6492240"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msg 1-17"/>
          <p:cNvSpPr/>
          <p:nvPr/>
        </p:nvSpPr>
        <p:spPr>
          <a:xfrm>
            <a:off x="6803136"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msg 1-18"/>
          <p:cNvSpPr/>
          <p:nvPr/>
        </p:nvSpPr>
        <p:spPr>
          <a:xfrm>
            <a:off x="7114032"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msg 1-19"/>
          <p:cNvSpPr/>
          <p:nvPr/>
        </p:nvSpPr>
        <p:spPr>
          <a:xfrm>
            <a:off x="7424928"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msg 1-20"/>
          <p:cNvSpPr/>
          <p:nvPr/>
        </p:nvSpPr>
        <p:spPr>
          <a:xfrm>
            <a:off x="7735824"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msg 1-21"/>
          <p:cNvSpPr/>
          <p:nvPr/>
        </p:nvSpPr>
        <p:spPr>
          <a:xfrm>
            <a:off x="8046720"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msg 1-22"/>
          <p:cNvSpPr/>
          <p:nvPr/>
        </p:nvSpPr>
        <p:spPr>
          <a:xfrm>
            <a:off x="8357616"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msg 1-23"/>
          <p:cNvSpPr/>
          <p:nvPr/>
        </p:nvSpPr>
        <p:spPr>
          <a:xfrm>
            <a:off x="8668512"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msg 1-24"/>
          <p:cNvSpPr/>
          <p:nvPr/>
        </p:nvSpPr>
        <p:spPr>
          <a:xfrm>
            <a:off x="8979408"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msg 1-25"/>
          <p:cNvSpPr/>
          <p:nvPr/>
        </p:nvSpPr>
        <p:spPr>
          <a:xfrm>
            <a:off x="9290304"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msg 1-26"/>
          <p:cNvSpPr/>
          <p:nvPr/>
        </p:nvSpPr>
        <p:spPr>
          <a:xfrm>
            <a:off x="9601200"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msg 1-27"/>
          <p:cNvSpPr/>
          <p:nvPr/>
        </p:nvSpPr>
        <p:spPr>
          <a:xfrm>
            <a:off x="9912096"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msg 1-28"/>
          <p:cNvSpPr/>
          <p:nvPr/>
        </p:nvSpPr>
        <p:spPr>
          <a:xfrm>
            <a:off x="10222992"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msg 1-29"/>
          <p:cNvSpPr/>
          <p:nvPr/>
        </p:nvSpPr>
        <p:spPr>
          <a:xfrm>
            <a:off x="10533888"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msg 1-30"/>
          <p:cNvSpPr/>
          <p:nvPr/>
        </p:nvSpPr>
        <p:spPr>
          <a:xfrm>
            <a:off x="10844784" y="196596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Fila rho 2"/>
          <p:cNvSpPr txBox="1"/>
          <p:nvPr/>
        </p:nvSpPr>
        <p:spPr>
          <a:xfrm>
            <a:off x="548640" y="2414016"/>
            <a:ext cx="1188720" cy="365760"/>
          </a:xfrm>
          <a:prstGeom prst="rect">
            <a:avLst/>
          </a:prstGeom>
          <a:noFill/>
        </p:spPr>
        <p:txBody>
          <a:bodyPr wrap="square" lIns="0" tIns="0" rIns="0" bIns="0" anchor="t"/>
          <a:lstStyle/>
          <a:p>
            <a:pPr>
              <a:lnSpc>
                <a:spcPct val="110000"/>
              </a:lnSpc>
            </a:pPr>
            <a:r>
              <a:rPr sz="1800" b="0">
                <a:solidFill>
                  <a:srgbClr val="1F2430"/>
                </a:solidFill>
                <a:latin typeface="Georgia"/>
              </a:rPr>
              <a:t>ρ = 0,2</a:t>
            </a:r>
          </a:p>
        </p:txBody>
      </p:sp>
      <p:sp>
        <p:nvSpPr>
          <p:cNvPr id="70" name="msg 2-1"/>
          <p:cNvSpPr/>
          <p:nvPr/>
        </p:nvSpPr>
        <p:spPr>
          <a:xfrm>
            <a:off x="1828800"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msg 2-2"/>
          <p:cNvSpPr/>
          <p:nvPr/>
        </p:nvSpPr>
        <p:spPr>
          <a:xfrm>
            <a:off x="2139696"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msg 2-3"/>
          <p:cNvSpPr/>
          <p:nvPr/>
        </p:nvSpPr>
        <p:spPr>
          <a:xfrm>
            <a:off x="2450592" y="246888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msg 2-4"/>
          <p:cNvSpPr/>
          <p:nvPr/>
        </p:nvSpPr>
        <p:spPr>
          <a:xfrm>
            <a:off x="2761488"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msg 2-5"/>
          <p:cNvSpPr/>
          <p:nvPr/>
        </p:nvSpPr>
        <p:spPr>
          <a:xfrm>
            <a:off x="3072384"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msg 2-6"/>
          <p:cNvSpPr/>
          <p:nvPr/>
        </p:nvSpPr>
        <p:spPr>
          <a:xfrm>
            <a:off x="3383280"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msg 2-7"/>
          <p:cNvSpPr/>
          <p:nvPr/>
        </p:nvSpPr>
        <p:spPr>
          <a:xfrm>
            <a:off x="3694176"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msg 2-8"/>
          <p:cNvSpPr/>
          <p:nvPr/>
        </p:nvSpPr>
        <p:spPr>
          <a:xfrm>
            <a:off x="4005072" y="246888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msg 2-9"/>
          <p:cNvSpPr/>
          <p:nvPr/>
        </p:nvSpPr>
        <p:spPr>
          <a:xfrm>
            <a:off x="4315968"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msg 2-10"/>
          <p:cNvSpPr/>
          <p:nvPr/>
        </p:nvSpPr>
        <p:spPr>
          <a:xfrm>
            <a:off x="4626864"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msg 2-11"/>
          <p:cNvSpPr/>
          <p:nvPr/>
        </p:nvSpPr>
        <p:spPr>
          <a:xfrm>
            <a:off x="4937760"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msg 2-12"/>
          <p:cNvSpPr/>
          <p:nvPr/>
        </p:nvSpPr>
        <p:spPr>
          <a:xfrm>
            <a:off x="5248656"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msg 2-13"/>
          <p:cNvSpPr/>
          <p:nvPr/>
        </p:nvSpPr>
        <p:spPr>
          <a:xfrm>
            <a:off x="5559552"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msg 2-14"/>
          <p:cNvSpPr/>
          <p:nvPr/>
        </p:nvSpPr>
        <p:spPr>
          <a:xfrm>
            <a:off x="5870448" y="246888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msg 2-15"/>
          <p:cNvSpPr/>
          <p:nvPr/>
        </p:nvSpPr>
        <p:spPr>
          <a:xfrm>
            <a:off x="6181344"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msg 2-16"/>
          <p:cNvSpPr/>
          <p:nvPr/>
        </p:nvSpPr>
        <p:spPr>
          <a:xfrm>
            <a:off x="6492240"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msg 2-17"/>
          <p:cNvSpPr/>
          <p:nvPr/>
        </p:nvSpPr>
        <p:spPr>
          <a:xfrm>
            <a:off x="6803136"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msg 2-18"/>
          <p:cNvSpPr/>
          <p:nvPr/>
        </p:nvSpPr>
        <p:spPr>
          <a:xfrm>
            <a:off x="7114032"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msg 2-19"/>
          <p:cNvSpPr/>
          <p:nvPr/>
        </p:nvSpPr>
        <p:spPr>
          <a:xfrm>
            <a:off x="7424928" y="246888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msg 2-20"/>
          <p:cNvSpPr/>
          <p:nvPr/>
        </p:nvSpPr>
        <p:spPr>
          <a:xfrm>
            <a:off x="7735824"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msg 2-21"/>
          <p:cNvSpPr/>
          <p:nvPr/>
        </p:nvSpPr>
        <p:spPr>
          <a:xfrm>
            <a:off x="8046720"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msg 2-22"/>
          <p:cNvSpPr/>
          <p:nvPr/>
        </p:nvSpPr>
        <p:spPr>
          <a:xfrm>
            <a:off x="8357616"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msg 2-23"/>
          <p:cNvSpPr/>
          <p:nvPr/>
        </p:nvSpPr>
        <p:spPr>
          <a:xfrm>
            <a:off x="8668512" y="246888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msg 2-24"/>
          <p:cNvSpPr/>
          <p:nvPr/>
        </p:nvSpPr>
        <p:spPr>
          <a:xfrm>
            <a:off x="8979408"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msg 2-25"/>
          <p:cNvSpPr/>
          <p:nvPr/>
        </p:nvSpPr>
        <p:spPr>
          <a:xfrm>
            <a:off x="9290304"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msg 2-26"/>
          <p:cNvSpPr/>
          <p:nvPr/>
        </p:nvSpPr>
        <p:spPr>
          <a:xfrm>
            <a:off x="9601200"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msg 2-27"/>
          <p:cNvSpPr/>
          <p:nvPr/>
        </p:nvSpPr>
        <p:spPr>
          <a:xfrm>
            <a:off x="9912096"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msg 2-28"/>
          <p:cNvSpPr/>
          <p:nvPr/>
        </p:nvSpPr>
        <p:spPr>
          <a:xfrm>
            <a:off x="10222992" y="2468880"/>
            <a:ext cx="237744" cy="237744"/>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msg 2-29"/>
          <p:cNvSpPr/>
          <p:nvPr/>
        </p:nvSpPr>
        <p:spPr>
          <a:xfrm>
            <a:off x="10533888"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msg 2-30"/>
          <p:cNvSpPr/>
          <p:nvPr/>
        </p:nvSpPr>
        <p:spPr>
          <a:xfrm>
            <a:off x="10844784" y="2468880"/>
            <a:ext cx="237744" cy="237744"/>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leyenda con etiqueta"/>
          <p:cNvSpPr/>
          <p:nvPr/>
        </p:nvSpPr>
        <p:spPr>
          <a:xfrm>
            <a:off x="1828800" y="3090672"/>
            <a:ext cx="164592" cy="164592"/>
          </a:xfrm>
          <a:prstGeom prst="rect">
            <a:avLst/>
          </a:prstGeom>
          <a:solidFill>
            <a:srgbClr val="1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2084832" y="3063240"/>
            <a:ext cx="3200400" cy="274320"/>
          </a:xfrm>
          <a:prstGeom prst="rect">
            <a:avLst/>
          </a:prstGeom>
          <a:noFill/>
        </p:spPr>
        <p:txBody>
          <a:bodyPr wrap="square" lIns="0" tIns="0" rIns="0" bIns="0" anchor="t"/>
          <a:lstStyle/>
          <a:p>
            <a:pPr>
              <a:lnSpc>
                <a:spcPct val="110000"/>
              </a:lnSpc>
            </a:pPr>
            <a:r>
              <a:rPr sz="1200" b="0">
                <a:solidFill>
                  <a:srgbClr val="5A6274"/>
                </a:solidFill>
                <a:latin typeface="Arial"/>
              </a:rPr>
              <a:t>con etiqueta: se aprende</a:t>
            </a:r>
          </a:p>
        </p:txBody>
      </p:sp>
      <p:sp>
        <p:nvSpPr>
          <p:cNvPr id="102" name="leyenda sin etiqueta"/>
          <p:cNvSpPr/>
          <p:nvPr/>
        </p:nvSpPr>
        <p:spPr>
          <a:xfrm>
            <a:off x="4754880" y="3090672"/>
            <a:ext cx="164592" cy="164592"/>
          </a:xfrm>
          <a:prstGeom prst="rect">
            <a:avLst/>
          </a:prstGeom>
          <a:noFill/>
          <a:ln w="15875">
            <a:solidFill>
              <a:srgbClr val="9AA1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5010912" y="3063240"/>
            <a:ext cx="3657600" cy="274320"/>
          </a:xfrm>
          <a:prstGeom prst="rect">
            <a:avLst/>
          </a:prstGeom>
          <a:noFill/>
        </p:spPr>
        <p:txBody>
          <a:bodyPr wrap="square" lIns="0" tIns="0" rIns="0" bIns="0" anchor="t"/>
          <a:lstStyle/>
          <a:p>
            <a:pPr>
              <a:lnSpc>
                <a:spcPct val="110000"/>
              </a:lnSpc>
            </a:pPr>
            <a:r>
              <a:rPr sz="1200" b="0">
                <a:solidFill>
                  <a:srgbClr val="5A6274"/>
                </a:solidFill>
                <a:latin typeface="Arial"/>
              </a:rPr>
              <a:t>sin etiqueta: nadie actualiza</a:t>
            </a:r>
          </a:p>
        </p:txBody>
      </p:sp>
      <p:cxnSp>
        <p:nvCxnSpPr>
          <p:cNvPr id="104" name="Connector 103"/>
          <p:cNvCxnSpPr/>
          <p:nvPr/>
        </p:nvCxnSpPr>
        <p:spPr>
          <a:xfrm>
            <a:off x="548640" y="3566160"/>
            <a:ext cx="11091672" cy="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548640" y="3749039"/>
            <a:ext cx="5120640" cy="457200"/>
          </a:xfrm>
          <a:prstGeom prst="rect">
            <a:avLst/>
          </a:prstGeom>
          <a:noFill/>
        </p:spPr>
        <p:txBody>
          <a:bodyPr wrap="square" lIns="0" tIns="0" rIns="0" bIns="0" anchor="t"/>
          <a:lstStyle/>
          <a:p>
            <a:pPr>
              <a:lnSpc>
                <a:spcPct val="110000"/>
              </a:lnSpc>
            </a:pPr>
            <a:r>
              <a:rPr sz="2400" b="0" i="1">
                <a:solidFill>
                  <a:srgbClr val="2A78D6"/>
                </a:solidFill>
                <a:latin typeface="Georgia"/>
              </a:rPr>
              <a:t>Hedge</a:t>
            </a:r>
          </a:p>
        </p:txBody>
      </p:sp>
      <p:sp>
        <p:nvSpPr>
          <p:cNvPr id="106" name="TextBox 105"/>
          <p:cNvSpPr txBox="1"/>
          <p:nvPr/>
        </p:nvSpPr>
        <p:spPr>
          <a:xfrm>
            <a:off x="548640" y="4251960"/>
            <a:ext cx="5120640" cy="914400"/>
          </a:xfrm>
          <a:prstGeom prst="rect">
            <a:avLst/>
          </a:prstGeom>
          <a:noFill/>
        </p:spPr>
        <p:txBody>
          <a:bodyPr wrap="square" lIns="0" tIns="0" rIns="0" bIns="0" anchor="t"/>
          <a:lstStyle/>
          <a:p>
            <a:pPr>
              <a:lnSpc>
                <a:spcPct val="110000"/>
              </a:lnSpc>
            </a:pPr>
            <a:r>
              <a:rPr sz="1500" b="0" dirty="0" err="1">
                <a:solidFill>
                  <a:srgbClr val="1F2430"/>
                </a:solidFill>
                <a:latin typeface="Arial"/>
              </a:rPr>
              <a:t>Usa</a:t>
            </a:r>
            <a:r>
              <a:rPr sz="1500" b="0" dirty="0">
                <a:solidFill>
                  <a:srgbClr val="1F2430"/>
                </a:solidFill>
                <a:latin typeface="Arial"/>
              </a:rPr>
              <a:t> el </a:t>
            </a:r>
            <a:r>
              <a:rPr sz="1500" b="0" dirty="0" err="1">
                <a:solidFill>
                  <a:srgbClr val="1F2430"/>
                </a:solidFill>
                <a:latin typeface="Arial"/>
              </a:rPr>
              <a:t>estimador</a:t>
            </a:r>
            <a:r>
              <a:rPr sz="1500" b="0" dirty="0">
                <a:solidFill>
                  <a:srgbClr val="1F2430"/>
                </a:solidFill>
                <a:latin typeface="Arial"/>
              </a:rPr>
              <a:t> </a:t>
            </a:r>
            <a:r>
              <a:rPr sz="1500" b="0" dirty="0" err="1">
                <a:solidFill>
                  <a:srgbClr val="1F2430"/>
                </a:solidFill>
                <a:latin typeface="Arial"/>
              </a:rPr>
              <a:t>insesgado</a:t>
            </a:r>
            <a:r>
              <a:rPr sz="1500" b="0" dirty="0">
                <a:solidFill>
                  <a:srgbClr val="1F2430"/>
                </a:solidFill>
                <a:latin typeface="Arial"/>
              </a:rPr>
              <a:t> ℓ/ρ: </a:t>
            </a:r>
            <a:r>
              <a:rPr sz="1500" b="0" dirty="0" err="1">
                <a:solidFill>
                  <a:srgbClr val="1F2430"/>
                </a:solidFill>
                <a:latin typeface="Arial"/>
              </a:rPr>
              <a:t>cada</a:t>
            </a:r>
            <a:r>
              <a:rPr sz="1500" b="0" dirty="0">
                <a:solidFill>
                  <a:srgbClr val="1F2430"/>
                </a:solidFill>
                <a:latin typeface="Arial"/>
              </a:rPr>
              <a:t> error </a:t>
            </a:r>
            <a:r>
              <a:rPr sz="1500" b="0" dirty="0" err="1">
                <a:solidFill>
                  <a:srgbClr val="1F2430"/>
                </a:solidFill>
                <a:latin typeface="Arial"/>
              </a:rPr>
              <a:t>observado</a:t>
            </a:r>
            <a:r>
              <a:rPr sz="1500" b="0" dirty="0">
                <a:solidFill>
                  <a:srgbClr val="1F2430"/>
                </a:solidFill>
                <a:latin typeface="Arial"/>
              </a:rPr>
              <a:t> </a:t>
            </a:r>
            <a:r>
              <a:rPr sz="1500" b="0" dirty="0" err="1">
                <a:solidFill>
                  <a:srgbClr val="1F2430"/>
                </a:solidFill>
                <a:latin typeface="Arial"/>
              </a:rPr>
              <a:t>cuenta</a:t>
            </a:r>
            <a:r>
              <a:rPr sz="1500" b="0" dirty="0">
                <a:solidFill>
                  <a:srgbClr val="1F2430"/>
                </a:solidFill>
                <a:latin typeface="Arial"/>
              </a:rPr>
              <a:t> 1/ρ </a:t>
            </a:r>
            <a:r>
              <a:rPr sz="1500" b="0" dirty="0" err="1">
                <a:solidFill>
                  <a:srgbClr val="1F2430"/>
                </a:solidFill>
                <a:latin typeface="Arial"/>
              </a:rPr>
              <a:t>veces</a:t>
            </a:r>
            <a:endParaRPr sz="1500" b="0" dirty="0">
              <a:solidFill>
                <a:srgbClr val="1F2430"/>
              </a:solidFill>
              <a:latin typeface="Arial"/>
            </a:endParaRPr>
          </a:p>
        </p:txBody>
      </p:sp>
      <p:cxnSp>
        <p:nvCxnSpPr>
          <p:cNvPr id="107" name="Connector 106"/>
          <p:cNvCxnSpPr/>
          <p:nvPr/>
        </p:nvCxnSpPr>
        <p:spPr>
          <a:xfrm>
            <a:off x="5897880" y="3749039"/>
            <a:ext cx="0" cy="1463041"/>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6355080" y="3749039"/>
            <a:ext cx="5285232" cy="457200"/>
          </a:xfrm>
          <a:prstGeom prst="rect">
            <a:avLst/>
          </a:prstGeom>
          <a:noFill/>
        </p:spPr>
        <p:txBody>
          <a:bodyPr wrap="square" lIns="0" tIns="0" rIns="0" bIns="0" anchor="t"/>
          <a:lstStyle/>
          <a:p>
            <a:pPr>
              <a:lnSpc>
                <a:spcPct val="110000"/>
              </a:lnSpc>
            </a:pPr>
            <a:r>
              <a:rPr sz="2400" b="0">
                <a:solidFill>
                  <a:srgbClr val="1BAF7A"/>
                </a:solidFill>
                <a:latin typeface="Georgia"/>
              </a:rPr>
              <a:t>SGD online</a:t>
            </a:r>
          </a:p>
        </p:txBody>
      </p:sp>
      <p:sp>
        <p:nvSpPr>
          <p:cNvPr id="109" name="TextBox 108"/>
          <p:cNvSpPr txBox="1"/>
          <p:nvPr/>
        </p:nvSpPr>
        <p:spPr>
          <a:xfrm>
            <a:off x="6355080" y="4251960"/>
            <a:ext cx="5285232" cy="914400"/>
          </a:xfrm>
          <a:prstGeom prst="rect">
            <a:avLst/>
          </a:prstGeom>
          <a:noFill/>
        </p:spPr>
        <p:txBody>
          <a:bodyPr wrap="square" lIns="0" tIns="0" rIns="0" bIns="0" anchor="t"/>
          <a:lstStyle/>
          <a:p>
            <a:pPr>
              <a:lnSpc>
                <a:spcPct val="110000"/>
              </a:lnSpc>
            </a:pPr>
            <a:r>
              <a:rPr sz="1500" b="0">
                <a:solidFill>
                  <a:srgbClr val="1F2430"/>
                </a:solidFill>
                <a:latin typeface="Arial"/>
              </a:rPr>
              <a:t>Se actualiza solo en las rondas etiquetadas, sin reponderar: aprende de los ejemplos que tiene.</a:t>
            </a:r>
          </a:p>
        </p:txBody>
      </p:sp>
      <p:cxnSp>
        <p:nvCxnSpPr>
          <p:cNvPr id="110" name="Connector 109"/>
          <p:cNvCxnSpPr/>
          <p:nvPr/>
        </p:nvCxnSpPr>
        <p:spPr>
          <a:xfrm>
            <a:off x="548640" y="5394960"/>
            <a:ext cx="11091672" cy="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548640" y="5596128"/>
            <a:ext cx="6949440" cy="548640"/>
          </a:xfrm>
          <a:prstGeom prst="rect">
            <a:avLst/>
          </a:prstGeom>
          <a:noFill/>
        </p:spPr>
        <p:txBody>
          <a:bodyPr wrap="square" lIns="0" tIns="0" rIns="0" bIns="0" anchor="t"/>
          <a:lstStyle/>
          <a:p>
            <a:pPr>
              <a:lnSpc>
                <a:spcPct val="110000"/>
              </a:lnSpc>
            </a:pPr>
            <a:r>
              <a:rPr sz="1400" b="1">
                <a:solidFill>
                  <a:srgbClr val="1F2430"/>
                </a:solidFill>
                <a:latin typeface="Arial"/>
              </a:rPr>
              <a:t>Barrido: </a:t>
            </a:r>
            <a:r>
              <a:rPr sz="1400" b="0">
                <a:solidFill>
                  <a:srgbClr val="1F2430"/>
                </a:solidFill>
                <a:latin typeface="Arial"/>
              </a:rPr>
              <a:t>ρ de 1 a 0,05. Hedge y SGD ven exactamente las mismas rondas etiquetadas.</a:t>
            </a:r>
          </a:p>
        </p:txBody>
      </p:sp>
      <p:sp>
        <p:nvSpPr>
          <p:cNvPr id="112" name="Ley rho"/>
          <p:cNvSpPr txBox="1"/>
          <p:nvPr/>
        </p:nvSpPr>
        <p:spPr>
          <a:xfrm>
            <a:off x="7863840" y="5504688"/>
            <a:ext cx="3776472" cy="411480"/>
          </a:xfrm>
          <a:prstGeom prst="rect">
            <a:avLst/>
          </a:prstGeom>
          <a:noFill/>
        </p:spPr>
        <p:txBody>
          <a:bodyPr wrap="square" lIns="0" tIns="0" rIns="0" bIns="0" anchor="t"/>
          <a:lstStyle/>
          <a:p>
            <a:pPr algn="r">
              <a:lnSpc>
                <a:spcPct val="110000"/>
              </a:lnSpc>
            </a:pPr>
            <a:r>
              <a:rPr sz="2200" b="0">
                <a:solidFill>
                  <a:srgbClr val="2A78D6"/>
                </a:solidFill>
                <a:latin typeface="Georgia"/>
              </a:rPr>
              <a:t>regret ∝ 1/√ρ</a:t>
            </a:r>
          </a:p>
        </p:txBody>
      </p:sp>
      <p:sp>
        <p:nvSpPr>
          <p:cNvPr id="113" name="TextBox 112"/>
          <p:cNvSpPr txBox="1"/>
          <p:nvPr/>
        </p:nvSpPr>
        <p:spPr>
          <a:xfrm>
            <a:off x="7863840" y="5916168"/>
            <a:ext cx="3776472" cy="274320"/>
          </a:xfrm>
          <a:prstGeom prst="rect">
            <a:avLst/>
          </a:prstGeom>
          <a:noFill/>
        </p:spPr>
        <p:txBody>
          <a:bodyPr wrap="square" lIns="0" tIns="0" rIns="0" bIns="0" anchor="t"/>
          <a:lstStyle/>
          <a:p>
            <a:pPr algn="r">
              <a:lnSpc>
                <a:spcPct val="110000"/>
              </a:lnSpc>
            </a:pPr>
            <a:r>
              <a:rPr sz="1200" b="0" dirty="0">
                <a:solidFill>
                  <a:srgbClr val="5A6274"/>
                </a:solidFill>
                <a:latin typeface="Arial"/>
              </a:rPr>
              <a:t>lo que </a:t>
            </a:r>
            <a:r>
              <a:rPr sz="1200" b="0" dirty="0" err="1">
                <a:solidFill>
                  <a:srgbClr val="5A6274"/>
                </a:solidFill>
                <a:latin typeface="Arial"/>
              </a:rPr>
              <a:t>predice</a:t>
            </a:r>
            <a:r>
              <a:rPr sz="1200" b="0" dirty="0">
                <a:solidFill>
                  <a:srgbClr val="5A6274"/>
                </a:solidFill>
                <a:latin typeface="Arial"/>
              </a:rPr>
              <a:t> la </a:t>
            </a:r>
            <a:r>
              <a:rPr sz="1200" b="0" dirty="0" err="1">
                <a:solidFill>
                  <a:srgbClr val="5A6274"/>
                </a:solidFill>
                <a:latin typeface="Arial"/>
              </a:rPr>
              <a:t>teoría</a:t>
            </a:r>
            <a:r>
              <a:rPr sz="1200" b="0" dirty="0">
                <a:solidFill>
                  <a:srgbClr val="5A6274"/>
                </a:solidFill>
                <a:latin typeface="Arial"/>
              </a:rPr>
              <a:t> para Hedge</a:t>
            </a:r>
          </a:p>
        </p:txBody>
      </p:sp>
    </p:spTree>
    <p:extLst>
      <p:ext uri="{BB962C8B-B14F-4D97-AF65-F5344CB8AC3E}">
        <p14:creationId xmlns:p14="http://schemas.microsoft.com/office/powerpoint/2010/main" val="3490336198"/>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DISEÑO</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r>
              <a:rPr lang="en-US" dirty="0" err="1"/>
              <a:t>Datos y stream</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20 semillas: cada una fija una permutación distinta del corpus, y los resultados se promedian.</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10" name="tramo 1"/>
          <p:cNvSpPr/>
          <p:nvPr/>
        </p:nvSpPr>
        <p:spPr>
          <a:xfrm>
            <a:off x="548640" y="2606040"/>
            <a:ext cx="2216742" cy="502920"/>
          </a:xfrm>
          <a:prstGeom prst="rect">
            <a:avLst/>
          </a:prstGeom>
          <a:solidFill>
            <a:srgbClr val="D9D6CE"/>
          </a:solidFill>
          <a:ln/>
        </p:spPr>
        <p:txBody>
          <a:bodyPr/>
          <a:lstStyle/>
          <a:p>
            <a:endParaRPr lang="es-AR"/>
          </a:p>
        </p:txBody>
      </p:sp>
      <p:sp>
        <p:nvSpPr>
          <p:cNvPr id="11" name="Text 9"/>
          <p:cNvSpPr txBox="1"/>
          <p:nvPr/>
        </p:nvSpPr>
        <p:spPr>
          <a:xfrm>
            <a:off x="685800" y="2606040"/>
            <a:ext cx="1942422" cy="502920"/>
          </a:xfrm>
          <a:prstGeom prst="rect">
            <a:avLst/>
          </a:prstGeom>
          <a:noFill/>
          <a:ln/>
        </p:spPr>
        <p:txBody>
          <a:bodyPr wrap="square" lIns="0" tIns="0" rIns="0" bIns="0" rtlCol="0" anchor="ctr"/>
          <a:lstStyle/>
          <a:p>
            <a:pPr marL="0" indent="0">
              <a:lnSpc>
                <a:spcPct val="100000"/>
              </a:lnSpc>
              <a:buNone/>
            </a:pPr>
            <a:r>
              <a:rPr lang="en-US" sz="1100" b="1" kern="0" spc="100" dirty="0">
                <a:solidFill>
                  <a:srgbClr val="1F2430"/>
                </a:solidFill>
                <a:latin typeface="Arial" pitchFamily="34" charset="0"/>
                <a:ea typeface="Arial" pitchFamily="34" charset="-122"/>
                <a:cs typeface="Arial" pitchFamily="34" charset="-120"/>
              </a:rPr>
              <a:t>WARM-UP</a:t>
            </a:r>
            <a:endParaRPr lang="en-US" sz="1100" dirty="0"/>
          </a:p>
        </p:txBody>
      </p:sp>
      <p:sp>
        <p:nvSpPr>
          <p:cNvPr id="12" name="Text 10"/>
          <p:cNvSpPr txBox="1"/>
          <p:nvPr/>
        </p:nvSpPr>
        <p:spPr>
          <a:xfrm>
            <a:off x="548640" y="2103120"/>
            <a:ext cx="2216742" cy="365760"/>
          </a:xfrm>
          <a:prstGeom prst="rect">
            <a:avLst/>
          </a:prstGeom>
          <a:noFill/>
          <a:ln/>
        </p:spPr>
        <p:txBody>
          <a:bodyPr wrap="square" lIns="0" tIns="0" rIns="0" bIns="0" rtlCol="0" anchor="t"/>
          <a:lstStyle/>
          <a:p>
            <a:pPr marL="0" indent="0">
              <a:lnSpc>
                <a:spcPct val="100000"/>
              </a:lnSpc>
              <a:buNone/>
            </a:pPr>
            <a:r>
              <a:rPr lang="en-US" sz="2000" b="1" dirty="0">
                <a:solidFill>
                  <a:srgbClr val="1F2430"/>
                </a:solidFill>
                <a:latin typeface="Arial" pitchFamily="34" charset="0"/>
                <a:ea typeface="Arial" pitchFamily="34" charset="-122"/>
                <a:cs typeface="Arial" pitchFamily="34" charset="-120"/>
              </a:rPr>
              <a:t>1.114 SMS</a:t>
            </a:r>
            <a:endParaRPr lang="en-US" sz="2000" dirty="0"/>
          </a:p>
        </p:txBody>
      </p:sp>
      <p:sp>
        <p:nvSpPr>
          <p:cNvPr id="13" name="Text 11"/>
          <p:cNvSpPr txBox="1"/>
          <p:nvPr/>
        </p:nvSpPr>
        <p:spPr>
          <a:xfrm>
            <a:off x="548640" y="3246120"/>
            <a:ext cx="1988142" cy="68580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Se entrenan los modelos; </a:t>
            </a:r>
            <a:r>
              <a:rPr lang="en-US" sz="1300" dirty="0" err="1">
                <a:solidFill>
                  <a:srgbClr val="5A6274"/>
                </a:solidFill>
                <a:latin typeface="Arial" pitchFamily="34" charset="0"/>
                <a:ea typeface="Arial" pitchFamily="34" charset="-122"/>
                <a:cs typeface="Arial" pitchFamily="34" charset="-120"/>
              </a:rPr>
              <a:t>los</a:t>
            </a:r>
            <a:r>
              <a:rPr lang="en-US" sz="1300" dirty="0">
                <a:solidFill>
                  <a:srgbClr val="5A6274"/>
                </a:solidFill>
                <a:latin typeface="Arial" pitchFamily="34" charset="0"/>
                <a:ea typeface="Arial" pitchFamily="34" charset="-122"/>
                <a:cs typeface="Arial" pitchFamily="34" charset="-120"/>
              </a:rPr>
              <a:t> expertos quedan congelados.</a:t>
            </a:r>
            <a:endParaRPr lang="en-US" sz="1300" dirty="0"/>
          </a:p>
        </p:txBody>
      </p:sp>
      <p:sp>
        <p:nvSpPr>
          <p:cNvPr id="14" name="tramo 2"/>
          <p:cNvSpPr/>
          <p:nvPr/>
        </p:nvSpPr>
        <p:spPr>
          <a:xfrm>
            <a:off x="2765382" y="2606040"/>
            <a:ext cx="4437465" cy="502920"/>
          </a:xfrm>
          <a:prstGeom prst="rect">
            <a:avLst/>
          </a:prstGeom>
          <a:solidFill>
            <a:srgbClr val="ECE9E2"/>
          </a:solidFill>
          <a:ln/>
        </p:spPr>
        <p:txBody>
          <a:bodyPr/>
          <a:lstStyle/>
          <a:p>
            <a:endParaRPr lang="es-AR"/>
          </a:p>
        </p:txBody>
      </p:sp>
      <p:sp>
        <p:nvSpPr>
          <p:cNvPr id="15" name="Text 13"/>
          <p:cNvSpPr txBox="1"/>
          <p:nvPr/>
        </p:nvSpPr>
        <p:spPr>
          <a:xfrm>
            <a:off x="2902542" y="2606040"/>
            <a:ext cx="4163145" cy="502920"/>
          </a:xfrm>
          <a:prstGeom prst="rect">
            <a:avLst/>
          </a:prstGeom>
          <a:noFill/>
          <a:ln/>
        </p:spPr>
        <p:txBody>
          <a:bodyPr wrap="square" lIns="0" tIns="0" rIns="0" bIns="0" rtlCol="0" anchor="ctr"/>
          <a:lstStyle/>
          <a:p>
            <a:pPr marL="0" indent="0">
              <a:lnSpc>
                <a:spcPct val="100000"/>
              </a:lnSpc>
              <a:buNone/>
            </a:pPr>
            <a:r>
              <a:rPr lang="en-US" sz="1100" b="1" kern="0" spc="100" dirty="0">
                <a:solidFill>
                  <a:srgbClr val="1F2430"/>
                </a:solidFill>
                <a:latin typeface="Arial" pitchFamily="34" charset="0"/>
                <a:ea typeface="Arial" pitchFamily="34" charset="-122"/>
                <a:cs typeface="Arial" pitchFamily="34" charset="-120"/>
              </a:rPr>
              <a:t>STREAM SIN ATAQUE</a:t>
            </a:r>
            <a:endParaRPr lang="en-US" sz="1100" dirty="0"/>
          </a:p>
        </p:txBody>
      </p:sp>
      <p:sp>
        <p:nvSpPr>
          <p:cNvPr id="16" name="Text 14"/>
          <p:cNvSpPr txBox="1"/>
          <p:nvPr/>
        </p:nvSpPr>
        <p:spPr>
          <a:xfrm>
            <a:off x="2765382" y="2103120"/>
            <a:ext cx="4437465" cy="365760"/>
          </a:xfrm>
          <a:prstGeom prst="rect">
            <a:avLst/>
          </a:prstGeom>
          <a:noFill/>
          <a:ln/>
        </p:spPr>
        <p:txBody>
          <a:bodyPr wrap="square" lIns="0" tIns="0" rIns="0" bIns="0" rtlCol="0" anchor="t"/>
          <a:lstStyle/>
          <a:p>
            <a:pPr marL="0" indent="0">
              <a:lnSpc>
                <a:spcPct val="100000"/>
              </a:lnSpc>
              <a:buNone/>
            </a:pPr>
            <a:r>
              <a:rPr lang="en-US" sz="2000" b="1" dirty="0">
                <a:solidFill>
                  <a:srgbClr val="1F2430"/>
                </a:solidFill>
                <a:latin typeface="Arial" pitchFamily="34" charset="0"/>
                <a:ea typeface="Arial" pitchFamily="34" charset="-122"/>
                <a:cs typeface="Arial" pitchFamily="34" charset="-120"/>
              </a:rPr>
              <a:t>2.230 SMS</a:t>
            </a:r>
            <a:endParaRPr lang="en-US" sz="2000" dirty="0"/>
          </a:p>
        </p:txBody>
      </p:sp>
      <p:sp>
        <p:nvSpPr>
          <p:cNvPr id="17" name="Text 15"/>
          <p:cNvSpPr txBox="1"/>
          <p:nvPr/>
        </p:nvSpPr>
        <p:spPr>
          <a:xfrm>
            <a:off x="2765382" y="3246120"/>
            <a:ext cx="4208865" cy="68580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Los </a:t>
            </a:r>
            <a:r>
              <a:rPr lang="en-US" sz="1300" dirty="0" err="1">
                <a:solidFill>
                  <a:srgbClr val="5A6274"/>
                </a:solidFill>
                <a:latin typeface="Arial" pitchFamily="34" charset="0"/>
                <a:ea typeface="Arial" pitchFamily="34" charset="-122"/>
                <a:cs typeface="Arial" pitchFamily="34" charset="-120"/>
              </a:rPr>
              <a:t>competidores</a:t>
            </a:r>
            <a:r>
              <a:rPr lang="en-US" sz="1300" dirty="0">
                <a:solidFill>
                  <a:srgbClr val="5A6274"/>
                </a:solidFill>
                <a:latin typeface="Arial" pitchFamily="34" charset="0"/>
                <a:ea typeface="Arial" pitchFamily="34" charset="-122"/>
                <a:cs typeface="Arial" pitchFamily="34" charset="-120"/>
              </a:rPr>
              <a:t> </a:t>
            </a:r>
            <a:r>
              <a:rPr lang="en-US" sz="1300" dirty="0" err="1">
                <a:solidFill>
                  <a:srgbClr val="5A6274"/>
                </a:solidFill>
                <a:latin typeface="Arial" pitchFamily="34" charset="0"/>
                <a:ea typeface="Arial" pitchFamily="34" charset="-122"/>
                <a:cs typeface="Arial" pitchFamily="34" charset="-120"/>
              </a:rPr>
              <a:t>ven</a:t>
            </a:r>
            <a:r>
              <a:rPr lang="en-US" sz="1300" dirty="0">
                <a:solidFill>
                  <a:srgbClr val="5A6274"/>
                </a:solidFill>
                <a:latin typeface="Arial" pitchFamily="34" charset="0"/>
                <a:ea typeface="Arial" pitchFamily="34" charset="-122"/>
                <a:cs typeface="Arial" pitchFamily="34" charset="-120"/>
              </a:rPr>
              <a:t> la misma secuencia de mensajes.</a:t>
            </a:r>
            <a:endParaRPr lang="en-US" sz="1300" dirty="0"/>
          </a:p>
        </p:txBody>
      </p:sp>
      <p:sp>
        <p:nvSpPr>
          <p:cNvPr id="18" name="tramo 3"/>
          <p:cNvSpPr/>
          <p:nvPr/>
        </p:nvSpPr>
        <p:spPr>
          <a:xfrm>
            <a:off x="7202847" y="2606040"/>
            <a:ext cx="4437465" cy="502920"/>
          </a:xfrm>
          <a:prstGeom prst="rect">
            <a:avLst/>
          </a:prstGeom>
          <a:solidFill>
            <a:srgbClr val="1F2430"/>
          </a:solidFill>
          <a:ln/>
        </p:spPr>
        <p:txBody>
          <a:bodyPr/>
          <a:lstStyle/>
          <a:p>
            <a:endParaRPr lang="es-AR"/>
          </a:p>
        </p:txBody>
      </p:sp>
      <p:sp>
        <p:nvSpPr>
          <p:cNvPr id="19" name="Text 17"/>
          <p:cNvSpPr txBox="1"/>
          <p:nvPr/>
        </p:nvSpPr>
        <p:spPr>
          <a:xfrm>
            <a:off x="7340007" y="2606040"/>
            <a:ext cx="4163145" cy="502920"/>
          </a:xfrm>
          <a:prstGeom prst="rect">
            <a:avLst/>
          </a:prstGeom>
          <a:noFill/>
          <a:ln/>
        </p:spPr>
        <p:txBody>
          <a:bodyPr wrap="square" lIns="0" tIns="0" rIns="0" bIns="0" rtlCol="0" anchor="ctr"/>
          <a:lstStyle/>
          <a:p>
            <a:pPr marL="0" indent="0">
              <a:lnSpc>
                <a:spcPct val="100000"/>
              </a:lnSpc>
              <a:buNone/>
            </a:pPr>
            <a:r>
              <a:rPr lang="en-US" sz="1100" b="1" kern="0" spc="100" dirty="0">
                <a:solidFill>
                  <a:srgbClr val="FFFFFF"/>
                </a:solidFill>
                <a:latin typeface="Arial" pitchFamily="34" charset="0"/>
                <a:ea typeface="Arial" pitchFamily="34" charset="-122"/>
                <a:cs typeface="Arial" pitchFamily="34" charset="-120"/>
              </a:rPr>
              <a:t>STREAM CON ATAQUE</a:t>
            </a:r>
            <a:endParaRPr lang="en-US" sz="1100" dirty="0"/>
          </a:p>
        </p:txBody>
      </p:sp>
      <p:sp>
        <p:nvSpPr>
          <p:cNvPr id="20" name="Text 18"/>
          <p:cNvSpPr txBox="1"/>
          <p:nvPr/>
        </p:nvSpPr>
        <p:spPr>
          <a:xfrm>
            <a:off x="7202847" y="2103120"/>
            <a:ext cx="4437465" cy="365760"/>
          </a:xfrm>
          <a:prstGeom prst="rect">
            <a:avLst/>
          </a:prstGeom>
          <a:noFill/>
          <a:ln/>
        </p:spPr>
        <p:txBody>
          <a:bodyPr wrap="square" lIns="0" tIns="0" rIns="0" bIns="0" rtlCol="0" anchor="t"/>
          <a:lstStyle/>
          <a:p>
            <a:pPr marL="0" indent="0">
              <a:lnSpc>
                <a:spcPct val="100000"/>
              </a:lnSpc>
              <a:buNone/>
            </a:pPr>
            <a:r>
              <a:rPr lang="en-US" sz="2000" b="1" dirty="0">
                <a:solidFill>
                  <a:srgbClr val="1F2430"/>
                </a:solidFill>
                <a:latin typeface="Arial" pitchFamily="34" charset="0"/>
                <a:ea typeface="Arial" pitchFamily="34" charset="-122"/>
                <a:cs typeface="Arial" pitchFamily="34" charset="-120"/>
              </a:rPr>
              <a:t>2.230 SMS</a:t>
            </a:r>
            <a:endParaRPr lang="en-US" sz="2000" dirty="0"/>
          </a:p>
        </p:txBody>
      </p:sp>
      <p:sp>
        <p:nvSpPr>
          <p:cNvPr id="21" name="Text 19"/>
          <p:cNvSpPr txBox="1"/>
          <p:nvPr/>
        </p:nvSpPr>
        <p:spPr>
          <a:xfrm>
            <a:off x="7202847" y="3246120"/>
            <a:ext cx="4208865" cy="68580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Todo spam llega ofuscado. Acá se mide quién se recupera.</a:t>
            </a:r>
            <a:endParaRPr lang="en-US" sz="1300" dirty="0"/>
          </a:p>
        </p:txBody>
      </p:sp>
      <p:sp>
        <p:nvSpPr>
          <p:cNvPr id="22" name="Shape 20"/>
          <p:cNvSpPr/>
          <p:nvPr/>
        </p:nvSpPr>
        <p:spPr>
          <a:xfrm>
            <a:off x="548640" y="4160520"/>
            <a:ext cx="11091672" cy="0"/>
          </a:xfrm>
          <a:prstGeom prst="line">
            <a:avLst/>
          </a:prstGeom>
          <a:noFill/>
          <a:ln w="9525">
            <a:solidFill>
              <a:srgbClr val="D9D6CE"/>
            </a:solidFill>
            <a:prstDash val="solid"/>
          </a:ln>
        </p:spPr>
        <p:txBody>
          <a:bodyPr/>
          <a:lstStyle/>
          <a:p>
            <a:endParaRPr lang="es-AR"/>
          </a:p>
        </p:txBody>
      </p:sp>
      <p:sp>
        <p:nvSpPr>
          <p:cNvPr id="23" name="Text 21"/>
          <p:cNvSpPr txBox="1"/>
          <p:nvPr/>
        </p:nvSpPr>
        <p:spPr>
          <a:xfrm>
            <a:off x="548640" y="4343400"/>
            <a:ext cx="5486400" cy="228600"/>
          </a:xfrm>
          <a:prstGeom prst="rect">
            <a:avLst/>
          </a:prstGeom>
          <a:noFill/>
          <a:ln/>
        </p:spPr>
        <p:txBody>
          <a:bodyPr wrap="square" lIns="0" tIns="0" rIns="0" bIns="0" rtlCol="0" anchor="t"/>
          <a:lstStyle/>
          <a:p>
            <a:pPr marL="0" indent="0">
              <a:lnSpc>
                <a:spcPct val="100000"/>
              </a:lnSpc>
              <a:buNone/>
            </a:pPr>
            <a:r>
              <a:rPr lang="en-US" sz="1000" b="1" kern="0" spc="100" dirty="0">
                <a:solidFill>
                  <a:srgbClr val="5A6274"/>
                </a:solidFill>
                <a:latin typeface="Arial" pitchFamily="34" charset="0"/>
                <a:ea typeface="Arial" pitchFamily="34" charset="-122"/>
                <a:cs typeface="Arial" pitchFamily="34" charset="-120"/>
              </a:rPr>
              <a:t>QUÉ MEDIMOS</a:t>
            </a:r>
            <a:endParaRPr lang="en-US" sz="1000" dirty="0"/>
          </a:p>
        </p:txBody>
      </p:sp>
      <p:sp>
        <p:nvSpPr>
          <p:cNvPr id="24" name="Text 22"/>
          <p:cNvSpPr txBox="1"/>
          <p:nvPr/>
        </p:nvSpPr>
        <p:spPr>
          <a:xfrm>
            <a:off x="548640" y="4663440"/>
            <a:ext cx="6766560" cy="1463040"/>
          </a:xfrm>
          <a:prstGeom prst="rect">
            <a:avLst/>
          </a:prstGeom>
          <a:noFill/>
          <a:ln/>
        </p:spPr>
        <p:txBody>
          <a:bodyPr wrap="square" lIns="0" tIns="0" rIns="0" bIns="0" rtlCol="0" anchor="t"/>
          <a:lstStyle/>
          <a:p>
            <a:pPr marL="0" indent="0">
              <a:lnSpc>
                <a:spcPct val="115000"/>
              </a:lnSpc>
              <a:buNone/>
            </a:pPr>
            <a:r>
              <a:rPr lang="en-US" sz="1500" b="1" dirty="0">
                <a:solidFill>
                  <a:srgbClr val="1F2430"/>
                </a:solidFill>
                <a:latin typeface="Arial" pitchFamily="34" charset="0"/>
                <a:ea typeface="Arial" pitchFamily="34" charset="-122"/>
                <a:cs typeface="Arial" pitchFamily="34" charset="-120"/>
              </a:rPr>
              <a:t>Spam atrapado (SC): </a:t>
            </a:r>
            <a:r>
              <a:rPr lang="en-US" sz="1500" dirty="0">
                <a:solidFill>
                  <a:srgbClr val="1F2430"/>
                </a:solidFill>
                <a:latin typeface="Arial" pitchFamily="34" charset="0"/>
                <a:ea typeface="Arial" pitchFamily="34" charset="-122"/>
                <a:cs typeface="Arial" pitchFamily="34" charset="-120"/>
              </a:rPr>
              <a:t>qué parte del spam se detecta</a:t>
            </a:r>
            <a:endParaRPr lang="en-US" sz="1500" dirty="0"/>
          </a:p>
          <a:p>
            <a:pPr marL="0" indent="0">
              <a:lnSpc>
                <a:spcPct val="115000"/>
              </a:lnSpc>
              <a:buNone/>
            </a:pPr>
            <a:r>
              <a:rPr lang="en-US" sz="1500" b="1" dirty="0">
                <a:solidFill>
                  <a:srgbClr val="1F2430"/>
                </a:solidFill>
                <a:latin typeface="Arial" pitchFamily="34" charset="0"/>
                <a:ea typeface="Arial" pitchFamily="34" charset="-122"/>
                <a:cs typeface="Arial" pitchFamily="34" charset="-120"/>
              </a:rPr>
              <a:t>Legítimo bloqueado (BH): </a:t>
            </a:r>
            <a:r>
              <a:rPr lang="en-US" sz="1500" dirty="0">
                <a:solidFill>
                  <a:srgbClr val="1F2430"/>
                </a:solidFill>
                <a:latin typeface="Arial" pitchFamily="34" charset="0"/>
                <a:ea typeface="Arial" pitchFamily="34" charset="-122"/>
                <a:cs typeface="Arial" pitchFamily="34" charset="-120"/>
              </a:rPr>
              <a:t>qué parte del correo bueno se pierde</a:t>
            </a:r>
            <a:endParaRPr lang="en-US" sz="1500" dirty="0"/>
          </a:p>
          <a:p>
            <a:pPr>
              <a:lnSpc>
                <a:spcPct val="115000"/>
              </a:lnSpc>
            </a:pPr>
            <a:r>
              <a:rPr lang="en-US" sz="1500" b="1" dirty="0">
                <a:solidFill>
                  <a:srgbClr val="1F2430"/>
                </a:solidFill>
                <a:latin typeface="Arial" pitchFamily="34" charset="0"/>
                <a:ea typeface="Arial" pitchFamily="34" charset="-122"/>
                <a:cs typeface="Arial" pitchFamily="34" charset="-120"/>
              </a:rPr>
              <a:t>MCC (</a:t>
            </a:r>
            <a:r>
              <a:rPr lang="es-ES" sz="1600" b="1" dirty="0"/>
              <a:t>Coeficiente de Correlación de </a:t>
            </a:r>
            <a:r>
              <a:rPr lang="es-ES" sz="1600" b="1" dirty="0" err="1"/>
              <a:t>Matthews</a:t>
            </a:r>
            <a:r>
              <a:rPr lang="es-ES" sz="1600" b="1" dirty="0"/>
              <a:t>)</a:t>
            </a:r>
            <a:r>
              <a:rPr lang="en-US" sz="1500" b="1" dirty="0">
                <a:solidFill>
                  <a:srgbClr val="1F2430"/>
                </a:solidFill>
                <a:latin typeface="Arial" pitchFamily="34" charset="0"/>
                <a:ea typeface="Arial" pitchFamily="34" charset="-122"/>
                <a:cs typeface="Arial" pitchFamily="34" charset="-120"/>
              </a:rPr>
              <a:t>: </a:t>
            </a:r>
            <a:r>
              <a:rPr lang="en-US" sz="1500" dirty="0">
                <a:solidFill>
                  <a:srgbClr val="1F2430"/>
                </a:solidFill>
                <a:latin typeface="Arial" pitchFamily="34" charset="0"/>
                <a:ea typeface="Arial" pitchFamily="34" charset="-122"/>
                <a:cs typeface="Arial" pitchFamily="34" charset="-120"/>
              </a:rPr>
              <a:t>un resumen robusto al </a:t>
            </a:r>
            <a:r>
              <a:rPr lang="en-US" sz="1500" dirty="0" err="1">
                <a:solidFill>
                  <a:srgbClr val="1F2430"/>
                </a:solidFill>
                <a:latin typeface="Arial" pitchFamily="34" charset="0"/>
                <a:ea typeface="Arial" pitchFamily="34" charset="-122"/>
                <a:cs typeface="Arial" pitchFamily="34" charset="-120"/>
              </a:rPr>
              <a:t>desbalance</a:t>
            </a:r>
            <a:r>
              <a:rPr lang="en-US" sz="1500" dirty="0">
                <a:solidFill>
                  <a:srgbClr val="1F2430"/>
                </a:solidFill>
                <a:latin typeface="Arial" pitchFamily="34" charset="0"/>
                <a:ea typeface="Arial" pitchFamily="34" charset="-122"/>
                <a:cs typeface="Arial" pitchFamily="34" charset="-120"/>
              </a:rPr>
              <a:t> de </a:t>
            </a:r>
            <a:r>
              <a:rPr lang="en-US" sz="1500" dirty="0" err="1">
                <a:solidFill>
                  <a:srgbClr val="1F2430"/>
                </a:solidFill>
                <a:latin typeface="Arial" pitchFamily="34" charset="0"/>
                <a:ea typeface="Arial" pitchFamily="34" charset="-122"/>
                <a:cs typeface="Arial" pitchFamily="34" charset="-120"/>
              </a:rPr>
              <a:t>clases</a:t>
            </a:r>
            <a:endParaRPr lang="en-US" sz="1500" dirty="0"/>
          </a:p>
          <a:p>
            <a:pPr marL="0" indent="0">
              <a:lnSpc>
                <a:spcPct val="115000"/>
              </a:lnSpc>
              <a:buNone/>
            </a:pPr>
            <a:r>
              <a:rPr lang="en-US" sz="1500" b="1" dirty="0">
                <a:solidFill>
                  <a:srgbClr val="1F2430"/>
                </a:solidFill>
                <a:latin typeface="Arial" pitchFamily="34" charset="0"/>
                <a:ea typeface="Arial" pitchFamily="34" charset="-122"/>
                <a:cs typeface="Arial" pitchFamily="34" charset="-120"/>
              </a:rPr>
              <a:t>Errores en la mitad atacada: </a:t>
            </a:r>
            <a:r>
              <a:rPr lang="en-US" sz="1500" dirty="0">
                <a:solidFill>
                  <a:srgbClr val="1F2430"/>
                </a:solidFill>
                <a:latin typeface="Arial" pitchFamily="34" charset="0"/>
                <a:ea typeface="Arial" pitchFamily="34" charset="-122"/>
                <a:cs typeface="Arial" pitchFamily="34" charset="-120"/>
              </a:rPr>
              <a:t>la cifra que comparamos</a:t>
            </a:r>
            <a:endParaRPr lang="en-US" sz="1500" dirty="0"/>
          </a:p>
        </p:txBody>
      </p:sp>
      <p:sp>
        <p:nvSpPr>
          <p:cNvPr id="25" name="Text 23"/>
          <p:cNvSpPr txBox="1"/>
          <p:nvPr/>
        </p:nvSpPr>
        <p:spPr>
          <a:xfrm>
            <a:off x="8138160" y="4343400"/>
            <a:ext cx="3474720" cy="822960"/>
          </a:xfrm>
          <a:prstGeom prst="rect">
            <a:avLst/>
          </a:prstGeom>
          <a:noFill/>
          <a:ln/>
        </p:spPr>
        <p:txBody>
          <a:bodyPr wrap="square" lIns="0" tIns="0" rIns="0" bIns="0" rtlCol="0" anchor="t"/>
          <a:lstStyle/>
          <a:p>
            <a:pPr marL="0" indent="0">
              <a:lnSpc>
                <a:spcPct val="100000"/>
              </a:lnSpc>
              <a:buNone/>
            </a:pPr>
            <a:r>
              <a:rPr lang="en-US" sz="5400" b="1" dirty="0">
                <a:solidFill>
                  <a:srgbClr val="1F2430"/>
                </a:solidFill>
                <a:latin typeface="Arial" pitchFamily="34" charset="0"/>
                <a:ea typeface="Arial" pitchFamily="34" charset="-122"/>
                <a:cs typeface="Arial" pitchFamily="34" charset="-120"/>
              </a:rPr>
              <a:t>87%</a:t>
            </a:r>
            <a:endParaRPr lang="en-US" sz="5400" dirty="0"/>
          </a:p>
        </p:txBody>
      </p:sp>
      <p:sp>
        <p:nvSpPr>
          <p:cNvPr id="26" name="Text 24"/>
          <p:cNvSpPr txBox="1"/>
          <p:nvPr/>
        </p:nvSpPr>
        <p:spPr>
          <a:xfrm>
            <a:off x="8138160" y="5239512"/>
            <a:ext cx="3474720" cy="685800"/>
          </a:xfrm>
          <a:prstGeom prst="rect">
            <a:avLst/>
          </a:prstGeom>
          <a:noFill/>
          <a:ln/>
        </p:spPr>
        <p:txBody>
          <a:bodyPr wrap="square" lIns="0" tIns="0" rIns="0" bIns="0" rtlCol="0" anchor="t"/>
          <a:lstStyle/>
          <a:p>
            <a:pPr marL="0" indent="0">
              <a:lnSpc>
                <a:spcPct val="100000"/>
              </a:lnSpc>
              <a:buNone/>
            </a:pPr>
            <a:r>
              <a:rPr lang="en-US" sz="1500" dirty="0">
                <a:solidFill>
                  <a:srgbClr val="1F2430"/>
                </a:solidFill>
                <a:latin typeface="Arial" pitchFamily="34" charset="0"/>
                <a:ea typeface="Arial" pitchFamily="34" charset="-122"/>
                <a:cs typeface="Arial" pitchFamily="34" charset="-120"/>
              </a:rPr>
              <a:t>de acierto sin marcar nada </a:t>
            </a:r>
            <a:r>
              <a:rPr lang="en-US" sz="1500" dirty="0" err="1">
                <a:solidFill>
                  <a:srgbClr val="1F2430"/>
                </a:solidFill>
                <a:latin typeface="Arial" pitchFamily="34" charset="0"/>
                <a:ea typeface="Arial" pitchFamily="34" charset="-122"/>
                <a:cs typeface="Arial" pitchFamily="34" charset="-120"/>
              </a:rPr>
              <a:t>como</a:t>
            </a:r>
            <a:r>
              <a:rPr lang="en-US" sz="1500" dirty="0">
                <a:solidFill>
                  <a:srgbClr val="1F2430"/>
                </a:solidFill>
                <a:latin typeface="Arial" pitchFamily="34" charset="0"/>
                <a:ea typeface="Arial" pitchFamily="34" charset="-122"/>
                <a:cs typeface="Arial" pitchFamily="34" charset="-120"/>
              </a:rPr>
              <a:t> spam. </a:t>
            </a:r>
            <a:r>
              <a:rPr lang="en-US" sz="1500" dirty="0" err="1">
                <a:solidFill>
                  <a:srgbClr val="1F2430"/>
                </a:solidFill>
                <a:latin typeface="Arial" pitchFamily="34" charset="0"/>
                <a:ea typeface="Arial" pitchFamily="34" charset="-122"/>
                <a:cs typeface="Arial" pitchFamily="34" charset="-120"/>
              </a:rPr>
              <a:t>Clases</a:t>
            </a:r>
            <a:r>
              <a:rPr lang="en-US" sz="1500" dirty="0">
                <a:solidFill>
                  <a:srgbClr val="1F2430"/>
                </a:solidFill>
                <a:latin typeface="Arial" pitchFamily="34" charset="0"/>
                <a:ea typeface="Arial" pitchFamily="34" charset="-122"/>
                <a:cs typeface="Arial" pitchFamily="34" charset="-120"/>
              </a:rPr>
              <a:t> </a:t>
            </a:r>
            <a:r>
              <a:rPr lang="en-US" sz="1500" dirty="0" err="1">
                <a:solidFill>
                  <a:srgbClr val="1F2430"/>
                </a:solidFill>
                <a:latin typeface="Arial" pitchFamily="34" charset="0"/>
                <a:ea typeface="Arial" pitchFamily="34" charset="-122"/>
                <a:cs typeface="Arial" pitchFamily="34" charset="-120"/>
              </a:rPr>
              <a:t>desbalanceadas</a:t>
            </a:r>
            <a:r>
              <a:rPr lang="en-US" sz="1500" dirty="0">
                <a:solidFill>
                  <a:srgbClr val="1F2430"/>
                </a:solidFill>
                <a:latin typeface="Arial" pitchFamily="34" charset="0"/>
                <a:ea typeface="Arial" pitchFamily="34" charset="-122"/>
                <a:cs typeface="Arial" pitchFamily="34" charset="-120"/>
              </a:rPr>
              <a:t>, no se </a:t>
            </a:r>
            <a:r>
              <a:rPr lang="en-US" sz="1500" dirty="0" err="1">
                <a:solidFill>
                  <a:srgbClr val="1F2430"/>
                </a:solidFill>
                <a:latin typeface="Arial" pitchFamily="34" charset="0"/>
                <a:ea typeface="Arial" pitchFamily="34" charset="-122"/>
                <a:cs typeface="Arial" pitchFamily="34" charset="-120"/>
              </a:rPr>
              <a:t>usa</a:t>
            </a:r>
            <a:r>
              <a:rPr lang="en-US" sz="1500" dirty="0">
                <a:solidFill>
                  <a:srgbClr val="1F2430"/>
                </a:solidFill>
                <a:latin typeface="Arial" pitchFamily="34" charset="0"/>
                <a:ea typeface="Arial" pitchFamily="34" charset="-122"/>
                <a:cs typeface="Arial" pitchFamily="34" charset="-120"/>
              </a:rPr>
              <a:t> </a:t>
            </a:r>
            <a:r>
              <a:rPr lang="en-US" sz="1500" dirty="0" err="1">
                <a:solidFill>
                  <a:srgbClr val="1F2430"/>
                </a:solidFill>
                <a:latin typeface="Arial" pitchFamily="34" charset="0"/>
                <a:ea typeface="Arial" pitchFamily="34" charset="-122"/>
                <a:cs typeface="Arial" pitchFamily="34" charset="-120"/>
              </a:rPr>
              <a:t>accuracy</a:t>
            </a:r>
            <a:r>
              <a:rPr lang="en-US" sz="1500" dirty="0">
                <a:solidFill>
                  <a:srgbClr val="1F2430"/>
                </a:solidFill>
                <a:latin typeface="Arial" pitchFamily="34" charset="0"/>
                <a:ea typeface="Arial" pitchFamily="34" charset="-122"/>
                <a:cs typeface="Arial" pitchFamily="34" charset="-120"/>
              </a:rPr>
              <a:t>.</a:t>
            </a:r>
            <a:endParaRPr lang="en-US" sz="1500" dirty="0"/>
          </a:p>
        </p:txBody>
      </p:sp>
      <p:sp>
        <p:nvSpPr>
          <p:cNvPr id="27" name="Text 25"/>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SMS Spam Collection (Almeida et al., 2011): 5.574 SMS, 13,4% spam.</a:t>
            </a:r>
            <a:endParaRPr lang="en-US" sz="1000" dirty="0"/>
          </a:p>
        </p:txBody>
      </p:sp>
      <p:sp>
        <p:nvSpPr>
          <p:cNvPr id="28"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DISEÑO</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err="1">
                <a:solidFill>
                  <a:srgbClr val="1F2430"/>
                </a:solidFill>
                <a:latin typeface="Georgia" pitchFamily="34" charset="0"/>
                <a:ea typeface="Georgia" pitchFamily="34" charset="-122"/>
                <a:cs typeface="Georgia" pitchFamily="34" charset="-120"/>
              </a:rPr>
              <a:t>Expertos: cuatro leen palabras, uno mira formato</a:t>
            </a:r>
            <a:endParaRPr lang="en-US" sz="30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28"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9</a:t>
            </a:fld>
            <a:endParaRPr lang="en-US"/>
          </a:p>
        </p:txBody>
      </p:sp>
      <p:sp>
        <p:nvSpPr>
          <p:cNvPr id="29" name="Subtitulo"/>
          <p:cNvSpPr txBox="1"/>
          <p:nvPr/>
        </p:nvSpPr>
        <p:spPr>
          <a:xfrm>
            <a:off x="548640" y="1307592"/>
            <a:ext cx="10424160" cy="320040"/>
          </a:xfrm>
          <a:prstGeom prst="rect">
            <a:avLst/>
          </a:prstGeom>
          <a:noFill/>
        </p:spPr>
        <p:txBody>
          <a:bodyPr wrap="square" lIns="0" tIns="0" rIns="0" bIns="0" anchor="t"/>
          <a:lstStyle/>
          <a:p>
            <a:pPr>
              <a:lnSpc>
                <a:spcPct val="110000"/>
              </a:lnSpc>
            </a:pPr>
            <a:r>
              <a:rPr sz="1500" b="0">
                <a:solidFill>
                  <a:srgbClr val="5A6274"/>
                </a:solidFill>
                <a:latin typeface="Arial"/>
              </a:rPr>
              <a:t>Se entrenan en el warm-up y quedan congelados. Los léxicos usan hashing de 2</a:t>
            </a:r>
            <a:r>
              <a:rPr sz="1500" b="0" baseline="30000">
                <a:solidFill>
                  <a:srgbClr val="5A6274"/>
                </a:solidFill>
                <a:latin typeface="Arial"/>
              </a:rPr>
              <a:t>18</a:t>
            </a:r>
            <a:r>
              <a:rPr sz="1500" b="0">
                <a:solidFill>
                  <a:srgbClr val="5A6274"/>
                </a:solidFill>
                <a:latin typeface="Arial"/>
              </a:rPr>
              <a:t> componentes.</a:t>
            </a:r>
          </a:p>
        </p:txBody>
      </p:sp>
      <p:sp>
        <p:nvSpPr>
          <p:cNvPr id="30" name="punto Naive Bayes"/>
          <p:cNvSpPr/>
          <p:nvPr/>
        </p:nvSpPr>
        <p:spPr>
          <a:xfrm>
            <a:off x="795528" y="1975104"/>
            <a:ext cx="201168" cy="20116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Experto Naive Bayes"/>
          <p:cNvSpPr txBox="1"/>
          <p:nvPr/>
        </p:nvSpPr>
        <p:spPr>
          <a:xfrm>
            <a:off x="1179576" y="1920240"/>
            <a:ext cx="6675120" cy="1005840"/>
          </a:xfrm>
          <a:prstGeom prst="rect">
            <a:avLst/>
          </a:prstGeom>
          <a:noFill/>
        </p:spPr>
        <p:txBody>
          <a:bodyPr wrap="square" lIns="0" tIns="0" rIns="0" bIns="0" anchor="t"/>
          <a:lstStyle/>
          <a:p>
            <a:pPr>
              <a:lnSpc>
                <a:spcPct val="110000"/>
              </a:lnSpc>
            </a:pPr>
            <a:r>
              <a:rPr sz="1600" b="1">
                <a:solidFill>
                  <a:srgbClr val="1F2430"/>
                </a:solidFill>
                <a:latin typeface="Arial"/>
              </a:rPr>
              <a:t>Naive Bayes: </a:t>
            </a:r>
            <a:r>
              <a:rPr sz="1600" b="0">
                <a:solidFill>
                  <a:srgbClr val="1F2430"/>
                </a:solidFill>
                <a:latin typeface="Arial"/>
              </a:rPr>
              <a:t>P(spam | palabras), asumiendo palabras independientes.</a:t>
            </a:r>
          </a:p>
          <a:p>
            <a:pPr>
              <a:lnSpc>
                <a:spcPct val="110000"/>
              </a:lnSpc>
              <a:spcBef>
                <a:spcPts val="200"/>
              </a:spcBef>
            </a:pPr>
            <a:r>
              <a:rPr sz="1300" b="0">
                <a:solidFill>
                  <a:srgbClr val="5A6274"/>
                </a:solidFill>
                <a:latin typeface="Arial"/>
              </a:rPr>
              <a:t>léxico · también es el modelo estático</a:t>
            </a:r>
          </a:p>
        </p:txBody>
      </p:sp>
      <p:sp>
        <p:nvSpPr>
          <p:cNvPr id="32" name="punto Regresión logística"/>
          <p:cNvSpPr/>
          <p:nvPr/>
        </p:nvSpPr>
        <p:spPr>
          <a:xfrm>
            <a:off x="795528" y="2706624"/>
            <a:ext cx="201168" cy="201168"/>
          </a:xfrm>
          <a:prstGeom prst="ellipse">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Experto Regresión logística"/>
          <p:cNvSpPr txBox="1"/>
          <p:nvPr/>
        </p:nvSpPr>
        <p:spPr>
          <a:xfrm>
            <a:off x="1179576" y="2651760"/>
            <a:ext cx="6675120" cy="1005840"/>
          </a:xfrm>
          <a:prstGeom prst="rect">
            <a:avLst/>
          </a:prstGeom>
          <a:noFill/>
        </p:spPr>
        <p:txBody>
          <a:bodyPr wrap="square" lIns="0" tIns="0" rIns="0" bIns="0" anchor="t"/>
          <a:lstStyle/>
          <a:p>
            <a:pPr>
              <a:lnSpc>
                <a:spcPct val="110000"/>
              </a:lnSpc>
            </a:pPr>
            <a:r>
              <a:rPr sz="1600" b="1" dirty="0" err="1">
                <a:solidFill>
                  <a:srgbClr val="1F2430"/>
                </a:solidFill>
                <a:latin typeface="Arial"/>
              </a:rPr>
              <a:t>Regresión</a:t>
            </a:r>
            <a:r>
              <a:rPr sz="1600" b="1" dirty="0">
                <a:solidFill>
                  <a:srgbClr val="1F2430"/>
                </a:solidFill>
                <a:latin typeface="Arial"/>
              </a:rPr>
              <a:t> </a:t>
            </a:r>
            <a:r>
              <a:rPr sz="1600" b="1" dirty="0" err="1">
                <a:solidFill>
                  <a:srgbClr val="1F2430"/>
                </a:solidFill>
                <a:latin typeface="Arial"/>
              </a:rPr>
              <a:t>logística</a:t>
            </a:r>
            <a:r>
              <a:rPr sz="1600" b="1" dirty="0">
                <a:solidFill>
                  <a:srgbClr val="1F2430"/>
                </a:solidFill>
                <a:latin typeface="Arial"/>
              </a:rPr>
              <a:t>: </a:t>
            </a:r>
            <a:r>
              <a:rPr sz="1600" b="0" dirty="0">
                <a:solidFill>
                  <a:srgbClr val="1F2430"/>
                </a:solidFill>
                <a:latin typeface="Arial"/>
              </a:rPr>
              <a:t>un peso </a:t>
            </a:r>
            <a:r>
              <a:rPr sz="1600" b="0" dirty="0" err="1">
                <a:solidFill>
                  <a:srgbClr val="1F2430"/>
                </a:solidFill>
                <a:latin typeface="Arial"/>
              </a:rPr>
              <a:t>por</a:t>
            </a:r>
            <a:r>
              <a:rPr sz="1600" b="0" dirty="0">
                <a:solidFill>
                  <a:srgbClr val="1F2430"/>
                </a:solidFill>
                <a:latin typeface="Arial"/>
              </a:rPr>
              <a:t> </a:t>
            </a:r>
            <a:r>
              <a:rPr sz="1600" b="0" dirty="0" err="1">
                <a:solidFill>
                  <a:srgbClr val="1F2430"/>
                </a:solidFill>
                <a:latin typeface="Arial"/>
              </a:rPr>
              <a:t>componente</a:t>
            </a:r>
            <a:r>
              <a:rPr sz="1600" b="0" dirty="0">
                <a:solidFill>
                  <a:srgbClr val="1F2430"/>
                </a:solidFill>
                <a:latin typeface="Arial"/>
              </a:rPr>
              <a:t> del </a:t>
            </a:r>
            <a:r>
              <a:rPr sz="1600" b="0" dirty="0" err="1">
                <a:solidFill>
                  <a:srgbClr val="1F2430"/>
                </a:solidFill>
                <a:latin typeface="Arial"/>
              </a:rPr>
              <a:t>vocabulario</a:t>
            </a:r>
            <a:r>
              <a:rPr sz="1600" b="0" dirty="0">
                <a:solidFill>
                  <a:srgbClr val="1F2430"/>
                </a:solidFill>
                <a:latin typeface="Arial"/>
              </a:rPr>
              <a:t>.</a:t>
            </a:r>
          </a:p>
          <a:p>
            <a:pPr>
              <a:lnSpc>
                <a:spcPct val="110000"/>
              </a:lnSpc>
              <a:spcBef>
                <a:spcPts val="200"/>
              </a:spcBef>
            </a:pPr>
            <a:r>
              <a:rPr sz="1300" b="0" dirty="0" err="1">
                <a:solidFill>
                  <a:srgbClr val="5A6274"/>
                </a:solidFill>
                <a:latin typeface="Arial"/>
              </a:rPr>
              <a:t>léxico</a:t>
            </a:r>
            <a:endParaRPr sz="1300" b="0" dirty="0">
              <a:solidFill>
                <a:srgbClr val="5A6274"/>
              </a:solidFill>
              <a:latin typeface="Arial"/>
            </a:endParaRPr>
          </a:p>
        </p:txBody>
      </p:sp>
      <p:sp>
        <p:nvSpPr>
          <p:cNvPr id="34" name="punto Árbol de decisión"/>
          <p:cNvSpPr/>
          <p:nvPr/>
        </p:nvSpPr>
        <p:spPr>
          <a:xfrm>
            <a:off x="795528" y="3438144"/>
            <a:ext cx="201168" cy="201168"/>
          </a:xfrm>
          <a:prstGeom prst="ellipse">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Experto Árbol de decisión"/>
          <p:cNvSpPr txBox="1"/>
          <p:nvPr/>
        </p:nvSpPr>
        <p:spPr>
          <a:xfrm>
            <a:off x="1179576" y="3383280"/>
            <a:ext cx="6675120" cy="1005840"/>
          </a:xfrm>
          <a:prstGeom prst="rect">
            <a:avLst/>
          </a:prstGeom>
          <a:noFill/>
        </p:spPr>
        <p:txBody>
          <a:bodyPr wrap="square" lIns="0" tIns="0" rIns="0" bIns="0" anchor="t"/>
          <a:lstStyle/>
          <a:p>
            <a:pPr>
              <a:lnSpc>
                <a:spcPct val="110000"/>
              </a:lnSpc>
            </a:pPr>
            <a:r>
              <a:rPr sz="1600" b="1">
                <a:solidFill>
                  <a:srgbClr val="1F2430"/>
                </a:solidFill>
                <a:latin typeface="Arial"/>
              </a:rPr>
              <a:t>Árbol de decisión: </a:t>
            </a:r>
            <a:r>
              <a:rPr sz="1600" b="0">
                <a:solidFill>
                  <a:srgbClr val="1F2430"/>
                </a:solidFill>
                <a:latin typeface="Arial"/>
              </a:rPr>
              <a:t>divisiones jerárquicas sobre las palabras.</a:t>
            </a:r>
          </a:p>
          <a:p>
            <a:pPr>
              <a:lnSpc>
                <a:spcPct val="110000"/>
              </a:lnSpc>
              <a:spcBef>
                <a:spcPts val="200"/>
              </a:spcBef>
            </a:pPr>
            <a:r>
              <a:rPr sz="1300" b="0">
                <a:solidFill>
                  <a:srgbClr val="5A6274"/>
                </a:solidFill>
                <a:latin typeface="Arial"/>
              </a:rPr>
              <a:t>léxico</a:t>
            </a:r>
          </a:p>
        </p:txBody>
      </p:sp>
      <p:sp>
        <p:nvSpPr>
          <p:cNvPr id="36" name="punto Reglas"/>
          <p:cNvSpPr/>
          <p:nvPr/>
        </p:nvSpPr>
        <p:spPr>
          <a:xfrm>
            <a:off x="795528" y="4169663"/>
            <a:ext cx="201168" cy="201168"/>
          </a:xfrm>
          <a:prstGeom prst="ellipse">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Experto Reglas"/>
          <p:cNvSpPr txBox="1"/>
          <p:nvPr/>
        </p:nvSpPr>
        <p:spPr>
          <a:xfrm>
            <a:off x="1179576" y="4114800"/>
            <a:ext cx="6675120" cy="1005840"/>
          </a:xfrm>
          <a:prstGeom prst="rect">
            <a:avLst/>
          </a:prstGeom>
          <a:noFill/>
        </p:spPr>
        <p:txBody>
          <a:bodyPr wrap="square" lIns="0" tIns="0" rIns="0" bIns="0" anchor="t"/>
          <a:lstStyle/>
          <a:p>
            <a:pPr>
              <a:lnSpc>
                <a:spcPct val="110000"/>
              </a:lnSpc>
            </a:pPr>
            <a:r>
              <a:rPr sz="1600" b="1" dirty="0">
                <a:solidFill>
                  <a:srgbClr val="1F2430"/>
                </a:solidFill>
                <a:latin typeface="Arial"/>
              </a:rPr>
              <a:t>Reglas: </a:t>
            </a:r>
            <a:r>
              <a:rPr sz="1600" b="0" dirty="0">
                <a:solidFill>
                  <a:srgbClr val="1F2430"/>
                </a:solidFill>
                <a:latin typeface="Arial"/>
              </a:rPr>
              <a:t>palabras clave </a:t>
            </a:r>
            <a:r>
              <a:rPr sz="1600" b="0" dirty="0" err="1">
                <a:solidFill>
                  <a:srgbClr val="1F2430"/>
                </a:solidFill>
                <a:latin typeface="Arial"/>
              </a:rPr>
              <a:t>derivadas</a:t>
            </a:r>
            <a:r>
              <a:rPr sz="1600" b="0" dirty="0">
                <a:solidFill>
                  <a:srgbClr val="1F2430"/>
                </a:solidFill>
                <a:latin typeface="Arial"/>
              </a:rPr>
              <a:t> del </a:t>
            </a:r>
            <a:r>
              <a:rPr sz="1600" b="0" i="1" dirty="0">
                <a:solidFill>
                  <a:srgbClr val="1F2430"/>
                </a:solidFill>
                <a:latin typeface="Arial"/>
              </a:rPr>
              <a:t>warm-up</a:t>
            </a:r>
            <a:r>
              <a:rPr sz="1600" b="0" dirty="0">
                <a:solidFill>
                  <a:srgbClr val="1F2430"/>
                </a:solidFill>
                <a:latin typeface="Arial"/>
              </a:rPr>
              <a:t>.</a:t>
            </a:r>
          </a:p>
          <a:p>
            <a:pPr>
              <a:lnSpc>
                <a:spcPct val="110000"/>
              </a:lnSpc>
              <a:spcBef>
                <a:spcPts val="200"/>
              </a:spcBef>
            </a:pPr>
            <a:r>
              <a:rPr sz="1300" b="0" dirty="0" err="1">
                <a:solidFill>
                  <a:srgbClr val="5A6274"/>
                </a:solidFill>
                <a:latin typeface="Arial"/>
              </a:rPr>
              <a:t>léxico</a:t>
            </a:r>
            <a:r>
              <a:rPr sz="1300" b="0" dirty="0">
                <a:solidFill>
                  <a:srgbClr val="5A6274"/>
                </a:solidFill>
                <a:latin typeface="Arial"/>
              </a:rPr>
              <a:t> · </a:t>
            </a:r>
            <a:r>
              <a:rPr sz="1300" b="0" dirty="0" err="1">
                <a:solidFill>
                  <a:srgbClr val="5A6274"/>
                </a:solidFill>
                <a:latin typeface="Arial"/>
              </a:rPr>
              <a:t>muy</a:t>
            </a:r>
            <a:r>
              <a:rPr sz="1300" b="0" dirty="0">
                <a:solidFill>
                  <a:srgbClr val="5A6274"/>
                </a:solidFill>
                <a:latin typeface="Arial"/>
              </a:rPr>
              <a:t> poco </a:t>
            </a:r>
            <a:r>
              <a:rPr sz="1300" b="0" dirty="0" err="1">
                <a:solidFill>
                  <a:srgbClr val="5A6274"/>
                </a:solidFill>
                <a:latin typeface="Arial"/>
              </a:rPr>
              <a:t>robusto</a:t>
            </a:r>
            <a:r>
              <a:rPr sz="1300" b="0" dirty="0">
                <a:solidFill>
                  <a:srgbClr val="5A6274"/>
                </a:solidFill>
                <a:latin typeface="Arial"/>
              </a:rPr>
              <a:t> a la </a:t>
            </a:r>
            <a:r>
              <a:rPr sz="1300" b="0" dirty="0" err="1">
                <a:solidFill>
                  <a:srgbClr val="5A6274"/>
                </a:solidFill>
                <a:latin typeface="Arial"/>
              </a:rPr>
              <a:t>ofuscación</a:t>
            </a:r>
            <a:endParaRPr sz="1300" b="0" dirty="0">
              <a:solidFill>
                <a:srgbClr val="5A6274"/>
              </a:solidFill>
              <a:latin typeface="Arial"/>
            </a:endParaRPr>
          </a:p>
        </p:txBody>
      </p:sp>
      <p:sp>
        <p:nvSpPr>
          <p:cNvPr id="38" name="punto Estructural"/>
          <p:cNvSpPr/>
          <p:nvPr/>
        </p:nvSpPr>
        <p:spPr>
          <a:xfrm>
            <a:off x="795528" y="4901183"/>
            <a:ext cx="201168" cy="201168"/>
          </a:xfrm>
          <a:prstGeom prst="ellipse">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Experto Estructural"/>
          <p:cNvSpPr txBox="1"/>
          <p:nvPr/>
        </p:nvSpPr>
        <p:spPr>
          <a:xfrm>
            <a:off x="1179576" y="4846320"/>
            <a:ext cx="6675120" cy="1005840"/>
          </a:xfrm>
          <a:prstGeom prst="rect">
            <a:avLst/>
          </a:prstGeom>
          <a:noFill/>
        </p:spPr>
        <p:txBody>
          <a:bodyPr wrap="square" lIns="0" tIns="0" rIns="0" bIns="0" anchor="t"/>
          <a:lstStyle/>
          <a:p>
            <a:pPr>
              <a:lnSpc>
                <a:spcPct val="110000"/>
              </a:lnSpc>
            </a:pPr>
            <a:r>
              <a:rPr sz="1600" b="1">
                <a:solidFill>
                  <a:srgbClr val="1F2430"/>
                </a:solidFill>
                <a:latin typeface="Arial"/>
              </a:rPr>
              <a:t>Estructural: </a:t>
            </a:r>
            <a:r>
              <a:rPr sz="1600" b="0">
                <a:solidFill>
                  <a:srgbClr val="1F2430"/>
                </a:solidFill>
                <a:latin typeface="Arial"/>
              </a:rPr>
              <a:t>ignora el texto y mira nueve rasgos de formato.</a:t>
            </a:r>
          </a:p>
          <a:p>
            <a:pPr>
              <a:lnSpc>
                <a:spcPct val="110000"/>
              </a:lnSpc>
              <a:spcBef>
                <a:spcPts val="200"/>
              </a:spcBef>
            </a:pPr>
            <a:r>
              <a:rPr sz="1300" b="0">
                <a:solidFill>
                  <a:srgbClr val="5A6274"/>
                </a:solidFill>
                <a:latin typeface="Arial"/>
              </a:rPr>
              <a:t>formato · robusto por construcción: el ataque no toca dígitos</a:t>
            </a:r>
          </a:p>
          <a:p>
            <a:pPr>
              <a:lnSpc>
                <a:spcPct val="110000"/>
              </a:lnSpc>
              <a:spcBef>
                <a:spcPts val="200"/>
              </a:spcBef>
            </a:pPr>
            <a:r>
              <a:rPr sz="1200" b="0">
                <a:solidFill>
                  <a:srgbClr val="5A6274"/>
                </a:solidFill>
                <a:latin typeface="Arial"/>
              </a:rPr>
              <a:t>largo, proporción de dígitos y de mayúsculas, teléfonos, £, palabras en mayúscula, exclamaciones, tarifas y links</a:t>
            </a:r>
          </a:p>
        </p:txBody>
      </p:sp>
      <p:cxnSp>
        <p:nvCxnSpPr>
          <p:cNvPr id="40" name="Connector 39"/>
          <p:cNvCxnSpPr/>
          <p:nvPr/>
        </p:nvCxnSpPr>
        <p:spPr>
          <a:xfrm>
            <a:off x="8183879" y="1920240"/>
            <a:ext cx="0" cy="4023360"/>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41" name="Dato 77 a 85"/>
          <p:cNvSpPr txBox="1"/>
          <p:nvPr/>
        </p:nvSpPr>
        <p:spPr>
          <a:xfrm>
            <a:off x="8549640" y="2103120"/>
            <a:ext cx="3108960" cy="822960"/>
          </a:xfrm>
          <a:prstGeom prst="rect">
            <a:avLst/>
          </a:prstGeom>
          <a:noFill/>
        </p:spPr>
        <p:txBody>
          <a:bodyPr wrap="square" lIns="0" tIns="0" rIns="0" bIns="0" anchor="t"/>
          <a:lstStyle/>
          <a:p>
            <a:pPr>
              <a:lnSpc>
                <a:spcPct val="110000"/>
              </a:lnSpc>
            </a:pPr>
            <a:r>
              <a:rPr sz="5400" b="1">
                <a:solidFill>
                  <a:srgbClr val="1F2430"/>
                </a:solidFill>
                <a:latin typeface="Arial"/>
              </a:rPr>
              <a:t>77–85%</a:t>
            </a:r>
          </a:p>
        </p:txBody>
      </p:sp>
      <p:sp>
        <p:nvSpPr>
          <p:cNvPr id="42" name="TextBox 41"/>
          <p:cNvSpPr txBox="1"/>
          <p:nvPr/>
        </p:nvSpPr>
        <p:spPr>
          <a:xfrm>
            <a:off x="8549640" y="3017520"/>
            <a:ext cx="3063240" cy="1097280"/>
          </a:xfrm>
          <a:prstGeom prst="rect">
            <a:avLst/>
          </a:prstGeom>
          <a:noFill/>
        </p:spPr>
        <p:txBody>
          <a:bodyPr wrap="square" lIns="0" tIns="0" rIns="0" bIns="0" anchor="t"/>
          <a:lstStyle/>
          <a:p>
            <a:pPr>
              <a:lnSpc>
                <a:spcPct val="110000"/>
              </a:lnSpc>
            </a:pPr>
            <a:r>
              <a:rPr sz="1500" b="0">
                <a:solidFill>
                  <a:srgbClr val="1F2430"/>
                </a:solidFill>
                <a:latin typeface="Arial"/>
              </a:rPr>
              <a:t>del spam atrapado por cada experto sin ataque: arrancan parejos y el ataque es lo que los separa.</a:t>
            </a:r>
          </a:p>
        </p:txBody>
      </p:sp>
    </p:spTree>
    <p:extLst>
      <p:ext uri="{BB962C8B-B14F-4D97-AF65-F5344CB8AC3E}">
        <p14:creationId xmlns:p14="http://schemas.microsoft.com/office/powerpoint/2010/main" val="2251825800"/>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DISEÑO</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err="1">
                <a:solidFill>
                  <a:srgbClr val="1F2430"/>
                </a:solidFill>
                <a:latin typeface="Georgia" pitchFamily="34" charset="0"/>
                <a:ea typeface="Georgia" pitchFamily="34" charset="-122"/>
                <a:cs typeface="Georgia" pitchFamily="34" charset="-120"/>
              </a:rPr>
              <a:t>Ataque y protocolo</a:t>
            </a:r>
            <a:endParaRPr lang="en-US" sz="30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28"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10</a:t>
            </a:fld>
            <a:endParaRPr lang="en-US"/>
          </a:p>
        </p:txBody>
      </p:sp>
      <p:sp>
        <p:nvSpPr>
          <p:cNvPr id="29" name="Subtitulo"/>
          <p:cNvSpPr txBox="1"/>
          <p:nvPr/>
        </p:nvSpPr>
        <p:spPr>
          <a:xfrm>
            <a:off x="548640" y="1307592"/>
            <a:ext cx="10424160" cy="320040"/>
          </a:xfrm>
          <a:prstGeom prst="rect">
            <a:avLst/>
          </a:prstGeom>
          <a:noFill/>
        </p:spPr>
        <p:txBody>
          <a:bodyPr wrap="square" lIns="0" tIns="0" rIns="0" bIns="0" anchor="t"/>
          <a:lstStyle/>
          <a:p>
            <a:pPr>
              <a:lnSpc>
                <a:spcPct val="110000"/>
              </a:lnSpc>
            </a:pPr>
            <a:r>
              <a:rPr sz="1500" b="0">
                <a:solidFill>
                  <a:srgbClr val="5A6274"/>
                </a:solidFill>
                <a:latin typeface="Arial"/>
              </a:rPr>
              <a:t>El mismo ataque y la misma secuencia de mensajes para todos los competidores.</a:t>
            </a:r>
          </a:p>
        </p:txBody>
      </p:sp>
      <p:sp>
        <p:nvSpPr>
          <p:cNvPr id="30" name="TextBox 29"/>
          <p:cNvSpPr txBox="1"/>
          <p:nvPr/>
        </p:nvSpPr>
        <p:spPr>
          <a:xfrm>
            <a:off x="548640" y="1828800"/>
            <a:ext cx="5029200" cy="457200"/>
          </a:xfrm>
          <a:prstGeom prst="rect">
            <a:avLst/>
          </a:prstGeom>
          <a:noFill/>
        </p:spPr>
        <p:txBody>
          <a:bodyPr wrap="square" lIns="0" tIns="0" rIns="0" bIns="0" anchor="t"/>
          <a:lstStyle/>
          <a:p>
            <a:pPr>
              <a:lnSpc>
                <a:spcPct val="110000"/>
              </a:lnSpc>
            </a:pPr>
            <a:r>
              <a:rPr sz="2400" b="0">
                <a:solidFill>
                  <a:srgbClr val="1F2430"/>
                </a:solidFill>
                <a:latin typeface="Georgia"/>
              </a:rPr>
              <a:t>Ataque</a:t>
            </a:r>
          </a:p>
        </p:txBody>
      </p:sp>
      <p:sp>
        <p:nvSpPr>
          <p:cNvPr id="31" name="Ataque texto"/>
          <p:cNvSpPr txBox="1"/>
          <p:nvPr/>
        </p:nvSpPr>
        <p:spPr>
          <a:xfrm>
            <a:off x="548640" y="2377440"/>
            <a:ext cx="5029200" cy="3566160"/>
          </a:xfrm>
          <a:prstGeom prst="rect">
            <a:avLst/>
          </a:prstGeom>
          <a:noFill/>
        </p:spPr>
        <p:txBody>
          <a:bodyPr wrap="square" lIns="0" tIns="0" rIns="0" bIns="0" anchor="t"/>
          <a:lstStyle/>
          <a:p>
            <a:pPr>
              <a:lnSpc>
                <a:spcPct val="110000"/>
              </a:lnSpc>
              <a:spcAft>
                <a:spcPts val="400"/>
              </a:spcAft>
            </a:pPr>
            <a:r>
              <a:rPr sz="1500" b="1" dirty="0" err="1">
                <a:solidFill>
                  <a:srgbClr val="1F2430"/>
                </a:solidFill>
                <a:latin typeface="Arial"/>
              </a:rPr>
              <a:t>Desde</a:t>
            </a:r>
            <a:r>
              <a:rPr sz="1500" b="1" dirty="0">
                <a:solidFill>
                  <a:srgbClr val="1F2430"/>
                </a:solidFill>
                <a:latin typeface="Arial"/>
              </a:rPr>
              <a:t> t = T/2, </a:t>
            </a:r>
            <a:r>
              <a:rPr sz="1500" b="1" dirty="0" err="1">
                <a:solidFill>
                  <a:srgbClr val="1F2430"/>
                </a:solidFill>
                <a:latin typeface="Arial"/>
              </a:rPr>
              <a:t>cada</a:t>
            </a:r>
            <a:r>
              <a:rPr sz="1500" b="1" dirty="0">
                <a:solidFill>
                  <a:srgbClr val="1F2430"/>
                </a:solidFill>
                <a:latin typeface="Arial"/>
              </a:rPr>
              <a:t> spam se </a:t>
            </a:r>
            <a:r>
              <a:rPr sz="1500" b="1" dirty="0" err="1">
                <a:solidFill>
                  <a:srgbClr val="1F2430"/>
                </a:solidFill>
                <a:latin typeface="Arial"/>
              </a:rPr>
              <a:t>reescribe</a:t>
            </a:r>
            <a:r>
              <a:rPr sz="1500" b="1" dirty="0">
                <a:solidFill>
                  <a:srgbClr val="1F2430"/>
                </a:solidFill>
                <a:latin typeface="Arial"/>
              </a:rPr>
              <a:t>:</a:t>
            </a:r>
          </a:p>
          <a:p>
            <a:pPr>
              <a:lnSpc>
                <a:spcPct val="110000"/>
              </a:lnSpc>
              <a:spcAft>
                <a:spcPts val="400"/>
              </a:spcAft>
            </a:pPr>
            <a:r>
              <a:rPr sz="1500" b="0" dirty="0">
                <a:solidFill>
                  <a:srgbClr val="1F2430"/>
                </a:solidFill>
                <a:latin typeface="Arial"/>
              </a:rPr>
              <a:t>A las 800 palabras </a:t>
            </a:r>
            <a:r>
              <a:rPr sz="1500" b="0" dirty="0" err="1">
                <a:solidFill>
                  <a:srgbClr val="1F2430"/>
                </a:solidFill>
                <a:latin typeface="Arial"/>
              </a:rPr>
              <a:t>más</a:t>
            </a:r>
            <a:r>
              <a:rPr sz="1500" b="0" dirty="0">
                <a:solidFill>
                  <a:srgbClr val="1F2430"/>
                </a:solidFill>
                <a:latin typeface="Arial"/>
              </a:rPr>
              <a:t> </a:t>
            </a:r>
            <a:r>
              <a:rPr sz="1500" b="0" dirty="0" err="1">
                <a:solidFill>
                  <a:srgbClr val="1F2430"/>
                </a:solidFill>
                <a:latin typeface="Arial"/>
              </a:rPr>
              <a:t>delatoras</a:t>
            </a:r>
            <a:r>
              <a:rPr sz="1500" b="0" dirty="0">
                <a:solidFill>
                  <a:srgbClr val="1F2430"/>
                </a:solidFill>
                <a:latin typeface="Arial"/>
              </a:rPr>
              <a:t> (log-odds </a:t>
            </a:r>
            <a:r>
              <a:rPr sz="1500" b="0" dirty="0" err="1">
                <a:solidFill>
                  <a:srgbClr val="1F2430"/>
                </a:solidFill>
                <a:latin typeface="Arial"/>
              </a:rPr>
              <a:t>en</a:t>
            </a:r>
            <a:r>
              <a:rPr sz="1500" b="0" dirty="0">
                <a:solidFill>
                  <a:srgbClr val="1F2430"/>
                </a:solidFill>
                <a:latin typeface="Arial"/>
              </a:rPr>
              <a:t> el </a:t>
            </a:r>
            <a:r>
              <a:rPr sz="1500" b="0" i="1" dirty="0">
                <a:solidFill>
                  <a:srgbClr val="1F2430"/>
                </a:solidFill>
                <a:latin typeface="Arial"/>
              </a:rPr>
              <a:t>warm-up</a:t>
            </a:r>
            <a:r>
              <a:rPr sz="1500" b="0" dirty="0">
                <a:solidFill>
                  <a:srgbClr val="1F2430"/>
                </a:solidFill>
                <a:latin typeface="Arial"/>
              </a:rPr>
              <a:t>) se les </a:t>
            </a:r>
            <a:r>
              <a:rPr sz="1500" b="0" dirty="0" err="1">
                <a:solidFill>
                  <a:srgbClr val="1F2430"/>
                </a:solidFill>
                <a:latin typeface="Arial"/>
              </a:rPr>
              <a:t>duplica</a:t>
            </a:r>
            <a:r>
              <a:rPr sz="1500" b="0" dirty="0">
                <a:solidFill>
                  <a:srgbClr val="1F2430"/>
                </a:solidFill>
                <a:latin typeface="Arial"/>
              </a:rPr>
              <a:t> </a:t>
            </a:r>
            <a:r>
              <a:rPr sz="1500" b="0" dirty="0" err="1">
                <a:solidFill>
                  <a:srgbClr val="1F2430"/>
                </a:solidFill>
                <a:latin typeface="Arial"/>
              </a:rPr>
              <a:t>una</a:t>
            </a:r>
            <a:r>
              <a:rPr sz="1500" b="0" dirty="0">
                <a:solidFill>
                  <a:srgbClr val="1F2430"/>
                </a:solidFill>
                <a:latin typeface="Arial"/>
              </a:rPr>
              <a:t> vocal: </a:t>
            </a:r>
            <a:r>
              <a:rPr sz="1500" b="0" dirty="0" err="1">
                <a:solidFill>
                  <a:srgbClr val="1F2430"/>
                </a:solidFill>
                <a:latin typeface="Arial"/>
              </a:rPr>
              <a:t>viagra</a:t>
            </a:r>
            <a:r>
              <a:rPr sz="1500" b="0" dirty="0">
                <a:solidFill>
                  <a:srgbClr val="1F2430"/>
                </a:solidFill>
                <a:latin typeface="Arial"/>
              </a:rPr>
              <a:t> → </a:t>
            </a:r>
            <a:r>
              <a:rPr sz="1500" b="0" dirty="0" err="1">
                <a:solidFill>
                  <a:srgbClr val="1F2430"/>
                </a:solidFill>
                <a:latin typeface="Arial"/>
              </a:rPr>
              <a:t>viiagra</a:t>
            </a:r>
            <a:r>
              <a:rPr sz="1500" b="0" dirty="0">
                <a:solidFill>
                  <a:srgbClr val="1F2430"/>
                </a:solidFill>
                <a:latin typeface="Arial"/>
              </a:rPr>
              <a:t>.</a:t>
            </a:r>
          </a:p>
          <a:p>
            <a:pPr>
              <a:lnSpc>
                <a:spcPct val="110000"/>
              </a:lnSpc>
              <a:spcAft>
                <a:spcPts val="1400"/>
              </a:spcAft>
            </a:pPr>
            <a:r>
              <a:rPr sz="1500" b="0" dirty="0">
                <a:solidFill>
                  <a:srgbClr val="1F2430"/>
                </a:solidFill>
                <a:latin typeface="Arial"/>
              </a:rPr>
              <a:t>Se </a:t>
            </a:r>
            <a:r>
              <a:rPr sz="1500" b="0" dirty="0" err="1">
                <a:solidFill>
                  <a:srgbClr val="1F2430"/>
                </a:solidFill>
                <a:latin typeface="Arial"/>
              </a:rPr>
              <a:t>agrega</a:t>
            </a:r>
            <a:r>
              <a:rPr sz="1500" b="0" dirty="0">
                <a:solidFill>
                  <a:srgbClr val="1F2430"/>
                </a:solidFill>
                <a:latin typeface="Arial"/>
              </a:rPr>
              <a:t> </a:t>
            </a:r>
            <a:r>
              <a:rPr sz="1500" b="0" dirty="0" err="1">
                <a:solidFill>
                  <a:srgbClr val="1F2430"/>
                </a:solidFill>
                <a:latin typeface="Arial"/>
              </a:rPr>
              <a:t>una</a:t>
            </a:r>
            <a:r>
              <a:rPr sz="1500" b="0" dirty="0">
                <a:solidFill>
                  <a:srgbClr val="1F2430"/>
                </a:solidFill>
                <a:latin typeface="Arial"/>
              </a:rPr>
              <a:t> palabra </a:t>
            </a:r>
            <a:r>
              <a:rPr sz="1500" b="0" dirty="0" err="1">
                <a:solidFill>
                  <a:srgbClr val="1F2430"/>
                </a:solidFill>
                <a:latin typeface="Arial"/>
              </a:rPr>
              <a:t>típica</a:t>
            </a:r>
            <a:r>
              <a:rPr sz="1500" b="0" dirty="0">
                <a:solidFill>
                  <a:srgbClr val="1F2430"/>
                </a:solidFill>
                <a:latin typeface="Arial"/>
              </a:rPr>
              <a:t> de </a:t>
            </a:r>
            <a:r>
              <a:rPr sz="1500" b="0" dirty="0" err="1">
                <a:solidFill>
                  <a:srgbClr val="1F2430"/>
                </a:solidFill>
                <a:latin typeface="Arial"/>
              </a:rPr>
              <a:t>mensajes</a:t>
            </a:r>
            <a:r>
              <a:rPr sz="1500" b="0" dirty="0">
                <a:solidFill>
                  <a:srgbClr val="1F2430"/>
                </a:solidFill>
                <a:latin typeface="Arial"/>
              </a:rPr>
              <a:t> </a:t>
            </a:r>
            <a:r>
              <a:rPr sz="1500" b="0" dirty="0" err="1">
                <a:solidFill>
                  <a:srgbClr val="1F2430"/>
                </a:solidFill>
                <a:latin typeface="Arial"/>
              </a:rPr>
              <a:t>legítimos</a:t>
            </a:r>
            <a:r>
              <a:rPr sz="1500" b="0" dirty="0">
                <a:solidFill>
                  <a:srgbClr val="1F2430"/>
                </a:solidFill>
                <a:latin typeface="Arial"/>
              </a:rPr>
              <a:t>.</a:t>
            </a:r>
          </a:p>
          <a:p>
            <a:pPr>
              <a:lnSpc>
                <a:spcPct val="110000"/>
              </a:lnSpc>
              <a:spcAft>
                <a:spcPts val="400"/>
              </a:spcAft>
            </a:pPr>
            <a:r>
              <a:rPr sz="1500" b="1" dirty="0" err="1">
                <a:solidFill>
                  <a:srgbClr val="1F2430"/>
                </a:solidFill>
                <a:latin typeface="Arial"/>
              </a:rPr>
              <a:t>Calibrado</a:t>
            </a:r>
            <a:r>
              <a:rPr sz="1500" b="1" dirty="0">
                <a:solidFill>
                  <a:srgbClr val="1F2430"/>
                </a:solidFill>
                <a:latin typeface="Arial"/>
              </a:rPr>
              <a:t> para:</a:t>
            </a:r>
          </a:p>
          <a:p>
            <a:pPr>
              <a:lnSpc>
                <a:spcPct val="110000"/>
              </a:lnSpc>
              <a:spcAft>
                <a:spcPts val="1400"/>
              </a:spcAft>
            </a:pPr>
            <a:r>
              <a:rPr sz="1500" b="0" dirty="0">
                <a:solidFill>
                  <a:srgbClr val="1F2430"/>
                </a:solidFill>
                <a:latin typeface="Arial"/>
              </a:rPr>
              <a:t>Bajar a la </a:t>
            </a:r>
            <a:r>
              <a:rPr sz="1500" b="0" dirty="0" err="1">
                <a:solidFill>
                  <a:srgbClr val="1F2430"/>
                </a:solidFill>
                <a:latin typeface="Arial"/>
              </a:rPr>
              <a:t>mitad</a:t>
            </a:r>
            <a:r>
              <a:rPr sz="1500" b="0" dirty="0">
                <a:solidFill>
                  <a:srgbClr val="1F2430"/>
                </a:solidFill>
                <a:latin typeface="Arial"/>
              </a:rPr>
              <a:t> la </a:t>
            </a:r>
            <a:r>
              <a:rPr sz="1500" b="0" dirty="0" err="1">
                <a:solidFill>
                  <a:srgbClr val="1F2430"/>
                </a:solidFill>
                <a:latin typeface="Arial"/>
              </a:rPr>
              <a:t>detección</a:t>
            </a:r>
            <a:r>
              <a:rPr sz="1500" b="0" dirty="0">
                <a:solidFill>
                  <a:srgbClr val="1F2430"/>
                </a:solidFill>
                <a:latin typeface="Arial"/>
              </a:rPr>
              <a:t> del Naive Bayes, sin </a:t>
            </a:r>
            <a:r>
              <a:rPr sz="1500" b="0" dirty="0" err="1">
                <a:solidFill>
                  <a:srgbClr val="1F2430"/>
                </a:solidFill>
                <a:latin typeface="Arial"/>
              </a:rPr>
              <a:t>que</a:t>
            </a:r>
            <a:r>
              <a:rPr sz="1500" b="0" dirty="0">
                <a:solidFill>
                  <a:srgbClr val="1F2430"/>
                </a:solidFill>
                <a:latin typeface="Arial"/>
              </a:rPr>
              <a:t> la </a:t>
            </a:r>
            <a:r>
              <a:rPr sz="1500" b="0" dirty="0" err="1">
                <a:solidFill>
                  <a:srgbClr val="1F2430"/>
                </a:solidFill>
                <a:latin typeface="Arial"/>
              </a:rPr>
              <a:t>mediana</a:t>
            </a:r>
            <a:r>
              <a:rPr sz="1500" b="0" dirty="0">
                <a:solidFill>
                  <a:srgbClr val="1F2430"/>
                </a:solidFill>
                <a:latin typeface="Arial"/>
              </a:rPr>
              <a:t> del largo </a:t>
            </a:r>
            <a:r>
              <a:rPr sz="1500" b="0" dirty="0" err="1">
                <a:solidFill>
                  <a:srgbClr val="1F2430"/>
                </a:solidFill>
                <a:latin typeface="Arial"/>
              </a:rPr>
              <a:t>crezca</a:t>
            </a:r>
            <a:r>
              <a:rPr sz="1500" b="0" dirty="0">
                <a:solidFill>
                  <a:srgbClr val="1F2430"/>
                </a:solidFill>
                <a:latin typeface="Arial"/>
              </a:rPr>
              <a:t> </a:t>
            </a:r>
            <a:r>
              <a:rPr sz="1500" b="0" dirty="0" err="1">
                <a:solidFill>
                  <a:srgbClr val="1F2430"/>
                </a:solidFill>
                <a:latin typeface="Arial"/>
              </a:rPr>
              <a:t>más</a:t>
            </a:r>
            <a:r>
              <a:rPr sz="1500" b="0" dirty="0">
                <a:solidFill>
                  <a:srgbClr val="1F2430"/>
                </a:solidFill>
                <a:latin typeface="Arial"/>
              </a:rPr>
              <a:t> de 20%</a:t>
            </a:r>
            <a:r>
              <a:rPr lang="es-ES" sz="1500" b="0" dirty="0">
                <a:solidFill>
                  <a:srgbClr val="1F2430"/>
                </a:solidFill>
                <a:latin typeface="Arial"/>
              </a:rPr>
              <a:t> (sería muy fácil para el experto estructural)</a:t>
            </a:r>
            <a:r>
              <a:rPr sz="1500" b="0" dirty="0">
                <a:solidFill>
                  <a:srgbClr val="1F2430"/>
                </a:solidFill>
                <a:latin typeface="Arial"/>
              </a:rPr>
              <a:t>.</a:t>
            </a:r>
          </a:p>
          <a:p>
            <a:pPr>
              <a:lnSpc>
                <a:spcPct val="110000"/>
              </a:lnSpc>
            </a:pPr>
            <a:r>
              <a:rPr sz="1300" b="0" dirty="0" err="1">
                <a:solidFill>
                  <a:srgbClr val="5A6274"/>
                </a:solidFill>
                <a:latin typeface="Arial"/>
              </a:rPr>
              <a:t>Descartamos</a:t>
            </a:r>
            <a:r>
              <a:rPr sz="1300" b="0" dirty="0">
                <a:solidFill>
                  <a:srgbClr val="5A6274"/>
                </a:solidFill>
                <a:latin typeface="Arial"/>
              </a:rPr>
              <a:t> el </a:t>
            </a:r>
            <a:r>
              <a:rPr sz="1300" b="0" dirty="0" err="1">
                <a:solidFill>
                  <a:srgbClr val="5A6274"/>
                </a:solidFill>
                <a:latin typeface="Arial"/>
              </a:rPr>
              <a:t>leetspeak</a:t>
            </a:r>
            <a:r>
              <a:rPr sz="1300" b="0" dirty="0">
                <a:solidFill>
                  <a:srgbClr val="5A6274"/>
                </a:solidFill>
                <a:latin typeface="Arial"/>
              </a:rPr>
              <a:t>: </a:t>
            </a:r>
            <a:r>
              <a:rPr sz="1300" b="0" dirty="0" err="1">
                <a:solidFill>
                  <a:srgbClr val="5A6274"/>
                </a:solidFill>
                <a:latin typeface="Arial"/>
              </a:rPr>
              <a:t>agregaba</a:t>
            </a:r>
            <a:r>
              <a:rPr sz="1300" b="0" dirty="0">
                <a:solidFill>
                  <a:srgbClr val="5A6274"/>
                </a:solidFill>
                <a:latin typeface="Arial"/>
              </a:rPr>
              <a:t> </a:t>
            </a:r>
            <a:r>
              <a:rPr sz="1300" b="0" dirty="0" err="1">
                <a:solidFill>
                  <a:srgbClr val="5A6274"/>
                </a:solidFill>
                <a:latin typeface="Arial"/>
              </a:rPr>
              <a:t>dígitos</a:t>
            </a:r>
            <a:r>
              <a:rPr sz="1300" b="0" dirty="0">
                <a:solidFill>
                  <a:srgbClr val="5A6274"/>
                </a:solidFill>
                <a:latin typeface="Arial"/>
              </a:rPr>
              <a:t> y </a:t>
            </a:r>
            <a:r>
              <a:rPr sz="1300" b="0" dirty="0" err="1">
                <a:solidFill>
                  <a:srgbClr val="5A6274"/>
                </a:solidFill>
                <a:latin typeface="Arial"/>
              </a:rPr>
              <a:t>ayudaba</a:t>
            </a:r>
            <a:r>
              <a:rPr sz="1300" b="0" dirty="0">
                <a:solidFill>
                  <a:srgbClr val="5A6274"/>
                </a:solidFill>
                <a:latin typeface="Arial"/>
              </a:rPr>
              <a:t> al </a:t>
            </a:r>
            <a:r>
              <a:rPr sz="1300" b="0" dirty="0" err="1">
                <a:solidFill>
                  <a:srgbClr val="5A6274"/>
                </a:solidFill>
                <a:latin typeface="Arial"/>
              </a:rPr>
              <a:t>experto</a:t>
            </a:r>
            <a:r>
              <a:rPr sz="1300" b="0" dirty="0">
                <a:solidFill>
                  <a:srgbClr val="5A6274"/>
                </a:solidFill>
                <a:latin typeface="Arial"/>
              </a:rPr>
              <a:t> </a:t>
            </a:r>
            <a:r>
              <a:rPr sz="1300" b="0" dirty="0" err="1">
                <a:solidFill>
                  <a:srgbClr val="5A6274"/>
                </a:solidFill>
                <a:latin typeface="Arial"/>
              </a:rPr>
              <a:t>estructural</a:t>
            </a:r>
            <a:r>
              <a:rPr sz="1300" b="0" dirty="0">
                <a:solidFill>
                  <a:srgbClr val="5A6274"/>
                </a:solidFill>
                <a:latin typeface="Arial"/>
              </a:rPr>
              <a:t>.</a:t>
            </a:r>
          </a:p>
        </p:txBody>
      </p:sp>
      <p:cxnSp>
        <p:nvCxnSpPr>
          <p:cNvPr id="32" name="Connector 31"/>
          <p:cNvCxnSpPr/>
          <p:nvPr/>
        </p:nvCxnSpPr>
        <p:spPr>
          <a:xfrm>
            <a:off x="5897880" y="1874519"/>
            <a:ext cx="0" cy="4069081"/>
          </a:xfrm>
          <a:prstGeom prst="line">
            <a:avLst/>
          </a:prstGeom>
          <a:ln w="9525">
            <a:solidFill>
              <a:srgbClr val="D9D6CE"/>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55080" y="1828800"/>
            <a:ext cx="5285232" cy="457200"/>
          </a:xfrm>
          <a:prstGeom prst="rect">
            <a:avLst/>
          </a:prstGeom>
          <a:noFill/>
        </p:spPr>
        <p:txBody>
          <a:bodyPr wrap="square" lIns="0" tIns="0" rIns="0" bIns="0" anchor="t"/>
          <a:lstStyle/>
          <a:p>
            <a:pPr>
              <a:lnSpc>
                <a:spcPct val="110000"/>
              </a:lnSpc>
            </a:pPr>
            <a:r>
              <a:rPr sz="2400" b="0">
                <a:solidFill>
                  <a:srgbClr val="1F2430"/>
                </a:solidFill>
                <a:latin typeface="Georgia"/>
              </a:rPr>
              <a:t>Competidores</a:t>
            </a:r>
          </a:p>
        </p:txBody>
      </p:sp>
      <p:sp>
        <p:nvSpPr>
          <p:cNvPr id="34" name="Oval 33"/>
          <p:cNvSpPr/>
          <p:nvPr/>
        </p:nvSpPr>
        <p:spPr>
          <a:xfrm>
            <a:off x="6355080" y="2441448"/>
            <a:ext cx="182880" cy="1828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75120" y="2395728"/>
            <a:ext cx="4965192" cy="594360"/>
          </a:xfrm>
          <a:prstGeom prst="rect">
            <a:avLst/>
          </a:prstGeom>
          <a:noFill/>
        </p:spPr>
        <p:txBody>
          <a:bodyPr wrap="square" lIns="0" tIns="0" rIns="0" bIns="0" anchor="t"/>
          <a:lstStyle/>
          <a:p>
            <a:pPr>
              <a:lnSpc>
                <a:spcPct val="110000"/>
              </a:lnSpc>
            </a:pPr>
            <a:r>
              <a:rPr sz="1500" b="1" dirty="0" err="1">
                <a:solidFill>
                  <a:srgbClr val="1F2430"/>
                </a:solidFill>
                <a:latin typeface="Arial"/>
              </a:rPr>
              <a:t>Estático</a:t>
            </a:r>
            <a:r>
              <a:rPr sz="1500" b="1" dirty="0">
                <a:solidFill>
                  <a:srgbClr val="1F2430"/>
                </a:solidFill>
                <a:latin typeface="Arial"/>
              </a:rPr>
              <a:t>: </a:t>
            </a:r>
            <a:r>
              <a:rPr sz="1500" b="0" dirty="0">
                <a:solidFill>
                  <a:srgbClr val="1F2430"/>
                </a:solidFill>
                <a:latin typeface="Arial"/>
              </a:rPr>
              <a:t>Naive Bayes </a:t>
            </a:r>
            <a:r>
              <a:rPr sz="1500" b="0" dirty="0" err="1">
                <a:solidFill>
                  <a:srgbClr val="1F2430"/>
                </a:solidFill>
                <a:latin typeface="Arial"/>
              </a:rPr>
              <a:t>entrenado</a:t>
            </a:r>
            <a:r>
              <a:rPr sz="1500" b="0" dirty="0">
                <a:solidFill>
                  <a:srgbClr val="1F2430"/>
                </a:solidFill>
                <a:latin typeface="Arial"/>
              </a:rPr>
              <a:t> </a:t>
            </a:r>
            <a:r>
              <a:rPr sz="1500" b="0" dirty="0" err="1">
                <a:solidFill>
                  <a:srgbClr val="1F2430"/>
                </a:solidFill>
                <a:latin typeface="Arial"/>
              </a:rPr>
              <a:t>en</a:t>
            </a:r>
            <a:r>
              <a:rPr sz="1500" b="0" dirty="0">
                <a:solidFill>
                  <a:srgbClr val="1F2430"/>
                </a:solidFill>
                <a:latin typeface="Arial"/>
              </a:rPr>
              <a:t> el </a:t>
            </a:r>
            <a:r>
              <a:rPr sz="1500" b="0" i="1" dirty="0">
                <a:solidFill>
                  <a:srgbClr val="1F2430"/>
                </a:solidFill>
                <a:latin typeface="Arial"/>
              </a:rPr>
              <a:t>warm-up</a:t>
            </a:r>
            <a:r>
              <a:rPr sz="1500" b="0" dirty="0">
                <a:solidFill>
                  <a:srgbClr val="1F2430"/>
                </a:solidFill>
                <a:latin typeface="Arial"/>
              </a:rPr>
              <a:t>.</a:t>
            </a:r>
          </a:p>
        </p:txBody>
      </p:sp>
      <p:sp>
        <p:nvSpPr>
          <p:cNvPr id="36" name="Oval 35"/>
          <p:cNvSpPr/>
          <p:nvPr/>
        </p:nvSpPr>
        <p:spPr>
          <a:xfrm>
            <a:off x="6355080" y="2852927"/>
            <a:ext cx="182880" cy="1828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75120" y="2807208"/>
            <a:ext cx="4965192" cy="594360"/>
          </a:xfrm>
          <a:prstGeom prst="rect">
            <a:avLst/>
          </a:prstGeom>
          <a:noFill/>
        </p:spPr>
        <p:txBody>
          <a:bodyPr wrap="square" lIns="0" tIns="0" rIns="0" bIns="0" anchor="t"/>
          <a:lstStyle/>
          <a:p>
            <a:pPr>
              <a:lnSpc>
                <a:spcPct val="110000"/>
              </a:lnSpc>
            </a:pPr>
            <a:r>
              <a:rPr sz="1500" b="1">
                <a:solidFill>
                  <a:srgbClr val="1F2430"/>
                </a:solidFill>
                <a:latin typeface="Arial"/>
              </a:rPr>
              <a:t>Hedge: </a:t>
            </a:r>
            <a:r>
              <a:rPr sz="1500" b="0">
                <a:solidFill>
                  <a:srgbClr val="1F2430"/>
                </a:solidFill>
                <a:latin typeface="Arial"/>
              </a:rPr>
              <a:t>randomizado (20 sorteos por semilla) y determinístico, con η</a:t>
            </a:r>
            <a:r>
              <a:rPr sz="1500" b="0" baseline="-25000">
                <a:solidFill>
                  <a:srgbClr val="1F2430"/>
                </a:solidFill>
                <a:latin typeface="Arial"/>
              </a:rPr>
              <a:t>T</a:t>
            </a:r>
            <a:r>
              <a:rPr sz="1500" b="0">
                <a:solidFill>
                  <a:srgbClr val="1F2430"/>
                </a:solidFill>
                <a:latin typeface="Arial"/>
              </a:rPr>
              <a:t>.</a:t>
            </a:r>
          </a:p>
        </p:txBody>
      </p:sp>
      <p:sp>
        <p:nvSpPr>
          <p:cNvPr id="38" name="Oval 37"/>
          <p:cNvSpPr/>
          <p:nvPr/>
        </p:nvSpPr>
        <p:spPr>
          <a:xfrm>
            <a:off x="6355080" y="3493008"/>
            <a:ext cx="182880" cy="182880"/>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675120" y="3447288"/>
            <a:ext cx="4965192" cy="594360"/>
          </a:xfrm>
          <a:prstGeom prst="rect">
            <a:avLst/>
          </a:prstGeom>
          <a:noFill/>
        </p:spPr>
        <p:txBody>
          <a:bodyPr wrap="square" lIns="0" tIns="0" rIns="0" bIns="0" anchor="t"/>
          <a:lstStyle/>
          <a:p>
            <a:pPr>
              <a:lnSpc>
                <a:spcPct val="110000"/>
              </a:lnSpc>
            </a:pPr>
            <a:r>
              <a:rPr sz="1500" b="1">
                <a:solidFill>
                  <a:srgbClr val="1F2430"/>
                </a:solidFill>
                <a:latin typeface="Arial"/>
              </a:rPr>
              <a:t>SGD online: </a:t>
            </a:r>
            <a:r>
              <a:rPr sz="1500" b="0">
                <a:solidFill>
                  <a:srgbClr val="1F2430"/>
                </a:solidFill>
                <a:latin typeface="Arial"/>
              </a:rPr>
              <a:t>α = 10</a:t>
            </a:r>
            <a:r>
              <a:rPr sz="1500" b="0" baseline="30000">
                <a:solidFill>
                  <a:srgbClr val="1F2430"/>
                </a:solidFill>
                <a:latin typeface="Arial"/>
              </a:rPr>
              <a:t>−5</a:t>
            </a:r>
            <a:r>
              <a:rPr sz="1500" b="0">
                <a:solidFill>
                  <a:srgbClr val="1F2430"/>
                </a:solidFill>
                <a:latin typeface="Arial"/>
              </a:rPr>
              <a:t> fijo.</a:t>
            </a:r>
          </a:p>
        </p:txBody>
      </p:sp>
      <p:sp>
        <p:nvSpPr>
          <p:cNvPr id="40" name="TextBox 39"/>
          <p:cNvSpPr txBox="1"/>
          <p:nvPr/>
        </p:nvSpPr>
        <p:spPr>
          <a:xfrm>
            <a:off x="6355080" y="4023360"/>
            <a:ext cx="5285232" cy="457200"/>
          </a:xfrm>
          <a:prstGeom prst="rect">
            <a:avLst/>
          </a:prstGeom>
          <a:noFill/>
        </p:spPr>
        <p:txBody>
          <a:bodyPr wrap="square" lIns="0" tIns="0" rIns="0" bIns="0" anchor="t"/>
          <a:lstStyle/>
          <a:p>
            <a:pPr>
              <a:lnSpc>
                <a:spcPct val="110000"/>
              </a:lnSpc>
            </a:pPr>
            <a:r>
              <a:rPr sz="2400" b="0">
                <a:solidFill>
                  <a:srgbClr val="1F2430"/>
                </a:solidFill>
                <a:latin typeface="Georgia"/>
              </a:rPr>
              <a:t>Protocolo</a:t>
            </a:r>
          </a:p>
        </p:txBody>
      </p:sp>
      <p:sp>
        <p:nvSpPr>
          <p:cNvPr id="41" name="Protocolo texto"/>
          <p:cNvSpPr txBox="1"/>
          <p:nvPr/>
        </p:nvSpPr>
        <p:spPr>
          <a:xfrm>
            <a:off x="6355080" y="4572000"/>
            <a:ext cx="5285232" cy="1371600"/>
          </a:xfrm>
          <a:prstGeom prst="rect">
            <a:avLst/>
          </a:prstGeom>
          <a:noFill/>
        </p:spPr>
        <p:txBody>
          <a:bodyPr wrap="square" lIns="0" tIns="0" rIns="0" bIns="0" anchor="t"/>
          <a:lstStyle/>
          <a:p>
            <a:pPr>
              <a:lnSpc>
                <a:spcPct val="110000"/>
              </a:lnSpc>
              <a:spcAft>
                <a:spcPts val="800"/>
              </a:spcAft>
            </a:pPr>
            <a:r>
              <a:rPr sz="1500" b="0" dirty="0">
                <a:solidFill>
                  <a:srgbClr val="1F2430"/>
                </a:solidFill>
                <a:latin typeface="Arial"/>
              </a:rPr>
              <a:t>20 </a:t>
            </a:r>
            <a:r>
              <a:rPr sz="1500" b="0" dirty="0" err="1">
                <a:solidFill>
                  <a:srgbClr val="1F2430"/>
                </a:solidFill>
                <a:latin typeface="Arial"/>
              </a:rPr>
              <a:t>semillas</a:t>
            </a:r>
            <a:r>
              <a:rPr sz="1500" b="0" dirty="0">
                <a:solidFill>
                  <a:srgbClr val="1F2430"/>
                </a:solidFill>
                <a:latin typeface="Arial"/>
              </a:rPr>
              <a:t> </a:t>
            </a:r>
            <a:r>
              <a:rPr sz="1500" b="0" dirty="0" err="1">
                <a:solidFill>
                  <a:srgbClr val="1F2430"/>
                </a:solidFill>
                <a:latin typeface="Arial"/>
              </a:rPr>
              <a:t>por</a:t>
            </a:r>
            <a:r>
              <a:rPr sz="1500" b="0" dirty="0">
                <a:solidFill>
                  <a:srgbClr val="1F2430"/>
                </a:solidFill>
                <a:latin typeface="Arial"/>
              </a:rPr>
              <a:t> </a:t>
            </a:r>
            <a:r>
              <a:rPr sz="1500" b="0" dirty="0" err="1">
                <a:solidFill>
                  <a:srgbClr val="1F2430"/>
                </a:solidFill>
                <a:latin typeface="Arial"/>
              </a:rPr>
              <a:t>configuración</a:t>
            </a:r>
            <a:r>
              <a:rPr sz="1500" b="0" dirty="0">
                <a:solidFill>
                  <a:srgbClr val="1F2430"/>
                </a:solidFill>
                <a:latin typeface="Arial"/>
              </a:rPr>
              <a:t>; </a:t>
            </a:r>
            <a:r>
              <a:rPr sz="1500" b="0" dirty="0" err="1">
                <a:solidFill>
                  <a:srgbClr val="1F2430"/>
                </a:solidFill>
                <a:latin typeface="Arial"/>
              </a:rPr>
              <a:t>en</a:t>
            </a:r>
            <a:r>
              <a:rPr sz="1500" b="0" dirty="0">
                <a:solidFill>
                  <a:srgbClr val="1F2430"/>
                </a:solidFill>
                <a:latin typeface="Arial"/>
              </a:rPr>
              <a:t> el </a:t>
            </a:r>
            <a:r>
              <a:rPr sz="1500" b="0" dirty="0" err="1">
                <a:solidFill>
                  <a:srgbClr val="1F2430"/>
                </a:solidFill>
                <a:latin typeface="Arial"/>
              </a:rPr>
              <a:t>barrido</a:t>
            </a:r>
            <a:r>
              <a:rPr sz="1500" b="0" dirty="0">
                <a:solidFill>
                  <a:srgbClr val="1F2430"/>
                </a:solidFill>
                <a:latin typeface="Arial"/>
              </a:rPr>
              <a:t> de ρ, 5 </a:t>
            </a:r>
            <a:r>
              <a:rPr sz="1500" b="0" dirty="0" err="1">
                <a:solidFill>
                  <a:srgbClr val="1F2430"/>
                </a:solidFill>
                <a:latin typeface="Arial"/>
              </a:rPr>
              <a:t>sorteos</a:t>
            </a:r>
            <a:r>
              <a:rPr sz="1500" b="0" dirty="0">
                <a:solidFill>
                  <a:srgbClr val="1F2430"/>
                </a:solidFill>
                <a:latin typeface="Arial"/>
              </a:rPr>
              <a:t> de Hedge </a:t>
            </a:r>
            <a:r>
              <a:rPr sz="1500" b="0" dirty="0" err="1">
                <a:solidFill>
                  <a:srgbClr val="1F2430"/>
                </a:solidFill>
                <a:latin typeface="Arial"/>
              </a:rPr>
              <a:t>por</a:t>
            </a:r>
            <a:r>
              <a:rPr sz="1500" b="0" dirty="0">
                <a:solidFill>
                  <a:srgbClr val="1F2430"/>
                </a:solidFill>
                <a:latin typeface="Arial"/>
              </a:rPr>
              <a:t> </a:t>
            </a:r>
            <a:r>
              <a:rPr sz="1500" b="0" dirty="0" err="1">
                <a:solidFill>
                  <a:srgbClr val="1F2430"/>
                </a:solidFill>
                <a:latin typeface="Arial"/>
              </a:rPr>
              <a:t>semilla</a:t>
            </a:r>
            <a:r>
              <a:rPr sz="1500" b="0" dirty="0">
                <a:solidFill>
                  <a:srgbClr val="1F2430"/>
                </a:solidFill>
                <a:latin typeface="Arial"/>
              </a:rPr>
              <a:t>.</a:t>
            </a:r>
          </a:p>
          <a:p>
            <a:pPr>
              <a:lnSpc>
                <a:spcPct val="110000"/>
              </a:lnSpc>
            </a:pPr>
            <a:r>
              <a:rPr sz="1500" b="0" dirty="0" err="1">
                <a:solidFill>
                  <a:srgbClr val="1F2430"/>
                </a:solidFill>
                <a:latin typeface="Arial"/>
              </a:rPr>
              <a:t>Hiperparámetros</a:t>
            </a:r>
            <a:r>
              <a:rPr sz="1500" b="0" dirty="0">
                <a:solidFill>
                  <a:srgbClr val="1F2430"/>
                </a:solidFill>
                <a:latin typeface="Arial"/>
              </a:rPr>
              <a:t> de </a:t>
            </a:r>
            <a:r>
              <a:rPr sz="1500" b="0" dirty="0" err="1">
                <a:solidFill>
                  <a:srgbClr val="1F2430"/>
                </a:solidFill>
                <a:latin typeface="Arial"/>
              </a:rPr>
              <a:t>los</a:t>
            </a:r>
            <a:r>
              <a:rPr sz="1500" b="0" dirty="0">
                <a:solidFill>
                  <a:srgbClr val="1F2430"/>
                </a:solidFill>
                <a:latin typeface="Arial"/>
              </a:rPr>
              <a:t> </a:t>
            </a:r>
            <a:r>
              <a:rPr sz="1500" b="0" dirty="0" err="1">
                <a:solidFill>
                  <a:srgbClr val="1F2430"/>
                </a:solidFill>
                <a:latin typeface="Arial"/>
              </a:rPr>
              <a:t>expertos</a:t>
            </a:r>
            <a:r>
              <a:rPr sz="1500" b="0" dirty="0">
                <a:solidFill>
                  <a:srgbClr val="1F2430"/>
                </a:solidFill>
                <a:latin typeface="Arial"/>
              </a:rPr>
              <a:t>: </a:t>
            </a:r>
            <a:r>
              <a:rPr sz="1500" b="0" dirty="0" err="1">
                <a:solidFill>
                  <a:srgbClr val="1F2430"/>
                </a:solidFill>
                <a:latin typeface="Arial"/>
              </a:rPr>
              <a:t>validación</a:t>
            </a:r>
            <a:r>
              <a:rPr sz="1500" b="0" dirty="0">
                <a:solidFill>
                  <a:srgbClr val="1F2430"/>
                </a:solidFill>
                <a:latin typeface="Arial"/>
              </a:rPr>
              <a:t> </a:t>
            </a:r>
            <a:r>
              <a:rPr sz="1500" b="0" dirty="0" err="1">
                <a:solidFill>
                  <a:srgbClr val="1F2430"/>
                </a:solidFill>
                <a:latin typeface="Arial"/>
              </a:rPr>
              <a:t>cruzada</a:t>
            </a:r>
            <a:r>
              <a:rPr sz="1500" b="0" dirty="0">
                <a:solidFill>
                  <a:srgbClr val="1F2430"/>
                </a:solidFill>
                <a:latin typeface="Arial"/>
              </a:rPr>
              <a:t> </a:t>
            </a:r>
            <a:r>
              <a:rPr sz="1500" b="0" dirty="0" err="1">
                <a:solidFill>
                  <a:srgbClr val="1F2430"/>
                </a:solidFill>
                <a:latin typeface="Arial"/>
              </a:rPr>
              <a:t>en</a:t>
            </a:r>
            <a:r>
              <a:rPr sz="1500" b="0" dirty="0">
                <a:solidFill>
                  <a:srgbClr val="1F2430"/>
                </a:solidFill>
                <a:latin typeface="Arial"/>
              </a:rPr>
              <a:t> el </a:t>
            </a:r>
            <a:r>
              <a:rPr sz="1500" b="0" i="1" dirty="0">
                <a:solidFill>
                  <a:srgbClr val="1F2430"/>
                </a:solidFill>
                <a:latin typeface="Arial"/>
              </a:rPr>
              <a:t>warm-up</a:t>
            </a:r>
            <a:r>
              <a:rPr sz="1500" b="0" dirty="0">
                <a:solidFill>
                  <a:srgbClr val="1F2430"/>
                </a:solidFill>
                <a:latin typeface="Arial"/>
              </a:rPr>
              <a:t>, con MCC y la </a:t>
            </a:r>
            <a:r>
              <a:rPr sz="1500" b="0" dirty="0" err="1">
                <a:solidFill>
                  <a:srgbClr val="1F2430"/>
                </a:solidFill>
                <a:latin typeface="Arial"/>
              </a:rPr>
              <a:t>regla</a:t>
            </a:r>
            <a:r>
              <a:rPr sz="1500" b="0" dirty="0">
                <a:solidFill>
                  <a:srgbClr val="1F2430"/>
                </a:solidFill>
                <a:latin typeface="Arial"/>
              </a:rPr>
              <a:t> de un error </a:t>
            </a:r>
            <a:r>
              <a:rPr sz="1500" b="0" dirty="0" err="1">
                <a:solidFill>
                  <a:srgbClr val="1F2430"/>
                </a:solidFill>
                <a:latin typeface="Arial"/>
              </a:rPr>
              <a:t>estándar</a:t>
            </a:r>
            <a:r>
              <a:rPr sz="1500" b="0" dirty="0">
                <a:solidFill>
                  <a:srgbClr val="1F2430"/>
                </a:solidFill>
                <a:latin typeface="Arial"/>
              </a:rPr>
              <a:t>.</a:t>
            </a:r>
          </a:p>
        </p:txBody>
      </p:sp>
    </p:spTree>
    <p:extLst>
      <p:ext uri="{BB962C8B-B14F-4D97-AF65-F5344CB8AC3E}">
        <p14:creationId xmlns:p14="http://schemas.microsoft.com/office/powerpoint/2010/main" val="1871912769"/>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1 · ¿CUÁNTO SE RECUPERA SIN REENTRENAR?</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Combinar recupera casi la mitad, sin reentrenar</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Hedge recorre el 46% del camino entre no adaptarse y reentrenar.</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pic>
        <p:nvPicPr>
          <p:cNvPr id="10" name="Image 0" descr="Recta de errores en la mitad atacada: el estático comete 190, Hedge 133 y SGD online 73. Hedge cubre el 46% de la brecha."/>
          <p:cNvPicPr>
            <a:picLocks noChangeAspect="1"/>
          </p:cNvPicPr>
          <p:nvPr/>
        </p:nvPicPr>
        <p:blipFill>
          <a:blip r:embed="rId3"/>
          <a:stretch>
            <a:fillRect/>
          </a:stretch>
        </p:blipFill>
        <p:spPr>
          <a:xfrm>
            <a:off x="685800" y="2011680"/>
            <a:ext cx="10789920" cy="3506100"/>
          </a:xfrm>
          <a:prstGeom prst="rect">
            <a:avLst/>
          </a:prstGeom>
        </p:spPr>
      </p:pic>
      <p:sp>
        <p:nvSpPr>
          <p:cNvPr id="11" name="Shape 8"/>
          <p:cNvSpPr/>
          <p:nvPr/>
        </p:nvSpPr>
        <p:spPr>
          <a:xfrm>
            <a:off x="548640" y="5577840"/>
            <a:ext cx="11091672" cy="0"/>
          </a:xfrm>
          <a:prstGeom prst="line">
            <a:avLst/>
          </a:prstGeom>
          <a:noFill/>
          <a:ln w="9525">
            <a:solidFill>
              <a:srgbClr val="D9D6CE"/>
            </a:solidFill>
            <a:prstDash val="solid"/>
          </a:ln>
        </p:spPr>
        <p:txBody>
          <a:bodyPr/>
          <a:lstStyle/>
          <a:p>
            <a:endParaRPr lang="es-AR"/>
          </a:p>
        </p:txBody>
      </p:sp>
      <p:sp>
        <p:nvSpPr>
          <p:cNvPr id="12" name="Text 9"/>
          <p:cNvSpPr txBox="1"/>
          <p:nvPr/>
        </p:nvSpPr>
        <p:spPr>
          <a:xfrm>
            <a:off x="548640" y="5669280"/>
            <a:ext cx="11064240" cy="548640"/>
          </a:xfrm>
          <a:prstGeom prst="rect">
            <a:avLst/>
          </a:prstGeom>
          <a:noFill/>
          <a:ln/>
        </p:spPr>
        <p:txBody>
          <a:bodyPr wrap="square" lIns="0" tIns="0" rIns="0" bIns="0" rtlCol="0" anchor="t"/>
          <a:lstStyle/>
          <a:p>
            <a:pPr marL="0" indent="0">
              <a:lnSpc>
                <a:spcPct val="100000"/>
              </a:lnSpc>
              <a:buNone/>
            </a:pPr>
            <a:r>
              <a:rPr lang="en-US" sz="1400" dirty="0">
                <a:solidFill>
                  <a:srgbClr val="5A6274"/>
                </a:solidFill>
                <a:latin typeface="Arial" pitchFamily="34" charset="0"/>
                <a:ea typeface="Arial" pitchFamily="34" charset="-122"/>
                <a:cs typeface="Arial" pitchFamily="34" charset="-120"/>
              </a:rPr>
              <a:t>46% ± 13 entre semillas. Reentrenar sigue siendo lo mejor con todas las etiquetas, como dicen Lowd &amp; Meek; combinar hace casi la mitad del trabajo sin tocar ningún modelo.</a:t>
            </a:r>
            <a:endParaRPr lang="en-US" sz="1400" dirty="0"/>
          </a:p>
        </p:txBody>
      </p:sp>
      <p:sp>
        <p:nvSpPr>
          <p:cNvPr id="13" name="Text 10"/>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1</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De 305 spams atacados, Hedge atrapa 52 más</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Cada punto es un spam de la mitad atacada; en color, los que el filtro detecta.</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pic>
        <p:nvPicPr>
          <p:cNvPr id="10" name="Image 0" descr="Tres grillas de 305 puntos. El estático atrapa 128 (42%), Hedge 180 (59%) y SGD online 252 (83%)."/>
          <p:cNvPicPr>
            <a:picLocks noChangeAspect="1"/>
          </p:cNvPicPr>
          <p:nvPr/>
        </p:nvPicPr>
        <p:blipFill>
          <a:blip r:embed="rId3"/>
          <a:stretch>
            <a:fillRect/>
          </a:stretch>
        </p:blipFill>
        <p:spPr>
          <a:xfrm>
            <a:off x="548640" y="1828800"/>
            <a:ext cx="10424160" cy="4343400"/>
          </a:xfrm>
          <a:prstGeom prst="rect">
            <a:avLst/>
          </a:prstGeom>
        </p:spPr>
      </p:pic>
      <p:sp>
        <p:nvSpPr>
          <p:cNvPr id="11" name="Text 8"/>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animación del ataque">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
        <p:nvSpPr>
          <p:cNvPr id="4"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endParaRPr lang="en-US" sz="3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1</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Por qué funciona: la apuesta ya estaba cubierta</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Peso de cada experto en Hedge a lo largo del stream.</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pic>
        <p:nvPicPr>
          <p:cNvPr id="10" name="Image 0" descr="Área apilada con el peso de cada experto. Al llegar el ataque el peso está repartido en tercios; después migra al estructural, que termina con 0,96."/>
          <p:cNvPicPr>
            <a:picLocks noChangeAspect="1"/>
          </p:cNvPicPr>
          <p:nvPr/>
        </p:nvPicPr>
        <p:blipFill>
          <a:blip r:embed="rId3"/>
          <a:stretch>
            <a:fillRect/>
          </a:stretch>
        </p:blipFill>
        <p:spPr>
          <a:xfrm>
            <a:off x="411480" y="1828800"/>
            <a:ext cx="8001000" cy="3599987"/>
          </a:xfrm>
          <a:prstGeom prst="rect">
            <a:avLst/>
          </a:prstGeom>
        </p:spPr>
      </p:pic>
      <p:sp>
        <p:nvSpPr>
          <p:cNvPr id="11" name="llamada 1"/>
          <p:cNvSpPr/>
          <p:nvPr/>
        </p:nvSpPr>
        <p:spPr>
          <a:xfrm>
            <a:off x="8641080" y="2011680"/>
            <a:ext cx="384048" cy="384048"/>
          </a:xfrm>
          <a:prstGeom prst="ellipse">
            <a:avLst/>
          </a:prstGeom>
          <a:solidFill>
            <a:srgbClr val="1F2430"/>
          </a:solidFill>
          <a:ln/>
        </p:spPr>
        <p:txBody>
          <a:bodyPr/>
          <a:lstStyle/>
          <a:p>
            <a:endParaRPr lang="es-AR"/>
          </a:p>
        </p:txBody>
      </p:sp>
      <p:sp>
        <p:nvSpPr>
          <p:cNvPr id="12" name="Text 9"/>
          <p:cNvSpPr txBox="1"/>
          <p:nvPr/>
        </p:nvSpPr>
        <p:spPr>
          <a:xfrm>
            <a:off x="8641080" y="2011680"/>
            <a:ext cx="384048" cy="384048"/>
          </a:xfrm>
          <a:prstGeom prst="rect">
            <a:avLst/>
          </a:prstGeom>
          <a:noFill/>
          <a:ln/>
        </p:spPr>
        <p:txBody>
          <a:bodyPr wrap="square" lIns="0" tIns="0" rIns="0" bIns="0" rtlCol="0" anchor="ctr"/>
          <a:lstStyle/>
          <a:p>
            <a:pPr marL="0" indent="0" algn="ctr">
              <a:lnSpc>
                <a:spcPct val="100000"/>
              </a:lnSpc>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txBox="1"/>
          <p:nvPr/>
        </p:nvSpPr>
        <p:spPr>
          <a:xfrm>
            <a:off x="9208008" y="1993392"/>
            <a:ext cx="2450592" cy="1188720"/>
          </a:xfrm>
          <a:prstGeom prst="rect">
            <a:avLst/>
          </a:prstGeom>
          <a:noFill/>
          <a:ln/>
        </p:spPr>
        <p:txBody>
          <a:bodyPr wrap="square" lIns="0" tIns="0" rIns="0" bIns="0" rtlCol="0" anchor="t"/>
          <a:lstStyle/>
          <a:p>
            <a:pPr marL="0" indent="0">
              <a:lnSpc>
                <a:spcPct val="100000"/>
              </a:lnSpc>
              <a:buNone/>
            </a:pPr>
            <a:r>
              <a:rPr lang="en-US" sz="1500" dirty="0">
                <a:solidFill>
                  <a:srgbClr val="1F2430"/>
                </a:solidFill>
                <a:latin typeface="Arial" pitchFamily="34" charset="0"/>
                <a:ea typeface="Arial" pitchFamily="34" charset="-122"/>
                <a:cs typeface="Arial" pitchFamily="34" charset="-120"/>
              </a:rPr>
              <a:t>Al llegar el ataque, el peso estaba repartido en tercios: Naive Bayes 0,36, estructural 0,33, el resto 0,31.</a:t>
            </a:r>
            <a:endParaRPr lang="en-US" sz="1500" dirty="0"/>
          </a:p>
        </p:txBody>
      </p:sp>
      <p:sp>
        <p:nvSpPr>
          <p:cNvPr id="14" name="llamada 2"/>
          <p:cNvSpPr/>
          <p:nvPr/>
        </p:nvSpPr>
        <p:spPr>
          <a:xfrm>
            <a:off x="8641080" y="3429000"/>
            <a:ext cx="384048" cy="384048"/>
          </a:xfrm>
          <a:prstGeom prst="ellipse">
            <a:avLst/>
          </a:prstGeom>
          <a:solidFill>
            <a:srgbClr val="1F2430"/>
          </a:solidFill>
          <a:ln/>
        </p:spPr>
        <p:txBody>
          <a:bodyPr/>
          <a:lstStyle/>
          <a:p>
            <a:endParaRPr lang="es-AR"/>
          </a:p>
        </p:txBody>
      </p:sp>
      <p:sp>
        <p:nvSpPr>
          <p:cNvPr id="15" name="Text 12"/>
          <p:cNvSpPr txBox="1"/>
          <p:nvPr/>
        </p:nvSpPr>
        <p:spPr>
          <a:xfrm>
            <a:off x="8641080" y="3429000"/>
            <a:ext cx="384048" cy="384048"/>
          </a:xfrm>
          <a:prstGeom prst="rect">
            <a:avLst/>
          </a:prstGeom>
          <a:noFill/>
          <a:ln/>
        </p:spPr>
        <p:txBody>
          <a:bodyPr wrap="square" lIns="0" tIns="0" rIns="0" bIns="0" rtlCol="0" anchor="ctr"/>
          <a:lstStyle/>
          <a:p>
            <a:pPr marL="0" indent="0" algn="ctr">
              <a:lnSpc>
                <a:spcPct val="100000"/>
              </a:lnSpc>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9208008" y="3410712"/>
            <a:ext cx="2450592" cy="1188720"/>
          </a:xfrm>
          <a:prstGeom prst="rect">
            <a:avLst/>
          </a:prstGeom>
          <a:noFill/>
          <a:ln/>
        </p:spPr>
        <p:txBody>
          <a:bodyPr wrap="square" lIns="0" tIns="0" rIns="0" bIns="0" rtlCol="0" anchor="t"/>
          <a:lstStyle/>
          <a:p>
            <a:pPr marL="0" indent="0">
              <a:lnSpc>
                <a:spcPct val="100000"/>
              </a:lnSpc>
              <a:buNone/>
            </a:pPr>
            <a:r>
              <a:rPr lang="en-US" sz="1500" dirty="0">
                <a:solidFill>
                  <a:srgbClr val="1F2430"/>
                </a:solidFill>
                <a:latin typeface="Arial" pitchFamily="34" charset="0"/>
                <a:ea typeface="Arial" pitchFamily="34" charset="-122"/>
                <a:cs typeface="Arial" pitchFamily="34" charset="-120"/>
              </a:rPr>
              <a:t>El ataque rompe a los léxicos y el peso migra al estructural en unos 1.000 mensajes: termina con 0,96.</a:t>
            </a:r>
            <a:endParaRPr lang="en-US" sz="1500" dirty="0"/>
          </a:p>
        </p:txBody>
      </p:sp>
      <p:sp>
        <p:nvSpPr>
          <p:cNvPr id="17" name="Shape 14"/>
          <p:cNvSpPr/>
          <p:nvPr/>
        </p:nvSpPr>
        <p:spPr>
          <a:xfrm>
            <a:off x="8641080" y="4846320"/>
            <a:ext cx="2999232" cy="0"/>
          </a:xfrm>
          <a:prstGeom prst="line">
            <a:avLst/>
          </a:prstGeom>
          <a:noFill/>
          <a:ln w="9525">
            <a:solidFill>
              <a:srgbClr val="D9D6CE"/>
            </a:solidFill>
            <a:prstDash val="solid"/>
          </a:ln>
        </p:spPr>
        <p:txBody>
          <a:bodyPr/>
          <a:lstStyle/>
          <a:p>
            <a:endParaRPr lang="es-AR"/>
          </a:p>
        </p:txBody>
      </p:sp>
      <p:sp>
        <p:nvSpPr>
          <p:cNvPr id="18" name="Text 15"/>
          <p:cNvSpPr txBox="1"/>
          <p:nvPr/>
        </p:nvSpPr>
        <p:spPr>
          <a:xfrm>
            <a:off x="8641080" y="4983480"/>
            <a:ext cx="3017520" cy="731520"/>
          </a:xfrm>
          <a:prstGeom prst="rect">
            <a:avLst/>
          </a:prstGeom>
          <a:noFill/>
          <a:ln/>
        </p:spPr>
        <p:txBody>
          <a:bodyPr wrap="square" lIns="0" tIns="0" rIns="0" bIns="0" rtlCol="0" anchor="t"/>
          <a:lstStyle/>
          <a:p>
            <a:pPr marL="0" indent="0">
              <a:lnSpc>
                <a:spcPct val="100000"/>
              </a:lnSpc>
              <a:buNone/>
            </a:pPr>
            <a:r>
              <a:rPr lang="en-US" sz="1500" b="1" dirty="0">
                <a:solidFill>
                  <a:srgbClr val="4A3AA7"/>
                </a:solidFill>
                <a:latin typeface="Arial" pitchFamily="34" charset="0"/>
                <a:ea typeface="Arial" pitchFamily="34" charset="-122"/>
                <a:cs typeface="Arial" pitchFamily="34" charset="-120"/>
              </a:rPr>
              <a:t>El estructural mira formato, no palabras: este ataque no lo toca.</a:t>
            </a:r>
            <a:endParaRPr lang="en-US" sz="1500" dirty="0"/>
          </a:p>
        </p:txBody>
      </p:sp>
      <p:sp>
        <p:nvSpPr>
          <p:cNvPr id="19" name="Text 16"/>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2 · ¿CUÁNTA ETIQUETA HACE FALTA?</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Con pocas etiquetas, combinar le gana a reentrenar</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según cuántos mensajes reporta el usuario.</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7" name="hallazgo 2 (actual)"/>
          <p:cNvSpPr/>
          <p:nvPr/>
        </p:nvSpPr>
        <p:spPr>
          <a:xfrm>
            <a:off x="11100816" y="457200"/>
            <a:ext cx="137160" cy="137160"/>
          </a:xfrm>
          <a:prstGeom prst="ellipse">
            <a:avLst/>
          </a:prstGeom>
          <a:solidFill>
            <a:srgbClr val="1F2430"/>
          </a:solidFill>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pic>
        <p:nvPicPr>
          <p:cNvPr id="10" name="Image 0" descr="Errores según la fracción de mensajes etiquetados. Con todas las etiquetas SGD comete 73 y Hedge 133; con 1 de cada 20, SGD 210 y Hedge 189, frente a 190 del estático."/>
          <p:cNvPicPr>
            <a:picLocks noChangeAspect="1"/>
          </p:cNvPicPr>
          <p:nvPr/>
        </p:nvPicPr>
        <p:blipFill>
          <a:blip r:embed="rId3"/>
          <a:stretch>
            <a:fillRect/>
          </a:stretch>
        </p:blipFill>
        <p:spPr>
          <a:xfrm>
            <a:off x="411480" y="1783080"/>
            <a:ext cx="6495445" cy="4434840"/>
          </a:xfrm>
          <a:prstGeom prst="rect">
            <a:avLst/>
          </a:prstGeom>
        </p:spPr>
      </p:pic>
      <p:sp>
        <p:nvSpPr>
          <p:cNvPr id="11" name="Text 8"/>
          <p:cNvSpPr txBox="1"/>
          <p:nvPr/>
        </p:nvSpPr>
        <p:spPr>
          <a:xfrm>
            <a:off x="7726680" y="1920240"/>
            <a:ext cx="3931920" cy="822960"/>
          </a:xfrm>
          <a:prstGeom prst="rect">
            <a:avLst/>
          </a:prstGeom>
          <a:noFill/>
          <a:ln/>
        </p:spPr>
        <p:txBody>
          <a:bodyPr wrap="square" lIns="0" tIns="0" rIns="0" bIns="0" rtlCol="0" anchor="t"/>
          <a:lstStyle/>
          <a:p>
            <a:pPr marL="0" indent="0">
              <a:lnSpc>
                <a:spcPct val="100000"/>
              </a:lnSpc>
              <a:buNone/>
            </a:pPr>
            <a:r>
              <a:rPr lang="en-US" sz="5400" b="1" dirty="0">
                <a:solidFill>
                  <a:srgbClr val="2A78D6"/>
                </a:solidFill>
                <a:latin typeface="Arial" pitchFamily="34" charset="0"/>
                <a:ea typeface="Arial" pitchFamily="34" charset="-122"/>
                <a:cs typeface="Arial" pitchFamily="34" charset="-120"/>
              </a:rPr>
              <a:t>15 de 20</a:t>
            </a:r>
            <a:endParaRPr lang="en-US" sz="5400" dirty="0"/>
          </a:p>
        </p:txBody>
      </p:sp>
      <p:sp>
        <p:nvSpPr>
          <p:cNvPr id="12" name="Text 9"/>
          <p:cNvSpPr txBox="1"/>
          <p:nvPr/>
        </p:nvSpPr>
        <p:spPr>
          <a:xfrm>
            <a:off x="7726680" y="2816352"/>
            <a:ext cx="3931920" cy="685800"/>
          </a:xfrm>
          <a:prstGeom prst="rect">
            <a:avLst/>
          </a:prstGeom>
          <a:noFill/>
          <a:ln/>
        </p:spPr>
        <p:txBody>
          <a:bodyPr wrap="square" lIns="0" tIns="0" rIns="0" bIns="0" rtlCol="0" anchor="t"/>
          <a:lstStyle/>
          <a:p>
            <a:pPr marL="0" indent="0">
              <a:lnSpc>
                <a:spcPct val="100000"/>
              </a:lnSpc>
              <a:buNone/>
            </a:pPr>
            <a:r>
              <a:rPr lang="en-US" sz="1500" dirty="0">
                <a:solidFill>
                  <a:srgbClr val="1F2430"/>
                </a:solidFill>
                <a:latin typeface="Arial" pitchFamily="34" charset="0"/>
                <a:ea typeface="Arial" pitchFamily="34" charset="-122"/>
                <a:cs typeface="Arial" pitchFamily="34" charset="-120"/>
              </a:rPr>
              <a:t>semillas en las que gana Hedge cuando el usuario reporta 1 de cada 20 mensajes</a:t>
            </a:r>
            <a:endParaRPr lang="en-US" sz="1500" dirty="0"/>
          </a:p>
        </p:txBody>
      </p:sp>
      <p:sp>
        <p:nvSpPr>
          <p:cNvPr id="13" name="Text 10"/>
          <p:cNvSpPr txBox="1"/>
          <p:nvPr/>
        </p:nvSpPr>
        <p:spPr>
          <a:xfrm>
            <a:off x="7726680" y="3657600"/>
            <a:ext cx="3931920" cy="670560"/>
          </a:xfrm>
          <a:prstGeom prst="rect">
            <a:avLst/>
          </a:prstGeom>
          <a:noFill/>
          <a:ln/>
        </p:spPr>
        <p:txBody>
          <a:bodyPr wrap="square" lIns="0" tIns="0" rIns="0" bIns="0" rtlCol="0" anchor="t"/>
          <a:lstStyle/>
          <a:p>
            <a:pPr marL="0" indent="0">
              <a:lnSpc>
                <a:spcPct val="100000"/>
              </a:lnSpc>
              <a:buNone/>
            </a:pPr>
            <a:r>
              <a:rPr lang="en-US" sz="4400" b="1" dirty="0">
                <a:solidFill>
                  <a:srgbClr val="1BAF7A"/>
                </a:solidFill>
                <a:latin typeface="Arial" pitchFamily="34" charset="0"/>
                <a:ea typeface="Arial" pitchFamily="34" charset="-122"/>
                <a:cs typeface="Arial" pitchFamily="34" charset="-120"/>
              </a:rPr>
              <a:t>210 &gt; 190</a:t>
            </a:r>
            <a:endParaRPr lang="en-US" sz="4400" dirty="0"/>
          </a:p>
        </p:txBody>
      </p:sp>
      <p:sp>
        <p:nvSpPr>
          <p:cNvPr id="14" name="Text 11"/>
          <p:cNvSpPr txBox="1"/>
          <p:nvPr/>
        </p:nvSpPr>
        <p:spPr>
          <a:xfrm>
            <a:off x="7726680" y="4401312"/>
            <a:ext cx="3931920" cy="685800"/>
          </a:xfrm>
          <a:prstGeom prst="rect">
            <a:avLst/>
          </a:prstGeom>
          <a:noFill/>
          <a:ln/>
        </p:spPr>
        <p:txBody>
          <a:bodyPr wrap="square" lIns="0" tIns="0" rIns="0" bIns="0" rtlCol="0" anchor="t"/>
          <a:lstStyle/>
          <a:p>
            <a:pPr marL="0" indent="0">
              <a:lnSpc>
                <a:spcPct val="100000"/>
              </a:lnSpc>
              <a:buNone/>
            </a:pPr>
            <a:r>
              <a:rPr lang="en-US" sz="1500" dirty="0">
                <a:solidFill>
                  <a:srgbClr val="1F2430"/>
                </a:solidFill>
                <a:latin typeface="Arial" pitchFamily="34" charset="0"/>
                <a:ea typeface="Arial" pitchFamily="34" charset="-122"/>
                <a:cs typeface="Arial" pitchFamily="34" charset="-120"/>
              </a:rPr>
              <a:t>errores: con tan pocas etiquetas, SGD termina peor que no adaptarse</a:t>
            </a:r>
            <a:endParaRPr lang="en-US" sz="1500" dirty="0"/>
          </a:p>
        </p:txBody>
      </p:sp>
      <p:sp>
        <p:nvSpPr>
          <p:cNvPr id="15" name="Text 12"/>
          <p:cNvSpPr txBox="1"/>
          <p:nvPr/>
        </p:nvSpPr>
        <p:spPr>
          <a:xfrm>
            <a:off x="7726680" y="5440680"/>
            <a:ext cx="3931920" cy="54864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Con 1 de cada 5 o más, reentrenar gana en al menos 18 de 20 semillas.</a:t>
            </a:r>
            <a:endParaRPr lang="en-US" sz="1300" dirty="0"/>
          </a:p>
        </p:txBody>
      </p:sp>
      <p:sp>
        <p:nvSpPr>
          <p:cNvPr id="16" name="Text 13"/>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Barrido de ρ, la probabilidad de ver la etiqueta. Hedge usa el estimador ℓ/ρ con η_ρ = √ρ · η_T.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2</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No es un artefacto de cómo se pondera</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con 1 de cada 20 mensajes etiquetado.</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7" name="hallazgo 2 (actual)"/>
          <p:cNvSpPr/>
          <p:nvPr/>
        </p:nvSpPr>
        <p:spPr>
          <a:xfrm>
            <a:off x="11100816" y="457200"/>
            <a:ext cx="137160" cy="137160"/>
          </a:xfrm>
          <a:prstGeom prst="ellipse">
            <a:avLst/>
          </a:prstGeom>
          <a:solidFill>
            <a:srgbClr val="1F2430"/>
          </a:solidFill>
          <a:ln/>
        </p:spPr>
        <p:txBody>
          <a:bodyPr/>
          <a:lstStyle/>
          <a:p>
            <a:endParaRPr lang="es-AR"/>
          </a:p>
        </p:txBody>
      </p:sp>
      <p:sp>
        <p:nvSpPr>
          <p:cNvPr id="8"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pic>
        <p:nvPicPr>
          <p:cNvPr id="10" name="Image 0" descr="SGD online sin reponderar comete 210 errores; reponderado por 1 sobre raíz de rho, 240; por 1 sobre rho, 323. Hedge comete 189."/>
          <p:cNvPicPr>
            <a:picLocks noChangeAspect="1"/>
          </p:cNvPicPr>
          <p:nvPr/>
        </p:nvPicPr>
        <p:blipFill>
          <a:blip r:embed="rId3"/>
          <a:stretch>
            <a:fillRect/>
          </a:stretch>
        </p:blipFill>
        <p:spPr>
          <a:xfrm>
            <a:off x="411480" y="1828800"/>
            <a:ext cx="6949440" cy="3897102"/>
          </a:xfrm>
          <a:prstGeom prst="rect">
            <a:avLst/>
          </a:prstGeom>
        </p:spPr>
      </p:pic>
      <p:sp>
        <p:nvSpPr>
          <p:cNvPr id="11" name="Text 8"/>
          <p:cNvSpPr txBox="1"/>
          <p:nvPr/>
        </p:nvSpPr>
        <p:spPr>
          <a:xfrm>
            <a:off x="7726680" y="1920240"/>
            <a:ext cx="3931920" cy="1097280"/>
          </a:xfrm>
          <a:prstGeom prst="rect">
            <a:avLst/>
          </a:prstGeom>
          <a:noFill/>
          <a:ln/>
        </p:spPr>
        <p:txBody>
          <a:bodyPr wrap="square" lIns="0" tIns="0" rIns="0" bIns="0" rtlCol="0" anchor="t"/>
          <a:lstStyle/>
          <a:p>
            <a:pPr marL="0" indent="0">
              <a:lnSpc>
                <a:spcPct val="100000"/>
              </a:lnSpc>
              <a:buNone/>
            </a:pPr>
            <a:r>
              <a:rPr lang="en-US" sz="2000" dirty="0">
                <a:solidFill>
                  <a:srgbClr val="1F2430"/>
                </a:solidFill>
                <a:latin typeface="Georgia" pitchFamily="34" charset="0"/>
                <a:ea typeface="Georgia" pitchFamily="34" charset="-122"/>
                <a:cs typeface="Georgia" pitchFamily="34" charset="-120"/>
              </a:rPr>
              <a:t>¿Y si SGD compensa las etiquetas que faltan pesando más cada ejemplo, como hace Hedge?</a:t>
            </a:r>
            <a:endParaRPr lang="en-US" sz="2000" dirty="0"/>
          </a:p>
        </p:txBody>
      </p:sp>
      <p:sp>
        <p:nvSpPr>
          <p:cNvPr id="12" name="Text 9"/>
          <p:cNvSpPr txBox="1"/>
          <p:nvPr/>
        </p:nvSpPr>
        <p:spPr>
          <a:xfrm>
            <a:off x="7726680" y="3108960"/>
            <a:ext cx="3931920" cy="5486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Empeora: con pocos ejemplos, pasos más grandes sobreajustan a cada uno.</a:t>
            </a:r>
            <a:endParaRPr lang="en-US" sz="1500" dirty="0"/>
          </a:p>
        </p:txBody>
      </p:sp>
      <p:sp>
        <p:nvSpPr>
          <p:cNvPr id="13" name="Shape 10"/>
          <p:cNvSpPr/>
          <p:nvPr/>
        </p:nvSpPr>
        <p:spPr>
          <a:xfrm>
            <a:off x="7726680" y="3931920"/>
            <a:ext cx="3913632" cy="0"/>
          </a:xfrm>
          <a:prstGeom prst="line">
            <a:avLst/>
          </a:prstGeom>
          <a:noFill/>
          <a:ln w="9525">
            <a:solidFill>
              <a:srgbClr val="D9D6CE"/>
            </a:solidFill>
            <a:prstDash val="solid"/>
          </a:ln>
        </p:spPr>
        <p:txBody>
          <a:bodyPr/>
          <a:lstStyle/>
          <a:p>
            <a:endParaRPr lang="es-AR"/>
          </a:p>
        </p:txBody>
      </p:sp>
      <p:sp>
        <p:nvSpPr>
          <p:cNvPr id="14" name="Text 11"/>
          <p:cNvSpPr txBox="1"/>
          <p:nvPr/>
        </p:nvSpPr>
        <p:spPr>
          <a:xfrm>
            <a:off x="7726680" y="4114800"/>
            <a:ext cx="3931920" cy="1051560"/>
          </a:xfrm>
          <a:prstGeom prst="rect">
            <a:avLst/>
          </a:prstGeom>
          <a:noFill/>
          <a:ln/>
        </p:spPr>
        <p:txBody>
          <a:bodyPr wrap="square" lIns="0" tIns="0" rIns="0" bIns="0" rtlCol="0" anchor="t"/>
          <a:lstStyle/>
          <a:p>
            <a:pPr marL="0" indent="0">
              <a:lnSpc>
                <a:spcPct val="100000"/>
              </a:lnSpc>
              <a:buNone/>
            </a:pPr>
            <a:r>
              <a:rPr lang="en-US" sz="2200" dirty="0">
                <a:solidFill>
                  <a:srgbClr val="2A78D6"/>
                </a:solidFill>
                <a:latin typeface="Georgia" pitchFamily="34" charset="0"/>
                <a:ea typeface="Georgia" pitchFamily="34" charset="-122"/>
                <a:cs typeface="Georgia" pitchFamily="34" charset="-120"/>
              </a:rPr>
              <a:t>Hedge aprende 5 pesos. Reentrenar, uno por cada palabra nueva.</a:t>
            </a:r>
            <a:endParaRPr lang="en-US" sz="2200" dirty="0"/>
          </a:p>
        </p:txBody>
      </p:sp>
      <p:sp>
        <p:nvSpPr>
          <p:cNvPr id="15" name="Text 12"/>
          <p:cNvSpPr txBox="1"/>
          <p:nvPr/>
        </p:nvSpPr>
        <p:spPr>
          <a:xfrm>
            <a:off x="7726680" y="5303520"/>
            <a:ext cx="3931920" cy="54864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Lo que sí paga Hedge es varianza: con ρ = 0,05 cada observación pesa ≈ 4,5 veces más.</a:t>
            </a:r>
            <a:endParaRPr lang="en-US" sz="1300" dirty="0"/>
          </a:p>
        </p:txBody>
      </p:sp>
      <p:sp>
        <p:nvSpPr>
          <p:cNvPr id="16" name="Text 13"/>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3 · LA TEORÍA, CON PRECISIÓN</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La cota de la teoría no es la del voto pesado</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actual)"/>
          <p:cNvSpPr/>
          <p:nvPr/>
        </p:nvSpPr>
        <p:spPr>
          <a:xfrm>
            <a:off x="11301984" y="457200"/>
            <a:ext cx="137160" cy="137160"/>
          </a:xfrm>
          <a:prstGeom prst="ellipse">
            <a:avLst/>
          </a:prstGeom>
          <a:solidFill>
            <a:srgbClr val="1F2430"/>
          </a:solidFill>
          <a:ln/>
        </p:spPr>
        <p:txBody>
          <a:bodyPr/>
          <a:lstStyle/>
          <a:p>
            <a:endParaRPr lang="es-AR"/>
          </a:p>
        </p:txBody>
      </p:sp>
      <p:sp>
        <p:nvSpPr>
          <p:cNvPr id="8"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10" name="punto Voto pesado determinístico"/>
          <p:cNvSpPr/>
          <p:nvPr/>
        </p:nvSpPr>
        <p:spPr>
          <a:xfrm>
            <a:off x="548640" y="2295144"/>
            <a:ext cx="219456" cy="219456"/>
          </a:xfrm>
          <a:prstGeom prst="ellipse">
            <a:avLst/>
          </a:prstGeom>
          <a:solidFill>
            <a:srgbClr val="E34948"/>
          </a:solidFill>
          <a:ln/>
        </p:spPr>
        <p:txBody>
          <a:bodyPr/>
          <a:lstStyle/>
          <a:p>
            <a:endParaRPr lang="es-AR"/>
          </a:p>
        </p:txBody>
      </p:sp>
      <p:sp>
        <p:nvSpPr>
          <p:cNvPr id="11" name="Text 9"/>
          <p:cNvSpPr txBox="1"/>
          <p:nvPr/>
        </p:nvSpPr>
        <p:spPr>
          <a:xfrm>
            <a:off x="932688" y="2240280"/>
            <a:ext cx="4187952" cy="292608"/>
          </a:xfrm>
          <a:prstGeom prst="rect">
            <a:avLst/>
          </a:prstGeom>
          <a:noFill/>
          <a:ln/>
        </p:spPr>
        <p:txBody>
          <a:bodyPr wrap="square" lIns="0" tIns="0" rIns="0" bIns="0" rtlCol="0" anchor="t"/>
          <a:lstStyle/>
          <a:p>
            <a:pPr marL="0" indent="0">
              <a:lnSpc>
                <a:spcPct val="100000"/>
              </a:lnSpc>
              <a:buNone/>
            </a:pPr>
            <a:r>
              <a:rPr lang="en-US" sz="1600" b="1" dirty="0">
                <a:solidFill>
                  <a:srgbClr val="1F2430"/>
                </a:solidFill>
                <a:latin typeface="Arial" pitchFamily="34" charset="0"/>
                <a:ea typeface="Arial" pitchFamily="34" charset="-122"/>
                <a:cs typeface="Arial" pitchFamily="34" charset="-120"/>
              </a:rPr>
              <a:t>Voto pesado determinístico</a:t>
            </a:r>
            <a:endParaRPr lang="en-US" sz="1600" dirty="0"/>
          </a:p>
        </p:txBody>
      </p:sp>
      <p:sp>
        <p:nvSpPr>
          <p:cNvPr id="12" name="Text 10"/>
          <p:cNvSpPr txBox="1"/>
          <p:nvPr/>
        </p:nvSpPr>
        <p:spPr>
          <a:xfrm>
            <a:off x="932688" y="2569464"/>
            <a:ext cx="4187952" cy="45720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predice lo que dice la mayoría ponderada</a:t>
            </a:r>
            <a:endParaRPr lang="en-US" sz="1300" dirty="0"/>
          </a:p>
        </p:txBody>
      </p:sp>
      <p:sp>
        <p:nvSpPr>
          <p:cNvPr id="13" name="punto Hedge randomizado"/>
          <p:cNvSpPr/>
          <p:nvPr/>
        </p:nvSpPr>
        <p:spPr>
          <a:xfrm>
            <a:off x="548640" y="3118104"/>
            <a:ext cx="219456" cy="219456"/>
          </a:xfrm>
          <a:prstGeom prst="ellipse">
            <a:avLst/>
          </a:prstGeom>
          <a:solidFill>
            <a:srgbClr val="2A78D6"/>
          </a:solidFill>
          <a:ln/>
        </p:spPr>
        <p:txBody>
          <a:bodyPr/>
          <a:lstStyle/>
          <a:p>
            <a:endParaRPr lang="es-AR"/>
          </a:p>
        </p:txBody>
      </p:sp>
      <p:sp>
        <p:nvSpPr>
          <p:cNvPr id="14" name="Text 12"/>
          <p:cNvSpPr txBox="1"/>
          <p:nvPr/>
        </p:nvSpPr>
        <p:spPr>
          <a:xfrm>
            <a:off x="932688" y="3063240"/>
            <a:ext cx="4187952" cy="292608"/>
          </a:xfrm>
          <a:prstGeom prst="rect">
            <a:avLst/>
          </a:prstGeom>
          <a:noFill/>
          <a:ln/>
        </p:spPr>
        <p:txBody>
          <a:bodyPr wrap="square" lIns="0" tIns="0" rIns="0" bIns="0" rtlCol="0" anchor="t"/>
          <a:lstStyle/>
          <a:p>
            <a:pPr marL="0" indent="0">
              <a:lnSpc>
                <a:spcPct val="100000"/>
              </a:lnSpc>
              <a:buNone/>
            </a:pPr>
            <a:r>
              <a:rPr lang="en-US" sz="1600" b="1" dirty="0">
                <a:solidFill>
                  <a:srgbClr val="1F2430"/>
                </a:solidFill>
                <a:latin typeface="Arial" pitchFamily="34" charset="0"/>
                <a:ea typeface="Arial" pitchFamily="34" charset="-122"/>
                <a:cs typeface="Arial" pitchFamily="34" charset="-120"/>
              </a:rPr>
              <a:t>Hedge randomizado</a:t>
            </a:r>
            <a:endParaRPr lang="en-US" sz="1600" dirty="0"/>
          </a:p>
        </p:txBody>
      </p:sp>
      <p:sp>
        <p:nvSpPr>
          <p:cNvPr id="15" name="Text 13"/>
          <p:cNvSpPr txBox="1"/>
          <p:nvPr/>
        </p:nvSpPr>
        <p:spPr>
          <a:xfrm>
            <a:off x="932688" y="3392424"/>
            <a:ext cx="4187952" cy="45720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sortea un experto según los pesos: para este vale la cota</a:t>
            </a:r>
            <a:endParaRPr lang="en-US" sz="1300" dirty="0"/>
          </a:p>
        </p:txBody>
      </p:sp>
      <p:sp>
        <p:nvSpPr>
          <p:cNvPr id="16" name="Shape 14"/>
          <p:cNvSpPr/>
          <p:nvPr/>
        </p:nvSpPr>
        <p:spPr>
          <a:xfrm>
            <a:off x="548640" y="3977640"/>
            <a:ext cx="4572000" cy="0"/>
          </a:xfrm>
          <a:prstGeom prst="line">
            <a:avLst/>
          </a:prstGeom>
          <a:noFill/>
          <a:ln w="9525">
            <a:solidFill>
              <a:srgbClr val="D9D6CE"/>
            </a:solidFill>
            <a:prstDash val="solid"/>
          </a:ln>
        </p:spPr>
        <p:txBody>
          <a:bodyPr/>
          <a:lstStyle/>
          <a:p>
            <a:endParaRPr lang="es-AR"/>
          </a:p>
        </p:txBody>
      </p:sp>
      <p:sp>
        <p:nvSpPr>
          <p:cNvPr id="17" name="Text 15"/>
          <p:cNvSpPr txBox="1"/>
          <p:nvPr/>
        </p:nvSpPr>
        <p:spPr>
          <a:xfrm>
            <a:off x="548640" y="4160520"/>
            <a:ext cx="4572000" cy="1005840"/>
          </a:xfrm>
          <a:prstGeom prst="rect">
            <a:avLst/>
          </a:prstGeom>
          <a:noFill/>
          <a:ln/>
        </p:spPr>
        <p:txBody>
          <a:bodyPr wrap="square" lIns="0" tIns="0" rIns="0" bIns="0" rtlCol="0" anchor="t"/>
          <a:lstStyle/>
          <a:p>
            <a:pPr marL="0" indent="0">
              <a:lnSpc>
                <a:spcPct val="100000"/>
              </a:lnSpc>
              <a:buNone/>
            </a:pPr>
            <a:r>
              <a:rPr lang="en-US" sz="2000" dirty="0">
                <a:solidFill>
                  <a:srgbClr val="1F2430"/>
                </a:solidFill>
                <a:latin typeface="Georgia" pitchFamily="34" charset="0"/>
                <a:ea typeface="Georgia" pitchFamily="34" charset="-122"/>
                <a:cs typeface="Georgia" pitchFamily="34" charset="-120"/>
              </a:rPr>
              <a:t>Si el jugador es predecible, un adversario lo simula y etiqueta lo </a:t>
            </a:r>
            <a:r>
              <a:rPr lang="en-US" sz="2000" dirty="0" err="1">
                <a:solidFill>
                  <a:srgbClr val="1F2430"/>
                </a:solidFill>
                <a:latin typeface="Georgia" pitchFamily="34" charset="0"/>
                <a:ea typeface="Georgia" pitchFamily="34" charset="-122"/>
                <a:cs typeface="Georgia" pitchFamily="34" charset="-120"/>
              </a:rPr>
              <a:t>contrario</a:t>
            </a:r>
            <a:r>
              <a:rPr lang="en-US" sz="2000" dirty="0">
                <a:solidFill>
                  <a:srgbClr val="1F2430"/>
                </a:solidFill>
                <a:latin typeface="Georgia" pitchFamily="34" charset="0"/>
                <a:ea typeface="Georgia" pitchFamily="34" charset="-122"/>
                <a:cs typeface="Georgia" pitchFamily="34" charset="-120"/>
              </a:rPr>
              <a:t>, </a:t>
            </a:r>
            <a:r>
              <a:rPr lang="en-US" sz="2000" dirty="0" err="1">
                <a:solidFill>
                  <a:srgbClr val="1F2430"/>
                </a:solidFill>
                <a:latin typeface="Georgia" pitchFamily="34" charset="0"/>
                <a:ea typeface="Georgia" pitchFamily="34" charset="-122"/>
                <a:cs typeface="Georgia" pitchFamily="34" charset="-120"/>
              </a:rPr>
              <a:t>por</a:t>
            </a:r>
            <a:r>
              <a:rPr lang="en-US" sz="2000" dirty="0">
                <a:solidFill>
                  <a:srgbClr val="1F2430"/>
                </a:solidFill>
                <a:latin typeface="Georgia" pitchFamily="34" charset="0"/>
                <a:ea typeface="Georgia" pitchFamily="34" charset="-122"/>
                <a:cs typeface="Georgia" pitchFamily="34" charset="-120"/>
              </a:rPr>
              <a:t> </a:t>
            </a:r>
            <a:r>
              <a:rPr lang="en-US" sz="2000" dirty="0" err="1">
                <a:solidFill>
                  <a:srgbClr val="1F2430"/>
                </a:solidFill>
                <a:latin typeface="Georgia" pitchFamily="34" charset="0"/>
                <a:ea typeface="Georgia" pitchFamily="34" charset="-122"/>
                <a:cs typeface="Georgia" pitchFamily="34" charset="-120"/>
              </a:rPr>
              <a:t>eso</a:t>
            </a:r>
            <a:r>
              <a:rPr lang="en-US" sz="2000" dirty="0">
                <a:solidFill>
                  <a:srgbClr val="1F2430"/>
                </a:solidFill>
                <a:latin typeface="Georgia" pitchFamily="34" charset="0"/>
                <a:ea typeface="Georgia" pitchFamily="34" charset="-122"/>
                <a:cs typeface="Georgia" pitchFamily="34" charset="-120"/>
              </a:rPr>
              <a:t> lo hace </a:t>
            </a:r>
            <a:r>
              <a:rPr lang="en-US" sz="2000" dirty="0" err="1">
                <a:solidFill>
                  <a:srgbClr val="1F2430"/>
                </a:solidFill>
                <a:latin typeface="Georgia" pitchFamily="34" charset="0"/>
                <a:ea typeface="Georgia" pitchFamily="34" charset="-122"/>
                <a:cs typeface="Georgia" pitchFamily="34" charset="-120"/>
              </a:rPr>
              <a:t>errar</a:t>
            </a:r>
            <a:r>
              <a:rPr lang="en-US" sz="2000" dirty="0">
                <a:solidFill>
                  <a:srgbClr val="1F2430"/>
                </a:solidFill>
                <a:latin typeface="Georgia" pitchFamily="34" charset="0"/>
                <a:ea typeface="Georgia" pitchFamily="34" charset="-122"/>
                <a:cs typeface="Georgia" pitchFamily="34" charset="-120"/>
              </a:rPr>
              <a:t> </a:t>
            </a:r>
            <a:r>
              <a:rPr lang="en-US" sz="2000" dirty="0" err="1">
                <a:solidFill>
                  <a:srgbClr val="1F2430"/>
                </a:solidFill>
                <a:latin typeface="Georgia" pitchFamily="34" charset="0"/>
                <a:ea typeface="Georgia" pitchFamily="34" charset="-122"/>
                <a:cs typeface="Georgia" pitchFamily="34" charset="-120"/>
              </a:rPr>
              <a:t>siempre</a:t>
            </a:r>
            <a:r>
              <a:rPr lang="en-US" sz="2000" dirty="0">
                <a:solidFill>
                  <a:srgbClr val="1F2430"/>
                </a:solidFill>
                <a:latin typeface="Georgia" pitchFamily="34" charset="0"/>
                <a:ea typeface="Georgia" pitchFamily="34" charset="-122"/>
                <a:cs typeface="Georgia" pitchFamily="34" charset="-120"/>
              </a:rPr>
              <a:t> </a:t>
            </a:r>
            <a:r>
              <a:rPr lang="en-US" sz="2000" dirty="0">
                <a:solidFill>
                  <a:srgbClr val="1F2430"/>
                </a:solidFill>
                <a:latin typeface="Georgia" pitchFamily="34" charset="0"/>
                <a:ea typeface="Georgia" pitchFamily="34" charset="-122"/>
                <a:cs typeface="Georgia" pitchFamily="34" charset="-120"/>
                <a:sym typeface="Wingdings" panose="05000000000000000000" pitchFamily="2" charset="2"/>
              </a:rPr>
              <a:t> sin </a:t>
            </a:r>
            <a:r>
              <a:rPr lang="en-US" sz="2000" dirty="0" err="1">
                <a:solidFill>
                  <a:srgbClr val="1F2430"/>
                </a:solidFill>
                <a:latin typeface="Georgia" pitchFamily="34" charset="0"/>
                <a:ea typeface="Georgia" pitchFamily="34" charset="-122"/>
                <a:cs typeface="Georgia" pitchFamily="34" charset="-120"/>
                <a:sym typeface="Wingdings" panose="05000000000000000000" pitchFamily="2" charset="2"/>
              </a:rPr>
              <a:t>garantía</a:t>
            </a:r>
            <a:r>
              <a:rPr lang="en-US" sz="2000" dirty="0">
                <a:solidFill>
                  <a:srgbClr val="1F2430"/>
                </a:solidFill>
                <a:latin typeface="Georgia" pitchFamily="34" charset="0"/>
                <a:ea typeface="Georgia" pitchFamily="34" charset="-122"/>
                <a:cs typeface="Georgia" pitchFamily="34" charset="-120"/>
                <a:sym typeface="Wingdings" panose="05000000000000000000" pitchFamily="2" charset="2"/>
              </a:rPr>
              <a:t>!</a:t>
            </a:r>
          </a:p>
          <a:p>
            <a:pPr marL="0" indent="0">
              <a:lnSpc>
                <a:spcPct val="100000"/>
              </a:lnSpc>
              <a:buNone/>
            </a:pPr>
            <a:endParaRPr lang="en-US" sz="2000" dirty="0"/>
          </a:p>
        </p:txBody>
      </p:sp>
      <p:sp>
        <p:nvSpPr>
          <p:cNvPr id="18" name="Text 16"/>
          <p:cNvSpPr txBox="1"/>
          <p:nvPr/>
        </p:nvSpPr>
        <p:spPr>
          <a:xfrm>
            <a:off x="548640" y="5525795"/>
            <a:ext cx="4572000" cy="54864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En nuestro stream de spam, que es benigno, el determinístico incluso anda mejor (regret −2,6).</a:t>
            </a:r>
            <a:endParaRPr lang="en-US" sz="1300" dirty="0"/>
          </a:p>
        </p:txBody>
      </p:sp>
      <p:pic>
        <p:nvPicPr>
          <p:cNvPr id="19" name="Image 0" descr="Regret frente a un adversario que simula al jugador. El voto pesado determinístico llega a 2.000, T sobre 2; Hedge randomizado queda en 14, bajo su cota de 37."/>
          <p:cNvPicPr>
            <a:picLocks noChangeAspect="1"/>
          </p:cNvPicPr>
          <p:nvPr/>
        </p:nvPicPr>
        <p:blipFill>
          <a:blip r:embed="rId3"/>
          <a:stretch>
            <a:fillRect/>
          </a:stretch>
        </p:blipFill>
        <p:spPr>
          <a:xfrm>
            <a:off x="5440680" y="1737360"/>
            <a:ext cx="6263640" cy="4276573"/>
          </a:xfrm>
          <a:prstGeom prst="rect">
            <a:avLst/>
          </a:prstGeom>
        </p:spPr>
      </p:pic>
      <p:sp>
        <p:nvSpPr>
          <p:cNvPr id="20" name="Text 17"/>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Secuencia sintética de 4.000 rondas con 2 expertos. </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3</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Cada cota vale para su tasa de aprendizaje</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Regret de Hedge en el stream atacado, con dos formas de elegir η.</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7"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8" name="hallazgo 3 (actual)"/>
          <p:cNvSpPr/>
          <p:nvPr/>
        </p:nvSpPr>
        <p:spPr>
          <a:xfrm>
            <a:off x="11301984" y="457200"/>
            <a:ext cx="137160" cy="137160"/>
          </a:xfrm>
          <a:prstGeom prst="ellipse">
            <a:avLst/>
          </a:prstGeom>
          <a:solidFill>
            <a:srgbClr val="1F2430"/>
          </a:solidFill>
          <a:ln/>
        </p:spPr>
        <p:txBody>
          <a:bodyPr/>
          <a:lstStyle/>
          <a:p>
            <a:endParaRPr lang="es-AR"/>
          </a:p>
        </p:txBody>
      </p:sp>
      <p:sp>
        <p:nvSpPr>
          <p:cNvPr id="9"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pic>
        <p:nvPicPr>
          <p:cNvPr id="10" name="Image 0" descr="Regret de Hedge con eta de peor caso: 31, bajo su cota de 60. Con eta small-loss: 15, bajo su cota de 25."/>
          <p:cNvPicPr>
            <a:picLocks noChangeAspect="1"/>
          </p:cNvPicPr>
          <p:nvPr/>
        </p:nvPicPr>
        <p:blipFill>
          <a:blip r:embed="rId3"/>
          <a:stretch>
            <a:fillRect/>
          </a:stretch>
        </p:blipFill>
        <p:spPr>
          <a:xfrm>
            <a:off x="411480" y="1783080"/>
            <a:ext cx="6495445" cy="4434840"/>
          </a:xfrm>
          <a:prstGeom prst="rect">
            <a:avLst/>
          </a:prstGeom>
        </p:spPr>
      </p:pic>
      <p:sp>
        <p:nvSpPr>
          <p:cNvPr id="11" name="Text 8"/>
          <p:cNvSpPr txBox="1"/>
          <p:nvPr/>
        </p:nvSpPr>
        <p:spPr>
          <a:xfrm>
            <a:off x="7726680" y="1920240"/>
            <a:ext cx="3931920" cy="868680"/>
          </a:xfrm>
          <a:prstGeom prst="rect">
            <a:avLst/>
          </a:prstGeom>
          <a:noFill/>
          <a:ln/>
        </p:spPr>
        <p:txBody>
          <a:bodyPr wrap="square" lIns="0" tIns="0" rIns="0" bIns="0" rtlCol="0" anchor="t"/>
          <a:lstStyle/>
          <a:p>
            <a:pPr marL="0" indent="0">
              <a:lnSpc>
                <a:spcPct val="100000"/>
              </a:lnSpc>
              <a:buNone/>
            </a:pPr>
            <a:r>
              <a:rPr lang="en-US" sz="2000" dirty="0">
                <a:solidFill>
                  <a:srgbClr val="1F2430"/>
                </a:solidFill>
                <a:latin typeface="Georgia" pitchFamily="34" charset="0"/>
                <a:ea typeface="Georgia" pitchFamily="34" charset="-122"/>
                <a:cs typeface="Georgia" pitchFamily="34" charset="-120"/>
              </a:rPr>
              <a:t>Las dos cotas se cumplen en las 20 semillas, cada una con su propio η.</a:t>
            </a:r>
            <a:endParaRPr lang="en-US" sz="2000" dirty="0"/>
          </a:p>
        </p:txBody>
      </p:sp>
      <p:sp>
        <p:nvSpPr>
          <p:cNvPr id="12" name="punto η de peor caso"/>
          <p:cNvSpPr/>
          <p:nvPr/>
        </p:nvSpPr>
        <p:spPr>
          <a:xfrm>
            <a:off x="7726680" y="3072384"/>
            <a:ext cx="219456" cy="219456"/>
          </a:xfrm>
          <a:prstGeom prst="ellipse">
            <a:avLst/>
          </a:prstGeom>
          <a:solidFill>
            <a:srgbClr val="2A78D6"/>
          </a:solidFill>
          <a:ln/>
        </p:spPr>
        <p:txBody>
          <a:bodyPr/>
          <a:lstStyle/>
          <a:p>
            <a:endParaRPr lang="es-AR"/>
          </a:p>
        </p:txBody>
      </p:sp>
      <p:sp>
        <p:nvSpPr>
          <p:cNvPr id="13" name="Text 10"/>
          <p:cNvSpPr txBox="1"/>
          <p:nvPr/>
        </p:nvSpPr>
        <p:spPr>
          <a:xfrm>
            <a:off x="8110728" y="3017520"/>
            <a:ext cx="3547872" cy="292608"/>
          </a:xfrm>
          <a:prstGeom prst="rect">
            <a:avLst/>
          </a:prstGeom>
          <a:noFill/>
          <a:ln/>
        </p:spPr>
        <p:txBody>
          <a:bodyPr wrap="square" lIns="0" tIns="0" rIns="0" bIns="0" rtlCol="0" anchor="t"/>
          <a:lstStyle/>
          <a:p>
            <a:pPr marL="0" indent="0">
              <a:lnSpc>
                <a:spcPct val="100000"/>
              </a:lnSpc>
              <a:buNone/>
            </a:pPr>
            <a:r>
              <a:rPr lang="en-US" sz="1600" b="1" dirty="0">
                <a:solidFill>
                  <a:srgbClr val="1F2430"/>
                </a:solidFill>
                <a:latin typeface="Arial" pitchFamily="34" charset="0"/>
                <a:ea typeface="Arial" pitchFamily="34" charset="-122"/>
                <a:cs typeface="Arial" pitchFamily="34" charset="-120"/>
              </a:rPr>
              <a:t>η de peor caso</a:t>
            </a:r>
            <a:endParaRPr lang="en-US" sz="1600" dirty="0"/>
          </a:p>
        </p:txBody>
      </p:sp>
      <p:sp>
        <p:nvSpPr>
          <p:cNvPr id="14" name="Text 11"/>
          <p:cNvSpPr txBox="1"/>
          <p:nvPr/>
        </p:nvSpPr>
        <p:spPr>
          <a:xfrm>
            <a:off x="8110728" y="3346704"/>
            <a:ext cx="3547872" cy="45720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sintonizado por T: regret 31, cota 60</a:t>
            </a:r>
            <a:endParaRPr lang="en-US" sz="1300" dirty="0"/>
          </a:p>
        </p:txBody>
      </p:sp>
      <p:sp>
        <p:nvSpPr>
          <p:cNvPr id="15" name="punto η small-loss"/>
          <p:cNvSpPr/>
          <p:nvPr/>
        </p:nvSpPr>
        <p:spPr>
          <a:xfrm>
            <a:off x="7726680" y="3895344"/>
            <a:ext cx="219456" cy="219456"/>
          </a:xfrm>
          <a:prstGeom prst="ellipse">
            <a:avLst/>
          </a:prstGeom>
          <a:solidFill>
            <a:srgbClr val="E87BA4"/>
          </a:solidFill>
          <a:ln/>
        </p:spPr>
        <p:txBody>
          <a:bodyPr/>
          <a:lstStyle/>
          <a:p>
            <a:endParaRPr lang="es-AR"/>
          </a:p>
        </p:txBody>
      </p:sp>
      <p:sp>
        <p:nvSpPr>
          <p:cNvPr id="16" name="Text 13"/>
          <p:cNvSpPr txBox="1"/>
          <p:nvPr/>
        </p:nvSpPr>
        <p:spPr>
          <a:xfrm>
            <a:off x="8110728" y="3840480"/>
            <a:ext cx="3547872" cy="292608"/>
          </a:xfrm>
          <a:prstGeom prst="rect">
            <a:avLst/>
          </a:prstGeom>
          <a:noFill/>
          <a:ln/>
        </p:spPr>
        <p:txBody>
          <a:bodyPr wrap="square" lIns="0" tIns="0" rIns="0" bIns="0" rtlCol="0" anchor="t"/>
          <a:lstStyle/>
          <a:p>
            <a:pPr marL="0" indent="0">
              <a:lnSpc>
                <a:spcPct val="100000"/>
              </a:lnSpc>
              <a:buNone/>
            </a:pPr>
            <a:r>
              <a:rPr lang="en-US" sz="1600" b="1" dirty="0">
                <a:solidFill>
                  <a:srgbClr val="1F2430"/>
                </a:solidFill>
                <a:latin typeface="Arial" pitchFamily="34" charset="0"/>
                <a:ea typeface="Arial" pitchFamily="34" charset="-122"/>
                <a:cs typeface="Arial" pitchFamily="34" charset="-120"/>
              </a:rPr>
              <a:t>η small-loss</a:t>
            </a:r>
            <a:endParaRPr lang="en-US" sz="1600" dirty="0"/>
          </a:p>
        </p:txBody>
      </p:sp>
      <p:sp>
        <p:nvSpPr>
          <p:cNvPr id="17" name="Text 14"/>
          <p:cNvSpPr txBox="1"/>
          <p:nvPr/>
        </p:nvSpPr>
        <p:spPr>
          <a:xfrm>
            <a:off x="8110728" y="4169664"/>
            <a:ext cx="3547872" cy="457200"/>
          </a:xfrm>
          <a:prstGeom prst="rect">
            <a:avLst/>
          </a:prstGeom>
          <a:noFill/>
          <a:ln/>
        </p:spPr>
        <p:txBody>
          <a:bodyPr wrap="square" lIns="0" tIns="0" rIns="0" bIns="0" rtlCol="0" anchor="t"/>
          <a:lstStyle/>
          <a:p>
            <a:pPr marL="0" indent="0">
              <a:lnSpc>
                <a:spcPct val="100000"/>
              </a:lnSpc>
              <a:buNone/>
            </a:pPr>
            <a:r>
              <a:rPr lang="en-US" sz="1300" dirty="0">
                <a:solidFill>
                  <a:srgbClr val="5A6274"/>
                </a:solidFill>
                <a:latin typeface="Arial" pitchFamily="34" charset="0"/>
                <a:ea typeface="Arial" pitchFamily="34" charset="-122"/>
                <a:cs typeface="Arial" pitchFamily="34" charset="-120"/>
              </a:rPr>
              <a:t>sintonizado por la pérdida del mejor: regret 15, cota 25</a:t>
            </a:r>
            <a:endParaRPr lang="en-US" sz="1300" dirty="0"/>
          </a:p>
        </p:txBody>
      </p:sp>
      <p:sp>
        <p:nvSpPr>
          <p:cNvPr id="18" name="Shape 15"/>
          <p:cNvSpPr/>
          <p:nvPr/>
        </p:nvSpPr>
        <p:spPr>
          <a:xfrm>
            <a:off x="7726680" y="4709160"/>
            <a:ext cx="3913632" cy="0"/>
          </a:xfrm>
          <a:prstGeom prst="line">
            <a:avLst/>
          </a:prstGeom>
          <a:noFill/>
          <a:ln w="9525">
            <a:solidFill>
              <a:srgbClr val="D9D6CE"/>
            </a:solidFill>
            <a:prstDash val="solid"/>
          </a:ln>
        </p:spPr>
        <p:txBody>
          <a:bodyPr/>
          <a:lstStyle/>
          <a:p>
            <a:endParaRPr lang="es-AR"/>
          </a:p>
        </p:txBody>
      </p:sp>
      <p:sp>
        <p:nvSpPr>
          <p:cNvPr id="19" name="Text 16"/>
          <p:cNvSpPr txBox="1"/>
          <p:nvPr/>
        </p:nvSpPr>
        <p:spPr>
          <a:xfrm>
            <a:off x="7726680" y="4846320"/>
            <a:ext cx="3931920" cy="914400"/>
          </a:xfrm>
          <a:prstGeom prst="rect">
            <a:avLst/>
          </a:prstGeom>
          <a:noFill/>
          <a:ln/>
        </p:spPr>
        <p:txBody>
          <a:bodyPr wrap="square" lIns="0" tIns="0" rIns="0" bIns="0" rtlCol="0" anchor="t"/>
          <a:lstStyle/>
          <a:p>
            <a:pPr marL="0" indent="0">
              <a:lnSpc>
                <a:spcPct val="100000"/>
              </a:lnSpc>
              <a:buNone/>
            </a:pPr>
            <a:r>
              <a:rPr lang="en-US" sz="1400" dirty="0">
                <a:solidFill>
                  <a:srgbClr val="5A6274"/>
                </a:solidFill>
                <a:latin typeface="Arial" pitchFamily="34" charset="0"/>
                <a:ea typeface="Arial" pitchFamily="34" charset="-122"/>
                <a:cs typeface="Arial" pitchFamily="34" charset="-120"/>
              </a:rPr>
              <a:t>La small-loss es mejor algoritmo, pero necesita saber de antemano cuántos errores comete el </a:t>
            </a:r>
            <a:r>
              <a:rPr lang="en-US" sz="1400" dirty="0" err="1">
                <a:solidFill>
                  <a:srgbClr val="5A6274"/>
                </a:solidFill>
                <a:latin typeface="Arial" pitchFamily="34" charset="0"/>
                <a:ea typeface="Arial" pitchFamily="34" charset="-122"/>
                <a:cs typeface="Arial" pitchFamily="34" charset="-120"/>
              </a:rPr>
              <a:t>mejor</a:t>
            </a:r>
            <a:r>
              <a:rPr lang="en-US" sz="1400" dirty="0">
                <a:solidFill>
                  <a:srgbClr val="5A6274"/>
                </a:solidFill>
                <a:latin typeface="Arial" pitchFamily="34" charset="0"/>
                <a:ea typeface="Arial" pitchFamily="34" charset="-122"/>
                <a:cs typeface="Arial" pitchFamily="34" charset="-120"/>
              </a:rPr>
              <a:t> expert, </a:t>
            </a:r>
            <a:r>
              <a:rPr lang="en-US" sz="1400" dirty="0" err="1">
                <a:solidFill>
                  <a:srgbClr val="5A6274"/>
                </a:solidFill>
                <a:latin typeface="Arial" pitchFamily="34" charset="0"/>
                <a:ea typeface="Arial" pitchFamily="34" charset="-122"/>
                <a:cs typeface="Arial" pitchFamily="34" charset="-120"/>
              </a:rPr>
              <a:t>información</a:t>
            </a:r>
            <a:r>
              <a:rPr lang="en-US" sz="1400" dirty="0">
                <a:solidFill>
                  <a:srgbClr val="5A6274"/>
                </a:solidFill>
                <a:latin typeface="Arial" pitchFamily="34" charset="0"/>
                <a:ea typeface="Arial" pitchFamily="34" charset="-122"/>
                <a:cs typeface="Arial" pitchFamily="34" charset="-120"/>
              </a:rPr>
              <a:t> </a:t>
            </a:r>
            <a:r>
              <a:rPr lang="en-US" sz="1400" dirty="0" err="1">
                <a:solidFill>
                  <a:srgbClr val="5A6274"/>
                </a:solidFill>
                <a:latin typeface="Arial" pitchFamily="34" charset="0"/>
                <a:ea typeface="Arial" pitchFamily="34" charset="-122"/>
                <a:cs typeface="Arial" pitchFamily="34" charset="-120"/>
              </a:rPr>
              <a:t>que</a:t>
            </a:r>
            <a:r>
              <a:rPr lang="en-US" sz="1400" dirty="0">
                <a:solidFill>
                  <a:srgbClr val="5A6274"/>
                </a:solidFill>
                <a:latin typeface="Arial" pitchFamily="34" charset="0"/>
                <a:ea typeface="Arial" pitchFamily="34" charset="-122"/>
                <a:cs typeface="Arial" pitchFamily="34" charset="-120"/>
              </a:rPr>
              <a:t> no se </a:t>
            </a:r>
            <a:r>
              <a:rPr lang="en-US" sz="1400" dirty="0" err="1">
                <a:solidFill>
                  <a:srgbClr val="5A6274"/>
                </a:solidFill>
                <a:latin typeface="Arial" pitchFamily="34" charset="0"/>
                <a:ea typeface="Arial" pitchFamily="34" charset="-122"/>
                <a:cs typeface="Arial" pitchFamily="34" charset="-120"/>
              </a:rPr>
              <a:t>puede</a:t>
            </a:r>
            <a:r>
              <a:rPr lang="en-US" sz="1400" dirty="0">
                <a:solidFill>
                  <a:srgbClr val="5A6274"/>
                </a:solidFill>
                <a:latin typeface="Arial" pitchFamily="34" charset="0"/>
                <a:ea typeface="Arial" pitchFamily="34" charset="-122"/>
                <a:cs typeface="Arial" pitchFamily="34" charset="-120"/>
              </a:rPr>
              <a:t> saber.</a:t>
            </a:r>
            <a:endParaRPr lang="en-US" sz="1400" dirty="0"/>
          </a:p>
        </p:txBody>
      </p:sp>
      <p:sp>
        <p:nvSpPr>
          <p:cNvPr id="20" name="Text 17"/>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La √(2T ln K) de la clase vale 120: correcta, pero el doble de lo necesario.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RESULTADO 4 · LECCIONES DE MÉTODO</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a:solidFill>
                  <a:srgbClr val="1F2430"/>
                </a:solidFill>
                <a:latin typeface="Georgia" pitchFamily="34" charset="0"/>
                <a:ea typeface="Georgia" pitchFamily="34" charset="-122"/>
                <a:cs typeface="Georgia" pitchFamily="34" charset="-120"/>
              </a:rPr>
              <a:t>Tres ideas para </a:t>
            </a:r>
            <a:r>
              <a:rPr lang="en-US" sz="3000" dirty="0" err="1">
                <a:solidFill>
                  <a:srgbClr val="1F2430"/>
                </a:solidFill>
                <a:latin typeface="Georgia" pitchFamily="34" charset="0"/>
                <a:ea typeface="Georgia" pitchFamily="34" charset="-122"/>
                <a:cs typeface="Georgia" pitchFamily="34" charset="-120"/>
              </a:rPr>
              <a:t>llevarse</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8" name="hallazgo 4 (actual)"/>
          <p:cNvSpPr/>
          <p:nvPr/>
        </p:nvSpPr>
        <p:spPr>
          <a:xfrm>
            <a:off x="11503152" y="457200"/>
            <a:ext cx="137160" cy="137160"/>
          </a:xfrm>
          <a:prstGeom prst="ellipse">
            <a:avLst/>
          </a:prstGeom>
          <a:solidFill>
            <a:srgbClr val="1F2430"/>
          </a:solidFill>
          <a:ln/>
        </p:spPr>
        <p:txBody>
          <a:bodyPr/>
          <a:lstStyle/>
          <a:p>
            <a:endParaRPr lang="es-AR"/>
          </a:p>
        </p:txBody>
      </p:sp>
      <p:sp>
        <p:nvSpPr>
          <p:cNvPr id="9" name="Text 7"/>
          <p:cNvSpPr txBox="1"/>
          <p:nvPr/>
        </p:nvSpPr>
        <p:spPr>
          <a:xfrm>
            <a:off x="548640" y="1783080"/>
            <a:ext cx="3474720" cy="914400"/>
          </a:xfrm>
          <a:prstGeom prst="rect">
            <a:avLst/>
          </a:prstGeom>
          <a:noFill/>
          <a:ln/>
        </p:spPr>
        <p:txBody>
          <a:bodyPr wrap="square" lIns="0" tIns="0" rIns="0" bIns="0" rtlCol="0" anchor="t"/>
          <a:lstStyle/>
          <a:p>
            <a:pPr marL="0" indent="0">
              <a:lnSpc>
                <a:spcPct val="100000"/>
              </a:lnSpc>
              <a:buNone/>
            </a:pPr>
            <a:r>
              <a:rPr lang="en-US" sz="5400" b="1" dirty="0">
                <a:solidFill>
                  <a:srgbClr val="1F2430"/>
                </a:solidFill>
                <a:latin typeface="Arial" pitchFamily="34" charset="0"/>
                <a:ea typeface="Arial" pitchFamily="34" charset="-122"/>
                <a:cs typeface="Arial" pitchFamily="34" charset="-120"/>
              </a:rPr>
              <a:t>87%</a:t>
            </a:r>
            <a:endParaRPr lang="en-US" sz="5400" dirty="0"/>
          </a:p>
        </p:txBody>
      </p:sp>
      <p:sp>
        <p:nvSpPr>
          <p:cNvPr id="10" name="Text 8"/>
          <p:cNvSpPr txBox="1"/>
          <p:nvPr/>
        </p:nvSpPr>
        <p:spPr>
          <a:xfrm>
            <a:off x="548640" y="2880360"/>
            <a:ext cx="3429000" cy="868680"/>
          </a:xfrm>
          <a:prstGeom prst="rect">
            <a:avLst/>
          </a:prstGeom>
          <a:noFill/>
          <a:ln/>
        </p:spPr>
        <p:txBody>
          <a:bodyPr wrap="square" lIns="0" tIns="0" rIns="0" bIns="0" rtlCol="0" anchor="t"/>
          <a:lstStyle/>
          <a:p>
            <a:pPr marL="0" indent="0">
              <a:lnSpc>
                <a:spcPct val="100000"/>
              </a:lnSpc>
              <a:buNone/>
            </a:pPr>
            <a:r>
              <a:rPr lang="en-US" sz="1900" b="1" dirty="0">
                <a:solidFill>
                  <a:srgbClr val="1F2430"/>
                </a:solidFill>
                <a:latin typeface="Arial" pitchFamily="34" charset="0"/>
                <a:ea typeface="Arial" pitchFamily="34" charset="-122"/>
                <a:cs typeface="Arial" pitchFamily="34" charset="-120"/>
              </a:rPr>
              <a:t>La accuracy engaña</a:t>
            </a:r>
            <a:endParaRPr lang="en-US" sz="1900" dirty="0"/>
          </a:p>
        </p:txBody>
      </p:sp>
      <p:sp>
        <p:nvSpPr>
          <p:cNvPr id="11" name="Text 9"/>
          <p:cNvSpPr txBox="1"/>
          <p:nvPr/>
        </p:nvSpPr>
        <p:spPr>
          <a:xfrm>
            <a:off x="548640" y="3840480"/>
            <a:ext cx="3429000" cy="182880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Con 13% de spam, no marcar nada acierta el 87%. Medimos spam atrapado, legítimo bloqueado y MCC.</a:t>
            </a:r>
            <a:endParaRPr lang="en-US" sz="1500" dirty="0"/>
          </a:p>
        </p:txBody>
      </p:sp>
      <p:sp>
        <p:nvSpPr>
          <p:cNvPr id="12" name="Shape 10"/>
          <p:cNvSpPr/>
          <p:nvPr/>
        </p:nvSpPr>
        <p:spPr>
          <a:xfrm>
            <a:off x="4142232" y="1828800"/>
            <a:ext cx="0" cy="4023360"/>
          </a:xfrm>
          <a:prstGeom prst="line">
            <a:avLst/>
          </a:prstGeom>
          <a:noFill/>
          <a:ln w="9525">
            <a:solidFill>
              <a:srgbClr val="D9D6CE"/>
            </a:solidFill>
            <a:prstDash val="solid"/>
          </a:ln>
        </p:spPr>
        <p:txBody>
          <a:bodyPr/>
          <a:lstStyle/>
          <a:p>
            <a:endParaRPr lang="es-AR"/>
          </a:p>
        </p:txBody>
      </p:sp>
      <p:sp>
        <p:nvSpPr>
          <p:cNvPr id="13" name="Text 11"/>
          <p:cNvSpPr txBox="1"/>
          <p:nvPr/>
        </p:nvSpPr>
        <p:spPr>
          <a:xfrm>
            <a:off x="4370832" y="1783080"/>
            <a:ext cx="3474720" cy="914400"/>
          </a:xfrm>
          <a:prstGeom prst="rect">
            <a:avLst/>
          </a:prstGeom>
          <a:noFill/>
          <a:ln/>
        </p:spPr>
        <p:txBody>
          <a:bodyPr wrap="square" lIns="0" tIns="0" rIns="0" bIns="0" rtlCol="0" anchor="t"/>
          <a:lstStyle/>
          <a:p>
            <a:pPr marL="0" indent="0">
              <a:lnSpc>
                <a:spcPct val="100000"/>
              </a:lnSpc>
              <a:buNone/>
            </a:pPr>
            <a:r>
              <a:rPr lang="en-US" sz="5400" b="1" dirty="0">
                <a:solidFill>
                  <a:srgbClr val="1BAF7A"/>
                </a:solidFill>
                <a:latin typeface="Arial" pitchFamily="34" charset="0"/>
                <a:ea typeface="Arial" pitchFamily="34" charset="-122"/>
                <a:cs typeface="Arial" pitchFamily="34" charset="-120"/>
              </a:rPr>
              <a:t>8 de 20</a:t>
            </a:r>
            <a:endParaRPr lang="en-US" sz="5400" dirty="0"/>
          </a:p>
        </p:txBody>
      </p:sp>
      <p:sp>
        <p:nvSpPr>
          <p:cNvPr id="14" name="Text 12"/>
          <p:cNvSpPr txBox="1"/>
          <p:nvPr/>
        </p:nvSpPr>
        <p:spPr>
          <a:xfrm>
            <a:off x="4370832" y="2880360"/>
            <a:ext cx="3429000" cy="868680"/>
          </a:xfrm>
          <a:prstGeom prst="rect">
            <a:avLst/>
          </a:prstGeom>
          <a:noFill/>
          <a:ln/>
        </p:spPr>
        <p:txBody>
          <a:bodyPr wrap="square" lIns="0" tIns="0" rIns="0" bIns="0" rtlCol="0" anchor="t"/>
          <a:lstStyle/>
          <a:p>
            <a:pPr marL="0" indent="0">
              <a:lnSpc>
                <a:spcPct val="100000"/>
              </a:lnSpc>
              <a:buNone/>
            </a:pPr>
            <a:r>
              <a:rPr lang="en-US" sz="1900" b="1" dirty="0">
                <a:solidFill>
                  <a:srgbClr val="1F2430"/>
                </a:solidFill>
                <a:latin typeface="Arial" pitchFamily="34" charset="0"/>
                <a:ea typeface="Arial" pitchFamily="34" charset="-122"/>
                <a:cs typeface="Arial" pitchFamily="34" charset="-120"/>
              </a:rPr>
              <a:t>La validación cruzada no mide adaptación</a:t>
            </a:r>
            <a:endParaRPr lang="en-US" sz="1900" dirty="0"/>
          </a:p>
        </p:txBody>
      </p:sp>
      <p:sp>
        <p:nvSpPr>
          <p:cNvPr id="15" name="Text 13"/>
          <p:cNvSpPr txBox="1"/>
          <p:nvPr/>
        </p:nvSpPr>
        <p:spPr>
          <a:xfrm>
            <a:off x="4370832" y="3840480"/>
            <a:ext cx="3429000" cy="182880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Sin ataque en el warm-up, eligió mal la regularización de SGD en 8 de 20 semillas: 125 a 153 errores, contra 65 a 83.</a:t>
            </a:r>
            <a:endParaRPr lang="en-US" sz="1500" dirty="0"/>
          </a:p>
        </p:txBody>
      </p:sp>
      <p:sp>
        <p:nvSpPr>
          <p:cNvPr id="16" name="Shape 14"/>
          <p:cNvSpPr/>
          <p:nvPr/>
        </p:nvSpPr>
        <p:spPr>
          <a:xfrm>
            <a:off x="7964424" y="1828800"/>
            <a:ext cx="0" cy="4023360"/>
          </a:xfrm>
          <a:prstGeom prst="line">
            <a:avLst/>
          </a:prstGeom>
          <a:noFill/>
          <a:ln w="9525">
            <a:solidFill>
              <a:srgbClr val="D9D6CE"/>
            </a:solidFill>
            <a:prstDash val="solid"/>
          </a:ln>
        </p:spPr>
        <p:txBody>
          <a:bodyPr/>
          <a:lstStyle/>
          <a:p>
            <a:endParaRPr lang="es-AR"/>
          </a:p>
        </p:txBody>
      </p:sp>
      <p:sp>
        <p:nvSpPr>
          <p:cNvPr id="17" name="Text 15"/>
          <p:cNvSpPr txBox="1"/>
          <p:nvPr/>
        </p:nvSpPr>
        <p:spPr>
          <a:xfrm>
            <a:off x="8193024" y="1783080"/>
            <a:ext cx="3474720" cy="914400"/>
          </a:xfrm>
          <a:prstGeom prst="rect">
            <a:avLst/>
          </a:prstGeom>
          <a:noFill/>
          <a:ln/>
        </p:spPr>
        <p:txBody>
          <a:bodyPr wrap="square" lIns="0" tIns="0" rIns="0" bIns="0" rtlCol="0" anchor="t"/>
          <a:lstStyle/>
          <a:p>
            <a:pPr marL="0" indent="0">
              <a:lnSpc>
                <a:spcPct val="100000"/>
              </a:lnSpc>
              <a:buNone/>
            </a:pPr>
            <a:r>
              <a:rPr lang="en-US" sz="5400" b="1" dirty="0">
                <a:solidFill>
                  <a:srgbClr val="EB6834"/>
                </a:solidFill>
                <a:latin typeface="Arial" pitchFamily="34" charset="0"/>
                <a:ea typeface="Arial" pitchFamily="34" charset="-122"/>
                <a:cs typeface="Arial" pitchFamily="34" charset="-120"/>
              </a:rPr>
              <a:t>0,995</a:t>
            </a:r>
            <a:endParaRPr lang="en-US" sz="5400" dirty="0"/>
          </a:p>
        </p:txBody>
      </p:sp>
      <p:sp>
        <p:nvSpPr>
          <p:cNvPr id="18" name="Text 16"/>
          <p:cNvSpPr txBox="1"/>
          <p:nvPr/>
        </p:nvSpPr>
        <p:spPr>
          <a:xfrm>
            <a:off x="8193024" y="2880360"/>
            <a:ext cx="3429000" cy="868680"/>
          </a:xfrm>
          <a:prstGeom prst="rect">
            <a:avLst/>
          </a:prstGeom>
          <a:noFill/>
          <a:ln/>
        </p:spPr>
        <p:txBody>
          <a:bodyPr wrap="square" lIns="0" tIns="0" rIns="0" bIns="0" rtlCol="0" anchor="t"/>
          <a:lstStyle/>
          <a:p>
            <a:pPr marL="0" indent="0">
              <a:lnSpc>
                <a:spcPct val="100000"/>
              </a:lnSpc>
              <a:buNone/>
            </a:pPr>
            <a:r>
              <a:rPr lang="en-US" sz="1900" b="1" dirty="0">
                <a:solidFill>
                  <a:srgbClr val="1F2430"/>
                </a:solidFill>
                <a:latin typeface="Arial" pitchFamily="34" charset="0"/>
                <a:ea typeface="Arial" pitchFamily="34" charset="-122"/>
                <a:cs typeface="Arial" pitchFamily="34" charset="-120"/>
              </a:rPr>
              <a:t>Combinar necesita un experto que sobreviva</a:t>
            </a:r>
            <a:endParaRPr lang="en-US" sz="1900" dirty="0"/>
          </a:p>
        </p:txBody>
      </p:sp>
      <p:sp>
        <p:nvSpPr>
          <p:cNvPr id="19" name="Text 17"/>
          <p:cNvSpPr txBox="1"/>
          <p:nvPr/>
        </p:nvSpPr>
        <p:spPr>
          <a:xfrm>
            <a:off x="8193024" y="3840480"/>
            <a:ext cx="3429000" cy="182880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Si ningún experto resiste el ataque, Hedge deja 0,995 del peso en el modelo dañado y no recupera nada.</a:t>
            </a:r>
            <a:endParaRPr lang="en-US" sz="1500" dirty="0"/>
          </a:p>
        </p:txBody>
      </p:sp>
      <p:sp>
        <p:nvSpPr>
          <p:cNvPr id="20" name="Text 18"/>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El 0,995 es de la primera versión del experto estructural, con 5 rasgos, en la semilla de desarrollo.</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9AA1AE"/>
                </a:solidFill>
                <a:latin typeface="Arial" pitchFamily="34" charset="0"/>
                <a:ea typeface="Arial" pitchFamily="34" charset="-122"/>
                <a:cs typeface="Arial" pitchFamily="34" charset="-120"/>
              </a:rPr>
              <a:t>EN RESUMEN</a:t>
            </a:r>
            <a:endParaRPr lang="en-US" sz="1100" dirty="0"/>
          </a:p>
        </p:txBody>
      </p:sp>
      <p:sp>
        <p:nvSpPr>
          <p:cNvPr id="3" name="Text 1"/>
          <p:cNvSpPr txBox="1"/>
          <p:nvPr/>
        </p:nvSpPr>
        <p:spPr>
          <a:xfrm>
            <a:off x="548640" y="731520"/>
            <a:ext cx="10972800" cy="640080"/>
          </a:xfrm>
          <a:prstGeom prst="rect">
            <a:avLst/>
          </a:prstGeom>
          <a:noFill/>
          <a:ln/>
        </p:spPr>
        <p:txBody>
          <a:bodyPr wrap="square" lIns="0" tIns="0" rIns="0" bIns="0" rtlCol="0" anchor="t"/>
          <a:lstStyle/>
          <a:p>
            <a:pPr marL="0" indent="0">
              <a:lnSpc>
                <a:spcPct val="100000"/>
              </a:lnSpc>
              <a:buNone/>
            </a:pPr>
            <a:r>
              <a:rPr lang="en-US" sz="3400" dirty="0">
                <a:solidFill>
                  <a:srgbClr val="FFFFFF"/>
                </a:solidFill>
                <a:latin typeface="Georgia" pitchFamily="34" charset="0"/>
                <a:ea typeface="Georgia" pitchFamily="34" charset="-122"/>
                <a:cs typeface="Georgia" pitchFamily="34" charset="-120"/>
              </a:rPr>
              <a:t>Cuándo combinar y cuándo reentrenar</a:t>
            </a:r>
            <a:endParaRPr lang="en-US" sz="3400" dirty="0"/>
          </a:p>
        </p:txBody>
      </p:sp>
      <p:sp>
        <p:nvSpPr>
          <p:cNvPr id="4" name="Shape 2"/>
          <p:cNvSpPr/>
          <p:nvPr/>
        </p:nvSpPr>
        <p:spPr>
          <a:xfrm>
            <a:off x="548640" y="1645920"/>
            <a:ext cx="11091672" cy="0"/>
          </a:xfrm>
          <a:prstGeom prst="line">
            <a:avLst/>
          </a:prstGeom>
          <a:noFill/>
          <a:ln w="9525">
            <a:solidFill>
              <a:srgbClr val="3A4152"/>
            </a:solidFill>
            <a:prstDash val="solid"/>
          </a:ln>
        </p:spPr>
        <p:txBody>
          <a:bodyPr/>
          <a:lstStyle/>
          <a:p>
            <a:endParaRPr lang="es-AR"/>
          </a:p>
        </p:txBody>
      </p:sp>
      <p:sp>
        <p:nvSpPr>
          <p:cNvPr id="5" name="fila 1"/>
          <p:cNvSpPr/>
          <p:nvPr/>
        </p:nvSpPr>
        <p:spPr>
          <a:xfrm>
            <a:off x="548640" y="1901952"/>
            <a:ext cx="274320" cy="274320"/>
          </a:xfrm>
          <a:prstGeom prst="ellipse">
            <a:avLst/>
          </a:prstGeom>
          <a:solidFill>
            <a:srgbClr val="1BAF7A"/>
          </a:solidFill>
          <a:ln/>
        </p:spPr>
        <p:txBody>
          <a:bodyPr/>
          <a:lstStyle/>
          <a:p>
            <a:endParaRPr lang="es-AR"/>
          </a:p>
        </p:txBody>
      </p:sp>
      <p:sp>
        <p:nvSpPr>
          <p:cNvPr id="6" name="Text 4"/>
          <p:cNvSpPr txBox="1"/>
          <p:nvPr/>
        </p:nvSpPr>
        <p:spPr>
          <a:xfrm>
            <a:off x="1051560" y="1828800"/>
            <a:ext cx="3840480" cy="457200"/>
          </a:xfrm>
          <a:prstGeom prst="rect">
            <a:avLst/>
          </a:prstGeom>
          <a:noFill/>
          <a:ln/>
        </p:spPr>
        <p:txBody>
          <a:bodyPr wrap="square" lIns="0" tIns="0" rIns="0" bIns="0" rtlCol="0" anchor="t"/>
          <a:lstStyle/>
          <a:p>
            <a:pPr marL="0" indent="0">
              <a:lnSpc>
                <a:spcPct val="100000"/>
              </a:lnSpc>
              <a:buNone/>
            </a:pPr>
            <a:r>
              <a:rPr lang="en-US" sz="2400" dirty="0">
                <a:solidFill>
                  <a:srgbClr val="FFFFFF"/>
                </a:solidFill>
                <a:latin typeface="Georgia" pitchFamily="34" charset="0"/>
                <a:ea typeface="Georgia" pitchFamily="34" charset="-122"/>
                <a:cs typeface="Georgia" pitchFamily="34" charset="-120"/>
              </a:rPr>
              <a:t>Etiquetas abundantes</a:t>
            </a:r>
            <a:endParaRPr lang="en-US" sz="2400" dirty="0"/>
          </a:p>
        </p:txBody>
      </p:sp>
      <p:sp>
        <p:nvSpPr>
          <p:cNvPr id="7" name="Text 5"/>
          <p:cNvSpPr txBox="1"/>
          <p:nvPr/>
        </p:nvSpPr>
        <p:spPr>
          <a:xfrm>
            <a:off x="5029200" y="1874520"/>
            <a:ext cx="6583680" cy="731520"/>
          </a:xfrm>
          <a:prstGeom prst="rect">
            <a:avLst/>
          </a:prstGeom>
          <a:noFill/>
          <a:ln/>
        </p:spPr>
        <p:txBody>
          <a:bodyPr wrap="square" lIns="0" tIns="0" rIns="0" bIns="0" rtlCol="0" anchor="t"/>
          <a:lstStyle/>
          <a:p>
            <a:pPr marL="0" indent="0">
              <a:lnSpc>
                <a:spcPct val="100000"/>
              </a:lnSpc>
              <a:buNone/>
            </a:pPr>
            <a:r>
              <a:rPr lang="en-US" sz="1800" dirty="0" err="1">
                <a:solidFill>
                  <a:srgbClr val="C8CEDA"/>
                </a:solidFill>
                <a:latin typeface="Arial" pitchFamily="34" charset="0"/>
                <a:ea typeface="Arial" pitchFamily="34" charset="-122"/>
                <a:cs typeface="Arial" pitchFamily="34" charset="-120"/>
              </a:rPr>
              <a:t>Reentrenar</a:t>
            </a:r>
            <a:r>
              <a:rPr lang="en-US" sz="1800" dirty="0">
                <a:solidFill>
                  <a:srgbClr val="C8CEDA"/>
                </a:solidFill>
                <a:latin typeface="Arial" pitchFamily="34" charset="0"/>
                <a:ea typeface="Arial" pitchFamily="34" charset="-122"/>
                <a:cs typeface="Arial" pitchFamily="34" charset="-120"/>
              </a:rPr>
              <a:t> es </a:t>
            </a:r>
            <a:r>
              <a:rPr lang="en-US" sz="1800" dirty="0" err="1">
                <a:solidFill>
                  <a:srgbClr val="C8CEDA"/>
                </a:solidFill>
                <a:latin typeface="Arial" pitchFamily="34" charset="0"/>
                <a:ea typeface="Arial" pitchFamily="34" charset="-122"/>
                <a:cs typeface="Arial" pitchFamily="34" charset="-120"/>
              </a:rPr>
              <a:t>mejor</a:t>
            </a:r>
            <a:r>
              <a:rPr lang="en-US" sz="1800" dirty="0">
                <a:solidFill>
                  <a:srgbClr val="C8CEDA"/>
                </a:solidFill>
                <a:latin typeface="Arial" pitchFamily="34" charset="0"/>
                <a:ea typeface="Arial" pitchFamily="34" charset="-122"/>
                <a:cs typeface="Arial" pitchFamily="34" charset="-120"/>
              </a:rPr>
              <a:t>: SGD online comete 73 errores, contra 133 de Hedge.</a:t>
            </a:r>
            <a:endParaRPr lang="en-US" sz="1800" dirty="0"/>
          </a:p>
        </p:txBody>
      </p:sp>
      <p:sp>
        <p:nvSpPr>
          <p:cNvPr id="8" name="Shape 6"/>
          <p:cNvSpPr/>
          <p:nvPr/>
        </p:nvSpPr>
        <p:spPr>
          <a:xfrm>
            <a:off x="548640" y="2697480"/>
            <a:ext cx="11091672" cy="0"/>
          </a:xfrm>
          <a:prstGeom prst="line">
            <a:avLst/>
          </a:prstGeom>
          <a:noFill/>
          <a:ln w="9525">
            <a:solidFill>
              <a:srgbClr val="3A4152"/>
            </a:solidFill>
            <a:prstDash val="solid"/>
          </a:ln>
        </p:spPr>
        <p:txBody>
          <a:bodyPr/>
          <a:lstStyle/>
          <a:p>
            <a:endParaRPr lang="es-AR"/>
          </a:p>
        </p:txBody>
      </p:sp>
      <p:sp>
        <p:nvSpPr>
          <p:cNvPr id="9" name="fila 2"/>
          <p:cNvSpPr/>
          <p:nvPr/>
        </p:nvSpPr>
        <p:spPr>
          <a:xfrm>
            <a:off x="548640" y="2953512"/>
            <a:ext cx="274320" cy="274320"/>
          </a:xfrm>
          <a:prstGeom prst="ellipse">
            <a:avLst/>
          </a:prstGeom>
          <a:solidFill>
            <a:srgbClr val="2A78D6"/>
          </a:solidFill>
          <a:ln/>
        </p:spPr>
        <p:txBody>
          <a:bodyPr/>
          <a:lstStyle/>
          <a:p>
            <a:endParaRPr lang="es-AR"/>
          </a:p>
        </p:txBody>
      </p:sp>
      <p:sp>
        <p:nvSpPr>
          <p:cNvPr id="10" name="Text 8"/>
          <p:cNvSpPr txBox="1"/>
          <p:nvPr/>
        </p:nvSpPr>
        <p:spPr>
          <a:xfrm>
            <a:off x="1051560" y="2880360"/>
            <a:ext cx="3840480" cy="457200"/>
          </a:xfrm>
          <a:prstGeom prst="rect">
            <a:avLst/>
          </a:prstGeom>
          <a:noFill/>
          <a:ln/>
        </p:spPr>
        <p:txBody>
          <a:bodyPr wrap="square" lIns="0" tIns="0" rIns="0" bIns="0" rtlCol="0" anchor="t"/>
          <a:lstStyle/>
          <a:p>
            <a:pPr marL="0" indent="0">
              <a:lnSpc>
                <a:spcPct val="100000"/>
              </a:lnSpc>
              <a:buNone/>
            </a:pPr>
            <a:r>
              <a:rPr lang="en-US" sz="2400" dirty="0">
                <a:solidFill>
                  <a:srgbClr val="FFFFFF"/>
                </a:solidFill>
                <a:latin typeface="Georgia" pitchFamily="34" charset="0"/>
                <a:ea typeface="Georgia" pitchFamily="34" charset="-122"/>
                <a:cs typeface="Georgia" pitchFamily="34" charset="-120"/>
              </a:rPr>
              <a:t>Etiquetas escasas</a:t>
            </a:r>
            <a:endParaRPr lang="en-US" sz="2400" dirty="0"/>
          </a:p>
        </p:txBody>
      </p:sp>
      <p:sp>
        <p:nvSpPr>
          <p:cNvPr id="11" name="Text 9"/>
          <p:cNvSpPr txBox="1"/>
          <p:nvPr/>
        </p:nvSpPr>
        <p:spPr>
          <a:xfrm>
            <a:off x="5029200" y="2926080"/>
            <a:ext cx="6583680" cy="731520"/>
          </a:xfrm>
          <a:prstGeom prst="rect">
            <a:avLst/>
          </a:prstGeom>
          <a:noFill/>
          <a:ln/>
        </p:spPr>
        <p:txBody>
          <a:bodyPr wrap="square" lIns="0" tIns="0" rIns="0" bIns="0" rtlCol="0" anchor="t"/>
          <a:lstStyle/>
          <a:p>
            <a:pPr marL="0" indent="0">
              <a:lnSpc>
                <a:spcPct val="100000"/>
              </a:lnSpc>
              <a:buNone/>
            </a:pPr>
            <a:r>
              <a:rPr lang="en-US" sz="1800" dirty="0">
                <a:solidFill>
                  <a:srgbClr val="C8CEDA"/>
                </a:solidFill>
                <a:latin typeface="Arial" pitchFamily="34" charset="0"/>
                <a:ea typeface="Arial" pitchFamily="34" charset="-122"/>
                <a:cs typeface="Arial" pitchFamily="34" charset="-120"/>
              </a:rPr>
              <a:t>Combinar expertos diversos, con al menos uno robusto al </a:t>
            </a:r>
            <a:r>
              <a:rPr lang="en-US" sz="1800" dirty="0" err="1">
                <a:solidFill>
                  <a:srgbClr val="C8CEDA"/>
                </a:solidFill>
                <a:latin typeface="Arial" pitchFamily="34" charset="0"/>
                <a:ea typeface="Arial" pitchFamily="34" charset="-122"/>
                <a:cs typeface="Arial" pitchFamily="34" charset="-120"/>
              </a:rPr>
              <a:t>ataque</a:t>
            </a:r>
            <a:r>
              <a:rPr lang="en-US" sz="1800" dirty="0">
                <a:solidFill>
                  <a:srgbClr val="C8CEDA"/>
                </a:solidFill>
                <a:latin typeface="Arial" pitchFamily="34" charset="0"/>
                <a:ea typeface="Arial" pitchFamily="34" charset="-122"/>
                <a:cs typeface="Arial" pitchFamily="34" charset="-120"/>
              </a:rPr>
              <a:t> (se </a:t>
            </a:r>
            <a:r>
              <a:rPr lang="en-US" sz="1800" dirty="0" err="1">
                <a:solidFill>
                  <a:srgbClr val="C8CEDA"/>
                </a:solidFill>
                <a:latin typeface="Arial" pitchFamily="34" charset="0"/>
                <a:ea typeface="Arial" pitchFamily="34" charset="-122"/>
                <a:cs typeface="Arial" pitchFamily="34" charset="-120"/>
              </a:rPr>
              <a:t>necesita</a:t>
            </a:r>
            <a:r>
              <a:rPr lang="en-US" sz="1800" dirty="0">
                <a:solidFill>
                  <a:srgbClr val="C8CEDA"/>
                </a:solidFill>
                <a:latin typeface="Arial" pitchFamily="34" charset="0"/>
                <a:ea typeface="Arial" pitchFamily="34" charset="-122"/>
                <a:cs typeface="Arial" pitchFamily="34" charset="-120"/>
              </a:rPr>
              <a:t> </a:t>
            </a:r>
            <a:r>
              <a:rPr lang="en-US" sz="1800" dirty="0" err="1">
                <a:solidFill>
                  <a:srgbClr val="C8CEDA"/>
                </a:solidFill>
                <a:latin typeface="Arial" pitchFamily="34" charset="0"/>
                <a:ea typeface="Arial" pitchFamily="34" charset="-122"/>
                <a:cs typeface="Arial" pitchFamily="34" charset="-120"/>
              </a:rPr>
              <a:t>que</a:t>
            </a:r>
            <a:r>
              <a:rPr lang="en-US" sz="1800" dirty="0">
                <a:solidFill>
                  <a:srgbClr val="C8CEDA"/>
                </a:solidFill>
                <a:latin typeface="Arial" pitchFamily="34" charset="0"/>
                <a:ea typeface="Arial" pitchFamily="34" charset="-122"/>
                <a:cs typeface="Arial" pitchFamily="34" charset="-120"/>
              </a:rPr>
              <a:t> al </a:t>
            </a:r>
            <a:r>
              <a:rPr lang="en-US" sz="1800" dirty="0" err="1">
                <a:solidFill>
                  <a:srgbClr val="C8CEDA"/>
                </a:solidFill>
                <a:latin typeface="Arial" pitchFamily="34" charset="0"/>
                <a:ea typeface="Arial" pitchFamily="34" charset="-122"/>
                <a:cs typeface="Arial" pitchFamily="34" charset="-120"/>
              </a:rPr>
              <a:t>menos</a:t>
            </a:r>
            <a:r>
              <a:rPr lang="en-US" sz="1800" dirty="0">
                <a:solidFill>
                  <a:srgbClr val="C8CEDA"/>
                </a:solidFill>
                <a:latin typeface="Arial" pitchFamily="34" charset="0"/>
                <a:ea typeface="Arial" pitchFamily="34" charset="-122"/>
                <a:cs typeface="Arial" pitchFamily="34" charset="-120"/>
              </a:rPr>
              <a:t> uno </a:t>
            </a:r>
            <a:r>
              <a:rPr lang="en-US" sz="1800" dirty="0" err="1">
                <a:solidFill>
                  <a:srgbClr val="C8CEDA"/>
                </a:solidFill>
                <a:latin typeface="Arial" pitchFamily="34" charset="0"/>
                <a:ea typeface="Arial" pitchFamily="34" charset="-122"/>
                <a:cs typeface="Arial" pitchFamily="34" charset="-120"/>
              </a:rPr>
              <a:t>sobreviva</a:t>
            </a:r>
            <a:r>
              <a:rPr lang="en-US" sz="1800" dirty="0">
                <a:solidFill>
                  <a:srgbClr val="C8CEDA"/>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548640" y="3749040"/>
            <a:ext cx="11091672" cy="0"/>
          </a:xfrm>
          <a:prstGeom prst="line">
            <a:avLst/>
          </a:prstGeom>
          <a:noFill/>
          <a:ln w="9525">
            <a:solidFill>
              <a:srgbClr val="3A4152"/>
            </a:solidFill>
            <a:prstDash val="solid"/>
          </a:ln>
        </p:spPr>
        <p:txBody>
          <a:bodyPr/>
          <a:lstStyle/>
          <a:p>
            <a:endParaRPr lang="es-AR"/>
          </a:p>
        </p:txBody>
      </p:sp>
      <p:sp>
        <p:nvSpPr>
          <p:cNvPr id="13" name="fila 3"/>
          <p:cNvSpPr/>
          <p:nvPr/>
        </p:nvSpPr>
        <p:spPr>
          <a:xfrm>
            <a:off x="548640" y="4005072"/>
            <a:ext cx="274320" cy="274320"/>
          </a:xfrm>
          <a:prstGeom prst="ellipse">
            <a:avLst/>
          </a:prstGeom>
          <a:solidFill>
            <a:srgbClr val="C8CEDA"/>
          </a:solidFill>
          <a:ln/>
        </p:spPr>
        <p:txBody>
          <a:bodyPr/>
          <a:lstStyle/>
          <a:p>
            <a:endParaRPr lang="es-AR"/>
          </a:p>
        </p:txBody>
      </p:sp>
      <p:sp>
        <p:nvSpPr>
          <p:cNvPr id="14" name="Text 12"/>
          <p:cNvSpPr txBox="1"/>
          <p:nvPr/>
        </p:nvSpPr>
        <p:spPr>
          <a:xfrm>
            <a:off x="1051560" y="3931920"/>
            <a:ext cx="3840480" cy="457200"/>
          </a:xfrm>
          <a:prstGeom prst="rect">
            <a:avLst/>
          </a:prstGeom>
          <a:noFill/>
          <a:ln/>
        </p:spPr>
        <p:txBody>
          <a:bodyPr wrap="square" lIns="0" tIns="0" rIns="0" bIns="0" rtlCol="0" anchor="t"/>
          <a:lstStyle/>
          <a:p>
            <a:pPr marL="0" indent="0">
              <a:lnSpc>
                <a:spcPct val="100000"/>
              </a:lnSpc>
              <a:buNone/>
            </a:pPr>
            <a:r>
              <a:rPr lang="en-US" sz="2400" dirty="0">
                <a:solidFill>
                  <a:srgbClr val="FFFFFF"/>
                </a:solidFill>
                <a:latin typeface="Georgia" pitchFamily="34" charset="0"/>
                <a:ea typeface="Georgia" pitchFamily="34" charset="-122"/>
                <a:cs typeface="Georgia" pitchFamily="34" charset="-120"/>
              </a:rPr>
              <a:t>Siempre</a:t>
            </a:r>
            <a:endParaRPr lang="en-US" sz="2400" dirty="0"/>
          </a:p>
        </p:txBody>
      </p:sp>
      <p:sp>
        <p:nvSpPr>
          <p:cNvPr id="15" name="Text 13"/>
          <p:cNvSpPr txBox="1"/>
          <p:nvPr/>
        </p:nvSpPr>
        <p:spPr>
          <a:xfrm>
            <a:off x="5029200" y="3977640"/>
            <a:ext cx="6583680" cy="731520"/>
          </a:xfrm>
          <a:prstGeom prst="rect">
            <a:avLst/>
          </a:prstGeom>
          <a:noFill/>
          <a:ln/>
        </p:spPr>
        <p:txBody>
          <a:bodyPr wrap="square" lIns="0" tIns="0" rIns="0" bIns="0" rtlCol="0" anchor="t"/>
          <a:lstStyle/>
          <a:p>
            <a:pPr marL="0" indent="0">
              <a:lnSpc>
                <a:spcPct val="100000"/>
              </a:lnSpc>
              <a:buNone/>
            </a:pPr>
            <a:r>
              <a:rPr lang="en-US" sz="1800" dirty="0">
                <a:solidFill>
                  <a:srgbClr val="C8CEDA"/>
                </a:solidFill>
                <a:latin typeface="Arial" pitchFamily="34" charset="0"/>
                <a:ea typeface="Arial" pitchFamily="34" charset="-122"/>
                <a:cs typeface="Arial" pitchFamily="34" charset="-120"/>
              </a:rPr>
              <a:t>Medir spam atrapado y legítimo bloqueado por separado, no accuracy.</a:t>
            </a:r>
            <a:endParaRPr lang="en-US" sz="1800" dirty="0"/>
          </a:p>
        </p:txBody>
      </p:sp>
      <p:sp>
        <p:nvSpPr>
          <p:cNvPr id="16" name="Shape 14"/>
          <p:cNvSpPr/>
          <p:nvPr/>
        </p:nvSpPr>
        <p:spPr>
          <a:xfrm>
            <a:off x="548640" y="4800600"/>
            <a:ext cx="11091672" cy="0"/>
          </a:xfrm>
          <a:prstGeom prst="line">
            <a:avLst/>
          </a:prstGeom>
          <a:noFill/>
          <a:ln w="9525">
            <a:solidFill>
              <a:srgbClr val="3A4152"/>
            </a:solidFill>
            <a:prstDash val="solid"/>
          </a:ln>
        </p:spPr>
        <p:txBody>
          <a:bodyPr/>
          <a:lstStyle/>
          <a:p>
            <a:endParaRPr lang="es-AR"/>
          </a:p>
        </p:txBody>
      </p:sp>
      <p:sp>
        <p:nvSpPr>
          <p:cNvPr id="17" name="Text 15"/>
          <p:cNvSpPr txBox="1"/>
          <p:nvPr/>
        </p:nvSpPr>
        <p:spPr>
          <a:xfrm>
            <a:off x="548640" y="5257800"/>
            <a:ext cx="11064240" cy="640080"/>
          </a:xfrm>
          <a:prstGeom prst="rect">
            <a:avLst/>
          </a:prstGeom>
          <a:noFill/>
          <a:ln/>
        </p:spPr>
        <p:txBody>
          <a:bodyPr wrap="square" lIns="0" tIns="0" rIns="0" bIns="0" rtlCol="0" anchor="t"/>
          <a:lstStyle/>
          <a:p>
            <a:pPr marL="0" indent="0">
              <a:lnSpc>
                <a:spcPct val="100000"/>
              </a:lnSpc>
              <a:buNone/>
            </a:pPr>
            <a:r>
              <a:rPr lang="en-US" sz="2000" i="1" dirty="0" err="1">
                <a:solidFill>
                  <a:srgbClr val="AFCBEE"/>
                </a:solidFill>
                <a:latin typeface="Georgia" pitchFamily="34" charset="0"/>
                <a:ea typeface="Georgia" pitchFamily="34" charset="-122"/>
                <a:cs typeface="Georgia" pitchFamily="34" charset="-120"/>
              </a:rPr>
              <a:t>Pregunta</a:t>
            </a:r>
            <a:r>
              <a:rPr lang="en-US" sz="2000" i="1" dirty="0">
                <a:solidFill>
                  <a:srgbClr val="AFCBEE"/>
                </a:solidFill>
                <a:latin typeface="Georgia" pitchFamily="34" charset="0"/>
                <a:ea typeface="Georgia" pitchFamily="34" charset="-122"/>
                <a:cs typeface="Georgia" pitchFamily="34" charset="-120"/>
              </a:rPr>
              <a:t> </a:t>
            </a:r>
            <a:r>
              <a:rPr lang="en-US" sz="2000" i="1" dirty="0" err="1">
                <a:solidFill>
                  <a:srgbClr val="AFCBEE"/>
                </a:solidFill>
                <a:latin typeface="Georgia" pitchFamily="34" charset="0"/>
                <a:ea typeface="Georgia" pitchFamily="34" charset="-122"/>
                <a:cs typeface="Georgia" pitchFamily="34" charset="-120"/>
              </a:rPr>
              <a:t>abierta</a:t>
            </a:r>
            <a:r>
              <a:rPr lang="en-US" sz="2000" i="1" dirty="0">
                <a:solidFill>
                  <a:srgbClr val="AFCBEE"/>
                </a:solidFill>
                <a:latin typeface="Georgia" pitchFamily="34" charset="0"/>
                <a:ea typeface="Georgia" pitchFamily="34" charset="-122"/>
                <a:cs typeface="Georgia" pitchFamily="34" charset="-120"/>
              </a:rPr>
              <a:t> para el </a:t>
            </a:r>
            <a:r>
              <a:rPr lang="en-US" sz="2000" i="1" dirty="0" err="1">
                <a:solidFill>
                  <a:srgbClr val="AFCBEE"/>
                </a:solidFill>
                <a:latin typeface="Georgia" pitchFamily="34" charset="0"/>
                <a:ea typeface="Georgia" pitchFamily="34" charset="-122"/>
                <a:cs typeface="Georgia" pitchFamily="34" charset="-120"/>
              </a:rPr>
              <a:t>futuro</a:t>
            </a:r>
            <a:r>
              <a:rPr lang="en-US" sz="2000" i="1" dirty="0">
                <a:solidFill>
                  <a:srgbClr val="AFCBEE"/>
                </a:solidFill>
                <a:latin typeface="Georgia" pitchFamily="34" charset="0"/>
                <a:ea typeface="Georgia" pitchFamily="34" charset="-122"/>
                <a:cs typeface="Georgia" pitchFamily="34" charset="-120"/>
              </a:rPr>
              <a:t>: ¿y si el modelo que reentrena fuera uno más de los expertos de Hedge? No lo probamos.</a:t>
            </a:r>
            <a:endParaRPr lang="en-US" sz="2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marL="0" indent="0">
              <a:lnSpc>
                <a:spcPct val="100000"/>
              </a:lnSpc>
              <a:buNone/>
            </a:pPr>
            <a:r>
              <a:rPr lang="en-US" sz="1100" b="1" kern="0" spc="200" dirty="0">
                <a:solidFill>
                  <a:srgbClr val="5A6274"/>
                </a:solidFill>
                <a:latin typeface="Arial" pitchFamily="34" charset="0"/>
                <a:ea typeface="Arial" pitchFamily="34" charset="-122"/>
                <a:cs typeface="Arial" pitchFamily="34" charset="-120"/>
              </a:rPr>
              <a:t>LIMITACIONES</a:t>
            </a:r>
            <a:endParaRPr lang="en-US" sz="1100" dirty="0"/>
          </a:p>
        </p:txBody>
      </p:sp>
      <p:sp>
        <p:nvSpPr>
          <p:cNvPr id="3" name="Text 0"/>
          <p:cNvSpPr>
            <a:spLocks noGrp="1"/>
          </p:cNvSpPr>
          <p:nvPr>
            <p:ph type="title" idx="100" hasCustomPrompt="1"/>
          </p:nvPr>
        </p:nvSpPr>
        <p:spPr>
          <a:xfrm>
            <a:off x="548640" y="731520"/>
            <a:ext cx="10424160" cy="566928"/>
          </a:xfrm>
          <a:prstGeom prst="rect">
            <a:avLst/>
          </a:prstGeom>
          <a:noFill/>
          <a:ln/>
        </p:spPr>
        <p:txBody>
          <a:bodyPr wrap="square" lIns="0" tIns="0" rIns="0" bIns="0" rtlCol="0" anchor="t"/>
          <a:lstStyle/>
          <a:p>
            <a:pPr marL="0" indent="0">
              <a:buNone/>
            </a:pPr>
            <a:r>
              <a:rPr lang="en-US" sz="3000" dirty="0" err="1">
                <a:solidFill>
                  <a:srgbClr val="1F2430"/>
                </a:solidFill>
                <a:latin typeface="Georgia" pitchFamily="34" charset="0"/>
                <a:ea typeface="Georgia" pitchFamily="34" charset="-122"/>
                <a:cs typeface="Georgia" pitchFamily="34" charset="-120"/>
              </a:rPr>
              <a:t>Limitaciones</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marL="0" indent="0" algn="r">
              <a:lnSpc>
                <a:spcPct val="100000"/>
              </a:lnSpc>
              <a:buNone/>
            </a:pPr>
            <a:r>
              <a:rPr lang="en-US" sz="900" b="1" kern="0" spc="200" dirty="0">
                <a:solidFill>
                  <a:srgbClr val="9AA1AE"/>
                </a:solidFill>
                <a:latin typeface="Arial" pitchFamily="34" charset="0"/>
                <a:ea typeface="Arial" pitchFamily="34" charset="-122"/>
                <a:cs typeface="Arial" pitchFamily="34" charset="-120"/>
              </a:rPr>
              <a:t>RESULTADOS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txBody>
          <a:bodyPr/>
          <a:lstStyle/>
          <a:p>
            <a:endParaRPr lang="es-AR"/>
          </a:p>
        </p:txBody>
      </p:sp>
      <p:sp>
        <p:nvSpPr>
          <p:cNvPr id="6" name="hallazgo 2"/>
          <p:cNvSpPr/>
          <p:nvPr/>
        </p:nvSpPr>
        <p:spPr>
          <a:xfrm>
            <a:off x="11100816" y="457200"/>
            <a:ext cx="137160" cy="137160"/>
          </a:xfrm>
          <a:prstGeom prst="ellipse">
            <a:avLst/>
          </a:prstGeom>
          <a:ln w="15875">
            <a:solidFill>
              <a:srgbClr val="9AA1AE"/>
            </a:solidFill>
            <a:prstDash val="solid"/>
          </a:ln>
        </p:spPr>
        <p:txBody>
          <a:bodyPr/>
          <a:lstStyle/>
          <a:p>
            <a:endParaRPr lang="es-AR"/>
          </a:p>
        </p:txBody>
      </p:sp>
      <p:sp>
        <p:nvSpPr>
          <p:cNvPr id="7" name="hallazgo 3"/>
          <p:cNvSpPr/>
          <p:nvPr/>
        </p:nvSpPr>
        <p:spPr>
          <a:xfrm>
            <a:off x="11301984" y="457200"/>
            <a:ext cx="137160" cy="137160"/>
          </a:xfrm>
          <a:prstGeom prst="ellipse">
            <a:avLst/>
          </a:prstGeom>
          <a:ln w="15875">
            <a:solidFill>
              <a:srgbClr val="9AA1AE"/>
            </a:solidFill>
            <a:prstDash val="solid"/>
          </a:ln>
        </p:spPr>
        <p:txBody>
          <a:bodyPr/>
          <a:lstStyle/>
          <a:p>
            <a:endParaRPr lang="es-AR"/>
          </a:p>
        </p:txBody>
      </p:sp>
      <p:sp>
        <p:nvSpPr>
          <p:cNvPr id="8" name="hallazgo 4"/>
          <p:cNvSpPr/>
          <p:nvPr/>
        </p:nvSpPr>
        <p:spPr>
          <a:xfrm>
            <a:off x="11503152" y="457200"/>
            <a:ext cx="137160" cy="137160"/>
          </a:xfrm>
          <a:prstGeom prst="ellipse">
            <a:avLst/>
          </a:prstGeom>
          <a:ln w="15875">
            <a:solidFill>
              <a:srgbClr val="9AA1AE"/>
            </a:solidFill>
            <a:prstDash val="solid"/>
          </a:ln>
        </p:spPr>
        <p:txBody>
          <a:bodyPr/>
          <a:lstStyle/>
          <a:p>
            <a:endParaRPr lang="es-AR"/>
          </a:p>
        </p:txBody>
      </p:sp>
      <p:sp>
        <p:nvSpPr>
          <p:cNvPr id="9" name="Shape 7"/>
          <p:cNvSpPr/>
          <p:nvPr/>
        </p:nvSpPr>
        <p:spPr>
          <a:xfrm>
            <a:off x="548640" y="1828800"/>
            <a:ext cx="3520440" cy="0"/>
          </a:xfrm>
          <a:prstGeom prst="line">
            <a:avLst/>
          </a:prstGeom>
          <a:noFill/>
          <a:ln w="9525">
            <a:solidFill>
              <a:srgbClr val="1F2430"/>
            </a:solidFill>
            <a:prstDash val="solid"/>
          </a:ln>
        </p:spPr>
        <p:txBody>
          <a:bodyPr/>
          <a:lstStyle/>
          <a:p>
            <a:endParaRPr lang="es-AR"/>
          </a:p>
        </p:txBody>
      </p:sp>
      <p:sp>
        <p:nvSpPr>
          <p:cNvPr id="10" name="Text 8"/>
          <p:cNvSpPr txBox="1"/>
          <p:nvPr/>
        </p:nvSpPr>
        <p:spPr>
          <a:xfrm>
            <a:off x="548640" y="2011680"/>
            <a:ext cx="3474720" cy="640080"/>
          </a:xfrm>
          <a:prstGeom prst="rect">
            <a:avLst/>
          </a:prstGeom>
          <a:noFill/>
          <a:ln/>
        </p:spPr>
        <p:txBody>
          <a:bodyPr wrap="square" lIns="0" tIns="0" rIns="0" bIns="0" rtlCol="0" anchor="t"/>
          <a:lstStyle/>
          <a:p>
            <a:pPr marL="0" indent="0">
              <a:lnSpc>
                <a:spcPct val="100000"/>
              </a:lnSpc>
              <a:buNone/>
            </a:pPr>
            <a:r>
              <a:rPr lang="en-US" sz="1900" dirty="0">
                <a:solidFill>
                  <a:srgbClr val="1F2430"/>
                </a:solidFill>
                <a:latin typeface="Georgia" pitchFamily="34" charset="0"/>
                <a:ea typeface="Georgia" pitchFamily="34" charset="-122"/>
                <a:cs typeface="Georgia" pitchFamily="34" charset="-120"/>
              </a:rPr>
              <a:t>Drift sintético</a:t>
            </a:r>
            <a:endParaRPr lang="en-US" sz="1900" dirty="0"/>
          </a:p>
        </p:txBody>
      </p:sp>
      <p:sp>
        <p:nvSpPr>
          <p:cNvPr id="11" name="Text 9"/>
          <p:cNvSpPr txBox="1"/>
          <p:nvPr/>
        </p:nvSpPr>
        <p:spPr>
          <a:xfrm>
            <a:off x="548640" y="2697480"/>
            <a:ext cx="3474720" cy="86868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El corpus no tiene fechas: el orden y el ataque son nuestros.</a:t>
            </a:r>
            <a:endParaRPr lang="en-US" sz="1500" dirty="0"/>
          </a:p>
        </p:txBody>
      </p:sp>
      <p:sp>
        <p:nvSpPr>
          <p:cNvPr id="12" name="Shape 10"/>
          <p:cNvSpPr/>
          <p:nvPr/>
        </p:nvSpPr>
        <p:spPr>
          <a:xfrm>
            <a:off x="4370832" y="1828800"/>
            <a:ext cx="3520440" cy="0"/>
          </a:xfrm>
          <a:prstGeom prst="line">
            <a:avLst/>
          </a:prstGeom>
          <a:noFill/>
          <a:ln w="9525">
            <a:solidFill>
              <a:srgbClr val="1F2430"/>
            </a:solidFill>
            <a:prstDash val="solid"/>
          </a:ln>
        </p:spPr>
        <p:txBody>
          <a:bodyPr/>
          <a:lstStyle/>
          <a:p>
            <a:endParaRPr lang="es-AR"/>
          </a:p>
        </p:txBody>
      </p:sp>
      <p:sp>
        <p:nvSpPr>
          <p:cNvPr id="13" name="Text 11"/>
          <p:cNvSpPr txBox="1"/>
          <p:nvPr/>
        </p:nvSpPr>
        <p:spPr>
          <a:xfrm>
            <a:off x="4370832" y="2011680"/>
            <a:ext cx="3474720" cy="640080"/>
          </a:xfrm>
          <a:prstGeom prst="rect">
            <a:avLst/>
          </a:prstGeom>
          <a:noFill/>
          <a:ln/>
        </p:spPr>
        <p:txBody>
          <a:bodyPr wrap="square" lIns="0" tIns="0" rIns="0" bIns="0" rtlCol="0" anchor="t"/>
          <a:lstStyle/>
          <a:p>
            <a:pPr marL="0" indent="0">
              <a:lnSpc>
                <a:spcPct val="100000"/>
              </a:lnSpc>
              <a:buNone/>
            </a:pPr>
            <a:r>
              <a:rPr lang="en-US" sz="1900" dirty="0">
                <a:solidFill>
                  <a:srgbClr val="1F2430"/>
                </a:solidFill>
                <a:latin typeface="Georgia" pitchFamily="34" charset="0"/>
                <a:ea typeface="Georgia" pitchFamily="34" charset="-122"/>
                <a:cs typeface="Georgia" pitchFamily="34" charset="-120"/>
              </a:rPr>
              <a:t>Adversario que no reacciona</a:t>
            </a:r>
            <a:endParaRPr lang="en-US" sz="1900" dirty="0"/>
          </a:p>
        </p:txBody>
      </p:sp>
      <p:sp>
        <p:nvSpPr>
          <p:cNvPr id="14" name="Text 12"/>
          <p:cNvSpPr txBox="1"/>
          <p:nvPr/>
        </p:nvSpPr>
        <p:spPr>
          <a:xfrm>
            <a:off x="4370832" y="2697480"/>
            <a:ext cx="3474720" cy="86868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Uno adaptativo degradaría las tasas de √T a T^(2/3). </a:t>
            </a:r>
            <a:endParaRPr lang="en-US" sz="1500" dirty="0"/>
          </a:p>
        </p:txBody>
      </p:sp>
      <p:sp>
        <p:nvSpPr>
          <p:cNvPr id="15" name="Shape 13"/>
          <p:cNvSpPr/>
          <p:nvPr/>
        </p:nvSpPr>
        <p:spPr>
          <a:xfrm>
            <a:off x="8193024" y="1828800"/>
            <a:ext cx="3520440" cy="0"/>
          </a:xfrm>
          <a:prstGeom prst="line">
            <a:avLst/>
          </a:prstGeom>
          <a:noFill/>
          <a:ln w="9525">
            <a:solidFill>
              <a:srgbClr val="1F2430"/>
            </a:solidFill>
            <a:prstDash val="solid"/>
          </a:ln>
        </p:spPr>
        <p:txBody>
          <a:bodyPr/>
          <a:lstStyle/>
          <a:p>
            <a:endParaRPr lang="es-AR"/>
          </a:p>
        </p:txBody>
      </p:sp>
      <p:sp>
        <p:nvSpPr>
          <p:cNvPr id="16" name="Text 14"/>
          <p:cNvSpPr txBox="1"/>
          <p:nvPr/>
        </p:nvSpPr>
        <p:spPr>
          <a:xfrm>
            <a:off x="8193024" y="2011680"/>
            <a:ext cx="3474720" cy="640080"/>
          </a:xfrm>
          <a:prstGeom prst="rect">
            <a:avLst/>
          </a:prstGeom>
          <a:noFill/>
          <a:ln/>
        </p:spPr>
        <p:txBody>
          <a:bodyPr wrap="square" lIns="0" tIns="0" rIns="0" bIns="0" rtlCol="0" anchor="t"/>
          <a:lstStyle/>
          <a:p>
            <a:pPr marL="0" indent="0">
              <a:lnSpc>
                <a:spcPct val="100000"/>
              </a:lnSpc>
              <a:buNone/>
            </a:pPr>
            <a:r>
              <a:rPr lang="en-US" sz="1900" dirty="0">
                <a:solidFill>
                  <a:srgbClr val="1F2430"/>
                </a:solidFill>
                <a:latin typeface="Georgia" pitchFamily="34" charset="0"/>
                <a:ea typeface="Georgia" pitchFamily="34" charset="-122"/>
                <a:cs typeface="Georgia" pitchFamily="34" charset="-120"/>
              </a:rPr>
              <a:t>Experto robusto por construcción</a:t>
            </a:r>
            <a:endParaRPr lang="en-US" sz="1900" dirty="0"/>
          </a:p>
        </p:txBody>
      </p:sp>
      <p:sp>
        <p:nvSpPr>
          <p:cNvPr id="17" name="Text 15"/>
          <p:cNvSpPr txBox="1"/>
          <p:nvPr/>
        </p:nvSpPr>
        <p:spPr>
          <a:xfrm>
            <a:off x="8193024" y="2697480"/>
            <a:ext cx="3474720" cy="86868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El ataque no toca dígitos ni símbolos; uno que lo </a:t>
            </a:r>
            <a:r>
              <a:rPr lang="en-US" sz="1500" dirty="0" err="1">
                <a:solidFill>
                  <a:srgbClr val="5A6274"/>
                </a:solidFill>
                <a:latin typeface="Arial" pitchFamily="34" charset="0"/>
                <a:ea typeface="Arial" pitchFamily="34" charset="-122"/>
                <a:cs typeface="Arial" pitchFamily="34" charset="-120"/>
              </a:rPr>
              <a:t>hiciera</a:t>
            </a:r>
            <a:r>
              <a:rPr lang="en-US" sz="1500" dirty="0">
                <a:solidFill>
                  <a:srgbClr val="5A6274"/>
                </a:solidFill>
                <a:latin typeface="Arial" pitchFamily="34" charset="0"/>
                <a:ea typeface="Arial" pitchFamily="34" charset="-122"/>
                <a:cs typeface="Arial" pitchFamily="34" charset="-120"/>
              </a:rPr>
              <a:t> </a:t>
            </a:r>
            <a:r>
              <a:rPr lang="en-US" sz="1500" dirty="0" err="1">
                <a:solidFill>
                  <a:srgbClr val="5A6274"/>
                </a:solidFill>
                <a:latin typeface="Arial" pitchFamily="34" charset="0"/>
                <a:ea typeface="Arial" pitchFamily="34" charset="-122"/>
                <a:cs typeface="Arial" pitchFamily="34" charset="-120"/>
              </a:rPr>
              <a:t>rompería</a:t>
            </a:r>
            <a:r>
              <a:rPr lang="en-US" sz="1500" dirty="0">
                <a:solidFill>
                  <a:srgbClr val="5A6274"/>
                </a:solidFill>
                <a:latin typeface="Arial" pitchFamily="34" charset="0"/>
                <a:ea typeface="Arial" pitchFamily="34" charset="-122"/>
                <a:cs typeface="Arial" pitchFamily="34" charset="-120"/>
              </a:rPr>
              <a:t> a </a:t>
            </a:r>
            <a:r>
              <a:rPr lang="en-US" sz="1500" dirty="0" err="1">
                <a:solidFill>
                  <a:srgbClr val="5A6274"/>
                </a:solidFill>
                <a:latin typeface="Arial" pitchFamily="34" charset="0"/>
                <a:ea typeface="Arial" pitchFamily="34" charset="-122"/>
                <a:cs typeface="Arial" pitchFamily="34" charset="-120"/>
              </a:rPr>
              <a:t>este</a:t>
            </a:r>
            <a:r>
              <a:rPr lang="en-US" sz="1500" dirty="0">
                <a:solidFill>
                  <a:srgbClr val="5A6274"/>
                </a:solidFill>
                <a:latin typeface="Arial" pitchFamily="34" charset="0"/>
                <a:ea typeface="Arial" pitchFamily="34" charset="-122"/>
                <a:cs typeface="Arial" pitchFamily="34" charset="-120"/>
              </a:rPr>
              <a:t> </a:t>
            </a:r>
            <a:r>
              <a:rPr lang="en-US" sz="1500" dirty="0" err="1">
                <a:solidFill>
                  <a:srgbClr val="5A6274"/>
                </a:solidFill>
                <a:latin typeface="Arial" pitchFamily="34" charset="0"/>
                <a:ea typeface="Arial" pitchFamily="34" charset="-122"/>
                <a:cs typeface="Arial" pitchFamily="34" charset="-120"/>
              </a:rPr>
              <a:t>experto</a:t>
            </a:r>
            <a:r>
              <a:rPr lang="en-US" sz="1500" dirty="0">
                <a:solidFill>
                  <a:srgbClr val="5A6274"/>
                </a:solidFill>
                <a:latin typeface="Arial" pitchFamily="34" charset="0"/>
                <a:ea typeface="Arial" pitchFamily="34" charset="-122"/>
                <a:cs typeface="Arial" pitchFamily="34" charset="-120"/>
              </a:rPr>
              <a:t>.</a:t>
            </a:r>
            <a:endParaRPr lang="en-US" sz="1500" dirty="0"/>
          </a:p>
        </p:txBody>
      </p:sp>
      <p:sp>
        <p:nvSpPr>
          <p:cNvPr id="18" name="Shape 16"/>
          <p:cNvSpPr/>
          <p:nvPr/>
        </p:nvSpPr>
        <p:spPr>
          <a:xfrm>
            <a:off x="548640" y="3931920"/>
            <a:ext cx="3520440" cy="0"/>
          </a:xfrm>
          <a:prstGeom prst="line">
            <a:avLst/>
          </a:prstGeom>
          <a:noFill/>
          <a:ln w="9525">
            <a:solidFill>
              <a:srgbClr val="1F2430"/>
            </a:solidFill>
            <a:prstDash val="solid"/>
          </a:ln>
        </p:spPr>
        <p:txBody>
          <a:bodyPr/>
          <a:lstStyle/>
          <a:p>
            <a:endParaRPr lang="es-AR"/>
          </a:p>
        </p:txBody>
      </p:sp>
      <p:sp>
        <p:nvSpPr>
          <p:cNvPr id="19" name="Text 17"/>
          <p:cNvSpPr txBox="1"/>
          <p:nvPr/>
        </p:nvSpPr>
        <p:spPr>
          <a:xfrm>
            <a:off x="548640" y="4114800"/>
            <a:ext cx="3474720" cy="640080"/>
          </a:xfrm>
          <a:prstGeom prst="rect">
            <a:avLst/>
          </a:prstGeom>
          <a:noFill/>
          <a:ln/>
        </p:spPr>
        <p:txBody>
          <a:bodyPr wrap="square" lIns="0" tIns="0" rIns="0" bIns="0" rtlCol="0" anchor="t"/>
          <a:lstStyle/>
          <a:p>
            <a:pPr marL="0" indent="0">
              <a:lnSpc>
                <a:spcPct val="100000"/>
              </a:lnSpc>
              <a:buNone/>
            </a:pPr>
            <a:r>
              <a:rPr lang="en-US" sz="1900" dirty="0">
                <a:solidFill>
                  <a:srgbClr val="1F2430"/>
                </a:solidFill>
                <a:latin typeface="Georgia" pitchFamily="34" charset="0"/>
                <a:ea typeface="Georgia" pitchFamily="34" charset="-122"/>
                <a:cs typeface="Georgia" pitchFamily="34" charset="-120"/>
              </a:rPr>
              <a:t>Pérdida 0-1 simétrica</a:t>
            </a:r>
            <a:endParaRPr lang="en-US" sz="1900" dirty="0"/>
          </a:p>
        </p:txBody>
      </p:sp>
      <p:sp>
        <p:nvSpPr>
          <p:cNvPr id="20" name="Text 18"/>
          <p:cNvSpPr txBox="1"/>
          <p:nvPr/>
        </p:nvSpPr>
        <p:spPr>
          <a:xfrm>
            <a:off x="548640" y="4800600"/>
            <a:ext cx="3474720" cy="86868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Bloquear un mensaje legítimo cuesta más que dejar pasar spam.</a:t>
            </a:r>
            <a:endParaRPr lang="en-US" sz="1500" dirty="0"/>
          </a:p>
        </p:txBody>
      </p:sp>
      <p:sp>
        <p:nvSpPr>
          <p:cNvPr id="21" name="Shape 19"/>
          <p:cNvSpPr/>
          <p:nvPr/>
        </p:nvSpPr>
        <p:spPr>
          <a:xfrm>
            <a:off x="4370832" y="3931920"/>
            <a:ext cx="3520440" cy="0"/>
          </a:xfrm>
          <a:prstGeom prst="line">
            <a:avLst/>
          </a:prstGeom>
          <a:noFill/>
          <a:ln w="9525">
            <a:solidFill>
              <a:srgbClr val="1F2430"/>
            </a:solidFill>
            <a:prstDash val="solid"/>
          </a:ln>
        </p:spPr>
        <p:txBody>
          <a:bodyPr/>
          <a:lstStyle/>
          <a:p>
            <a:endParaRPr lang="es-AR"/>
          </a:p>
        </p:txBody>
      </p:sp>
      <p:sp>
        <p:nvSpPr>
          <p:cNvPr id="22" name="Text 20"/>
          <p:cNvSpPr txBox="1"/>
          <p:nvPr/>
        </p:nvSpPr>
        <p:spPr>
          <a:xfrm>
            <a:off x="4370832" y="4114800"/>
            <a:ext cx="3474720" cy="640080"/>
          </a:xfrm>
          <a:prstGeom prst="rect">
            <a:avLst/>
          </a:prstGeom>
          <a:noFill/>
          <a:ln/>
        </p:spPr>
        <p:txBody>
          <a:bodyPr wrap="square" lIns="0" tIns="0" rIns="0" bIns="0" rtlCol="0" anchor="t"/>
          <a:lstStyle/>
          <a:p>
            <a:pPr marL="0" indent="0">
              <a:lnSpc>
                <a:spcPct val="100000"/>
              </a:lnSpc>
              <a:buNone/>
            </a:pPr>
            <a:r>
              <a:rPr lang="en-US" sz="1900" dirty="0">
                <a:solidFill>
                  <a:srgbClr val="1F2430"/>
                </a:solidFill>
                <a:latin typeface="Georgia" pitchFamily="34" charset="0"/>
                <a:ea typeface="Georgia" pitchFamily="34" charset="-122"/>
                <a:cs typeface="Georgia" pitchFamily="34" charset="-120"/>
              </a:rPr>
              <a:t>Etiqueta de dos lados</a:t>
            </a:r>
            <a:endParaRPr lang="en-US" sz="1900" dirty="0"/>
          </a:p>
        </p:txBody>
      </p:sp>
      <p:sp>
        <p:nvSpPr>
          <p:cNvPr id="23" name="Text 21"/>
          <p:cNvSpPr txBox="1"/>
          <p:nvPr/>
        </p:nvSpPr>
        <p:spPr>
          <a:xfrm>
            <a:off x="4370832" y="4800600"/>
            <a:ext cx="3474720" cy="86868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En la práctica solo se ven los errores de lo que se entrega.</a:t>
            </a:r>
            <a:endParaRPr lang="en-US" sz="1500" dirty="0"/>
          </a:p>
        </p:txBody>
      </p:sp>
      <p:sp>
        <p:nvSpPr>
          <p:cNvPr id="24" name="Shape 22"/>
          <p:cNvSpPr/>
          <p:nvPr/>
        </p:nvSpPr>
        <p:spPr>
          <a:xfrm>
            <a:off x="8193024" y="3931920"/>
            <a:ext cx="3520440" cy="0"/>
          </a:xfrm>
          <a:prstGeom prst="line">
            <a:avLst/>
          </a:prstGeom>
          <a:noFill/>
          <a:ln w="9525">
            <a:solidFill>
              <a:srgbClr val="1F2430"/>
            </a:solidFill>
            <a:prstDash val="solid"/>
          </a:ln>
        </p:spPr>
        <p:txBody>
          <a:bodyPr/>
          <a:lstStyle/>
          <a:p>
            <a:endParaRPr lang="es-AR"/>
          </a:p>
        </p:txBody>
      </p:sp>
      <p:sp>
        <p:nvSpPr>
          <p:cNvPr id="25" name="Text 23"/>
          <p:cNvSpPr txBox="1"/>
          <p:nvPr/>
        </p:nvSpPr>
        <p:spPr>
          <a:xfrm>
            <a:off x="8193024" y="4114800"/>
            <a:ext cx="3474720" cy="640080"/>
          </a:xfrm>
          <a:prstGeom prst="rect">
            <a:avLst/>
          </a:prstGeom>
          <a:noFill/>
          <a:ln/>
        </p:spPr>
        <p:txBody>
          <a:bodyPr wrap="square" lIns="0" tIns="0" rIns="0" bIns="0" rtlCol="0" anchor="t"/>
          <a:lstStyle/>
          <a:p>
            <a:pPr marL="0" indent="0">
              <a:lnSpc>
                <a:spcPct val="100000"/>
              </a:lnSpc>
              <a:buNone/>
            </a:pPr>
            <a:r>
              <a:rPr lang="en-US" sz="1900" dirty="0">
                <a:solidFill>
                  <a:srgbClr val="1F2430"/>
                </a:solidFill>
                <a:latin typeface="Georgia" pitchFamily="34" charset="0"/>
                <a:ea typeface="Georgia" pitchFamily="34" charset="-122"/>
                <a:cs typeface="Georgia" pitchFamily="34" charset="-120"/>
              </a:rPr>
              <a:t>Un solo corpus</a:t>
            </a:r>
            <a:endParaRPr lang="en-US" sz="1900" dirty="0"/>
          </a:p>
        </p:txBody>
      </p:sp>
      <p:sp>
        <p:nvSpPr>
          <p:cNvPr id="26" name="Text 24"/>
          <p:cNvSpPr txBox="1"/>
          <p:nvPr/>
        </p:nvSpPr>
        <p:spPr>
          <a:xfrm>
            <a:off x="8193024" y="4800600"/>
            <a:ext cx="3474720" cy="868680"/>
          </a:xfrm>
          <a:prstGeom prst="rect">
            <a:avLst/>
          </a:prstGeom>
          <a:noFill/>
          <a:ln/>
        </p:spPr>
        <p:txBody>
          <a:bodyPr wrap="square" lIns="0" tIns="0" rIns="0" bIns="0" rtlCol="0" anchor="t"/>
          <a:lstStyle/>
          <a:p>
            <a:pPr marL="0" indent="0">
              <a:lnSpc>
                <a:spcPct val="100000"/>
              </a:lnSpc>
              <a:buNone/>
            </a:pPr>
            <a:r>
              <a:rPr lang="en-US" sz="1500" dirty="0">
                <a:solidFill>
                  <a:srgbClr val="5A6274"/>
                </a:solidFill>
                <a:latin typeface="Arial" pitchFamily="34" charset="0"/>
                <a:ea typeface="Arial" pitchFamily="34" charset="-122"/>
                <a:cs typeface="Arial" pitchFamily="34" charset="-120"/>
              </a:rPr>
              <a:t>5.574 SMS en inglés, ~305 spams atacados por semilla.</a:t>
            </a:r>
            <a:endParaRPr lang="en-US" sz="1500" dirty="0"/>
          </a:p>
        </p:txBody>
      </p:sp>
      <p:sp>
        <p:nvSpPr>
          <p:cNvPr id="27" name="Text 25"/>
          <p:cNvSpPr txBox="1"/>
          <p:nvPr/>
        </p:nvSpPr>
        <p:spPr>
          <a:xfrm>
            <a:off x="548640" y="6373368"/>
            <a:ext cx="10241280" cy="274320"/>
          </a:xfrm>
          <a:prstGeom prst="rect">
            <a:avLst/>
          </a:prstGeom>
          <a:noFill/>
          <a:ln/>
        </p:spPr>
        <p:txBody>
          <a:bodyPr wrap="square" lIns="0" tIns="0" rIns="0" bIns="0" rtlCol="0" anchor="t"/>
          <a:lstStyle/>
          <a:p>
            <a:pPr marL="0" indent="0">
              <a:lnSpc>
                <a:spcPct val="100000"/>
              </a:lnSpc>
              <a:buNone/>
            </a:pPr>
            <a:r>
              <a:rPr lang="en-US" sz="1000" dirty="0">
                <a:solidFill>
                  <a:srgbClr val="9AA1AE"/>
                </a:solidFill>
                <a:latin typeface="Arial" pitchFamily="34" charset="0"/>
                <a:ea typeface="Arial" pitchFamily="34" charset="-122"/>
                <a:cs typeface="Arial" pitchFamily="34" charset="-120"/>
              </a:rPr>
              <a:t>Detalle en la sección de limitaciones del paper.</a:t>
            </a:r>
            <a:endParaRPr lang="en-US" sz="1000" dirty="0"/>
          </a:p>
        </p:txBody>
      </p:sp>
      <p:sp>
        <p:nvSpPr>
          <p:cNvPr id="28"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AA1AE"/>
                </a:solidFill>
                <a:latin typeface="Arial"/>
                <a:ea typeface="Arial"/>
                <a:cs typeface="Arial"/>
              </a:defRPr>
            </a:lvl1pPr>
          </a:lstStyle>
          <a:p>
            <a:pPr algn="r"/>
            <a:fld id="{F7021451-1387-4CA6-816F-3879F97B5CBC}" type="slidenum">
              <a:rPr lang="en-US" b="0"/>
              <a:t>21</a:t>
            </a:fld>
            <a:endParaRPr lang="en-US"/>
          </a:p>
        </p:txBody>
      </p:sp>
    </p:spTree>
  </p:cSld>
  <p:clrMapOvr>
    <a:masterClrMapping/>
  </p:clrMapOvr>
  <p:transition spd="med">
    <p:fade/>
  </p:transition>
</p:sld>
</file>

<file path=ppt/theme/theme1.xml><?xml version="1.0" encoding="utf-8"?>
<a:theme xmlns:a="http://schemas.openxmlformats.org/drawingml/2006/main" name="Combinar o reentrenar">
  <a:themeElements>
    <a:clrScheme name="Combinar o reentrenar">
      <a:dk1>
        <a:srgbClr val="1F2430"/>
      </a:dk1>
      <a:lt1>
        <a:srgbClr val="FFFFFF"/>
      </a:lt1>
      <a:dk2>
        <a:srgbClr val="5A6274"/>
      </a:dk2>
      <a:lt2>
        <a:srgbClr val="F7F5F0"/>
      </a:lt2>
      <a:accent1>
        <a:srgbClr val="2A78D6"/>
      </a:accent1>
      <a:accent2>
        <a:srgbClr val="EB6834"/>
      </a:accent2>
      <a:accent3>
        <a:srgbClr val="1BAF7A"/>
      </a:accent3>
      <a:accent4>
        <a:srgbClr val="4A3AA7"/>
      </a:accent4>
      <a:accent5>
        <a:srgbClr val="008300"/>
      </a:accent5>
      <a:accent6>
        <a:srgbClr val="E34948"/>
      </a:accent6>
      <a:hlink>
        <a:srgbClr val="2A78D6"/>
      </a:hlink>
      <a:folHlink>
        <a:srgbClr val="4A3AA7"/>
      </a:folHlink>
    </a:clrScheme>
    <a:fontScheme name="Combinar o reentrena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420</TotalTime>
  <Words>3764</Words>
  <Application>Microsoft Office PowerPoint</Application>
  <PresentationFormat>Panorámica</PresentationFormat>
  <Paragraphs>323</Paragraphs>
  <Slides>21</Slides>
  <Notes>21</Notes>
  <HiddenSlides>0</HiddenSlides>
  <MMClips>1</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21</vt:i4>
      </vt:variant>
    </vt:vector>
  </HeadingPairs>
  <TitlesOfParts>
    <vt:vector size="24" baseType="lpstr">
      <vt:lpstr>Arial</vt:lpstr>
      <vt:lpstr>Georgia</vt:lpstr>
      <vt:lpstr>Combinar o reentrenar</vt:lpstr>
      <vt:lpstr>Presentación de PowerPoint</vt:lpstr>
      <vt:lpstr>Un spammer que aprende a esquivar el filtro</vt:lpstr>
      <vt:lpstr>Dos formas de defenderse</vt:lpstr>
      <vt:lpstr>Dos preguntas principales</vt:lpstr>
      <vt:lpstr>Combinar: algoritmo Hedge</vt:lpstr>
      <vt:lpstr>Reentrenar: SGD online</vt:lpstr>
      <vt:lpstr>Cuando el usuario reporta pocos mensajes</vt:lpstr>
      <vt:lpstr>Datos y stream</vt:lpstr>
      <vt:lpstr>Expertos: cuatro leen palabras, uno mira formato</vt:lpstr>
      <vt:lpstr>Ataque y protocolo</vt:lpstr>
      <vt:lpstr>Combinar recupera casi la mitad, sin reentrenar</vt:lpstr>
      <vt:lpstr>De 305 spams atacados, Hedge atrapa 52 más</vt:lpstr>
      <vt:lpstr>Presentación de PowerPoint</vt:lpstr>
      <vt:lpstr>Por qué funciona: la apuesta ya estaba cubierta</vt:lpstr>
      <vt:lpstr>Con pocas etiquetas, combinar le gana a reentrenar</vt:lpstr>
      <vt:lpstr>No es un artefacto de cómo se pondera</vt:lpstr>
      <vt:lpstr>La cota de la teoría no es la del voto pesado</vt:lpstr>
      <vt:lpstr>Cada cota vale para su tasa de aprendizaje</vt:lpstr>
      <vt:lpstr>Tres ideas para llevarse</vt:lpstr>
      <vt:lpstr>Presentación de PowerPoint</vt:lpstr>
      <vt:lpstr>Limitaciones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Combinar o reentrenar</dc:title>
  <dc:subject>PptxGenJS Presentation</dc:subject>
  <dc:creator>Pablo Díaz y Ezequiel Martinez</dc:creator>
  <cp:lastModifiedBy>Ezequiel</cp:lastModifiedBy>
  <cp:revision>19</cp:revision>
  <dcterms:created xsi:type="dcterms:W3CDTF">2026-10-02T18:44:18Z</dcterms:created>
  <dcterms:modified xsi:type="dcterms:W3CDTF">2026-10-10T15:51:23Z</dcterms:modified>
</cp:coreProperties>
</file>